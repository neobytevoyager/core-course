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Lst>
  <p:notesMasterIdLst>
    <p:notesMasterId r:id="rId5"/>
  </p:notesMasterIdLst>
  <p:sldIdLst>
    <p:sldId id="258" r:id="rId4"/>
    <p:sldId id="259" r:id="rId6"/>
    <p:sldId id="260" r:id="rId7"/>
    <p:sldId id="286" r:id="rId8"/>
    <p:sldId id="261" r:id="rId9"/>
    <p:sldId id="262" r:id="rId10"/>
    <p:sldId id="263" r:id="rId11"/>
    <p:sldId id="266" r:id="rId12"/>
    <p:sldId id="267" r:id="rId13"/>
    <p:sldId id="268" r:id="rId14"/>
    <p:sldId id="287" r:id="rId15"/>
    <p:sldId id="269" r:id="rId16"/>
    <p:sldId id="270" r:id="rId17"/>
    <p:sldId id="271" r:id="rId18"/>
    <p:sldId id="288" r:id="rId19"/>
    <p:sldId id="291" r:id="rId20"/>
    <p:sldId id="290" r:id="rId21"/>
    <p:sldId id="272" r:id="rId22"/>
    <p:sldId id="274" r:id="rId23"/>
    <p:sldId id="292" r:id="rId24"/>
    <p:sldId id="273" r:id="rId25"/>
    <p:sldId id="293" r:id="rId26"/>
    <p:sldId id="276" r:id="rId27"/>
    <p:sldId id="277" r:id="rId28"/>
    <p:sldId id="278" r:id="rId29"/>
    <p:sldId id="281" r:id="rId30"/>
    <p:sldId id="282" r:id="rId31"/>
    <p:sldId id="283" r:id="rId32"/>
    <p:sldId id="285"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单击此处编辑母版文本样式</a:t>
            </a:r>
            <a:endParaRPr lang="zh-CN" altLang="en-US"/>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0" y="160256"/>
            <a:ext cx="348792" cy="414779"/>
            <a:chOff x="0" y="160256"/>
            <a:chExt cx="348792" cy="414779"/>
          </a:xfrm>
        </p:grpSpPr>
        <p:sp>
          <p:nvSpPr>
            <p:cNvPr id="4" name="矩形 3"/>
            <p:cNvSpPr/>
            <p:nvPr/>
          </p:nvSpPr>
          <p:spPr>
            <a:xfrm>
              <a:off x="0" y="160256"/>
              <a:ext cx="188536" cy="414779"/>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54524" y="160256"/>
              <a:ext cx="94268" cy="414779"/>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t="3154" b="12259"/>
          <a:stretch>
            <a:fillRect/>
          </a:stretch>
        </p:blipFill>
        <p:spPr>
          <a:xfrm>
            <a:off x="20" y="10"/>
            <a:ext cx="12191980" cy="6857990"/>
          </a:xfrm>
          <a:prstGeom prst="rect">
            <a:avLst/>
          </a:prstGeom>
        </p:spPr>
      </p:pic>
      <p:sp>
        <p:nvSpPr>
          <p:cNvPr id="4" name="流程图: 手动输入 7"/>
          <p:cNvSpPr/>
          <p:nvPr/>
        </p:nvSpPr>
        <p:spPr>
          <a:xfrm rot="5400000" flipV="1">
            <a:off x="5157537" y="-176465"/>
            <a:ext cx="6858002" cy="72109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2995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2995 h 10000"/>
              <a:gd name="connsiteX0-11" fmla="*/ 0 w 10000"/>
              <a:gd name="connsiteY0-12" fmla="*/ 3321 h 10326"/>
              <a:gd name="connsiteX1-13" fmla="*/ 9983 w 10000"/>
              <a:gd name="connsiteY1-14" fmla="*/ 0 h 10326"/>
              <a:gd name="connsiteX2-15" fmla="*/ 10000 w 10000"/>
              <a:gd name="connsiteY2-16" fmla="*/ 10326 h 10326"/>
              <a:gd name="connsiteX3-17" fmla="*/ 0 w 10000"/>
              <a:gd name="connsiteY3-18" fmla="*/ 10326 h 10326"/>
              <a:gd name="connsiteX4-19" fmla="*/ 0 w 10000"/>
              <a:gd name="connsiteY4-20" fmla="*/ 3321 h 10326"/>
              <a:gd name="connsiteX0-21" fmla="*/ 0 w 10001"/>
              <a:gd name="connsiteY0-22" fmla="*/ 3338 h 10343"/>
              <a:gd name="connsiteX1-23" fmla="*/ 10000 w 10001"/>
              <a:gd name="connsiteY1-24" fmla="*/ 0 h 10343"/>
              <a:gd name="connsiteX2-25" fmla="*/ 10000 w 10001"/>
              <a:gd name="connsiteY2-26" fmla="*/ 10343 h 10343"/>
              <a:gd name="connsiteX3-27" fmla="*/ 0 w 10001"/>
              <a:gd name="connsiteY3-28" fmla="*/ 10343 h 10343"/>
              <a:gd name="connsiteX4-29" fmla="*/ 0 w 10001"/>
              <a:gd name="connsiteY4-30" fmla="*/ 3338 h 103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1" h="10343">
                <a:moveTo>
                  <a:pt x="0" y="3338"/>
                </a:moveTo>
                <a:lnTo>
                  <a:pt x="10000" y="0"/>
                </a:lnTo>
                <a:cubicBezTo>
                  <a:pt x="10006" y="3442"/>
                  <a:pt x="9994" y="6901"/>
                  <a:pt x="10000" y="10343"/>
                </a:cubicBezTo>
                <a:lnTo>
                  <a:pt x="0" y="10343"/>
                </a:lnTo>
                <a:lnTo>
                  <a:pt x="0" y="3338"/>
                </a:lnTo>
                <a:close/>
              </a:path>
            </a:pathLst>
          </a:custGeom>
          <a:solidFill>
            <a:srgbClr val="3F3F3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BA9903-2883-4999-B175-77B73BF11E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39BAE3-8096-4744-8509-3057B45F4B1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5" Type="http://schemas.openxmlformats.org/officeDocument/2006/relationships/theme" Target="../theme/theme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0">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1">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65CE74E-AB26-4998-AD42-012C4C1AD076}"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BA9903-2883-4999-B175-77B73BF11E1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9BAE3-8096-4744-8509-3057B45F4B1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0" y="1838131"/>
            <a:ext cx="121920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5019870"/>
            <a:ext cx="1219200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45758" y="3435349"/>
            <a:ext cx="10986770" cy="829945"/>
          </a:xfrm>
          <a:prstGeom prst="rect">
            <a:avLst/>
          </a:prstGeom>
          <a:noFill/>
        </p:spPr>
        <p:txBody>
          <a:bodyPr wrap="square" rtlCol="0">
            <a:spAutoFit/>
          </a:bodyPr>
          <a:lstStyle/>
          <a:p>
            <a:pPr algn="ctr"/>
            <a:r>
              <a:rPr lang="zh-CN" altLang="en-US" sz="4800" b="1" dirty="0">
                <a:solidFill>
                  <a:schemeClr val="tx1">
                    <a:lumMod val="85000"/>
                    <a:lumOff val="15000"/>
                  </a:schemeClr>
                </a:solidFill>
                <a:latin typeface="微软雅黑" panose="020B0503020204020204" charset="-122"/>
                <a:ea typeface="微软雅黑" panose="020B0503020204020204" charset="-122"/>
              </a:rPr>
              <a:t>第</a:t>
            </a:r>
            <a:r>
              <a:rPr lang="zh-CN" altLang="en-US" sz="4800" b="1" dirty="0">
                <a:solidFill>
                  <a:schemeClr val="tx1">
                    <a:lumMod val="85000"/>
                    <a:lumOff val="15000"/>
                  </a:schemeClr>
                </a:solidFill>
                <a:latin typeface="微软雅黑" panose="020B0503020204020204" charset="-122"/>
                <a:ea typeface="微软雅黑" panose="020B0503020204020204" charset="-122"/>
              </a:rPr>
              <a:t>二次小班课</a:t>
            </a:r>
            <a:endParaRPr sz="4800" b="1" dirty="0">
              <a:solidFill>
                <a:schemeClr val="tx1">
                  <a:lumMod val="85000"/>
                  <a:lumOff val="15000"/>
                </a:schemeClr>
              </a:solidFill>
              <a:latin typeface="微软雅黑" panose="020B0503020204020204" charset="-122"/>
              <a:ea typeface="微软雅黑" panose="020B0503020204020204" charset="-122"/>
            </a:endParaRPr>
          </a:p>
        </p:txBody>
      </p:sp>
      <p:sp>
        <p:nvSpPr>
          <p:cNvPr id="13" name="文本框 12"/>
          <p:cNvSpPr txBox="1"/>
          <p:nvPr/>
        </p:nvSpPr>
        <p:spPr>
          <a:xfrm>
            <a:off x="6828816" y="2422905"/>
            <a:ext cx="4066413" cy="584775"/>
          </a:xfrm>
          <a:prstGeom prst="rect">
            <a:avLst/>
          </a:prstGeom>
          <a:noFill/>
        </p:spPr>
        <p:txBody>
          <a:bodyPr wrap="square" rtlCol="0">
            <a:spAutoFit/>
          </a:bodyPr>
          <a:lstStyle/>
          <a:p>
            <a:pPr algn="ctr"/>
            <a:r>
              <a:rPr lang="en-US" altLang="zh-CN" sz="3200" dirty="0">
                <a:solidFill>
                  <a:schemeClr val="tx1">
                    <a:lumMod val="85000"/>
                    <a:lumOff val="15000"/>
                  </a:schemeClr>
                </a:solidFill>
                <a:latin typeface="微软雅黑" panose="020B0503020204020204" charset="-122"/>
                <a:ea typeface="微软雅黑" panose="020B0503020204020204" charset="-122"/>
              </a:rPr>
              <a:t>POWERPOINT</a:t>
            </a:r>
            <a:endParaRPr lang="zh-CN" altLang="en-US" sz="3200" dirty="0">
              <a:solidFill>
                <a:schemeClr val="tx1">
                  <a:lumMod val="85000"/>
                  <a:lumOff val="15000"/>
                </a:schemeClr>
              </a:solidFill>
              <a:latin typeface="微软雅黑" panose="020B0503020204020204" charset="-122"/>
              <a:ea typeface="微软雅黑" panose="020B0503020204020204" charset="-122"/>
            </a:endParaRPr>
          </a:p>
        </p:txBody>
      </p:sp>
      <p:sp>
        <p:nvSpPr>
          <p:cNvPr id="15" name="文本框 14"/>
          <p:cNvSpPr txBox="1"/>
          <p:nvPr/>
        </p:nvSpPr>
        <p:spPr>
          <a:xfrm>
            <a:off x="2905522" y="5133634"/>
            <a:ext cx="6461998" cy="1568450"/>
          </a:xfrm>
          <a:prstGeom prst="rect">
            <a:avLst/>
          </a:prstGeom>
          <a:noFill/>
        </p:spPr>
        <p:txBody>
          <a:bodyPr wrap="square" rtlCol="0">
            <a:spAutoFit/>
          </a:bodyPr>
          <a:lstStyle/>
          <a:p>
            <a:pPr algn="ctr"/>
            <a:r>
              <a:rPr lang="zh-CN" altLang="en-US" sz="3200" dirty="0">
                <a:solidFill>
                  <a:schemeClr val="tx1">
                    <a:lumMod val="85000"/>
                    <a:lumOff val="15000"/>
                  </a:schemeClr>
                </a:solidFill>
                <a:latin typeface="微软雅黑" panose="020B0503020204020204" charset="-122"/>
                <a:ea typeface="微软雅黑" panose="020B0503020204020204" charset="-122"/>
              </a:rPr>
              <a:t>第八组</a:t>
            </a:r>
            <a:r>
              <a:rPr lang="en-US" altLang="zh-CN" sz="3200" dirty="0">
                <a:solidFill>
                  <a:schemeClr val="tx1">
                    <a:lumMod val="85000"/>
                    <a:lumOff val="15000"/>
                  </a:schemeClr>
                </a:solidFill>
                <a:latin typeface="微软雅黑" panose="020B0503020204020204" charset="-122"/>
                <a:ea typeface="微软雅黑" panose="020B0503020204020204" charset="-122"/>
              </a:rPr>
              <a:t>4</a:t>
            </a:r>
            <a:r>
              <a:rPr lang="zh-CN" altLang="en-US" sz="3200" dirty="0">
                <a:solidFill>
                  <a:schemeClr val="tx1">
                    <a:lumMod val="85000"/>
                    <a:lumOff val="15000"/>
                  </a:schemeClr>
                </a:solidFill>
                <a:latin typeface="微软雅黑" panose="020B0503020204020204" charset="-122"/>
                <a:ea typeface="微软雅黑" panose="020B0503020204020204" charset="-122"/>
              </a:rPr>
              <a:t>号</a:t>
            </a:r>
            <a:endParaRPr lang="zh-CN" altLang="en-US" sz="3200" dirty="0">
              <a:solidFill>
                <a:schemeClr val="tx1">
                  <a:lumMod val="85000"/>
                  <a:lumOff val="15000"/>
                </a:schemeClr>
              </a:solidFill>
              <a:latin typeface="微软雅黑" panose="020B0503020204020204" charset="-122"/>
              <a:ea typeface="微软雅黑" panose="020B0503020204020204" charset="-122"/>
            </a:endParaRPr>
          </a:p>
          <a:p>
            <a:pPr algn="ctr"/>
            <a:r>
              <a:rPr lang="zh-CN" altLang="en-US" sz="3200" dirty="0">
                <a:solidFill>
                  <a:schemeClr val="tx1">
                    <a:lumMod val="85000"/>
                    <a:lumOff val="15000"/>
                  </a:schemeClr>
                </a:solidFill>
                <a:latin typeface="微软雅黑" panose="020B0503020204020204" charset="-122"/>
                <a:ea typeface="微软雅黑" panose="020B0503020204020204" charset="-122"/>
              </a:rPr>
              <a:t>计科</a:t>
            </a:r>
            <a:r>
              <a:rPr lang="en-US" altLang="zh-CN" sz="3200" dirty="0">
                <a:solidFill>
                  <a:schemeClr val="tx1">
                    <a:lumMod val="85000"/>
                    <a:lumOff val="15000"/>
                  </a:schemeClr>
                </a:solidFill>
                <a:latin typeface="微软雅黑" panose="020B0503020204020204" charset="-122"/>
                <a:ea typeface="微软雅黑" panose="020B0503020204020204" charset="-122"/>
              </a:rPr>
              <a:t>2404        </a:t>
            </a:r>
            <a:r>
              <a:rPr lang="zh-CN" altLang="en-US" sz="3200" dirty="0">
                <a:solidFill>
                  <a:schemeClr val="tx1">
                    <a:lumMod val="85000"/>
                    <a:lumOff val="15000"/>
                  </a:schemeClr>
                </a:solidFill>
                <a:latin typeface="微软雅黑" panose="020B0503020204020204" charset="-122"/>
                <a:ea typeface="微软雅黑" panose="020B0503020204020204" charset="-122"/>
              </a:rPr>
              <a:t>王云超  </a:t>
            </a:r>
            <a:endParaRPr lang="en-US" altLang="zh-CN" sz="3200" dirty="0">
              <a:solidFill>
                <a:schemeClr val="tx1">
                  <a:lumMod val="85000"/>
                  <a:lumOff val="15000"/>
                </a:schemeClr>
              </a:solidFill>
              <a:latin typeface="微软雅黑" panose="020B0503020204020204" charset="-122"/>
              <a:ea typeface="微软雅黑" panose="020B0503020204020204" charset="-122"/>
            </a:endParaRPr>
          </a:p>
          <a:p>
            <a:pPr algn="ctr"/>
            <a:r>
              <a:rPr lang="zh-CN" altLang="en-US" sz="3200" dirty="0">
                <a:solidFill>
                  <a:schemeClr val="tx1">
                    <a:lumMod val="85000"/>
                    <a:lumOff val="15000"/>
                  </a:schemeClr>
                </a:solidFill>
                <a:latin typeface="微软雅黑" panose="020B0503020204020204" charset="-122"/>
                <a:ea typeface="微软雅黑" panose="020B0503020204020204" charset="-122"/>
              </a:rPr>
              <a:t>学号：</a:t>
            </a:r>
            <a:r>
              <a:rPr lang="en-US" altLang="zh-CN" sz="3200" dirty="0">
                <a:solidFill>
                  <a:schemeClr val="tx1">
                    <a:lumMod val="85000"/>
                    <a:lumOff val="15000"/>
                  </a:schemeClr>
                </a:solidFill>
                <a:latin typeface="微软雅黑" panose="020B0503020204020204" charset="-122"/>
                <a:ea typeface="微软雅黑" panose="020B0503020204020204" charset="-122"/>
              </a:rPr>
              <a:t>202415010110</a:t>
            </a:r>
            <a:endParaRPr lang="en-US" altLang="zh-CN" sz="3200" dirty="0">
              <a:solidFill>
                <a:schemeClr val="tx1">
                  <a:lumMod val="85000"/>
                  <a:lumOff val="15000"/>
                </a:schemeClr>
              </a:solidFill>
              <a:latin typeface="微软雅黑" panose="020B0503020204020204" charset="-122"/>
              <a:ea typeface="微软雅黑" panose="020B0503020204020204" charset="-122"/>
            </a:endParaRPr>
          </a:p>
        </p:txBody>
      </p:sp>
      <p:sp>
        <p:nvSpPr>
          <p:cNvPr id="20" name="箭头: V 形 19"/>
          <p:cNvSpPr/>
          <p:nvPr/>
        </p:nvSpPr>
        <p:spPr>
          <a:xfrm rot="5400000">
            <a:off x="8764051" y="2003330"/>
            <a:ext cx="195942" cy="363893"/>
          </a:xfrm>
          <a:prstGeom prst="chevron">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01650" y="1798955"/>
            <a:ext cx="3200400" cy="3633470"/>
            <a:chOff x="2910" y="2538"/>
            <a:chExt cx="5040" cy="5722"/>
          </a:xfrm>
        </p:grpSpPr>
        <p:sp>
          <p:nvSpPr>
            <p:cNvPr id="5" name="Freeform 5"/>
            <p:cNvSpPr/>
            <p:nvPr/>
          </p:nvSpPr>
          <p:spPr bwMode="auto">
            <a:xfrm>
              <a:off x="3695" y="3430"/>
              <a:ext cx="3471" cy="3941"/>
            </a:xfrm>
            <a:custGeom>
              <a:avLst/>
              <a:gdLst>
                <a:gd name="T0" fmla="*/ 6935 w 12812"/>
                <a:gd name="T1" fmla="*/ 195 h 14572"/>
                <a:gd name="T2" fmla="*/ 9609 w 12812"/>
                <a:gd name="T3" fmla="*/ 1739 h 14572"/>
                <a:gd name="T4" fmla="*/ 12283 w 12812"/>
                <a:gd name="T5" fmla="*/ 3282 h 14572"/>
                <a:gd name="T6" fmla="*/ 12812 w 12812"/>
                <a:gd name="T7" fmla="*/ 4199 h 14572"/>
                <a:gd name="T8" fmla="*/ 12812 w 12812"/>
                <a:gd name="T9" fmla="*/ 7286 h 14572"/>
                <a:gd name="T10" fmla="*/ 12812 w 12812"/>
                <a:gd name="T11" fmla="*/ 10374 h 14572"/>
                <a:gd name="T12" fmla="*/ 12283 w 12812"/>
                <a:gd name="T13" fmla="*/ 11290 h 14572"/>
                <a:gd name="T14" fmla="*/ 9609 w 12812"/>
                <a:gd name="T15" fmla="*/ 12834 h 14572"/>
                <a:gd name="T16" fmla="*/ 6935 w 12812"/>
                <a:gd name="T17" fmla="*/ 14378 h 14572"/>
                <a:gd name="T18" fmla="*/ 5877 w 12812"/>
                <a:gd name="T19" fmla="*/ 14378 h 14572"/>
                <a:gd name="T20" fmla="*/ 3203 w 12812"/>
                <a:gd name="T21" fmla="*/ 12834 h 14572"/>
                <a:gd name="T22" fmla="*/ 529 w 12812"/>
                <a:gd name="T23" fmla="*/ 11290 h 14572"/>
                <a:gd name="T24" fmla="*/ 0 w 12812"/>
                <a:gd name="T25" fmla="*/ 10374 h 14572"/>
                <a:gd name="T26" fmla="*/ 0 w 12812"/>
                <a:gd name="T27" fmla="*/ 7286 h 14572"/>
                <a:gd name="T28" fmla="*/ 0 w 12812"/>
                <a:gd name="T29" fmla="*/ 4199 h 14572"/>
                <a:gd name="T30" fmla="*/ 529 w 12812"/>
                <a:gd name="T31" fmla="*/ 3282 h 14572"/>
                <a:gd name="T32" fmla="*/ 3203 w 12812"/>
                <a:gd name="T33" fmla="*/ 1739 h 14572"/>
                <a:gd name="T34" fmla="*/ 5877 w 12812"/>
                <a:gd name="T35" fmla="*/ 195 h 14572"/>
                <a:gd name="T36" fmla="*/ 6935 w 12812"/>
                <a:gd name="T37" fmla="*/ 195 h 14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12" h="14572">
                  <a:moveTo>
                    <a:pt x="6935" y="195"/>
                  </a:moveTo>
                  <a:lnTo>
                    <a:pt x="9609" y="1739"/>
                  </a:lnTo>
                  <a:lnTo>
                    <a:pt x="12283" y="3282"/>
                  </a:lnTo>
                  <a:cubicBezTo>
                    <a:pt x="12620" y="3477"/>
                    <a:pt x="12812" y="3810"/>
                    <a:pt x="12812" y="4199"/>
                  </a:cubicBezTo>
                  <a:lnTo>
                    <a:pt x="12812" y="7286"/>
                  </a:lnTo>
                  <a:lnTo>
                    <a:pt x="12812" y="10374"/>
                  </a:lnTo>
                  <a:cubicBezTo>
                    <a:pt x="12812" y="10763"/>
                    <a:pt x="12620" y="11096"/>
                    <a:pt x="12283" y="11290"/>
                  </a:cubicBezTo>
                  <a:lnTo>
                    <a:pt x="9609" y="12834"/>
                  </a:lnTo>
                  <a:lnTo>
                    <a:pt x="6935" y="14378"/>
                  </a:lnTo>
                  <a:cubicBezTo>
                    <a:pt x="6599" y="14572"/>
                    <a:pt x="6213" y="14572"/>
                    <a:pt x="5877" y="14378"/>
                  </a:cubicBezTo>
                  <a:lnTo>
                    <a:pt x="3203" y="12834"/>
                  </a:lnTo>
                  <a:lnTo>
                    <a:pt x="529" y="11290"/>
                  </a:lnTo>
                  <a:cubicBezTo>
                    <a:pt x="193" y="11096"/>
                    <a:pt x="0" y="10763"/>
                    <a:pt x="0" y="10374"/>
                  </a:cubicBezTo>
                  <a:lnTo>
                    <a:pt x="0" y="7286"/>
                  </a:lnTo>
                  <a:lnTo>
                    <a:pt x="0" y="4199"/>
                  </a:lnTo>
                  <a:cubicBezTo>
                    <a:pt x="0" y="3810"/>
                    <a:pt x="193" y="3477"/>
                    <a:pt x="529" y="3282"/>
                  </a:cubicBezTo>
                  <a:lnTo>
                    <a:pt x="3203" y="1739"/>
                  </a:lnTo>
                  <a:lnTo>
                    <a:pt x="5877" y="195"/>
                  </a:lnTo>
                  <a:cubicBezTo>
                    <a:pt x="6213" y="0"/>
                    <a:pt x="6599" y="0"/>
                    <a:pt x="6935" y="195"/>
                  </a:cubicBezTo>
                  <a:close/>
                </a:path>
              </a:pathLst>
            </a:custGeom>
            <a:solidFill>
              <a:schemeClr val="tx1">
                <a:lumMod val="50000"/>
                <a:lumOff val="50000"/>
              </a:schemeClr>
            </a:solidFill>
            <a:ln w="25400">
              <a:solidFill>
                <a:srgbClr val="083451"/>
              </a:solidFill>
            </a:ln>
            <a:effectLst>
              <a:outerShdw blurRad="381000" dist="2540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 name="Freeform 5"/>
            <p:cNvSpPr/>
            <p:nvPr/>
          </p:nvSpPr>
          <p:spPr bwMode="auto">
            <a:xfrm>
              <a:off x="2910" y="2538"/>
              <a:ext cx="5040" cy="5723"/>
            </a:xfrm>
            <a:custGeom>
              <a:avLst/>
              <a:gdLst>
                <a:gd name="T0" fmla="*/ 6935 w 12812"/>
                <a:gd name="T1" fmla="*/ 195 h 14572"/>
                <a:gd name="T2" fmla="*/ 9609 w 12812"/>
                <a:gd name="T3" fmla="*/ 1739 h 14572"/>
                <a:gd name="T4" fmla="*/ 12283 w 12812"/>
                <a:gd name="T5" fmla="*/ 3282 h 14572"/>
                <a:gd name="T6" fmla="*/ 12812 w 12812"/>
                <a:gd name="T7" fmla="*/ 4199 h 14572"/>
                <a:gd name="T8" fmla="*/ 12812 w 12812"/>
                <a:gd name="T9" fmla="*/ 7286 h 14572"/>
                <a:gd name="T10" fmla="*/ 12812 w 12812"/>
                <a:gd name="T11" fmla="*/ 10374 h 14572"/>
                <a:gd name="T12" fmla="*/ 12283 w 12812"/>
                <a:gd name="T13" fmla="*/ 11290 h 14572"/>
                <a:gd name="T14" fmla="*/ 9609 w 12812"/>
                <a:gd name="T15" fmla="*/ 12834 h 14572"/>
                <a:gd name="T16" fmla="*/ 6935 w 12812"/>
                <a:gd name="T17" fmla="*/ 14378 h 14572"/>
                <a:gd name="T18" fmla="*/ 5877 w 12812"/>
                <a:gd name="T19" fmla="*/ 14378 h 14572"/>
                <a:gd name="T20" fmla="*/ 3203 w 12812"/>
                <a:gd name="T21" fmla="*/ 12834 h 14572"/>
                <a:gd name="T22" fmla="*/ 529 w 12812"/>
                <a:gd name="T23" fmla="*/ 11290 h 14572"/>
                <a:gd name="T24" fmla="*/ 0 w 12812"/>
                <a:gd name="T25" fmla="*/ 10374 h 14572"/>
                <a:gd name="T26" fmla="*/ 0 w 12812"/>
                <a:gd name="T27" fmla="*/ 7286 h 14572"/>
                <a:gd name="T28" fmla="*/ 0 w 12812"/>
                <a:gd name="T29" fmla="*/ 4199 h 14572"/>
                <a:gd name="T30" fmla="*/ 529 w 12812"/>
                <a:gd name="T31" fmla="*/ 3282 h 14572"/>
                <a:gd name="T32" fmla="*/ 3203 w 12812"/>
                <a:gd name="T33" fmla="*/ 1739 h 14572"/>
                <a:gd name="T34" fmla="*/ 5877 w 12812"/>
                <a:gd name="T35" fmla="*/ 195 h 14572"/>
                <a:gd name="T36" fmla="*/ 6935 w 12812"/>
                <a:gd name="T37" fmla="*/ 195 h 14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12" h="14572">
                  <a:moveTo>
                    <a:pt x="6935" y="195"/>
                  </a:moveTo>
                  <a:lnTo>
                    <a:pt x="9609" y="1739"/>
                  </a:lnTo>
                  <a:lnTo>
                    <a:pt x="12283" y="3282"/>
                  </a:lnTo>
                  <a:cubicBezTo>
                    <a:pt x="12620" y="3477"/>
                    <a:pt x="12812" y="3810"/>
                    <a:pt x="12812" y="4199"/>
                  </a:cubicBezTo>
                  <a:lnTo>
                    <a:pt x="12812" y="7286"/>
                  </a:lnTo>
                  <a:lnTo>
                    <a:pt x="12812" y="10374"/>
                  </a:lnTo>
                  <a:cubicBezTo>
                    <a:pt x="12812" y="10763"/>
                    <a:pt x="12620" y="11096"/>
                    <a:pt x="12283" y="11290"/>
                  </a:cubicBezTo>
                  <a:lnTo>
                    <a:pt x="9609" y="12834"/>
                  </a:lnTo>
                  <a:lnTo>
                    <a:pt x="6935" y="14378"/>
                  </a:lnTo>
                  <a:cubicBezTo>
                    <a:pt x="6599" y="14572"/>
                    <a:pt x="6213" y="14572"/>
                    <a:pt x="5877" y="14378"/>
                  </a:cubicBezTo>
                  <a:lnTo>
                    <a:pt x="3203" y="12834"/>
                  </a:lnTo>
                  <a:lnTo>
                    <a:pt x="529" y="11290"/>
                  </a:lnTo>
                  <a:cubicBezTo>
                    <a:pt x="193" y="11096"/>
                    <a:pt x="0" y="10763"/>
                    <a:pt x="0" y="10374"/>
                  </a:cubicBezTo>
                  <a:lnTo>
                    <a:pt x="0" y="7286"/>
                  </a:lnTo>
                  <a:lnTo>
                    <a:pt x="0" y="4199"/>
                  </a:lnTo>
                  <a:cubicBezTo>
                    <a:pt x="0" y="3810"/>
                    <a:pt x="193" y="3477"/>
                    <a:pt x="529" y="3282"/>
                  </a:cubicBezTo>
                  <a:lnTo>
                    <a:pt x="3203" y="1739"/>
                  </a:lnTo>
                  <a:lnTo>
                    <a:pt x="5877" y="195"/>
                  </a:lnTo>
                  <a:cubicBezTo>
                    <a:pt x="6213" y="0"/>
                    <a:pt x="6599" y="0"/>
                    <a:pt x="6935" y="195"/>
                  </a:cubicBezTo>
                  <a:close/>
                </a:path>
              </a:pathLst>
            </a:custGeom>
            <a:noFill/>
            <a:ln w="12700">
              <a:solidFill>
                <a:srgbClr val="093B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9"/>
            <p:cNvSpPr txBox="1">
              <a:spLocks noChangeArrowheads="1"/>
            </p:cNvSpPr>
            <p:nvPr/>
          </p:nvSpPr>
          <p:spPr bwMode="auto">
            <a:xfrm flipH="1">
              <a:off x="3684" y="4600"/>
              <a:ext cx="3493" cy="1599"/>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3600" b="1" kern="0" dirty="0">
                  <a:solidFill>
                    <a:schemeClr val="bg1"/>
                  </a:solidFill>
                  <a:latin typeface="微软雅黑" panose="020B0503020204020204" charset="-122"/>
                  <a:ea typeface="微软雅黑" panose="020B0503020204020204" charset="-122"/>
                </a:rPr>
                <a:t>目录</a:t>
              </a:r>
              <a:endParaRPr lang="en-US" altLang="zh-CN" sz="3600" b="1" kern="0" dirty="0">
                <a:solidFill>
                  <a:schemeClr val="bg1"/>
                </a:solidFill>
                <a:latin typeface="微软雅黑" panose="020B0503020204020204" charset="-122"/>
                <a:ea typeface="微软雅黑" panose="020B0503020204020204" charset="-122"/>
              </a:endParaRPr>
            </a:p>
            <a:p>
              <a:pPr algn="ctr">
                <a:defRPr/>
              </a:pPr>
              <a:r>
                <a:rPr lang="en-US" altLang="zh-CN" sz="2400" kern="0" dirty="0">
                  <a:solidFill>
                    <a:schemeClr val="bg1"/>
                  </a:solidFill>
                  <a:latin typeface="微软雅黑" panose="020B0503020204020204" charset="-122"/>
                  <a:ea typeface="微软雅黑" panose="020B0503020204020204" charset="-122"/>
                </a:rPr>
                <a:t>CONTENTS</a:t>
              </a:r>
              <a:endParaRPr lang="en-US" altLang="ko-KR" sz="2400" kern="0" dirty="0">
                <a:solidFill>
                  <a:schemeClr val="bg1"/>
                </a:solidFill>
                <a:latin typeface="微软雅黑" panose="020B0503020204020204" charset="-122"/>
                <a:ea typeface="微软雅黑" panose="020B0503020204020204" charset="-122"/>
              </a:endParaRPr>
            </a:p>
          </p:txBody>
        </p:sp>
      </p:grpSp>
      <p:sp>
        <p:nvSpPr>
          <p:cNvPr id="6" name="文本框 5"/>
          <p:cNvSpPr txBox="1"/>
          <p:nvPr/>
        </p:nvSpPr>
        <p:spPr>
          <a:xfrm>
            <a:off x="8378825" y="411480"/>
            <a:ext cx="1966595" cy="923290"/>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zh-CN" altLang="en-US" sz="5400" b="1" dirty="0">
                <a:solidFill>
                  <a:schemeClr val="bg1"/>
                </a:solidFill>
                <a:latin typeface="微软雅黑" panose="020B0503020204020204" charset="-122"/>
                <a:ea typeface="微软雅黑" panose="020B0503020204020204" charset="-122"/>
              </a:rPr>
              <a:t>目录</a:t>
            </a:r>
            <a:endParaRPr lang="zh-CN" altLang="en-US" sz="5400" b="1" dirty="0">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4279900" y="1426210"/>
            <a:ext cx="7515860" cy="64833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01 /</a:t>
            </a:r>
            <a:r>
              <a:rPr lang="zh-CN" altLang="en-US" sz="3200" b="1" dirty="0">
                <a:solidFill>
                  <a:schemeClr val="bg1"/>
                </a:solidFill>
                <a:latin typeface="微软雅黑" panose="020B0503020204020204" charset="-122"/>
                <a:ea typeface="微软雅黑" panose="020B0503020204020204" charset="-122"/>
              </a:rPr>
              <a:t>作业五 </a:t>
            </a:r>
            <a:r>
              <a:rPr lang="en-US" altLang="zh-CN" sz="3200" b="1" dirty="0">
                <a:solidFill>
                  <a:schemeClr val="bg1"/>
                </a:solidFill>
                <a:latin typeface="微软雅黑" panose="020B0503020204020204" charset="-122"/>
                <a:ea typeface="微软雅黑" panose="020B0503020204020204" charset="-122"/>
              </a:rPr>
              <a:t>T4</a:t>
            </a:r>
            <a:r>
              <a:rPr lang="zh-CN" altLang="en-US" sz="3200" b="1" dirty="0">
                <a:solidFill>
                  <a:schemeClr val="bg1"/>
                </a:solidFill>
                <a:latin typeface="微软雅黑" panose="020B0503020204020204" charset="-122"/>
                <a:ea typeface="微软雅黑" panose="020B0503020204020204" charset="-122"/>
              </a:rPr>
              <a:t>多文件编程</a:t>
            </a:r>
            <a:endParaRPr lang="zh-CN" altLang="en-US" sz="3200" b="1" dirty="0">
              <a:solidFill>
                <a:schemeClr val="bg1"/>
              </a:solidFill>
              <a:latin typeface="微软雅黑" panose="020B0503020204020204" charset="-122"/>
              <a:ea typeface="微软雅黑" panose="020B0503020204020204" charset="-122"/>
            </a:endParaRPr>
          </a:p>
          <a:p>
            <a:endParaRPr lang="zh-CN" altLang="en-US" sz="3200" b="1" dirty="0">
              <a:solidFill>
                <a:schemeClr val="bg1"/>
              </a:solidFill>
              <a:latin typeface="微软雅黑" panose="020B0503020204020204" charset="-122"/>
              <a:ea typeface="微软雅黑" panose="020B0503020204020204" charset="-122"/>
            </a:endParaRPr>
          </a:p>
        </p:txBody>
      </p:sp>
      <p:sp>
        <p:nvSpPr>
          <p:cNvPr id="22" name="文本框 21"/>
          <p:cNvSpPr txBox="1"/>
          <p:nvPr/>
        </p:nvSpPr>
        <p:spPr>
          <a:xfrm>
            <a:off x="4279265" y="2211705"/>
            <a:ext cx="7516495" cy="69659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02 /</a:t>
            </a:r>
            <a:r>
              <a:rPr lang="zh-CN" altLang="en-US" sz="3200" b="1" dirty="0">
                <a:solidFill>
                  <a:schemeClr val="bg1"/>
                </a:solidFill>
                <a:latin typeface="微软雅黑" panose="020B0503020204020204" charset="-122"/>
                <a:ea typeface="微软雅黑" panose="020B0503020204020204" charset="-122"/>
              </a:rPr>
              <a:t>作业六 </a:t>
            </a:r>
            <a:r>
              <a:rPr lang="en-US" altLang="zh-CN" sz="3200" b="1" dirty="0">
                <a:solidFill>
                  <a:schemeClr val="bg1"/>
                </a:solidFill>
                <a:latin typeface="微软雅黑" panose="020B0503020204020204" charset="-122"/>
                <a:ea typeface="微软雅黑" panose="020B0503020204020204" charset="-122"/>
                <a:sym typeface="+mn-ea"/>
              </a:rPr>
              <a:t>T5</a:t>
            </a:r>
            <a:r>
              <a:rPr lang="zh-CN" altLang="en-US" sz="3200" b="1" dirty="0">
                <a:solidFill>
                  <a:schemeClr val="bg1"/>
                </a:solidFill>
                <a:latin typeface="微软雅黑" panose="020B0503020204020204" charset="-122"/>
                <a:ea typeface="微软雅黑" panose="020B0503020204020204" charset="-122"/>
              </a:rPr>
              <a:t>下标排序（三）字符排序</a:t>
            </a:r>
            <a:endParaRPr lang="zh-CN" altLang="en-US" sz="3200" b="1" dirty="0">
              <a:solidFill>
                <a:schemeClr val="bg1"/>
              </a:solidFill>
              <a:latin typeface="微软雅黑" panose="020B0503020204020204" charset="-122"/>
              <a:ea typeface="微软雅黑" panose="020B0503020204020204" charset="-122"/>
            </a:endParaRPr>
          </a:p>
          <a:p>
            <a:endParaRPr lang="zh-CN" altLang="en-US" sz="3200" b="1" dirty="0">
              <a:solidFill>
                <a:schemeClr val="bg1"/>
              </a:solidFill>
              <a:latin typeface="微软雅黑" panose="020B0503020204020204" charset="-122"/>
              <a:ea typeface="微软雅黑" panose="020B0503020204020204" charset="-122"/>
            </a:endParaRPr>
          </a:p>
        </p:txBody>
      </p:sp>
      <p:sp>
        <p:nvSpPr>
          <p:cNvPr id="23" name="文本框 22"/>
          <p:cNvSpPr txBox="1"/>
          <p:nvPr/>
        </p:nvSpPr>
        <p:spPr>
          <a:xfrm>
            <a:off x="4279265" y="3122930"/>
            <a:ext cx="7516495" cy="6978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03 /</a:t>
            </a:r>
            <a:r>
              <a:rPr lang="zh-CN" altLang="en-US" sz="3200" b="1" dirty="0">
                <a:solidFill>
                  <a:schemeClr val="bg1"/>
                </a:solidFill>
                <a:latin typeface="微软雅黑" panose="020B0503020204020204" charset="-122"/>
                <a:ea typeface="微软雅黑" panose="020B0503020204020204" charset="-122"/>
              </a:rPr>
              <a:t>作业六 </a:t>
            </a:r>
            <a:r>
              <a:rPr lang="en-US" altLang="zh-CN" sz="3200" b="1" dirty="0">
                <a:solidFill>
                  <a:schemeClr val="bg1"/>
                </a:solidFill>
                <a:latin typeface="微软雅黑" panose="020B0503020204020204" charset="-122"/>
                <a:ea typeface="微软雅黑" panose="020B0503020204020204" charset="-122"/>
              </a:rPr>
              <a:t>T13</a:t>
            </a:r>
            <a:r>
              <a:rPr lang="zh-CN" altLang="en-US" sz="3200" b="1" dirty="0">
                <a:solidFill>
                  <a:schemeClr val="bg1"/>
                </a:solidFill>
                <a:latin typeface="微软雅黑" panose="020B0503020204020204" charset="-122"/>
                <a:ea typeface="微软雅黑" panose="020B0503020204020204" charset="-122"/>
              </a:rPr>
              <a:t>松雅的旅馆</a:t>
            </a:r>
            <a:endParaRPr lang="zh-CN" altLang="en-US" sz="3200" b="1" dirty="0">
              <a:solidFill>
                <a:schemeClr val="bg1"/>
              </a:solidFill>
              <a:latin typeface="微软雅黑" panose="020B0503020204020204" charset="-122"/>
              <a:ea typeface="微软雅黑" panose="020B0503020204020204" charset="-122"/>
            </a:endParaRPr>
          </a:p>
          <a:p>
            <a:endParaRPr lang="en-US" altLang="zh-CN" sz="32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4279265" y="4035425"/>
            <a:ext cx="7516495" cy="65595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lstStyle/>
          <a:p>
            <a:r>
              <a:rPr lang="en-US" altLang="zh-CN" sz="3200" b="1" dirty="0">
                <a:solidFill>
                  <a:schemeClr val="bg1"/>
                </a:solidFill>
                <a:latin typeface="微软雅黑" panose="020B0503020204020204" charset="-122"/>
                <a:ea typeface="微软雅黑" panose="020B0503020204020204" charset="-122"/>
              </a:rPr>
              <a:t>04 /</a:t>
            </a:r>
            <a:r>
              <a:rPr lang="zh-CN" altLang="en-US" sz="3200" b="1" dirty="0">
                <a:solidFill>
                  <a:schemeClr val="bg1"/>
                </a:solidFill>
                <a:latin typeface="微软雅黑" panose="020B0503020204020204" charset="-122"/>
                <a:ea typeface="微软雅黑" panose="020B0503020204020204" charset="-122"/>
              </a:rPr>
              <a:t>作业六 </a:t>
            </a:r>
            <a:r>
              <a:rPr lang="en-US" altLang="zh-CN" sz="3200" b="1" dirty="0">
                <a:solidFill>
                  <a:schemeClr val="bg1"/>
                </a:solidFill>
                <a:latin typeface="微软雅黑" panose="020B0503020204020204" charset="-122"/>
                <a:ea typeface="微软雅黑" panose="020B0503020204020204" charset="-122"/>
              </a:rPr>
              <a:t>T14</a:t>
            </a:r>
            <a:r>
              <a:rPr lang="zh-CN" altLang="en-US" sz="3200" b="1" dirty="0">
                <a:solidFill>
                  <a:schemeClr val="bg1"/>
                </a:solidFill>
                <a:latin typeface="微软雅黑" panose="020B0503020204020204" charset="-122"/>
                <a:ea typeface="微软雅黑" panose="020B0503020204020204" charset="-122"/>
              </a:rPr>
              <a:t>猴导师</a:t>
            </a:r>
            <a:endParaRPr lang="zh-CN" altLang="en-US"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4279265" y="5005705"/>
            <a:ext cx="7516495" cy="623570"/>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noAutofit/>
          </a:bodyPr>
          <a:p>
            <a:r>
              <a:rPr lang="en-US" altLang="zh-CN" sz="3200" b="1" dirty="0">
                <a:solidFill>
                  <a:schemeClr val="bg1"/>
                </a:solidFill>
                <a:latin typeface="微软雅黑" panose="020B0503020204020204" charset="-122"/>
                <a:ea typeface="微软雅黑" panose="020B0503020204020204" charset="-122"/>
              </a:rPr>
              <a:t>05/</a:t>
            </a:r>
            <a:r>
              <a:rPr lang="zh-CN" altLang="en-US" sz="3200" b="1" dirty="0">
                <a:solidFill>
                  <a:schemeClr val="bg1"/>
                </a:solidFill>
                <a:latin typeface="微软雅黑" panose="020B0503020204020204" charset="-122"/>
                <a:ea typeface="微软雅黑" panose="020B0503020204020204" charset="-122"/>
              </a:rPr>
              <a:t>期中模拟</a:t>
            </a:r>
            <a:r>
              <a:rPr lang="en-US" altLang="zh-CN" sz="3200" b="1" dirty="0">
                <a:solidFill>
                  <a:schemeClr val="bg1"/>
                </a:solidFill>
                <a:latin typeface="微软雅黑" panose="020B0503020204020204" charset="-122"/>
                <a:ea typeface="微软雅黑" panose="020B0503020204020204" charset="-122"/>
              </a:rPr>
              <a:t> T2</a:t>
            </a:r>
            <a:r>
              <a:rPr lang="zh-CN" altLang="en-US" sz="3200" b="1" dirty="0" err="1">
                <a:solidFill>
                  <a:schemeClr val="bg1"/>
                </a:solidFill>
                <a:latin typeface="微软雅黑" panose="020B0503020204020204" charset="-122"/>
                <a:ea typeface="微软雅黑" panose="020B0503020204020204" charset="-122"/>
                <a:sym typeface="+mn-ea"/>
              </a:rPr>
              <a:t>股票的最小波动</a:t>
            </a:r>
            <a:endParaRPr lang="zh-CN" altLang="en-US" sz="3200"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a:solidFill>
                  <a:schemeClr val="bg1"/>
                </a:solidFill>
                <a:latin typeface="微软雅黑" panose="020B0503020204020204" charset="-122"/>
                <a:ea typeface="微软雅黑" panose="020B0503020204020204" charset="-122"/>
                <a:sym typeface="+mn-ea"/>
              </a:rPr>
              <a:t>多文件编程</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a:stretch>
            <a:fillRect/>
          </a:stretch>
        </p:blipFill>
        <p:spPr>
          <a:xfrm>
            <a:off x="1878330" y="879475"/>
            <a:ext cx="6454775" cy="54502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a:solidFill>
                  <a:schemeClr val="bg1"/>
                </a:solidFill>
                <a:latin typeface="微软雅黑" panose="020B0503020204020204" charset="-122"/>
                <a:ea typeface="微软雅黑" panose="020B0503020204020204" charset="-122"/>
                <a:sym typeface="+mn-ea"/>
              </a:rPr>
              <a:t>多文件编程</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1050290" y="1471930"/>
            <a:ext cx="8709660" cy="44113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878205" y="988060"/>
            <a:ext cx="9403715" cy="5754370"/>
          </a:xfrm>
          <a:prstGeom prst="rect">
            <a:avLst/>
          </a:prstGeom>
        </p:spPr>
        <p:txBody>
          <a:bodyPr wrap="square">
            <a:spAutoFit/>
          </a:bodyPr>
          <a:p>
            <a:r>
              <a:rPr lang="zh-CN" altLang="en-US" sz="1600"/>
              <a:t>本题主要考察多文件编程中头文件（</a:t>
            </a:r>
            <a:r>
              <a:rPr lang="en-US" altLang="zh-CN" sz="1600"/>
              <a:t>.h</a:t>
            </a:r>
            <a:r>
              <a:rPr lang="zh-CN" altLang="en-US" sz="1600"/>
              <a:t>）的三个核心知识点：</a:t>
            </a:r>
            <a:endParaRPr lang="zh-CN" altLang="en-US" sz="1600"/>
          </a:p>
          <a:p>
            <a:endParaRPr lang="zh-CN" altLang="en-US" sz="1600"/>
          </a:p>
          <a:p>
            <a:pPr>
              <a:buAutoNum type="arabicPeriod"/>
            </a:pPr>
            <a:r>
              <a:rPr lang="zh-CN" altLang="en-US" sz="1600"/>
              <a:t>头文件声明的作用</a:t>
            </a:r>
            <a:endParaRPr lang="zh-CN" altLang="en-US" sz="1600"/>
          </a:p>
          <a:p>
            <a:r>
              <a:rPr lang="zh-CN" altLang="en-US" sz="1600"/>
              <a:t> 多个 </a:t>
            </a:r>
            <a:r>
              <a:rPr lang="en-US" altLang="zh-CN" sz="1600"/>
              <a:t>.cpp </a:t>
            </a:r>
            <a:r>
              <a:rPr lang="zh-CN" altLang="en-US" sz="1600"/>
              <a:t>需要调用同一组函数时，将函数声明放在头文件中，确保每个 </a:t>
            </a:r>
            <a:r>
              <a:rPr lang="en-US" altLang="zh-CN" sz="1600"/>
              <a:t>.cpp </a:t>
            </a:r>
            <a:r>
              <a:rPr lang="zh-CN" altLang="en-US" sz="1600"/>
              <a:t>都能“知道”这些函数的存在，否则会出现“未声明的函数”报错。</a:t>
            </a:r>
            <a:endParaRPr lang="zh-CN" altLang="en-US" sz="1600"/>
          </a:p>
          <a:p>
            <a:endParaRPr lang="zh-CN" altLang="en-US" sz="1600"/>
          </a:p>
          <a:p>
            <a:pPr indent="0">
              <a:buNone/>
            </a:pPr>
            <a:r>
              <a:rPr lang="en-US" altLang="zh-CN" sz="1600"/>
              <a:t>2.</a:t>
            </a:r>
            <a:r>
              <a:rPr lang="zh-CN" altLang="en-US" sz="1600"/>
              <a:t>头文件的包含方式 </a:t>
            </a:r>
            <a:r>
              <a:rPr lang="en-US" altLang="zh-CN" sz="1600"/>
              <a:t>#include "my.h" </a:t>
            </a:r>
            <a:r>
              <a:rPr lang="zh-CN" altLang="en-US" sz="1600"/>
              <a:t>与 </a:t>
            </a:r>
            <a:r>
              <a:rPr lang="en-US" altLang="zh-CN" sz="1600"/>
              <a:t>#include &lt;my.h&gt; </a:t>
            </a:r>
            <a:r>
              <a:rPr lang="zh-CN" altLang="en-US" sz="1600"/>
              <a:t>区别</a:t>
            </a:r>
            <a:endParaRPr lang="zh-CN" altLang="en-US" sz="1600"/>
          </a:p>
          <a:p>
            <a:pPr>
              <a:buAutoNum type="arabicPeriod"/>
            </a:pPr>
            <a:endParaRPr lang="zh-CN" altLang="en-US" sz="1600"/>
          </a:p>
          <a:p>
            <a:pPr lvl="1" indent="0">
              <a:buFont typeface="Arial" panose="020B0604020202020204"/>
              <a:buNone/>
            </a:pPr>
            <a:r>
              <a:rPr lang="en-US" altLang="zh-CN" sz="1600"/>
              <a:t>" "</a:t>
            </a:r>
            <a:r>
              <a:rPr lang="zh-CN" altLang="en-US" sz="1600"/>
              <a:t>：先从当前目录查找（适用于自定义头文件）</a:t>
            </a:r>
            <a:endParaRPr lang="zh-CN" altLang="en-US" sz="1600"/>
          </a:p>
          <a:p>
            <a:pPr lvl="1">
              <a:buFont typeface="Arial" panose="020B0604020202020204"/>
              <a:buChar char="◦"/>
            </a:pPr>
            <a:endParaRPr lang="zh-CN" altLang="en-US" sz="1600"/>
          </a:p>
          <a:p>
            <a:pPr lvl="1" indent="0">
              <a:buFont typeface="Arial" panose="020B0604020202020204"/>
              <a:buNone/>
            </a:pPr>
            <a:r>
              <a:rPr lang="en-US" altLang="zh-CN" sz="1600"/>
              <a:t>&lt; &gt;</a:t>
            </a:r>
            <a:r>
              <a:rPr lang="zh-CN" altLang="en-US" sz="1600"/>
              <a:t>：只从系统 </a:t>
            </a:r>
            <a:r>
              <a:rPr lang="en-US" altLang="zh-CN" sz="1600"/>
              <a:t>include </a:t>
            </a:r>
            <a:r>
              <a:rPr lang="zh-CN" altLang="en-US" sz="1600"/>
              <a:t>路径查找（找不到自定义头文件）</a:t>
            </a:r>
            <a:endParaRPr lang="zh-CN" altLang="en-US" sz="1600"/>
          </a:p>
          <a:p>
            <a:pPr lvl="1">
              <a:buFont typeface="Arial" panose="020B0604020202020204"/>
              <a:buChar char="◦"/>
            </a:pPr>
            <a:endParaRPr lang="zh-CN" altLang="en-US" sz="1600"/>
          </a:p>
          <a:p>
            <a:pPr indent="0">
              <a:buNone/>
            </a:pPr>
            <a:r>
              <a:rPr lang="en-US" altLang="zh-CN" sz="1600"/>
              <a:t>3.</a:t>
            </a:r>
            <a:r>
              <a:rPr lang="zh-CN" altLang="en-US" sz="1600"/>
              <a:t>头文件保护（</a:t>
            </a:r>
            <a:r>
              <a:rPr lang="en-US" altLang="zh-CN" sz="1600"/>
              <a:t>include guard</a:t>
            </a:r>
            <a:r>
              <a:rPr lang="zh-CN" altLang="en-US" sz="1600"/>
              <a:t>，也称“哨兵”）的作用</a:t>
            </a:r>
            <a:endParaRPr lang="zh-CN" altLang="en-US" sz="1600"/>
          </a:p>
          <a:p>
            <a:pPr lvl="1"/>
            <a:r>
              <a:rPr lang="en-US" altLang="zh-CN" sz="1600"/>
              <a:t>#ifndef _MY_H
#define _MY_H
...
#endif
</a:t>
            </a:r>
            <a:endParaRPr lang="en-US" altLang="zh-CN" sz="1600"/>
          </a:p>
          <a:p>
            <a:r>
              <a:rPr lang="zh-CN" altLang="en-US" sz="1600"/>
              <a:t>用于防止头文件被重复包含造成的重定义错误。</a:t>
            </a:r>
            <a:endParaRPr lang="zh-CN" altLang="en-US" sz="1600"/>
          </a:p>
          <a:p>
            <a:r>
              <a:rPr lang="zh-CN" altLang="en-US" sz="1600"/>
              <a:t> 在本题结构中，每个 </a:t>
            </a:r>
            <a:r>
              <a:rPr lang="en-US" altLang="zh-CN" sz="1600"/>
              <a:t>.cpp </a:t>
            </a:r>
            <a:r>
              <a:rPr lang="zh-CN" altLang="en-US" sz="1600"/>
              <a:t>各自包含头文件一次，不会在同一编译单元重复展开，因此即使删除哨兵，本例仍不会出错。</a:t>
            </a:r>
            <a:endParaRPr lang="zh-CN" altLang="en-US" sz="1600"/>
          </a:p>
          <a:p>
            <a:r>
              <a:rPr lang="zh-CN" altLang="en-US" sz="1600"/>
              <a:t>综上，本题考查的是：</a:t>
            </a:r>
            <a:endParaRPr lang="zh-CN" altLang="en-US" sz="1600"/>
          </a:p>
          <a:p>
            <a:r>
              <a:rPr lang="zh-CN" altLang="en-US" sz="1600"/>
              <a:t> 多文件中是否必须包含头文件、包含方式是否正确、头文件是否允许重复展开。</a:t>
            </a:r>
            <a:endParaRPr lang="zh-CN"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712470" y="1235710"/>
            <a:ext cx="9048115" cy="4769485"/>
          </a:xfrm>
          <a:prstGeom prst="rect">
            <a:avLst/>
          </a:prstGeom>
        </p:spPr>
        <p:txBody>
          <a:bodyPr wrap="square">
            <a:spAutoFit/>
          </a:bodyPr>
          <a:p>
            <a:pPr algn="l">
              <a:buClrTx/>
              <a:buSzTx/>
              <a:buNone/>
            </a:pPr>
            <a:r>
              <a:rPr lang="en-US" altLang="zh-CN" sz="1600"/>
              <a:t>1.删除某文件中的 #include "my.h" 会怎样？</a:t>
            </a:r>
            <a:endParaRPr lang="en-US" altLang="zh-CN" sz="1600"/>
          </a:p>
          <a:p>
            <a:pPr lvl="1" algn="l">
              <a:buClrTx/>
              <a:buSzTx/>
              <a:buNone/>
            </a:pPr>
            <a:r>
              <a:rPr lang="en-US" altLang="zh-CN" sz="1600"/>
              <a:t>例如 file1.cpp 删除包含语句：</a:t>
            </a:r>
            <a:endParaRPr lang="en-US" altLang="zh-CN" sz="1600"/>
          </a:p>
          <a:p>
            <a:pPr lvl="1" algn="l">
              <a:buClrTx/>
              <a:buSzTx/>
              <a:buNone/>
            </a:pPr>
            <a:r>
              <a:rPr lang="en-US" altLang="zh-CN" sz="1600"/>
              <a:t>voidA()
{
    myFunc1();    // ❌ 本文件中没有看到 myFunc1 的声明
}
</a:t>
            </a:r>
            <a:endParaRPr lang="en-US" altLang="zh-CN" sz="1600"/>
          </a:p>
          <a:p>
            <a:pPr lvl="1" algn="l">
              <a:buClrTx/>
              <a:buSzTx/>
              <a:buNone/>
            </a:pPr>
            <a:r>
              <a:rPr lang="en-US" altLang="zh-CN" sz="1600"/>
              <a:t>编译器无法知道 myFunc1 的类型、返回值等，会报错：</a:t>
            </a:r>
            <a:endParaRPr lang="en-US" altLang="zh-CN" sz="1600"/>
          </a:p>
          <a:p>
            <a:pPr lvl="1" algn="l">
              <a:buClrTx/>
              <a:buSzTx/>
              <a:buNone/>
            </a:pPr>
            <a:r>
              <a:rPr lang="en-US" altLang="zh-CN" sz="1600"/>
              <a:t>error: 'myFunc1' was not declared inthis scope
</a:t>
            </a:r>
            <a:endParaRPr lang="en-US" altLang="zh-CN" sz="1600"/>
          </a:p>
          <a:p>
            <a:pPr lvl="1" algn="l">
              <a:buClrTx/>
              <a:buSzTx/>
              <a:buNone/>
            </a:pPr>
            <a:r>
              <a:rPr lang="en-US" altLang="zh-CN" sz="1600"/>
              <a:t>说明：每个 .cpp 必须自己包含声明所在的头文件。</a:t>
            </a:r>
            <a:endParaRPr lang="en-US" altLang="zh-CN" sz="1600"/>
          </a:p>
          <a:p>
            <a:pPr lvl="1" algn="l">
              <a:buClrTx/>
              <a:buSzTx/>
              <a:buNone/>
            </a:pPr>
            <a:r>
              <a:rPr lang="en-US" altLang="zh-CN" sz="1600"/>
              <a:t>结论：不能正确执行（b）。</a:t>
            </a:r>
            <a:endParaRPr lang="en-US" altLang="zh-CN" sz="1600"/>
          </a:p>
          <a:p>
            <a:pPr algn="l">
              <a:buClrTx/>
              <a:buSzTx/>
              <a:buNone/>
            </a:pPr>
            <a:r>
              <a:rPr lang="en-US" altLang="zh-CN" sz="1600"/>
              <a:t>2.将 #include "my.h" 改为 #include &lt;my.h&gt; 会怎样？</a:t>
            </a:r>
            <a:endParaRPr lang="en-US" altLang="zh-CN" sz="1600"/>
          </a:p>
          <a:p>
            <a:pPr lvl="1" algn="l">
              <a:buClrTx/>
              <a:buSzTx/>
              <a:buNone/>
            </a:pPr>
            <a:r>
              <a:rPr lang="en-US" altLang="zh-CN" sz="1600"/>
              <a:t>#include &lt; &gt; 会从系统目录中找头文件，而不会从当前工程目录寻找。</a:t>
            </a:r>
            <a:endParaRPr lang="en-US" altLang="zh-CN" sz="1600"/>
          </a:p>
          <a:p>
            <a:pPr lvl="1" algn="l">
              <a:buClrTx/>
              <a:buSzTx/>
              <a:buNone/>
            </a:pPr>
            <a:r>
              <a:rPr lang="en-US" altLang="zh-CN" sz="1600"/>
              <a:t> 由于 my.h 是自定义头文件，因此系统目录找不到，会报错：</a:t>
            </a:r>
            <a:endParaRPr lang="en-US" altLang="zh-CN" sz="1600"/>
          </a:p>
          <a:p>
            <a:pPr lvl="1" algn="l">
              <a:buClrTx/>
              <a:buSzTx/>
              <a:buNone/>
            </a:pPr>
            <a:r>
              <a:rPr lang="en-US" altLang="zh-CN" sz="1600"/>
              <a:t>fatal error: my.h:Nosuchfileordirectory
</a:t>
            </a:r>
            <a:endParaRPr lang="en-US" altLang="zh-CN" sz="1600"/>
          </a:p>
          <a:p>
            <a:pPr lvl="1" algn="l">
              <a:buClrTx/>
              <a:buSzTx/>
              <a:buNone/>
            </a:pPr>
            <a:r>
              <a:rPr lang="en-US" altLang="zh-CN" sz="1600"/>
              <a:t>结论：不能正确执行（b）。</a:t>
            </a:r>
            <a:endParaRPr lang="en-US" altLang="zh-CN" sz="1600"/>
          </a:p>
          <a:p>
            <a:pPr algn="l">
              <a:buClrTx/>
              <a:buSzTx/>
              <a:buNone/>
            </a:pPr>
            <a:endParaRPr lang="en-US" altLang="zh-CN"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885190" y="1496695"/>
            <a:ext cx="8249920" cy="2553335"/>
          </a:xfrm>
          <a:prstGeom prst="rect">
            <a:avLst/>
          </a:prstGeom>
        </p:spPr>
        <p:txBody>
          <a:bodyPr wrap="square">
            <a:spAutoFit/>
          </a:bodyPr>
          <a:p>
            <a:pPr lvl="1" algn="l">
              <a:buClrTx/>
              <a:buSzTx/>
              <a:buNone/>
            </a:pPr>
            <a:r>
              <a:rPr lang="en-US" altLang="zh-CN" sz="1600"/>
              <a:t>3.删除头文件中的哨兵会怎样？</a:t>
            </a:r>
            <a:endParaRPr lang="en-US" altLang="zh-CN" sz="1600"/>
          </a:p>
          <a:p>
            <a:pPr lvl="2" algn="l">
              <a:buClrTx/>
              <a:buSzTx/>
              <a:buNone/>
            </a:pPr>
            <a:r>
              <a:rPr lang="en-US" altLang="zh-CN" sz="1600"/>
              <a:t>删除以下内容：</a:t>
            </a:r>
            <a:endParaRPr lang="en-US" altLang="zh-CN" sz="1600"/>
          </a:p>
          <a:p>
            <a:pPr lvl="2" algn="l">
              <a:buClrTx/>
              <a:buSzTx/>
              <a:buNone/>
            </a:pPr>
            <a:r>
              <a:rPr lang="en-US" altLang="zh-CN" sz="1600"/>
              <a:t>#ifndef _MY_H
#define _MY_H
#endif
</a:t>
            </a:r>
            <a:endParaRPr lang="en-US" altLang="zh-CN" sz="1600"/>
          </a:p>
          <a:p>
            <a:pPr lvl="2" algn="l">
              <a:buClrTx/>
              <a:buSzTx/>
              <a:buNone/>
            </a:pPr>
            <a:r>
              <a:rPr lang="en-US" altLang="zh-CN" sz="1600"/>
              <a:t>此时头文件不再防止重复包含。</a:t>
            </a:r>
            <a:endParaRPr lang="en-US" altLang="zh-CN" sz="1600"/>
          </a:p>
          <a:p>
            <a:pPr lvl="2" algn="l">
              <a:buClrTx/>
              <a:buSzTx/>
              <a:buNone/>
            </a:pPr>
            <a:r>
              <a:rPr lang="en-US" altLang="zh-CN" sz="1600"/>
              <a:t>但在本题中，每个 .cpp 文件只包含一次头文件，且没有头文件互相嵌套，因此不会出现重复定义问题，程序仍可顺利编译。</a:t>
            </a:r>
            <a:endParaRPr lang="en-US" altLang="zh-CN" sz="1600"/>
          </a:p>
          <a:p>
            <a:pPr lvl="2" algn="l">
              <a:buClrTx/>
              <a:buSzTx/>
              <a:buNone/>
            </a:pPr>
            <a:r>
              <a:rPr lang="en-US" altLang="zh-CN" sz="1600"/>
              <a:t>结论：可以正确执行（a）。</a:t>
            </a:r>
            <a:endParaRPr lang="en-US" altLang="zh-CN"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a:solidFill>
                  <a:schemeClr val="bg1"/>
                </a:solidFill>
                <a:latin typeface="微软雅黑" panose="020B0503020204020204" charset="-122"/>
                <a:ea typeface="微软雅黑" panose="020B0503020204020204" charset="-122"/>
                <a:sym typeface="+mn-ea"/>
              </a:rPr>
              <a:t>下标排序（三）字符排序</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a:srcRect t="8850"/>
          <a:stretch>
            <a:fillRect/>
          </a:stretch>
        </p:blipFill>
        <p:spPr>
          <a:xfrm>
            <a:off x="1148080" y="1139190"/>
            <a:ext cx="8642985" cy="4709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951230" y="1410970"/>
            <a:ext cx="8004175" cy="4036060"/>
          </a:xfrm>
          <a:prstGeom prst="rect">
            <a:avLst/>
          </a:prstGeom>
        </p:spPr>
        <p:txBody>
          <a:bodyPr wrap="square">
            <a:spAutoFit/>
          </a:bodyPr>
          <a:p>
            <a:pPr>
              <a:spcAft>
                <a:spcPct val="60000"/>
              </a:spcAft>
            </a:pPr>
            <a:endParaRPr lang="zh-CN" altLang="en-US" sz="2800" b="1"/>
          </a:p>
          <a:p>
            <a:pPr indent="0">
              <a:buNone/>
            </a:pPr>
            <a:r>
              <a:rPr lang="en-US" altLang="zh-CN" sz="1600"/>
              <a:t>1.</a:t>
            </a:r>
            <a:r>
              <a:rPr lang="zh-CN" altLang="en-US" sz="1600"/>
              <a:t>本题输入 </a:t>
            </a:r>
            <a:r>
              <a:rPr lang="en-US" altLang="zh-CN" sz="1600"/>
              <a:t>n</a:t>
            </a:r>
            <a:r>
              <a:rPr lang="zh-CN" altLang="en-US" sz="1600"/>
              <a:t>（</a:t>
            </a:r>
            <a:r>
              <a:rPr lang="en-US" altLang="zh-CN" sz="1600"/>
              <a:t>≤60</a:t>
            </a:r>
            <a:r>
              <a:rPr lang="zh-CN" altLang="en-US" sz="1600"/>
              <a:t>）个字符，这些字符互不相同，包含数字、字母和标点符号。</a:t>
            </a:r>
            <a:endParaRPr lang="zh-CN" altLang="en-US" sz="1600"/>
          </a:p>
          <a:p>
            <a:pPr indent="0">
              <a:buNone/>
            </a:pPr>
            <a:endParaRPr lang="zh-CN" altLang="en-US" sz="1600"/>
          </a:p>
          <a:p>
            <a:pPr indent="0">
              <a:buNone/>
            </a:pPr>
            <a:r>
              <a:rPr lang="en-US" altLang="zh-CN" sz="1600"/>
              <a:t>2.</a:t>
            </a:r>
            <a:r>
              <a:rPr lang="zh-CN" altLang="en-US" sz="1600"/>
              <a:t>需要按照字符的 </a:t>
            </a:r>
            <a:r>
              <a:rPr lang="en-US" altLang="zh-CN" sz="1600"/>
              <a:t>ASCII </a:t>
            </a:r>
            <a:r>
              <a:rPr lang="zh-CN" altLang="en-US" sz="1600"/>
              <a:t>值从大到小 进行排序。</a:t>
            </a:r>
            <a:r>
              <a:rPr lang="en-US" altLang="zh-CN" sz="1600"/>
              <a:t>ASCII </a:t>
            </a:r>
            <a:r>
              <a:rPr lang="zh-CN" altLang="en-US" sz="1600"/>
              <a:t>值大 </a:t>
            </a:r>
            <a:r>
              <a:rPr lang="en-US" altLang="zh-CN" sz="1600"/>
              <a:t>→ </a:t>
            </a:r>
            <a:r>
              <a:rPr lang="zh-CN" altLang="en-US" sz="1600"/>
              <a:t>排在前。</a:t>
            </a:r>
            <a:endParaRPr lang="zh-CN" altLang="en-US" sz="1600"/>
          </a:p>
          <a:p>
            <a:pPr indent="0">
              <a:buNone/>
            </a:pPr>
            <a:endParaRPr lang="zh-CN" altLang="en-US" sz="1600"/>
          </a:p>
          <a:p>
            <a:pPr indent="0">
              <a:buNone/>
            </a:pPr>
            <a:r>
              <a:rPr lang="en-US" altLang="zh-CN" sz="1600"/>
              <a:t>3.</a:t>
            </a:r>
            <a:r>
              <a:rPr lang="zh-CN" altLang="en-US" sz="1600"/>
              <a:t>不使用 </a:t>
            </a:r>
            <a:r>
              <a:rPr lang="en-US" altLang="zh-CN" sz="1600"/>
              <a:t>STL </a:t>
            </a:r>
            <a:r>
              <a:rPr lang="zh-CN" altLang="en-US" sz="1600"/>
              <a:t>排序函数，所以</a:t>
            </a:r>
            <a:r>
              <a:rPr lang="zh-CN" altLang="en-US" sz="1600"/>
              <a:t>可以采用 选择排序 实现降序：</a:t>
            </a:r>
            <a:endParaRPr lang="zh-CN" altLang="en-US" sz="1600"/>
          </a:p>
          <a:p>
            <a:pPr>
              <a:buAutoNum type="arabicPeriod"/>
            </a:pPr>
            <a:endParaRPr lang="zh-CN" altLang="en-US" sz="1600"/>
          </a:p>
          <a:p>
            <a:pPr lvl="1" indent="0">
              <a:buFont typeface="Arial" panose="020B0604020202020204"/>
              <a:buNone/>
            </a:pPr>
            <a:r>
              <a:rPr lang="zh-CN" altLang="en-US" sz="1600"/>
              <a:t>在每一轮中，从当前位置往后找 </a:t>
            </a:r>
            <a:r>
              <a:rPr lang="en-US" altLang="zh-CN" sz="1600"/>
              <a:t>ASCII </a:t>
            </a:r>
            <a:r>
              <a:rPr lang="zh-CN" altLang="en-US" sz="1600"/>
              <a:t>最大的字符；</a:t>
            </a:r>
            <a:endParaRPr lang="zh-CN" altLang="en-US" sz="1600"/>
          </a:p>
          <a:p>
            <a:pPr lvl="1">
              <a:buFont typeface="Arial" panose="020B0604020202020204"/>
              <a:buChar char="◦"/>
            </a:pPr>
            <a:endParaRPr lang="zh-CN" altLang="en-US" sz="1600"/>
          </a:p>
          <a:p>
            <a:pPr lvl="1" indent="0">
              <a:buFont typeface="Arial" panose="020B0604020202020204"/>
              <a:buNone/>
            </a:pPr>
            <a:r>
              <a:rPr lang="zh-CN" altLang="en-US" sz="1600"/>
              <a:t>将该字符交换到当前最前位置。</a:t>
            </a:r>
            <a:endParaRPr lang="zh-CN" altLang="en-US" sz="1600"/>
          </a:p>
          <a:p>
            <a:pPr lvl="1">
              <a:buFont typeface="Arial" panose="020B0604020202020204"/>
              <a:buChar char="◦"/>
            </a:pPr>
            <a:endParaRPr lang="zh-CN" altLang="en-US" sz="1600"/>
          </a:p>
          <a:p>
            <a:pPr indent="0">
              <a:buNone/>
            </a:pPr>
            <a:r>
              <a:rPr lang="en-US" altLang="zh-CN" sz="1600"/>
              <a:t>4.</a:t>
            </a:r>
            <a:r>
              <a:rPr lang="zh-CN" altLang="en-US" sz="1600"/>
              <a:t>所有字符存放在 </a:t>
            </a:r>
            <a:r>
              <a:rPr lang="en-US" altLang="zh-CN" sz="1600"/>
              <a:t>char a[60] </a:t>
            </a:r>
            <a:r>
              <a:rPr lang="zh-CN" altLang="en-US" sz="1600"/>
              <a:t>数组中，方便按下标访问与排序。</a:t>
            </a:r>
            <a:endParaRPr lang="zh-CN" altLang="en-US" sz="1600"/>
          </a:p>
          <a:p>
            <a:pPr>
              <a:buAutoNum type="arabicPeriod"/>
            </a:pPr>
            <a:endParaRPr lang="zh-CN" altLang="en-US" sz="1600"/>
          </a:p>
          <a:p>
            <a:pPr indent="0">
              <a:buNone/>
            </a:pPr>
            <a:r>
              <a:rPr lang="en-US" altLang="zh-CN" sz="1600"/>
              <a:t>5.</a:t>
            </a:r>
            <a:r>
              <a:rPr lang="zh-CN" altLang="en-US" sz="1600"/>
              <a:t>输出时要求字符之间不加空格，直接连在一起输出。</a:t>
            </a:r>
            <a:endParaRPr lang="zh-CN"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125220" y="1458595"/>
            <a:ext cx="8592820" cy="4030980"/>
          </a:xfrm>
          <a:prstGeom prst="rect">
            <a:avLst/>
          </a:prstGeom>
        </p:spPr>
        <p:txBody>
          <a:bodyPr wrap="square">
            <a:spAutoFit/>
          </a:bodyPr>
          <a:p>
            <a:pPr indent="0" algn="l">
              <a:buClrTx/>
              <a:buSzTx/>
              <a:buFont typeface="Arial" panose="020B0604020202020204"/>
              <a:buNone/>
            </a:pPr>
            <a:r>
              <a:rPr lang="en-US" altLang="zh-CN" sz="1600"/>
              <a:t>1.输入与数据准备</a:t>
            </a:r>
            <a:endParaRPr lang="en-US" altLang="zh-CN" sz="1600"/>
          </a:p>
          <a:p>
            <a:pPr algn="l">
              <a:buClrTx/>
              <a:buSzTx/>
              <a:buFont typeface="Arial" panose="020B0604020202020204"/>
              <a:buChar char="•"/>
            </a:pPr>
            <a:endParaRPr lang="en-US" altLang="zh-CN" sz="1600"/>
          </a:p>
          <a:p>
            <a:pPr lvl="1" indent="0" algn="l">
              <a:buClrTx/>
              <a:buSzTx/>
              <a:buFont typeface="Arial" panose="020B0604020202020204"/>
              <a:buNone/>
            </a:pPr>
            <a:r>
              <a:rPr lang="en-US" altLang="zh-CN" sz="1600"/>
              <a:t>定义整型变量 n 用于存储输入的字符个数。</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定义字符数组 a[60]，用于存放最多 60 个字符。</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使用循环读入 n 个字符，输入格式为“字符之间用空格分隔”，cin &gt;&gt; a[i] 可以直接读取每一个字符。</a:t>
            </a:r>
            <a:endParaRPr lang="en-US" altLang="zh-CN" sz="1600"/>
          </a:p>
          <a:p>
            <a:pPr indent="0" algn="l">
              <a:buClrTx/>
              <a:buSzTx/>
              <a:buFont typeface="Arial" panose="020B0604020202020204"/>
              <a:buNone/>
            </a:pPr>
            <a:r>
              <a:rPr lang="en-US" altLang="zh-CN" sz="1600"/>
              <a:t>2）选择排序 — 外层循环</a:t>
            </a:r>
            <a:endParaRPr lang="en-US" altLang="zh-CN" sz="1600"/>
          </a:p>
          <a:p>
            <a:pPr algn="l">
              <a:buClrTx/>
              <a:buSzTx/>
              <a:buFont typeface="Arial" panose="020B0604020202020204"/>
              <a:buChar char="•"/>
            </a:pPr>
            <a:endParaRPr lang="en-US" altLang="zh-CN" sz="1600"/>
          </a:p>
          <a:p>
            <a:pPr lvl="1" indent="0" algn="l">
              <a:buClrTx/>
              <a:buSzTx/>
              <a:buFont typeface="Arial" panose="020B0604020202020204"/>
              <a:buNone/>
            </a:pPr>
            <a:r>
              <a:rPr lang="en-US" altLang="zh-CN" sz="1600"/>
              <a:t>外层循环从 i = 0 到 i = n−2。</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每一次循环的目标：在剩余未排序的字符中找到 ASCII 最大的字符并放到位置 i。</a:t>
            </a:r>
            <a:endParaRPr lang="en-US" altLang="zh-CN" sz="1600"/>
          </a:p>
          <a:p>
            <a:pPr lvl="1" algn="l">
              <a:buClrTx/>
              <a:buSzTx/>
              <a:buFont typeface="Arial" panose="020B0604020202020204"/>
              <a:buChar char="•"/>
            </a:pPr>
            <a:endParaRPr lang="en-US" altLang="zh-CN" sz="1600"/>
          </a:p>
          <a:p>
            <a:pPr lvl="1" indent="0" algn="l">
              <a:buClrTx/>
              <a:buSzTx/>
              <a:buFont typeface="Arial" panose="020B0604020202020204"/>
              <a:buNone/>
            </a:pPr>
            <a:r>
              <a:rPr lang="en-US" altLang="zh-CN" sz="1600"/>
              <a:t>假设当前位置的字符（下标 i）就是最大字符，先令 maxPos = i。</a:t>
            </a:r>
            <a:endParaRPr lang="en-US" altLang="zh-CN" sz="1600"/>
          </a:p>
          <a:p>
            <a:pPr indent="0" algn="l">
              <a:buClrTx/>
              <a:buSzTx/>
              <a:buFont typeface="Arial" panose="020B0604020202020204"/>
              <a:buNone/>
            </a:pPr>
            <a:endParaRPr lang="zh-CN" alt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125220" y="1536700"/>
            <a:ext cx="8592820" cy="3784600"/>
          </a:xfrm>
          <a:prstGeom prst="rect">
            <a:avLst/>
          </a:prstGeom>
        </p:spPr>
        <p:txBody>
          <a:bodyPr wrap="square">
            <a:spAutoFit/>
          </a:bodyPr>
          <a:p>
            <a:pPr indent="0" algn="l">
              <a:buClrTx/>
              <a:buSzTx/>
              <a:buFont typeface="Arial" panose="020B0604020202020204"/>
              <a:buNone/>
            </a:pPr>
            <a:r>
              <a:rPr lang="en-US" altLang="zh-CN" sz="1600"/>
              <a:t>3</a:t>
            </a:r>
            <a:r>
              <a:rPr lang="zh-CN" altLang="en-US" sz="1600"/>
              <a:t>）选择排序</a:t>
            </a:r>
            <a:r>
              <a:rPr lang="en-US" altLang="zh-CN" sz="1600"/>
              <a:t> — </a:t>
            </a:r>
            <a:r>
              <a:rPr lang="zh-CN" altLang="en-US" sz="1600"/>
              <a:t>内层扫描与交换</a:t>
            </a:r>
            <a:endParaRPr lang="zh-CN" altLang="en-US" sz="1600"/>
          </a:p>
          <a:p>
            <a:pPr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内层循环从</a:t>
            </a:r>
            <a:r>
              <a:rPr lang="en-US" altLang="zh-CN" sz="1600"/>
              <a:t> j = i+1 </a:t>
            </a:r>
            <a:r>
              <a:rPr lang="zh-CN" altLang="en-US" sz="1600"/>
              <a:t>到</a:t>
            </a:r>
            <a:r>
              <a:rPr lang="en-US" altLang="zh-CN" sz="1600"/>
              <a:t> j = n−1</a:t>
            </a:r>
            <a:r>
              <a:rPr lang="zh-CN" altLang="en-US" sz="1600"/>
              <a:t>，扫描未排序部分。</a:t>
            </a:r>
            <a:endParaRPr lang="zh-CN" altLang="en-US" sz="1600"/>
          </a:p>
          <a:p>
            <a:pPr lvl="1"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若找到某个字符</a:t>
            </a:r>
            <a:r>
              <a:rPr lang="en-US" altLang="zh-CN" sz="1600"/>
              <a:t> a[j] </a:t>
            </a:r>
            <a:r>
              <a:rPr lang="zh-CN" altLang="en-US" sz="1600"/>
              <a:t>的</a:t>
            </a:r>
            <a:r>
              <a:rPr lang="en-US" altLang="zh-CN" sz="1600"/>
              <a:t> ASCII </a:t>
            </a:r>
            <a:r>
              <a:rPr lang="zh-CN" altLang="en-US" sz="1600"/>
              <a:t>值比</a:t>
            </a:r>
            <a:r>
              <a:rPr lang="en-US" altLang="zh-CN" sz="1600"/>
              <a:t> a[maxPos] </a:t>
            </a:r>
            <a:r>
              <a:rPr lang="zh-CN" altLang="en-US" sz="1600"/>
              <a:t>大，则更新</a:t>
            </a:r>
            <a:r>
              <a:rPr lang="en-US" altLang="zh-CN" sz="1600"/>
              <a:t> maxPos = j</a:t>
            </a:r>
            <a:r>
              <a:rPr lang="zh-CN" altLang="en-US" sz="1600"/>
              <a:t>。</a:t>
            </a:r>
            <a:endParaRPr lang="zh-CN" altLang="en-US" sz="1600"/>
          </a:p>
          <a:p>
            <a:pPr lvl="1"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内层结束后，</a:t>
            </a:r>
            <a:r>
              <a:rPr lang="en-US" altLang="zh-CN" sz="1600"/>
              <a:t>maxPos </a:t>
            </a:r>
            <a:r>
              <a:rPr lang="zh-CN" altLang="en-US" sz="1600"/>
              <a:t>就是当前轮中</a:t>
            </a:r>
            <a:r>
              <a:rPr lang="en-US" altLang="zh-CN" sz="1600"/>
              <a:t> ASCII </a:t>
            </a:r>
            <a:r>
              <a:rPr lang="zh-CN" altLang="en-US" sz="1600"/>
              <a:t>最大字符的位置。</a:t>
            </a:r>
            <a:endParaRPr lang="zh-CN" altLang="en-US" sz="1600"/>
          </a:p>
          <a:p>
            <a:pPr lvl="1" indent="0" algn="l">
              <a:buClrTx/>
              <a:buSzTx/>
              <a:buFont typeface="Arial" panose="020B0604020202020204"/>
              <a:buNone/>
            </a:pPr>
            <a:endParaRPr lang="en-US" altLang="zh-CN" sz="1600"/>
          </a:p>
          <a:p>
            <a:pPr indent="457200" algn="l">
              <a:buClrTx/>
              <a:buSzTx/>
              <a:buFont typeface="Arial" panose="020B0604020202020204"/>
              <a:buNone/>
            </a:pPr>
            <a:r>
              <a:rPr lang="zh-CN" altLang="en-US" sz="1600"/>
              <a:t>如果</a:t>
            </a:r>
            <a:r>
              <a:rPr lang="en-US" altLang="zh-CN" sz="1600"/>
              <a:t> maxPos != i</a:t>
            </a:r>
            <a:r>
              <a:rPr lang="zh-CN" altLang="en-US" sz="1600"/>
              <a:t>，则交换</a:t>
            </a:r>
            <a:r>
              <a:rPr lang="en-US" altLang="zh-CN" sz="1600"/>
              <a:t> a[i] </a:t>
            </a:r>
            <a:r>
              <a:rPr lang="zh-CN" altLang="en-US" sz="1600"/>
              <a:t>与</a:t>
            </a:r>
            <a:r>
              <a:rPr lang="en-US" altLang="zh-CN" sz="1600"/>
              <a:t> a[maxPos]</a:t>
            </a:r>
            <a:r>
              <a:rPr lang="zh-CN" altLang="en-US" sz="1600"/>
              <a:t>，把最大字符放到当前最前的位置。</a:t>
            </a:r>
            <a:endParaRPr lang="zh-CN" altLang="en-US" sz="1600"/>
          </a:p>
          <a:p>
            <a:pPr indent="0" algn="l">
              <a:buClrTx/>
              <a:buSzTx/>
              <a:buFont typeface="Arial" panose="020B0604020202020204"/>
              <a:buNone/>
            </a:pPr>
            <a:endParaRPr lang="en-US" altLang="zh-CN" sz="1600"/>
          </a:p>
          <a:p>
            <a:pPr indent="0" algn="l">
              <a:buClrTx/>
              <a:buSzTx/>
              <a:buFont typeface="Arial" panose="020B0604020202020204"/>
              <a:buNone/>
            </a:pPr>
            <a:r>
              <a:rPr lang="en-US" altLang="zh-CN" sz="1600"/>
              <a:t>4</a:t>
            </a:r>
            <a:r>
              <a:rPr lang="zh-CN" altLang="en-US" sz="1600"/>
              <a:t>）输出排序结果</a:t>
            </a:r>
            <a:endParaRPr lang="zh-CN" altLang="en-US" sz="1600"/>
          </a:p>
          <a:p>
            <a:pPr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通过一个简单循环依次输出数组中的字符。</a:t>
            </a:r>
            <a:endParaRPr lang="zh-CN" altLang="en-US" sz="1600"/>
          </a:p>
          <a:p>
            <a:pPr lvl="1" indent="0" algn="l">
              <a:buClrTx/>
              <a:buSzTx/>
              <a:buFont typeface="Arial" panose="020B0604020202020204"/>
              <a:buNone/>
            </a:pPr>
            <a:endParaRPr lang="en-US" altLang="zh-CN" sz="1600"/>
          </a:p>
          <a:p>
            <a:pPr lvl="1" indent="0" algn="l">
              <a:buClrTx/>
              <a:buSzTx/>
              <a:buFont typeface="Arial" panose="020B0604020202020204"/>
              <a:buNone/>
            </a:pPr>
            <a:r>
              <a:rPr lang="zh-CN" altLang="en-US" sz="1600"/>
              <a:t>输出时不添加空格或其他分隔符，确保字符紧密排列，如</a:t>
            </a:r>
            <a:r>
              <a:rPr lang="en-US" altLang="zh-CN" sz="1600"/>
              <a:t> cba</a:t>
            </a:r>
            <a:r>
              <a:rPr lang="zh-CN" altLang="en-US" sz="1600"/>
              <a:t>。</a:t>
            </a:r>
            <a:endParaRPr lang="zh-CN" alt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2-</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1198880"/>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3</a:t>
            </a:r>
            <a:endParaRPr lang="en-US" altLang="zh-CN" dirty="0">
              <a:sym typeface="+mn-ea"/>
            </a:endParaRPr>
          </a:p>
          <a:p>
            <a:pPr marL="457200" lvl="1" indent="457200"/>
            <a:r>
              <a:rPr lang="en-US" altLang="zh-CN" dirty="0">
                <a:sym typeface="+mn-ea"/>
              </a:rPr>
              <a:t>a b c</a:t>
            </a:r>
            <a:endParaRPr lang="en-US" altLang="zh-CN" dirty="0">
              <a:sym typeface="+mn-ea"/>
            </a:endParaRPr>
          </a:p>
          <a:p>
            <a:endParaRPr lang="en-US" altLang="zh-CN" dirty="0">
              <a:sym typeface="+mn-ea"/>
            </a:endParaRPr>
          </a:p>
        </p:txBody>
      </p:sp>
      <p:sp>
        <p:nvSpPr>
          <p:cNvPr id="3" name="文本框 2"/>
          <p:cNvSpPr txBox="1"/>
          <p:nvPr/>
        </p:nvSpPr>
        <p:spPr>
          <a:xfrm>
            <a:off x="1691640" y="4295140"/>
            <a:ext cx="3501390" cy="922020"/>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4</a:t>
            </a:r>
            <a:endParaRPr lang="en-US" altLang="zh-CN"/>
          </a:p>
          <a:p>
            <a:pPr marL="457200" lvl="1" indent="457200"/>
            <a:r>
              <a:rPr lang="en-US" altLang="zh-CN"/>
              <a:t>f d a b</a:t>
            </a:r>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4" name="图片 3"/>
          <p:cNvPicPr>
            <a:picLocks noChangeAspect="1"/>
          </p:cNvPicPr>
          <p:nvPr/>
        </p:nvPicPr>
        <p:blipFill>
          <a:blip r:embed="rId1"/>
          <a:stretch>
            <a:fillRect/>
          </a:stretch>
        </p:blipFill>
        <p:spPr>
          <a:xfrm>
            <a:off x="7773670" y="1445895"/>
            <a:ext cx="2914650" cy="1171575"/>
          </a:xfrm>
          <a:prstGeom prst="rect">
            <a:avLst/>
          </a:prstGeom>
        </p:spPr>
      </p:pic>
      <p:pic>
        <p:nvPicPr>
          <p:cNvPr id="7" name="图片 6"/>
          <p:cNvPicPr>
            <a:picLocks noChangeAspect="1"/>
          </p:cNvPicPr>
          <p:nvPr/>
        </p:nvPicPr>
        <p:blipFill>
          <a:blip r:embed="rId2"/>
          <a:srcRect r="27405"/>
          <a:stretch>
            <a:fillRect/>
          </a:stretch>
        </p:blipFill>
        <p:spPr>
          <a:xfrm>
            <a:off x="7773670" y="4032250"/>
            <a:ext cx="3048000" cy="11715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err="1">
                <a:solidFill>
                  <a:schemeClr val="bg1"/>
                </a:solidFill>
                <a:latin typeface="微软雅黑" panose="020B0503020204020204" charset="-122"/>
                <a:ea typeface="微软雅黑" panose="020B0503020204020204" charset="-122"/>
              </a:rPr>
              <a:t>松雅的旅馆</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1144270" y="1437640"/>
            <a:ext cx="10344785" cy="40055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1248410" y="1416050"/>
            <a:ext cx="8919210" cy="4276725"/>
          </a:xfrm>
          <a:prstGeom prst="rect">
            <a:avLst/>
          </a:prstGeom>
        </p:spPr>
        <p:txBody>
          <a:bodyPr wrap="square">
            <a:spAutoFit/>
          </a:bodyPr>
          <a:p>
            <a:pPr indent="0">
              <a:buNone/>
            </a:pPr>
            <a:r>
              <a:rPr lang="en-US" altLang="zh-CN" sz="1600"/>
              <a:t>1.</a:t>
            </a:r>
            <a:r>
              <a:rPr lang="zh-CN" altLang="en-US" sz="1600"/>
              <a:t>城市在整轴上，已有 </a:t>
            </a:r>
            <a:r>
              <a:rPr lang="en-US" altLang="zh-CN" sz="1600"/>
              <a:t>n </a:t>
            </a:r>
            <a:r>
              <a:rPr lang="zh-CN" altLang="en-US" sz="1600"/>
              <a:t>个旅馆坐标按严格递增给出。目标：统计满足“到最近已有旅馆的最短距离恰好为 </a:t>
            </a:r>
            <a:r>
              <a:rPr lang="en-US" altLang="zh-CN" sz="1600"/>
              <a:t>d”</a:t>
            </a:r>
            <a:r>
              <a:rPr lang="zh-CN" altLang="en-US" sz="1600"/>
              <a:t>的整数坐标数目（这些坐标上不能已存在旅馆）。</a:t>
            </a:r>
            <a:endParaRPr lang="zh-CN" altLang="en-US" sz="1600"/>
          </a:p>
          <a:p>
            <a:pPr>
              <a:buAutoNum type="arabicPeriod"/>
            </a:pPr>
            <a:endParaRPr lang="zh-CN" altLang="en-US" sz="1600"/>
          </a:p>
          <a:p>
            <a:pPr indent="0">
              <a:buNone/>
            </a:pPr>
            <a:r>
              <a:rPr lang="en-US" altLang="zh-CN" sz="1600"/>
              <a:t>2.</a:t>
            </a:r>
            <a:r>
              <a:rPr lang="zh-CN" altLang="en-US" sz="1600"/>
              <a:t>观察：对于每一对相邻的已有旅馆坐标 </a:t>
            </a:r>
            <a:r>
              <a:rPr lang="en-US" altLang="zh-CN" sz="1600"/>
              <a:t>x[i] </a:t>
            </a:r>
            <a:r>
              <a:rPr lang="zh-CN" altLang="en-US" sz="1600"/>
              <a:t>和 </a:t>
            </a:r>
            <a:r>
              <a:rPr lang="en-US" altLang="zh-CN" sz="1600"/>
              <a:t>x[i+1]</a:t>
            </a:r>
            <a:r>
              <a:rPr lang="zh-CN" altLang="en-US" sz="1600"/>
              <a:t>（间距为 </a:t>
            </a:r>
            <a:r>
              <a:rPr lang="en-US" altLang="zh-CN" sz="1600"/>
              <a:t>gap = x[i+1] - x[i]</a:t>
            </a:r>
            <a:r>
              <a:rPr lang="zh-CN" altLang="en-US" sz="1600"/>
              <a:t>），在它们之间可能出现 </a:t>
            </a:r>
            <a:r>
              <a:rPr lang="en-US" altLang="zh-CN" sz="1600"/>
              <a:t>0</a:t>
            </a:r>
            <a:r>
              <a:rPr lang="zh-CN" altLang="en-US" sz="1600"/>
              <a:t>、</a:t>
            </a:r>
            <a:r>
              <a:rPr lang="en-US" altLang="zh-CN" sz="1600"/>
              <a:t>1 </a:t>
            </a:r>
            <a:r>
              <a:rPr lang="zh-CN" altLang="en-US" sz="1600"/>
              <a:t>或 </a:t>
            </a:r>
            <a:r>
              <a:rPr lang="en-US" altLang="zh-CN" sz="1600"/>
              <a:t>2 </a:t>
            </a:r>
            <a:r>
              <a:rPr lang="zh-CN" altLang="en-US" sz="1600"/>
              <a:t>个满足条件的城市：</a:t>
            </a:r>
            <a:endParaRPr lang="zh-CN" altLang="en-US" sz="1600"/>
          </a:p>
          <a:p>
            <a:pPr>
              <a:buAutoNum type="arabicPeriod"/>
            </a:pPr>
            <a:endParaRPr lang="zh-CN" altLang="en-US" sz="1600"/>
          </a:p>
          <a:p>
            <a:pPr lvl="1">
              <a:buFont typeface="Arial" panose="020B0604020202020204"/>
              <a:buChar char="◦"/>
            </a:pPr>
            <a:r>
              <a:rPr lang="zh-CN" altLang="en-US" sz="1600"/>
              <a:t>若 </a:t>
            </a:r>
            <a:r>
              <a:rPr lang="en-US" altLang="zh-CN" sz="1600"/>
              <a:t>gap &lt; 2d</a:t>
            </a:r>
            <a:r>
              <a:rPr lang="zh-CN" altLang="en-US" sz="1600"/>
              <a:t>，则中间没有任何符合条件的位置（因为距离任一端都小于 </a:t>
            </a:r>
            <a:r>
              <a:rPr lang="en-US" altLang="zh-CN" sz="1600"/>
              <a:t>d</a:t>
            </a:r>
            <a:r>
              <a:rPr lang="zh-CN" altLang="en-US" sz="1600"/>
              <a:t>）。</a:t>
            </a:r>
            <a:endParaRPr lang="zh-CN" altLang="en-US" sz="1600"/>
          </a:p>
          <a:p>
            <a:pPr lvl="1">
              <a:buFont typeface="Arial" panose="020B0604020202020204"/>
              <a:buChar char="◦"/>
            </a:pPr>
            <a:endParaRPr lang="zh-CN" altLang="en-US" sz="1600"/>
          </a:p>
          <a:p>
            <a:pPr lvl="1">
              <a:buFont typeface="Arial" panose="020B0604020202020204"/>
              <a:buChar char="◦"/>
            </a:pPr>
            <a:r>
              <a:rPr lang="zh-CN" altLang="en-US" sz="1600"/>
              <a:t>若 </a:t>
            </a:r>
            <a:r>
              <a:rPr lang="en-US" altLang="zh-CN" sz="1600"/>
              <a:t>gap == 2d</a:t>
            </a:r>
            <a:r>
              <a:rPr lang="zh-CN" altLang="en-US" sz="1600"/>
              <a:t>，中间恰有一个位置（位于两者中点），其到两端距离都是 </a:t>
            </a:r>
            <a:r>
              <a:rPr lang="en-US" altLang="zh-CN" sz="1600"/>
              <a:t>d</a:t>
            </a:r>
            <a:r>
              <a:rPr lang="zh-CN" altLang="en-US" sz="1600"/>
              <a:t>，应计 </a:t>
            </a:r>
            <a:r>
              <a:rPr lang="en-US" altLang="zh-CN" sz="1600"/>
              <a:t>1 </a:t>
            </a:r>
            <a:r>
              <a:rPr lang="zh-CN" altLang="en-US" sz="1600"/>
              <a:t>个。</a:t>
            </a:r>
            <a:endParaRPr lang="zh-CN" altLang="en-US" sz="1600"/>
          </a:p>
          <a:p>
            <a:pPr lvl="1">
              <a:buFont typeface="Arial" panose="020B0604020202020204"/>
              <a:buChar char="◦"/>
            </a:pPr>
            <a:endParaRPr lang="zh-CN" altLang="en-US" sz="1600"/>
          </a:p>
          <a:p>
            <a:pPr lvl="1">
              <a:buFont typeface="Arial" panose="020B0604020202020204"/>
              <a:buChar char="◦"/>
            </a:pPr>
            <a:r>
              <a:rPr lang="zh-CN" altLang="en-US" sz="1600"/>
              <a:t>若 </a:t>
            </a:r>
            <a:r>
              <a:rPr lang="en-US" altLang="zh-CN" sz="1600"/>
              <a:t>gap &gt; 2d</a:t>
            </a:r>
            <a:r>
              <a:rPr lang="zh-CN" altLang="en-US" sz="1600"/>
              <a:t>，两端各有一个位置（</a:t>
            </a:r>
            <a:r>
              <a:rPr lang="en-US" altLang="zh-CN" sz="1600"/>
              <a:t>x[i] + d </a:t>
            </a:r>
            <a:r>
              <a:rPr lang="zh-CN" altLang="en-US" sz="1600"/>
              <a:t>与 </a:t>
            </a:r>
            <a:r>
              <a:rPr lang="en-US" altLang="zh-CN" sz="1600"/>
              <a:t>x[i+1] - d</a:t>
            </a:r>
            <a:r>
              <a:rPr lang="zh-CN" altLang="en-US" sz="1600"/>
              <a:t>），两者不同且均有效，应计 </a:t>
            </a:r>
            <a:r>
              <a:rPr lang="en-US" altLang="zh-CN" sz="1600"/>
              <a:t>2 </a:t>
            </a:r>
            <a:r>
              <a:rPr lang="zh-CN" altLang="en-US" sz="1600"/>
              <a:t>个。</a:t>
            </a:r>
            <a:endParaRPr lang="zh-CN" altLang="en-US" sz="1600"/>
          </a:p>
          <a:p>
            <a:pPr lvl="1">
              <a:buFont typeface="Arial" panose="020B0604020202020204"/>
              <a:buChar char="◦"/>
            </a:pPr>
            <a:endParaRPr lang="zh-CN" altLang="en-US" sz="1600"/>
          </a:p>
          <a:p>
            <a:pPr indent="0">
              <a:buNone/>
            </a:pPr>
            <a:r>
              <a:rPr lang="en-US" altLang="zh-CN" sz="1600"/>
              <a:t>3.</a:t>
            </a:r>
            <a:r>
              <a:rPr lang="zh-CN" altLang="en-US" sz="1600"/>
              <a:t>另外，在两端（最左和最右已有旅馆的外侧）每侧总有一个无冲突的位置可以放新旅馆（分别是最左 </a:t>
            </a:r>
            <a:r>
              <a:rPr lang="en-US" altLang="zh-CN" sz="1600"/>
              <a:t>x[0] - d </a:t>
            </a:r>
            <a:r>
              <a:rPr lang="zh-CN" altLang="en-US" sz="1600"/>
              <a:t>与最右 </a:t>
            </a:r>
            <a:r>
              <a:rPr lang="en-US" altLang="zh-CN" sz="1600"/>
              <a:t>x[n-1] + d</a:t>
            </a:r>
            <a:r>
              <a:rPr lang="zh-CN" altLang="en-US" sz="1600"/>
              <a:t>），各自到最近已有旅馆的距离为 </a:t>
            </a:r>
            <a:r>
              <a:rPr lang="en-US" altLang="zh-CN" sz="1600"/>
              <a:t>d</a:t>
            </a:r>
            <a:r>
              <a:rPr lang="zh-CN" altLang="en-US" sz="1600"/>
              <a:t>，因此初始答案为 </a:t>
            </a:r>
            <a:r>
              <a:rPr lang="en-US" altLang="zh-CN" sz="1600"/>
              <a:t>2</a:t>
            </a:r>
            <a:r>
              <a:rPr lang="zh-CN" altLang="en-US" sz="1600"/>
              <a:t>。</a:t>
            </a:r>
            <a:endParaRPr lang="zh-CN" altLang="en-US" sz="1600"/>
          </a:p>
          <a:p>
            <a:pPr>
              <a:buAutoNum type="arabicPeriod"/>
            </a:pPr>
            <a:endParaRPr lang="zh-CN" altLang="en-US" sz="1600"/>
          </a:p>
          <a:p>
            <a:pPr indent="0">
              <a:buNone/>
            </a:pPr>
            <a:r>
              <a:rPr lang="en-US" altLang="zh-CN" sz="1600"/>
              <a:t>3.</a:t>
            </a:r>
            <a:r>
              <a:rPr lang="zh-CN" altLang="en-US" sz="1600"/>
              <a:t>综上：答案可通过遍历相邻对，累加 </a:t>
            </a:r>
            <a:r>
              <a:rPr lang="en-US" altLang="zh-CN" sz="1600"/>
              <a:t>gap == 2d ? +1 : (gap &gt; 2d ? +2 : +0)</a:t>
            </a:r>
            <a:r>
              <a:rPr lang="zh-CN" altLang="en-US" sz="1600"/>
              <a:t>，并在遍历前将答案初始化为 </a:t>
            </a:r>
            <a:r>
              <a:rPr lang="en-US" altLang="zh-CN" sz="1600"/>
              <a:t>2</a:t>
            </a:r>
            <a:r>
              <a:rPr lang="zh-CN" altLang="en-US" sz="1600"/>
              <a:t>。</a:t>
            </a:r>
            <a:endParaRPr lang="zh-CN"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954405" y="1045210"/>
            <a:ext cx="10283190" cy="4769485"/>
          </a:xfrm>
          <a:prstGeom prst="rect">
            <a:avLst/>
          </a:prstGeom>
          <a:noFill/>
        </p:spPr>
        <p:txBody>
          <a:bodyPr wrap="square" rtlCol="0" anchor="t">
            <a:spAutoFit/>
          </a:bodyPr>
          <a:p>
            <a:r>
              <a:rPr lang="en-US" altLang="zh-CN" sz="1600"/>
              <a:t>1.</a:t>
            </a:r>
            <a:r>
              <a:rPr lang="zh-CN" altLang="en-US" sz="1600"/>
              <a:t>输入与初始化</a:t>
            </a:r>
            <a:endParaRPr lang="zh-CN" altLang="en-US" sz="1600"/>
          </a:p>
          <a:p>
            <a:endParaRPr lang="en-US" altLang="zh-CN" sz="1600"/>
          </a:p>
          <a:p>
            <a:pPr lvl="1"/>
            <a:r>
              <a:rPr lang="zh-CN" altLang="en-US" sz="1600"/>
              <a:t>包含</a:t>
            </a:r>
            <a:r>
              <a:rPr lang="en-US" altLang="zh-CN" sz="1600"/>
              <a:t> iostream </a:t>
            </a:r>
            <a:r>
              <a:rPr lang="zh-CN" altLang="en-US" sz="1600"/>
              <a:t>并使用标准命名空间以便输入输出。</a:t>
            </a:r>
            <a:endParaRPr lang="zh-CN" altLang="en-US" sz="1600"/>
          </a:p>
          <a:p>
            <a:pPr lvl="1"/>
            <a:endParaRPr lang="en-US" altLang="zh-CN" sz="1600"/>
          </a:p>
          <a:p>
            <a:pPr lvl="1"/>
            <a:r>
              <a:rPr lang="zh-CN" altLang="en-US" sz="1600"/>
              <a:t>定义整型</a:t>
            </a:r>
            <a:r>
              <a:rPr lang="en-US" altLang="zh-CN" sz="1600"/>
              <a:t> n </a:t>
            </a:r>
            <a:r>
              <a:rPr lang="zh-CN" altLang="en-US" sz="1600"/>
              <a:t>存储已有旅馆个数，定义长整型</a:t>
            </a:r>
            <a:r>
              <a:rPr lang="en-US" altLang="zh-CN" sz="1600"/>
              <a:t> d </a:t>
            </a:r>
            <a:r>
              <a:rPr lang="zh-CN" altLang="en-US" sz="1600"/>
              <a:t>存储目标距离。</a:t>
            </a:r>
            <a:endParaRPr lang="zh-CN" altLang="en-US" sz="1600"/>
          </a:p>
          <a:p>
            <a:pPr lvl="1"/>
            <a:endParaRPr lang="en-US" altLang="zh-CN" sz="1600"/>
          </a:p>
          <a:p>
            <a:pPr lvl="1"/>
            <a:r>
              <a:rPr lang="zh-CN" altLang="en-US" sz="1600"/>
              <a:t>读入</a:t>
            </a:r>
            <a:r>
              <a:rPr lang="en-US" altLang="zh-CN" sz="1600"/>
              <a:t> n </a:t>
            </a:r>
            <a:r>
              <a:rPr lang="zh-CN" altLang="en-US" sz="1600"/>
              <a:t>与</a:t>
            </a:r>
            <a:r>
              <a:rPr lang="en-US" altLang="zh-CN" sz="1600"/>
              <a:t> d</a:t>
            </a:r>
            <a:r>
              <a:rPr lang="zh-CN" altLang="en-US" sz="1600"/>
              <a:t>。</a:t>
            </a:r>
            <a:endParaRPr lang="zh-CN" altLang="en-US" sz="1600"/>
          </a:p>
          <a:p>
            <a:pPr lvl="1"/>
            <a:endParaRPr lang="en-US" altLang="zh-CN" sz="1600"/>
          </a:p>
          <a:p>
            <a:pPr lvl="1"/>
            <a:r>
              <a:rPr lang="zh-CN" altLang="en-US" sz="1600"/>
              <a:t>定义数组</a:t>
            </a:r>
            <a:r>
              <a:rPr lang="en-US" altLang="zh-CN" sz="1600"/>
              <a:t> x[] </a:t>
            </a:r>
            <a:r>
              <a:rPr lang="zh-CN" altLang="en-US" sz="1600"/>
              <a:t>存放</a:t>
            </a:r>
            <a:r>
              <a:rPr lang="en-US" altLang="zh-CN" sz="1600"/>
              <a:t> n </a:t>
            </a:r>
            <a:r>
              <a:rPr lang="zh-CN" altLang="en-US" sz="1600"/>
              <a:t>个旅馆坐标（题目已按严格递增给出）。</a:t>
            </a:r>
            <a:endParaRPr lang="zh-CN" altLang="en-US" sz="1600"/>
          </a:p>
          <a:p>
            <a:pPr lvl="1"/>
            <a:endParaRPr lang="en-US" altLang="zh-CN" sz="1600"/>
          </a:p>
          <a:p>
            <a:pPr lvl="1"/>
            <a:r>
              <a:rPr lang="zh-CN" altLang="en-US" sz="1600"/>
              <a:t>通过循环读入所有坐标。</a:t>
            </a:r>
            <a:endParaRPr lang="zh-CN" altLang="en-US" sz="1600"/>
          </a:p>
          <a:p>
            <a:pPr lvl="1"/>
            <a:endParaRPr lang="en-US" altLang="zh-CN" sz="1600"/>
          </a:p>
          <a:p>
            <a:r>
              <a:rPr lang="en-US" altLang="zh-CN" sz="1600"/>
              <a:t>2. </a:t>
            </a:r>
            <a:r>
              <a:rPr lang="zh-CN" altLang="en-US" sz="1600"/>
              <a:t>初始答案与遍历思路</a:t>
            </a:r>
            <a:endParaRPr lang="zh-CN" altLang="en-US" sz="1600"/>
          </a:p>
          <a:p>
            <a:endParaRPr lang="en-US" altLang="zh-CN" sz="1600"/>
          </a:p>
          <a:p>
            <a:pPr lvl="1"/>
            <a:r>
              <a:rPr lang="zh-CN" altLang="en-US" sz="1600"/>
              <a:t>将答案</a:t>
            </a:r>
            <a:r>
              <a:rPr lang="en-US" altLang="zh-CN" sz="1600"/>
              <a:t> ans </a:t>
            </a:r>
            <a:r>
              <a:rPr lang="zh-CN" altLang="en-US" sz="1600"/>
              <a:t>初始化为</a:t>
            </a:r>
            <a:r>
              <a:rPr lang="en-US" altLang="zh-CN" sz="1600"/>
              <a:t> 2</a:t>
            </a:r>
            <a:r>
              <a:rPr lang="zh-CN" altLang="en-US" sz="1600"/>
              <a:t>，表示最左侧</a:t>
            </a:r>
            <a:r>
              <a:rPr lang="en-US" altLang="zh-CN" sz="1600"/>
              <a:t> x[0]-d </a:t>
            </a:r>
            <a:r>
              <a:rPr lang="zh-CN" altLang="en-US" sz="1600"/>
              <a:t>与最右侧</a:t>
            </a:r>
            <a:r>
              <a:rPr lang="en-US" altLang="zh-CN" sz="1600"/>
              <a:t> x[n-1]+d </a:t>
            </a:r>
            <a:r>
              <a:rPr lang="zh-CN" altLang="en-US" sz="1600"/>
              <a:t>这两个候选点。</a:t>
            </a:r>
            <a:endParaRPr lang="zh-CN" altLang="en-US" sz="1600"/>
          </a:p>
          <a:p>
            <a:pPr lvl="1"/>
            <a:endParaRPr lang="en-US" altLang="zh-CN" sz="1600"/>
          </a:p>
          <a:p>
            <a:pPr lvl="1"/>
            <a:r>
              <a:rPr lang="zh-CN" altLang="en-US" sz="1600"/>
              <a:t>遍历相邻坐标对</a:t>
            </a:r>
            <a:r>
              <a:rPr lang="en-US" altLang="zh-CN" sz="1600"/>
              <a:t> x[i] </a:t>
            </a:r>
            <a:r>
              <a:rPr lang="zh-CN" altLang="en-US" sz="1600"/>
              <a:t>与</a:t>
            </a:r>
            <a:r>
              <a:rPr lang="en-US" altLang="zh-CN" sz="1600"/>
              <a:t> x[i+1]</a:t>
            </a:r>
            <a:r>
              <a:rPr lang="zh-CN" altLang="en-US" sz="1600"/>
              <a:t>，计算</a:t>
            </a:r>
            <a:r>
              <a:rPr lang="en-US" altLang="zh-CN" sz="1600"/>
              <a:t> gap = x[i+1] - x[i]</a:t>
            </a:r>
            <a:r>
              <a:rPr lang="zh-CN" altLang="en-US" sz="1600"/>
              <a:t>。</a:t>
            </a:r>
            <a:endParaRPr lang="zh-CN" altLang="en-US" sz="1600"/>
          </a:p>
          <a:p>
            <a:pPr lvl="1"/>
            <a:endParaRPr lang="en-US" altLang="zh-CN" sz="1600"/>
          </a:p>
          <a:p>
            <a:pPr lvl="1"/>
            <a:endParaRPr lang="zh-CN"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907415" y="1478280"/>
            <a:ext cx="9012555" cy="4246245"/>
          </a:xfrm>
          <a:prstGeom prst="rect">
            <a:avLst/>
          </a:prstGeom>
          <a:noFill/>
        </p:spPr>
        <p:txBody>
          <a:bodyPr wrap="square" rtlCol="0" anchor="t">
            <a:spAutoFit/>
          </a:bodyPr>
          <a:p>
            <a:r>
              <a:rPr lang="en-US" altLang="zh-CN"/>
              <a:t>3.</a:t>
            </a:r>
            <a:r>
              <a:rPr lang="zh-CN" altLang="en-US"/>
              <a:t>判断间隙与累加答案</a:t>
            </a:r>
            <a:endParaRPr lang="zh-CN" altLang="en-US"/>
          </a:p>
          <a:p>
            <a:endParaRPr lang="en-US" altLang="zh-CN"/>
          </a:p>
          <a:p>
            <a:pPr lvl="1"/>
            <a:r>
              <a:rPr lang="zh-CN" altLang="en-US"/>
              <a:t>若</a:t>
            </a:r>
            <a:r>
              <a:rPr lang="en-US" altLang="zh-CN"/>
              <a:t> gap == 2*d</a:t>
            </a:r>
            <a:r>
              <a:rPr lang="zh-CN" altLang="en-US"/>
              <a:t>，中间恰有一个点到两端距离都是</a:t>
            </a:r>
            <a:r>
              <a:rPr lang="en-US" altLang="zh-CN"/>
              <a:t> d</a:t>
            </a:r>
            <a:r>
              <a:rPr lang="zh-CN" altLang="en-US"/>
              <a:t>，因此</a:t>
            </a:r>
            <a:r>
              <a:rPr lang="en-US" altLang="zh-CN"/>
              <a:t> ans += 1</a:t>
            </a:r>
            <a:r>
              <a:rPr lang="zh-CN" altLang="en-US"/>
              <a:t>。</a:t>
            </a:r>
            <a:endParaRPr lang="zh-CN" altLang="en-US"/>
          </a:p>
          <a:p>
            <a:pPr lvl="1"/>
            <a:endParaRPr lang="en-US" altLang="zh-CN"/>
          </a:p>
          <a:p>
            <a:pPr lvl="1"/>
            <a:r>
              <a:rPr lang="zh-CN" altLang="en-US"/>
              <a:t>若</a:t>
            </a:r>
            <a:r>
              <a:rPr lang="en-US" altLang="zh-CN"/>
              <a:t> gap &gt; 2*d</a:t>
            </a:r>
            <a:r>
              <a:rPr lang="zh-CN" altLang="en-US"/>
              <a:t>，则中间有两个不同点分别与左右端距离为</a:t>
            </a:r>
            <a:r>
              <a:rPr lang="en-US" altLang="zh-CN"/>
              <a:t> d</a:t>
            </a:r>
            <a:r>
              <a:rPr lang="zh-CN" altLang="en-US"/>
              <a:t>，因此</a:t>
            </a:r>
            <a:r>
              <a:rPr lang="en-US" altLang="zh-CN"/>
              <a:t> ans += 2</a:t>
            </a:r>
            <a:r>
              <a:rPr lang="zh-CN" altLang="en-US"/>
              <a:t>。</a:t>
            </a:r>
            <a:endParaRPr lang="zh-CN" altLang="en-US"/>
          </a:p>
          <a:p>
            <a:pPr lvl="1"/>
            <a:endParaRPr lang="en-US" altLang="zh-CN"/>
          </a:p>
          <a:p>
            <a:pPr lvl="1"/>
            <a:r>
              <a:rPr lang="zh-CN" altLang="en-US"/>
              <a:t>若</a:t>
            </a:r>
            <a:r>
              <a:rPr lang="en-US" altLang="zh-CN"/>
              <a:t> gap &lt; 2*d</a:t>
            </a:r>
            <a:r>
              <a:rPr lang="zh-CN" altLang="en-US"/>
              <a:t>，中间没有满足距离为</a:t>
            </a:r>
            <a:r>
              <a:rPr lang="en-US" altLang="zh-CN"/>
              <a:t> d </a:t>
            </a:r>
            <a:r>
              <a:rPr lang="zh-CN" altLang="en-US"/>
              <a:t>的点，不增加答案。</a:t>
            </a:r>
            <a:endParaRPr lang="zh-CN" altLang="en-US"/>
          </a:p>
          <a:p>
            <a:pPr lvl="1"/>
            <a:endParaRPr lang="en-US" altLang="zh-CN"/>
          </a:p>
          <a:p>
            <a:pPr lvl="1"/>
            <a:r>
              <a:rPr lang="zh-CN" altLang="en-US"/>
              <a:t>对所有相邻对重复以上判断并累加。</a:t>
            </a:r>
            <a:endParaRPr lang="zh-CN" altLang="en-US"/>
          </a:p>
          <a:p>
            <a:pPr lvl="1"/>
            <a:endParaRPr lang="en-US" altLang="zh-CN"/>
          </a:p>
          <a:p>
            <a:r>
              <a:rPr lang="en-US" altLang="zh-CN"/>
              <a:t>4. </a:t>
            </a:r>
            <a:r>
              <a:rPr lang="zh-CN" altLang="en-US"/>
              <a:t>输出与结束</a:t>
            </a:r>
            <a:endParaRPr lang="zh-CN" altLang="en-US"/>
          </a:p>
          <a:p>
            <a:endParaRPr lang="en-US" altLang="zh-CN"/>
          </a:p>
          <a:p>
            <a:pPr lvl="1"/>
            <a:r>
              <a:rPr lang="zh-CN" altLang="en-US"/>
              <a:t>遍历结束后输出</a:t>
            </a:r>
            <a:r>
              <a:rPr lang="en-US" altLang="zh-CN"/>
              <a:t> ans</a:t>
            </a:r>
            <a:r>
              <a:rPr lang="zh-CN" altLang="en-US"/>
              <a:t>。</a:t>
            </a:r>
            <a:endParaRPr lang="zh-CN" altLang="en-US"/>
          </a:p>
          <a:p>
            <a:pPr lvl="1"/>
            <a:endParaRPr lang="en-US" altLang="zh-CN"/>
          </a:p>
          <a:p>
            <a:pPr lvl="1"/>
            <a:r>
              <a:rPr lang="zh-CN" altLang="en-US"/>
              <a:t>程序返回</a:t>
            </a:r>
            <a:r>
              <a:rPr lang="en-US" altLang="zh-CN"/>
              <a:t> 0</a:t>
            </a:r>
            <a:r>
              <a:rPr lang="zh-CN" altLang="en-US"/>
              <a:t>，正常结束。</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3-</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922020"/>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4 3</a:t>
            </a:r>
            <a:endParaRPr lang="en-US" altLang="zh-CN" dirty="0">
              <a:sym typeface="+mn-ea"/>
            </a:endParaRPr>
          </a:p>
          <a:p>
            <a:pPr marL="457200" lvl="1" indent="457200"/>
            <a:r>
              <a:rPr lang="en-US" altLang="zh-CN" dirty="0">
                <a:sym typeface="+mn-ea"/>
              </a:rPr>
              <a:t>-3 2 9 16</a:t>
            </a:r>
            <a:endParaRPr lang="en-US" altLang="zh-CN" dirty="0">
              <a:sym typeface="+mn-ea"/>
            </a:endParaRPr>
          </a:p>
        </p:txBody>
      </p:sp>
      <p:sp>
        <p:nvSpPr>
          <p:cNvPr id="3" name="文本框 2"/>
          <p:cNvSpPr txBox="1"/>
          <p:nvPr/>
        </p:nvSpPr>
        <p:spPr>
          <a:xfrm>
            <a:off x="1691640" y="4295140"/>
            <a:ext cx="3501390" cy="1198880"/>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5 2</a:t>
            </a:r>
            <a:endParaRPr lang="en-US" altLang="zh-CN"/>
          </a:p>
          <a:p>
            <a:pPr marL="457200" lvl="1" indent="457200"/>
            <a:r>
              <a:rPr lang="en-US" altLang="zh-CN"/>
              <a:t>1 5 10 19 25</a:t>
            </a:r>
            <a:endParaRPr lang="en-US" altLang="zh-CN"/>
          </a:p>
          <a:p>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2" name="图片 1"/>
          <p:cNvPicPr>
            <a:picLocks noChangeAspect="1"/>
          </p:cNvPicPr>
          <p:nvPr/>
        </p:nvPicPr>
        <p:blipFill>
          <a:blip r:embed="rId1"/>
          <a:srcRect r="15576"/>
          <a:stretch>
            <a:fillRect/>
          </a:stretch>
        </p:blipFill>
        <p:spPr>
          <a:xfrm>
            <a:off x="7273290" y="1393825"/>
            <a:ext cx="3417570" cy="1428750"/>
          </a:xfrm>
          <a:prstGeom prst="rect">
            <a:avLst/>
          </a:prstGeom>
        </p:spPr>
      </p:pic>
      <p:pic>
        <p:nvPicPr>
          <p:cNvPr id="8" name="图片 7"/>
          <p:cNvPicPr>
            <a:picLocks noChangeAspect="1"/>
          </p:cNvPicPr>
          <p:nvPr/>
        </p:nvPicPr>
        <p:blipFill>
          <a:blip r:embed="rId2"/>
          <a:stretch>
            <a:fillRect/>
          </a:stretch>
        </p:blipFill>
        <p:spPr>
          <a:xfrm>
            <a:off x="7423785" y="3957955"/>
            <a:ext cx="3267075" cy="14097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err="1">
                <a:solidFill>
                  <a:schemeClr val="bg1"/>
                </a:solidFill>
                <a:latin typeface="微软雅黑" panose="020B0503020204020204" charset="-122"/>
                <a:ea typeface="微软雅黑" panose="020B0503020204020204" charset="-122"/>
              </a:rPr>
              <a:t>猴导师</a:t>
            </a:r>
            <a:endParaRPr lang="zh-CN" altLang="en-US" sz="3200" b="1" dirty="0" err="1">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1143635" y="1222375"/>
            <a:ext cx="8926195" cy="48526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8" name="文本框 7"/>
          <p:cNvSpPr txBox="1"/>
          <p:nvPr/>
        </p:nvSpPr>
        <p:spPr>
          <a:xfrm>
            <a:off x="1097280" y="1193165"/>
            <a:ext cx="9766300" cy="5262245"/>
          </a:xfrm>
          <a:prstGeom prst="rect">
            <a:avLst/>
          </a:prstGeom>
          <a:noFill/>
        </p:spPr>
        <p:txBody>
          <a:bodyPr wrap="square" rtlCol="0" anchor="t">
            <a:spAutoFit/>
          </a:bodyPr>
          <a:p>
            <a:r>
              <a:rPr lang="en-US" altLang="zh-CN" sz="1600"/>
              <a:t>1.</a:t>
            </a:r>
            <a:r>
              <a:rPr lang="zh-CN" altLang="en-US" sz="1600"/>
              <a:t>导师条件分析：</a:t>
            </a:r>
            <a:endParaRPr lang="zh-CN" altLang="en-US" sz="1600"/>
          </a:p>
          <a:p>
            <a:endParaRPr lang="en-US" altLang="zh-CN" sz="1600"/>
          </a:p>
          <a:p>
            <a:pPr lvl="1"/>
            <a:r>
              <a:rPr lang="zh-CN" altLang="en-US" sz="1600"/>
              <a:t>猴子</a:t>
            </a:r>
            <a:r>
              <a:rPr lang="en-US" altLang="zh-CN" sz="1600"/>
              <a:t> i </a:t>
            </a:r>
            <a:r>
              <a:rPr lang="zh-CN" altLang="en-US" sz="1600"/>
              <a:t>能成为猴子</a:t>
            </a:r>
            <a:r>
              <a:rPr lang="en-US" altLang="zh-CN" sz="1600"/>
              <a:t> j </a:t>
            </a:r>
            <a:r>
              <a:rPr lang="zh-CN" altLang="en-US" sz="1600"/>
              <a:t>的导师必须满足两个条件：</a:t>
            </a:r>
            <a:endParaRPr lang="zh-CN" altLang="en-US" sz="1600"/>
          </a:p>
          <a:p>
            <a:pPr lvl="1"/>
            <a:endParaRPr lang="en-US" altLang="zh-CN" sz="1600"/>
          </a:p>
          <a:p>
            <a:pPr lvl="1"/>
            <a:r>
              <a:rPr lang="zh-CN" altLang="en-US" sz="1600"/>
              <a:t>技能比对方高：</a:t>
            </a:r>
            <a:r>
              <a:rPr lang="en-US" altLang="zh-CN" sz="1600"/>
              <a:t>a[i] &gt; a[j]</a:t>
            </a:r>
            <a:endParaRPr lang="en-US" altLang="zh-CN" sz="1600"/>
          </a:p>
          <a:p>
            <a:pPr lvl="1"/>
            <a:endParaRPr lang="en-US" altLang="zh-CN" sz="1600"/>
          </a:p>
          <a:p>
            <a:pPr lvl="1"/>
            <a:r>
              <a:rPr lang="zh-CN" altLang="en-US" sz="1600"/>
              <a:t>与对方无性格冲突</a:t>
            </a:r>
            <a:endParaRPr lang="zh-CN" altLang="en-US" sz="1600"/>
          </a:p>
          <a:p>
            <a:pPr lvl="1"/>
            <a:endParaRPr lang="en-US" altLang="zh-CN" sz="1600"/>
          </a:p>
          <a:p>
            <a:pPr lvl="1"/>
            <a:r>
              <a:rPr lang="en-US" altLang="en-US" sz="1600"/>
              <a:t>→</a:t>
            </a:r>
            <a:r>
              <a:rPr lang="en-US" altLang="zh-CN" sz="1600"/>
              <a:t> </a:t>
            </a:r>
            <a:r>
              <a:rPr lang="zh-CN" altLang="en-US" sz="1600"/>
              <a:t>这意味着我们要对每对猴子</a:t>
            </a:r>
            <a:r>
              <a:rPr lang="en-US" altLang="zh-CN" sz="1600"/>
              <a:t> (i,j) </a:t>
            </a:r>
            <a:r>
              <a:rPr lang="zh-CN" altLang="en-US" sz="1600"/>
              <a:t>判断技能大小和冲突关系。</a:t>
            </a:r>
            <a:endParaRPr lang="zh-CN" altLang="en-US" sz="1600"/>
          </a:p>
          <a:p>
            <a:endParaRPr lang="en-US" altLang="zh-CN" sz="1600"/>
          </a:p>
          <a:p>
            <a:r>
              <a:rPr lang="en-US" altLang="zh-CN" sz="1600"/>
              <a:t>2.</a:t>
            </a:r>
            <a:r>
              <a:rPr lang="zh-CN" altLang="en-US" sz="1600"/>
              <a:t>数据结构选择：</a:t>
            </a:r>
            <a:endParaRPr lang="zh-CN" altLang="en-US" sz="1600"/>
          </a:p>
          <a:p>
            <a:endParaRPr lang="en-US" altLang="zh-CN" sz="1600"/>
          </a:p>
          <a:p>
            <a:pPr lvl="1"/>
            <a:r>
              <a:rPr lang="zh-CN" altLang="en-US" sz="1600"/>
              <a:t>技能数组</a:t>
            </a:r>
            <a:r>
              <a:rPr lang="en-US" altLang="zh-CN" sz="1600"/>
              <a:t> a[1..n]</a:t>
            </a:r>
            <a:r>
              <a:rPr lang="zh-CN" altLang="en-US" sz="1600"/>
              <a:t>：存储每只猴子的技能</a:t>
            </a:r>
            <a:endParaRPr lang="zh-CN" altLang="en-US" sz="1600"/>
          </a:p>
          <a:p>
            <a:pPr lvl="1"/>
            <a:endParaRPr lang="en-US" altLang="zh-CN" sz="1600"/>
          </a:p>
          <a:p>
            <a:pPr lvl="1"/>
            <a:r>
              <a:rPr lang="zh-CN" altLang="en-US" sz="1600"/>
              <a:t>冲突表</a:t>
            </a:r>
            <a:r>
              <a:rPr lang="en-US" altLang="zh-CN" sz="1600"/>
              <a:t> t[1..n]</a:t>
            </a:r>
            <a:r>
              <a:rPr lang="zh-CN" altLang="en-US" sz="1600"/>
              <a:t>：用邻接表存储每只猴子的冲突伙伴</a:t>
            </a:r>
            <a:endParaRPr lang="zh-CN" altLang="en-US" sz="1600"/>
          </a:p>
          <a:p>
            <a:pPr lvl="1"/>
            <a:endParaRPr lang="en-US" altLang="zh-CN" sz="1600"/>
          </a:p>
          <a:p>
            <a:pPr lvl="1"/>
            <a:r>
              <a:rPr lang="en-US" altLang="zh-CN" sz="1600"/>
              <a:t>t[i] </a:t>
            </a:r>
            <a:r>
              <a:rPr lang="zh-CN" altLang="en-US" sz="1600"/>
              <a:t>中包含所有与猴子</a:t>
            </a:r>
            <a:r>
              <a:rPr lang="en-US" altLang="zh-CN" sz="1600"/>
              <a:t> i </a:t>
            </a:r>
            <a:r>
              <a:rPr lang="zh-CN" altLang="en-US" sz="1600"/>
              <a:t>冲突的猴子</a:t>
            </a:r>
            <a:endParaRPr lang="zh-CN" altLang="en-US" sz="1600"/>
          </a:p>
          <a:p>
            <a:pPr lvl="1"/>
            <a:endParaRPr lang="en-US" altLang="zh-CN" sz="1600"/>
          </a:p>
          <a:p>
            <a:pPr lvl="1"/>
            <a:r>
              <a:rPr lang="zh-CN" altLang="en-US" sz="1600"/>
              <a:t>检查冲突时可以快速遍历</a:t>
            </a:r>
            <a:endParaRPr lang="zh-CN" altLang="en-US" sz="1600"/>
          </a:p>
          <a:p>
            <a:endParaRPr lang="en-US" altLang="zh-CN" sz="1600"/>
          </a:p>
          <a:p>
            <a:endParaRPr lang="zh-CN" altLang="en-US"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11580" y="908050"/>
            <a:ext cx="9005570" cy="5754370"/>
          </a:xfrm>
          <a:prstGeom prst="rect">
            <a:avLst/>
          </a:prstGeom>
          <a:noFill/>
        </p:spPr>
        <p:txBody>
          <a:bodyPr wrap="square" rtlCol="0" anchor="t">
            <a:spAutoFit/>
          </a:bodyPr>
          <a:p>
            <a:r>
              <a:rPr lang="en-US" altLang="zh-CN" sz="1600"/>
              <a:t>3.</a:t>
            </a:r>
            <a:r>
              <a:rPr lang="zh-CN" altLang="en-US" sz="1600"/>
              <a:t>暴力遍历方法：</a:t>
            </a:r>
            <a:endParaRPr lang="zh-CN" altLang="en-US" sz="1600"/>
          </a:p>
          <a:p>
            <a:endParaRPr lang="en-US" altLang="zh-CN" sz="1600"/>
          </a:p>
          <a:p>
            <a:pPr lvl="1"/>
            <a:r>
              <a:rPr lang="zh-CN" altLang="en-US" sz="1600"/>
              <a:t>对每只猴子</a:t>
            </a:r>
            <a:r>
              <a:rPr lang="en-US" altLang="zh-CN" sz="1600"/>
              <a:t> i</a:t>
            </a:r>
            <a:r>
              <a:rPr lang="zh-CN" altLang="en-US" sz="1600"/>
              <a:t>：</a:t>
            </a:r>
            <a:endParaRPr lang="zh-CN" altLang="en-US" sz="1600"/>
          </a:p>
          <a:p>
            <a:pPr lvl="1"/>
            <a:endParaRPr lang="en-US" altLang="zh-CN" sz="1600"/>
          </a:p>
          <a:p>
            <a:pPr lvl="1"/>
            <a:r>
              <a:rPr lang="zh-CN" altLang="en-US" sz="1600"/>
              <a:t>初始化计数器</a:t>
            </a:r>
            <a:r>
              <a:rPr lang="en-US" altLang="zh-CN" sz="1600"/>
              <a:t> cnt[i] = 0</a:t>
            </a:r>
            <a:endParaRPr lang="en-US" altLang="zh-CN" sz="1600"/>
          </a:p>
          <a:p>
            <a:pPr lvl="1"/>
            <a:endParaRPr lang="en-US" altLang="zh-CN" sz="1600"/>
          </a:p>
          <a:p>
            <a:pPr lvl="1"/>
            <a:r>
              <a:rPr lang="zh-CN" altLang="en-US" sz="1600"/>
              <a:t>遍历其他所有猴子</a:t>
            </a:r>
            <a:r>
              <a:rPr lang="en-US" altLang="zh-CN" sz="1600"/>
              <a:t> j</a:t>
            </a:r>
            <a:r>
              <a:rPr lang="zh-CN" altLang="en-US" sz="1600"/>
              <a:t>（</a:t>
            </a:r>
            <a:r>
              <a:rPr lang="en-US" altLang="zh-CN" sz="1600"/>
              <a:t>j != i</a:t>
            </a:r>
            <a:r>
              <a:rPr lang="zh-CN" altLang="en-US" sz="1600"/>
              <a:t>）：</a:t>
            </a:r>
            <a:endParaRPr lang="zh-CN" altLang="en-US" sz="1600"/>
          </a:p>
          <a:p>
            <a:pPr lvl="1"/>
            <a:endParaRPr lang="en-US" altLang="zh-CN" sz="1600"/>
          </a:p>
          <a:p>
            <a:pPr lvl="1"/>
            <a:r>
              <a:rPr lang="zh-CN" altLang="en-US" sz="1600"/>
              <a:t>如果</a:t>
            </a:r>
            <a:r>
              <a:rPr lang="en-US" altLang="zh-CN" sz="1600"/>
              <a:t> a[i] &lt;= a[j] </a:t>
            </a:r>
            <a:r>
              <a:rPr lang="en-US" altLang="en-US" sz="1600"/>
              <a:t>→</a:t>
            </a:r>
            <a:r>
              <a:rPr lang="en-US" altLang="zh-CN" sz="1600"/>
              <a:t> </a:t>
            </a:r>
            <a:r>
              <a:rPr lang="zh-CN" altLang="en-US" sz="1600"/>
              <a:t>不能成为导师</a:t>
            </a:r>
            <a:r>
              <a:rPr lang="en-US" altLang="zh-CN" sz="1600"/>
              <a:t> </a:t>
            </a:r>
            <a:r>
              <a:rPr lang="en-US" altLang="en-US" sz="1600"/>
              <a:t>→</a:t>
            </a:r>
            <a:r>
              <a:rPr lang="en-US" altLang="zh-CN" sz="1600"/>
              <a:t> </a:t>
            </a:r>
            <a:r>
              <a:rPr lang="zh-CN" altLang="en-US" sz="1600"/>
              <a:t>跳过</a:t>
            </a:r>
            <a:endParaRPr lang="zh-CN" altLang="en-US" sz="1600"/>
          </a:p>
          <a:p>
            <a:pPr lvl="1"/>
            <a:endParaRPr lang="en-US" altLang="zh-CN" sz="1600"/>
          </a:p>
          <a:p>
            <a:pPr lvl="1"/>
            <a:r>
              <a:rPr lang="zh-CN" altLang="en-US" sz="1600"/>
              <a:t>否则，遍历</a:t>
            </a:r>
            <a:r>
              <a:rPr lang="en-US" altLang="zh-CN" sz="1600"/>
              <a:t> i </a:t>
            </a:r>
            <a:r>
              <a:rPr lang="zh-CN" altLang="en-US" sz="1600"/>
              <a:t>的冲突表</a:t>
            </a:r>
            <a:r>
              <a:rPr lang="en-US" altLang="zh-CN" sz="1600"/>
              <a:t> t[i]</a:t>
            </a:r>
            <a:r>
              <a:rPr lang="zh-CN" altLang="en-US" sz="1600"/>
              <a:t>：</a:t>
            </a:r>
            <a:endParaRPr lang="zh-CN" altLang="en-US" sz="1600"/>
          </a:p>
          <a:p>
            <a:pPr lvl="1"/>
            <a:endParaRPr lang="en-US" altLang="zh-CN" sz="1600"/>
          </a:p>
          <a:p>
            <a:pPr lvl="1"/>
            <a:r>
              <a:rPr lang="zh-CN" altLang="en-US" sz="1600"/>
              <a:t>如果</a:t>
            </a:r>
            <a:r>
              <a:rPr lang="en-US" altLang="zh-CN" sz="1600"/>
              <a:t> j </a:t>
            </a:r>
            <a:r>
              <a:rPr lang="zh-CN" altLang="en-US" sz="1600"/>
              <a:t>在冲突表中</a:t>
            </a:r>
            <a:r>
              <a:rPr lang="en-US" altLang="zh-CN" sz="1600"/>
              <a:t> </a:t>
            </a:r>
            <a:r>
              <a:rPr lang="en-US" altLang="en-US" sz="1600"/>
              <a:t>→</a:t>
            </a:r>
            <a:r>
              <a:rPr lang="en-US" altLang="zh-CN" sz="1600"/>
              <a:t> </a:t>
            </a:r>
            <a:r>
              <a:rPr lang="zh-CN" altLang="en-US" sz="1600"/>
              <a:t>不能成为导师</a:t>
            </a:r>
            <a:r>
              <a:rPr lang="en-US" altLang="zh-CN" sz="1600"/>
              <a:t> </a:t>
            </a:r>
            <a:r>
              <a:rPr lang="en-US" altLang="en-US" sz="1600"/>
              <a:t>→</a:t>
            </a:r>
            <a:r>
              <a:rPr lang="en-US" altLang="zh-CN" sz="1600"/>
              <a:t> </a:t>
            </a:r>
            <a:r>
              <a:rPr lang="zh-CN" altLang="en-US" sz="1600"/>
              <a:t>跳过</a:t>
            </a:r>
            <a:endParaRPr lang="zh-CN" altLang="en-US" sz="1600"/>
          </a:p>
          <a:p>
            <a:pPr lvl="1"/>
            <a:endParaRPr lang="en-US" altLang="zh-CN" sz="1600"/>
          </a:p>
          <a:p>
            <a:pPr lvl="1"/>
            <a:r>
              <a:rPr lang="zh-CN" altLang="en-US" sz="1600"/>
              <a:t>如果不冲突</a:t>
            </a:r>
            <a:r>
              <a:rPr lang="en-US" altLang="zh-CN" sz="1600"/>
              <a:t> </a:t>
            </a:r>
            <a:r>
              <a:rPr lang="en-US" altLang="en-US" sz="1600"/>
              <a:t>→</a:t>
            </a:r>
            <a:r>
              <a:rPr lang="en-US" altLang="zh-CN" sz="1600"/>
              <a:t> </a:t>
            </a:r>
            <a:r>
              <a:rPr lang="zh-CN" altLang="en-US" sz="1600"/>
              <a:t>可以成为导师</a:t>
            </a:r>
            <a:r>
              <a:rPr lang="en-US" altLang="zh-CN" sz="1600"/>
              <a:t> </a:t>
            </a:r>
            <a:r>
              <a:rPr lang="en-US" altLang="en-US" sz="1600"/>
              <a:t>→</a:t>
            </a:r>
            <a:r>
              <a:rPr lang="en-US" altLang="zh-CN" sz="1600"/>
              <a:t> cnt[i]++</a:t>
            </a:r>
            <a:endParaRPr lang="en-US" altLang="zh-CN" sz="1600"/>
          </a:p>
          <a:p>
            <a:pPr lvl="1"/>
            <a:endParaRPr lang="en-US" altLang="zh-CN" sz="1600"/>
          </a:p>
          <a:p>
            <a:pPr lvl="1"/>
            <a:r>
              <a:rPr lang="zh-CN" altLang="en-US" sz="1600"/>
              <a:t>最终</a:t>
            </a:r>
            <a:r>
              <a:rPr lang="en-US" altLang="zh-CN" sz="1600"/>
              <a:t> cnt[i] </a:t>
            </a:r>
            <a:r>
              <a:rPr lang="zh-CN" altLang="en-US" sz="1600"/>
              <a:t>就是猴子</a:t>
            </a:r>
            <a:r>
              <a:rPr lang="en-US" altLang="zh-CN" sz="1600"/>
              <a:t> i </a:t>
            </a:r>
            <a:r>
              <a:rPr lang="zh-CN" altLang="en-US" sz="1600"/>
              <a:t>能成为导师的数量</a:t>
            </a:r>
            <a:endParaRPr lang="zh-CN" altLang="en-US" sz="1600"/>
          </a:p>
          <a:p>
            <a:endParaRPr lang="en-US" altLang="zh-CN" sz="1600"/>
          </a:p>
          <a:p>
            <a:r>
              <a:rPr lang="en-US" altLang="zh-CN" sz="1600"/>
              <a:t>4.</a:t>
            </a:r>
            <a:r>
              <a:rPr lang="zh-CN" altLang="en-US" sz="1600"/>
              <a:t>输出：</a:t>
            </a:r>
            <a:endParaRPr lang="zh-CN" altLang="en-US" sz="1600"/>
          </a:p>
          <a:p>
            <a:endParaRPr lang="en-US" altLang="zh-CN" sz="1600"/>
          </a:p>
          <a:p>
            <a:pPr lvl="1"/>
            <a:r>
              <a:rPr lang="zh-CN" altLang="en-US" sz="1600"/>
              <a:t>遍历完每只猴子，依次输出</a:t>
            </a:r>
            <a:r>
              <a:rPr lang="en-US" altLang="zh-CN" sz="1600"/>
              <a:t> cnt[i]</a:t>
            </a:r>
            <a:endParaRPr lang="en-US" altLang="zh-CN" sz="1600"/>
          </a:p>
          <a:p>
            <a:pPr lvl="1"/>
            <a:endParaRPr lang="en-US" altLang="zh-CN" sz="1600"/>
          </a:p>
          <a:p>
            <a:pPr lvl="1"/>
            <a:r>
              <a:rPr lang="zh-CN" altLang="en-US" sz="1600"/>
              <a:t>注意索引从</a:t>
            </a:r>
            <a:r>
              <a:rPr lang="en-US" altLang="zh-CN" sz="1600"/>
              <a:t> 1 </a:t>
            </a:r>
            <a:r>
              <a:rPr lang="zh-CN" altLang="en-US" sz="1600"/>
              <a:t>开始或</a:t>
            </a:r>
            <a:r>
              <a:rPr lang="en-US" altLang="zh-CN" sz="1600"/>
              <a:t> 0 </a:t>
            </a:r>
            <a:r>
              <a:rPr lang="zh-CN" altLang="en-US" sz="1600"/>
              <a:t>开始统一处理</a:t>
            </a:r>
            <a:endParaRPr lang="zh-CN" altLang="en-US"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480185" y="1290320"/>
            <a:ext cx="8163560" cy="4276725"/>
          </a:xfrm>
          <a:prstGeom prst="rect">
            <a:avLst/>
          </a:prstGeom>
          <a:noFill/>
        </p:spPr>
        <p:txBody>
          <a:bodyPr wrap="square" rtlCol="0" anchor="t">
            <a:spAutoFit/>
          </a:bodyPr>
          <a:p>
            <a:r>
              <a:rPr lang="en-US" altLang="zh-CN" sz="1600"/>
              <a:t>1.</a:t>
            </a:r>
            <a:r>
              <a:rPr lang="zh-CN" altLang="en-US" sz="1600"/>
              <a:t>输入与初始化</a:t>
            </a:r>
            <a:endParaRPr lang="zh-CN" altLang="en-US" sz="1600"/>
          </a:p>
          <a:p>
            <a:endParaRPr lang="en-US" altLang="zh-CN" sz="1600"/>
          </a:p>
          <a:p>
            <a:pPr lvl="1"/>
            <a:r>
              <a:rPr lang="zh-CN" altLang="en-US" sz="1600"/>
              <a:t>包含</a:t>
            </a:r>
            <a:r>
              <a:rPr lang="en-US" altLang="zh-CN" sz="1600"/>
              <a:t> &lt;iostream&gt; </a:t>
            </a:r>
            <a:r>
              <a:rPr lang="zh-CN" altLang="en-US" sz="1600"/>
              <a:t>和</a:t>
            </a:r>
            <a:r>
              <a:rPr lang="en-US" altLang="zh-CN" sz="1600"/>
              <a:t> &lt;vector&gt;</a:t>
            </a:r>
            <a:endParaRPr lang="en-US" altLang="zh-CN" sz="1600"/>
          </a:p>
          <a:p>
            <a:pPr lvl="1"/>
            <a:endParaRPr lang="en-US" altLang="zh-CN" sz="1600"/>
          </a:p>
          <a:p>
            <a:pPr lvl="1"/>
            <a:r>
              <a:rPr lang="zh-CN" altLang="en-US" sz="1600"/>
              <a:t>定义整型</a:t>
            </a:r>
            <a:r>
              <a:rPr lang="en-US" altLang="zh-CN" sz="1600"/>
              <a:t> n</a:t>
            </a:r>
            <a:r>
              <a:rPr lang="zh-CN" altLang="en-US" sz="1600"/>
              <a:t>（猴子数量）和</a:t>
            </a:r>
            <a:r>
              <a:rPr lang="en-US" altLang="zh-CN" sz="1600"/>
              <a:t> m</a:t>
            </a:r>
            <a:r>
              <a:rPr lang="zh-CN" altLang="en-US" sz="1600"/>
              <a:t>（冲突对数）</a:t>
            </a:r>
            <a:endParaRPr lang="zh-CN" altLang="en-US" sz="1600"/>
          </a:p>
          <a:p>
            <a:pPr lvl="1"/>
            <a:endParaRPr lang="en-US" altLang="zh-CN" sz="1600"/>
          </a:p>
          <a:p>
            <a:pPr lvl="1"/>
            <a:r>
              <a:rPr lang="zh-CN" altLang="en-US" sz="1600"/>
              <a:t>定义技能数组</a:t>
            </a:r>
            <a:r>
              <a:rPr lang="en-US" altLang="zh-CN" sz="1600"/>
              <a:t> a[1..n]</a:t>
            </a:r>
            <a:r>
              <a:rPr lang="zh-CN" altLang="en-US" sz="1600"/>
              <a:t>，冲突关系表</a:t>
            </a:r>
            <a:r>
              <a:rPr lang="en-US" altLang="zh-CN" sz="1600"/>
              <a:t> t[1..n]</a:t>
            </a:r>
            <a:endParaRPr lang="en-US" altLang="zh-CN" sz="1600"/>
          </a:p>
          <a:p>
            <a:pPr lvl="1"/>
            <a:endParaRPr lang="en-US" altLang="zh-CN" sz="1600"/>
          </a:p>
          <a:p>
            <a:pPr lvl="1"/>
            <a:r>
              <a:rPr lang="zh-CN" altLang="en-US" sz="1600"/>
              <a:t>循环读入每只猴子的技能值</a:t>
            </a:r>
            <a:endParaRPr lang="zh-CN" altLang="en-US" sz="1600"/>
          </a:p>
          <a:p>
            <a:endParaRPr lang="en-US" altLang="zh-CN" sz="1600"/>
          </a:p>
          <a:p>
            <a:r>
              <a:rPr lang="en-US" altLang="zh-CN" sz="1600"/>
              <a:t>2.</a:t>
            </a:r>
            <a:r>
              <a:rPr lang="zh-CN" altLang="en-US" sz="1600"/>
              <a:t>建立冲突关系</a:t>
            </a:r>
            <a:endParaRPr lang="zh-CN" altLang="en-US" sz="1600"/>
          </a:p>
          <a:p>
            <a:endParaRPr lang="en-US" altLang="zh-CN" sz="1600"/>
          </a:p>
          <a:p>
            <a:pPr lvl="1"/>
            <a:r>
              <a:rPr lang="zh-CN" altLang="en-US" sz="1600"/>
              <a:t>循环读入</a:t>
            </a:r>
            <a:r>
              <a:rPr lang="en-US" altLang="zh-CN" sz="1600"/>
              <a:t> m </a:t>
            </a:r>
            <a:r>
              <a:rPr lang="zh-CN" altLang="en-US" sz="1600"/>
              <a:t>对冲突</a:t>
            </a:r>
            <a:r>
              <a:rPr lang="en-US" altLang="zh-CN" sz="1600"/>
              <a:t> (x, y)</a:t>
            </a:r>
            <a:endParaRPr lang="en-US" altLang="zh-CN" sz="1600"/>
          </a:p>
          <a:p>
            <a:pPr lvl="1"/>
            <a:endParaRPr lang="en-US" altLang="zh-CN" sz="1600"/>
          </a:p>
          <a:p>
            <a:pPr lvl="1"/>
            <a:r>
              <a:rPr lang="zh-CN" altLang="en-US" sz="1600"/>
              <a:t>双向加入邻接表</a:t>
            </a:r>
            <a:r>
              <a:rPr lang="en-US" altLang="zh-CN" sz="1600"/>
              <a:t> t[x] </a:t>
            </a:r>
            <a:r>
              <a:rPr lang="zh-CN" altLang="en-US" sz="1600"/>
              <a:t>和</a:t>
            </a:r>
            <a:r>
              <a:rPr lang="en-US" altLang="zh-CN" sz="1600"/>
              <a:t> t[y]</a:t>
            </a:r>
            <a:r>
              <a:rPr lang="zh-CN" altLang="en-US" sz="1600"/>
              <a:t>，方便判断</a:t>
            </a:r>
            <a:endParaRPr lang="zh-CN" altLang="en-US" sz="1600"/>
          </a:p>
          <a:p>
            <a:endParaRPr lang="en-US" altLang="zh-CN" sz="1600"/>
          </a:p>
          <a:p>
            <a:endParaRPr lang="zh-CN" alt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1437005" y="1377315"/>
            <a:ext cx="7626985" cy="4276725"/>
          </a:xfrm>
          <a:prstGeom prst="rect">
            <a:avLst/>
          </a:prstGeom>
          <a:noFill/>
        </p:spPr>
        <p:txBody>
          <a:bodyPr wrap="square" rtlCol="0" anchor="t">
            <a:spAutoFit/>
          </a:bodyPr>
          <a:p>
            <a:r>
              <a:rPr lang="en-US" altLang="zh-CN" sz="1600">
                <a:sym typeface="+mn-ea"/>
              </a:rPr>
              <a:t>3.</a:t>
            </a:r>
            <a:r>
              <a:rPr lang="zh-CN" altLang="en-US" sz="1600">
                <a:sym typeface="+mn-ea"/>
              </a:rPr>
              <a:t>暴力遍历计算导师数量</a:t>
            </a:r>
            <a:endParaRPr lang="zh-CN" altLang="en-US" sz="1600"/>
          </a:p>
          <a:p>
            <a:endParaRPr lang="en-US" altLang="zh-CN" sz="1600"/>
          </a:p>
          <a:p>
            <a:pPr lvl="1"/>
            <a:r>
              <a:rPr lang="zh-CN" altLang="en-US" sz="1600">
                <a:sym typeface="+mn-ea"/>
              </a:rPr>
              <a:t>对每只猴子</a:t>
            </a:r>
            <a:r>
              <a:rPr lang="en-US" altLang="zh-CN" sz="1600">
                <a:sym typeface="+mn-ea"/>
              </a:rPr>
              <a:t> i</a:t>
            </a:r>
            <a:r>
              <a:rPr lang="zh-CN" altLang="en-US" sz="1600">
                <a:sym typeface="+mn-ea"/>
              </a:rPr>
              <a:t>：</a:t>
            </a:r>
            <a:endParaRPr lang="zh-CN" altLang="en-US" sz="1600"/>
          </a:p>
          <a:p>
            <a:pPr lvl="1"/>
            <a:endParaRPr lang="en-US" altLang="zh-CN" sz="1600"/>
          </a:p>
          <a:p>
            <a:pPr lvl="1"/>
            <a:r>
              <a:rPr lang="zh-CN" altLang="en-US" sz="1600">
                <a:sym typeface="+mn-ea"/>
              </a:rPr>
              <a:t>遍历每只猴子</a:t>
            </a:r>
            <a:r>
              <a:rPr lang="en-US" altLang="zh-CN" sz="1600">
                <a:sym typeface="+mn-ea"/>
              </a:rPr>
              <a:t> j</a:t>
            </a:r>
            <a:r>
              <a:rPr lang="zh-CN" altLang="en-US" sz="1600">
                <a:sym typeface="+mn-ea"/>
              </a:rPr>
              <a:t>（</a:t>
            </a:r>
            <a:r>
              <a:rPr lang="en-US" altLang="zh-CN" sz="1600">
                <a:sym typeface="+mn-ea"/>
              </a:rPr>
              <a:t>j != i</a:t>
            </a:r>
            <a:r>
              <a:rPr lang="zh-CN" altLang="en-US" sz="1600">
                <a:sym typeface="+mn-ea"/>
              </a:rPr>
              <a:t>）</a:t>
            </a:r>
            <a:endParaRPr lang="zh-CN" altLang="en-US" sz="1600"/>
          </a:p>
          <a:p>
            <a:pPr lvl="1"/>
            <a:endParaRPr lang="en-US" altLang="zh-CN" sz="1600"/>
          </a:p>
          <a:p>
            <a:pPr lvl="1"/>
            <a:r>
              <a:rPr lang="zh-CN" altLang="en-US" sz="1600">
                <a:sym typeface="+mn-ea"/>
              </a:rPr>
              <a:t>如果</a:t>
            </a:r>
            <a:r>
              <a:rPr lang="en-US" altLang="zh-CN" sz="1600">
                <a:sym typeface="+mn-ea"/>
              </a:rPr>
              <a:t> a[i] &gt; a[j]</a:t>
            </a:r>
            <a:r>
              <a:rPr lang="zh-CN" altLang="en-US" sz="1600">
                <a:sym typeface="+mn-ea"/>
              </a:rPr>
              <a:t>：</a:t>
            </a:r>
            <a:endParaRPr lang="zh-CN" altLang="en-US" sz="1600"/>
          </a:p>
          <a:p>
            <a:pPr lvl="1"/>
            <a:endParaRPr lang="en-US" altLang="zh-CN" sz="1600"/>
          </a:p>
          <a:p>
            <a:pPr lvl="1"/>
            <a:r>
              <a:rPr lang="zh-CN" altLang="en-US" sz="1600">
                <a:sym typeface="+mn-ea"/>
              </a:rPr>
              <a:t>遍历</a:t>
            </a:r>
            <a:r>
              <a:rPr lang="en-US" altLang="zh-CN" sz="1600">
                <a:sym typeface="+mn-ea"/>
              </a:rPr>
              <a:t> t[i] </a:t>
            </a:r>
            <a:r>
              <a:rPr lang="zh-CN" altLang="en-US" sz="1600">
                <a:sym typeface="+mn-ea"/>
              </a:rPr>
              <a:t>判断是否与</a:t>
            </a:r>
            <a:r>
              <a:rPr lang="en-US" altLang="zh-CN" sz="1600">
                <a:sym typeface="+mn-ea"/>
              </a:rPr>
              <a:t> j </a:t>
            </a:r>
            <a:r>
              <a:rPr lang="zh-CN" altLang="en-US" sz="1600">
                <a:sym typeface="+mn-ea"/>
              </a:rPr>
              <a:t>冲突</a:t>
            </a:r>
            <a:endParaRPr lang="zh-CN" altLang="en-US" sz="1600"/>
          </a:p>
          <a:p>
            <a:pPr lvl="1"/>
            <a:endParaRPr lang="en-US" altLang="zh-CN" sz="1600"/>
          </a:p>
          <a:p>
            <a:pPr lvl="1"/>
            <a:r>
              <a:rPr lang="zh-CN" altLang="en-US" sz="1600">
                <a:sym typeface="+mn-ea"/>
              </a:rPr>
              <a:t>无冲突</a:t>
            </a:r>
            <a:r>
              <a:rPr lang="en-US" altLang="zh-CN" sz="1600">
                <a:sym typeface="+mn-ea"/>
              </a:rPr>
              <a:t> </a:t>
            </a:r>
            <a:r>
              <a:rPr lang="en-US" altLang="en-US" sz="1600">
                <a:sym typeface="+mn-ea"/>
              </a:rPr>
              <a:t>→</a:t>
            </a:r>
            <a:r>
              <a:rPr lang="en-US" altLang="zh-CN" sz="1600">
                <a:sym typeface="+mn-ea"/>
              </a:rPr>
              <a:t> cnt[i]++</a:t>
            </a:r>
            <a:endParaRPr lang="en-US" altLang="zh-CN" sz="1600"/>
          </a:p>
          <a:p>
            <a:endParaRPr lang="en-US" altLang="zh-CN" sz="1600"/>
          </a:p>
          <a:p>
            <a:r>
              <a:rPr lang="en-US" altLang="zh-CN" sz="1600">
                <a:sym typeface="+mn-ea"/>
              </a:rPr>
              <a:t>4.</a:t>
            </a:r>
            <a:r>
              <a:rPr lang="zh-CN" altLang="en-US" sz="1600">
                <a:sym typeface="+mn-ea"/>
              </a:rPr>
              <a:t>输出与结束</a:t>
            </a:r>
            <a:endParaRPr lang="zh-CN" altLang="en-US" sz="1600"/>
          </a:p>
          <a:p>
            <a:endParaRPr lang="en-US" altLang="zh-CN" sz="1600"/>
          </a:p>
          <a:p>
            <a:pPr lvl="1"/>
            <a:r>
              <a:rPr lang="zh-CN" altLang="en-US" sz="1600">
                <a:sym typeface="+mn-ea"/>
              </a:rPr>
              <a:t>每次计算完</a:t>
            </a:r>
            <a:r>
              <a:rPr lang="en-US" altLang="zh-CN" sz="1600">
                <a:sym typeface="+mn-ea"/>
              </a:rPr>
              <a:t> i</a:t>
            </a:r>
            <a:r>
              <a:rPr lang="zh-CN" altLang="en-US" sz="1600">
                <a:sym typeface="+mn-ea"/>
              </a:rPr>
              <a:t>，立即输出</a:t>
            </a:r>
            <a:r>
              <a:rPr lang="en-US" altLang="zh-CN" sz="1600">
                <a:sym typeface="+mn-ea"/>
              </a:rPr>
              <a:t> cnt[i]</a:t>
            </a:r>
            <a:endParaRPr lang="en-US" altLang="zh-CN" sz="1600"/>
          </a:p>
          <a:p>
            <a:pPr lvl="1"/>
            <a:endParaRPr lang="en-US" altLang="zh-CN" sz="1600"/>
          </a:p>
          <a:p>
            <a:pPr lvl="1"/>
            <a:r>
              <a:rPr lang="zh-CN" altLang="en-US" sz="1600">
                <a:sym typeface="+mn-ea"/>
              </a:rPr>
              <a:t>程序返回</a:t>
            </a:r>
            <a:r>
              <a:rPr lang="en-US" altLang="zh-CN" sz="1600">
                <a:sym typeface="+mn-ea"/>
              </a:rPr>
              <a:t> 0</a:t>
            </a:r>
            <a:r>
              <a:rPr lang="zh-CN" altLang="en-US" sz="1600">
                <a:sym typeface="+mn-ea"/>
              </a:rPr>
              <a:t>，结束</a:t>
            </a:r>
            <a:endParaRPr lang="zh-CN" altLang="en-US" sz="160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4-</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1753235"/>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4 2</a:t>
            </a:r>
            <a:endParaRPr lang="en-US" altLang="zh-CN" dirty="0">
              <a:sym typeface="+mn-ea"/>
            </a:endParaRPr>
          </a:p>
          <a:p>
            <a:pPr lvl="2"/>
            <a:r>
              <a:rPr lang="en-US" altLang="zh-CN" dirty="0">
                <a:sym typeface="+mn-ea"/>
              </a:rPr>
              <a:t>10 4 10 15</a:t>
            </a:r>
            <a:endParaRPr lang="en-US" altLang="zh-CN" dirty="0">
              <a:sym typeface="+mn-ea"/>
            </a:endParaRPr>
          </a:p>
          <a:p>
            <a:pPr lvl="2"/>
            <a:r>
              <a:rPr lang="en-US" altLang="zh-CN" dirty="0">
                <a:sym typeface="+mn-ea"/>
              </a:rPr>
              <a:t>1 2</a:t>
            </a:r>
            <a:endParaRPr lang="en-US" altLang="zh-CN" dirty="0">
              <a:sym typeface="+mn-ea"/>
            </a:endParaRPr>
          </a:p>
          <a:p>
            <a:pPr lvl="2"/>
            <a:r>
              <a:rPr lang="en-US" altLang="zh-CN" dirty="0">
                <a:sym typeface="+mn-ea"/>
              </a:rPr>
              <a:t>4 3</a:t>
            </a:r>
            <a:endParaRPr lang="en-US" altLang="zh-CN" dirty="0">
              <a:sym typeface="+mn-ea"/>
            </a:endParaRPr>
          </a:p>
          <a:p>
            <a:endParaRPr lang="zh-CN" altLang="en-US" dirty="0">
              <a:sym typeface="+mn-ea"/>
            </a:endParaRPr>
          </a:p>
        </p:txBody>
      </p:sp>
      <p:sp>
        <p:nvSpPr>
          <p:cNvPr id="3" name="文本框 2"/>
          <p:cNvSpPr txBox="1"/>
          <p:nvPr/>
        </p:nvSpPr>
        <p:spPr>
          <a:xfrm>
            <a:off x="1691640" y="4295140"/>
            <a:ext cx="3501390" cy="2030095"/>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5 3</a:t>
            </a:r>
            <a:endParaRPr lang="en-US" altLang="zh-CN"/>
          </a:p>
          <a:p>
            <a:pPr lvl="2"/>
            <a:r>
              <a:rPr lang="en-US" altLang="zh-CN"/>
              <a:t>5 3 7 2 6</a:t>
            </a:r>
            <a:endParaRPr lang="en-US" altLang="zh-CN"/>
          </a:p>
          <a:p>
            <a:pPr lvl="2"/>
            <a:r>
              <a:rPr lang="en-US" altLang="zh-CN"/>
              <a:t>1 2</a:t>
            </a:r>
            <a:endParaRPr lang="en-US" altLang="zh-CN"/>
          </a:p>
          <a:p>
            <a:pPr lvl="2"/>
            <a:r>
              <a:rPr lang="en-US" altLang="zh-CN"/>
              <a:t>3 5</a:t>
            </a:r>
            <a:endParaRPr lang="en-US" altLang="zh-CN"/>
          </a:p>
          <a:p>
            <a:pPr lvl="2"/>
            <a:r>
              <a:rPr lang="en-US" altLang="zh-CN"/>
              <a:t>4 2</a:t>
            </a:r>
            <a:endParaRPr lang="en-US" altLang="zh-CN"/>
          </a:p>
          <a:p>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2" name="图片 1"/>
          <p:cNvPicPr>
            <a:picLocks noChangeAspect="1"/>
          </p:cNvPicPr>
          <p:nvPr/>
        </p:nvPicPr>
        <p:blipFill>
          <a:blip r:embed="rId1"/>
          <a:stretch>
            <a:fillRect/>
          </a:stretch>
        </p:blipFill>
        <p:spPr>
          <a:xfrm>
            <a:off x="6894830" y="1399540"/>
            <a:ext cx="3800475" cy="1809750"/>
          </a:xfrm>
          <a:prstGeom prst="rect">
            <a:avLst/>
          </a:prstGeom>
        </p:spPr>
      </p:pic>
      <p:pic>
        <p:nvPicPr>
          <p:cNvPr id="4" name="图片 3"/>
          <p:cNvPicPr>
            <a:picLocks noChangeAspect="1"/>
          </p:cNvPicPr>
          <p:nvPr/>
        </p:nvPicPr>
        <p:blipFill>
          <a:blip r:embed="rId2"/>
          <a:stretch>
            <a:fillRect/>
          </a:stretch>
        </p:blipFill>
        <p:spPr>
          <a:xfrm>
            <a:off x="6894830" y="3990340"/>
            <a:ext cx="4000500" cy="20859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8745" y="142875"/>
            <a:ext cx="730821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a:t>
            </a:r>
            <a:r>
              <a:rPr lang="en-US" altLang="zh-CN" sz="3200" b="1" dirty="0" err="1">
                <a:solidFill>
                  <a:schemeClr val="bg1"/>
                </a:solidFill>
                <a:latin typeface="微软雅黑" panose="020B0503020204020204" charset="-122"/>
                <a:ea typeface="微软雅黑" panose="020B0503020204020204" charset="-122"/>
              </a:rPr>
              <a:t>问题-</a:t>
            </a:r>
            <a:r>
              <a:rPr lang="zh-CN" altLang="en-US" sz="3200" b="1" dirty="0" err="1">
                <a:solidFill>
                  <a:schemeClr val="bg1"/>
                </a:solidFill>
                <a:latin typeface="微软雅黑" panose="020B0503020204020204" charset="-122"/>
                <a:ea typeface="微软雅黑" panose="020B0503020204020204" charset="-122"/>
              </a:rPr>
              <a:t>股票的最小</a:t>
            </a:r>
            <a:r>
              <a:rPr lang="zh-CN" altLang="en-US" sz="3200" b="1" dirty="0" err="1">
                <a:solidFill>
                  <a:schemeClr val="bg1"/>
                </a:solidFill>
                <a:latin typeface="微软雅黑" panose="020B0503020204020204" charset="-122"/>
                <a:ea typeface="微软雅黑" panose="020B0503020204020204" charset="-122"/>
              </a:rPr>
              <a:t>波动</a:t>
            </a:r>
            <a:endParaRPr lang="zh-CN" altLang="en-US" sz="3200" b="1" dirty="0" err="1">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773430" y="1356360"/>
            <a:ext cx="9992995" cy="4799965"/>
          </a:xfrm>
          <a:prstGeom prst="rect">
            <a:avLst/>
          </a:prstGeom>
          <a:noFill/>
        </p:spPr>
        <p:txBody>
          <a:bodyPr wrap="square" rtlCol="0" anchor="t">
            <a:spAutoFit/>
          </a:bodyPr>
          <a:p>
            <a:r>
              <a:rPr lang="en-US" altLang="zh-CN"/>
              <a:t>2.</a:t>
            </a:r>
            <a:r>
              <a:rPr lang="zh-CN" altLang="en-US"/>
              <a:t>股票的最小波动</a:t>
            </a:r>
            <a:endParaRPr lang="zh-CN" altLang="en-US"/>
          </a:p>
          <a:p>
            <a:r>
              <a:rPr lang="zh-CN" altLang="en-US"/>
              <a:t>【问题描述】</a:t>
            </a:r>
            <a:endParaRPr lang="zh-CN" altLang="en-US"/>
          </a:p>
          <a:p>
            <a:r>
              <a:rPr lang="zh-CN" altLang="en-US"/>
              <a:t>小</a:t>
            </a:r>
            <a:r>
              <a:rPr lang="en-US" altLang="zh-CN"/>
              <a:t>C</a:t>
            </a:r>
            <a:r>
              <a:rPr lang="zh-CN" altLang="en-US"/>
              <a:t>正在利用股票的波动程度来研究股票。小</a:t>
            </a:r>
            <a:r>
              <a:rPr lang="en-US" altLang="zh-CN"/>
              <a:t>C</a:t>
            </a:r>
            <a:r>
              <a:rPr lang="zh-CN" altLang="en-US"/>
              <a:t>拿到了一只股票每大收盘时的价格，他想知道，这只股票连续儿大的最小波动值是多少，即在这几天中某天收盘价格与前一天收盘价格之差的绝对值最小是多少。</a:t>
            </a:r>
            <a:endParaRPr lang="zh-CN" altLang="en-US"/>
          </a:p>
          <a:p>
            <a:r>
              <a:rPr lang="zh-CN" altLang="en-US"/>
              <a:t>【输入形式】</a:t>
            </a:r>
            <a:endParaRPr lang="zh-CN" altLang="en-US"/>
          </a:p>
          <a:p>
            <a:r>
              <a:rPr lang="zh-CN" altLang="en-US"/>
              <a:t>输入的第一行包含了一个整数</a:t>
            </a:r>
            <a:r>
              <a:rPr lang="en-US" altLang="zh-CN"/>
              <a:t>n</a:t>
            </a:r>
            <a:r>
              <a:rPr lang="zh-CN" altLang="en-US"/>
              <a:t>，表示小</a:t>
            </a:r>
            <a:r>
              <a:rPr lang="en-US" altLang="zh-CN"/>
              <a:t>C</a:t>
            </a:r>
            <a:r>
              <a:rPr lang="zh-CN" altLang="en-US"/>
              <a:t>拿到的收盘价格的连续天数。</a:t>
            </a:r>
            <a:endParaRPr lang="zh-CN" altLang="en-US"/>
          </a:p>
          <a:p>
            <a:r>
              <a:rPr lang="zh-CN" altLang="en-US"/>
              <a:t>第二行包含</a:t>
            </a:r>
            <a:r>
              <a:rPr lang="en-US" altLang="zh-CN"/>
              <a:t>n</a:t>
            </a:r>
            <a:r>
              <a:rPr lang="zh-CN" altLang="en-US"/>
              <a:t>个正整数，依次表示每天的收盘价格</a:t>
            </a:r>
            <a:endParaRPr lang="zh-CN" altLang="en-US"/>
          </a:p>
          <a:p>
            <a:r>
              <a:rPr lang="zh-CN" altLang="en-US"/>
              <a:t>【输出形式】</a:t>
            </a:r>
            <a:endParaRPr lang="zh-CN" altLang="en-US"/>
          </a:p>
          <a:p>
            <a:r>
              <a:rPr lang="zh-CN" altLang="en-US"/>
              <a:t>输出一个整数，表示这只股票这</a:t>
            </a:r>
            <a:r>
              <a:rPr lang="en-US" altLang="zh-CN"/>
              <a:t>n</a:t>
            </a:r>
            <a:r>
              <a:rPr lang="zh-CN" altLang="en-US"/>
              <a:t>天中的最小波动值。</a:t>
            </a:r>
            <a:endParaRPr lang="zh-CN" altLang="en-US"/>
          </a:p>
          <a:p>
            <a:r>
              <a:rPr lang="zh-CN" altLang="en-US"/>
              <a:t>【样例输入】</a:t>
            </a:r>
            <a:endParaRPr lang="zh-CN" altLang="en-US"/>
          </a:p>
          <a:p>
            <a:r>
              <a:rPr lang="en-US" altLang="zh-CN"/>
              <a:t>6</a:t>
            </a:r>
            <a:endParaRPr lang="en-US" altLang="zh-CN"/>
          </a:p>
          <a:p>
            <a:r>
              <a:rPr lang="en-US" altLang="zh-CN"/>
              <a:t>255735</a:t>
            </a:r>
            <a:endParaRPr lang="en-US" altLang="zh-CN"/>
          </a:p>
          <a:p>
            <a:r>
              <a:rPr lang="zh-CN" altLang="en-US"/>
              <a:t>【样例输出】</a:t>
            </a:r>
            <a:endParaRPr lang="zh-CN" altLang="en-US"/>
          </a:p>
          <a:p>
            <a:r>
              <a:rPr lang="zh-CN" altLang="en-US"/>
              <a:t>【样例说明】</a:t>
            </a:r>
            <a:endParaRPr lang="zh-CN" altLang="en-US"/>
          </a:p>
          <a:p>
            <a:r>
              <a:rPr lang="zh-CN" altLang="en-US"/>
              <a:t>第二天和第三天之间的波动最小，波动值为</a:t>
            </a:r>
            <a:r>
              <a:rPr lang="en-US" altLang="zh-CN"/>
              <a:t>[5-5=0</a:t>
            </a:r>
            <a:r>
              <a:rPr lang="zh-CN" altLang="en-US"/>
              <a:t>。</a:t>
            </a:r>
            <a:endParaRPr lang="zh-CN" altLang="en-US"/>
          </a:p>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5-思路分析及原理</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1183005" y="1255395"/>
            <a:ext cx="8382000" cy="4769485"/>
          </a:xfrm>
          <a:prstGeom prst="rect">
            <a:avLst/>
          </a:prstGeom>
          <a:noFill/>
        </p:spPr>
        <p:txBody>
          <a:bodyPr wrap="square" rtlCol="0" anchor="t">
            <a:spAutoFit/>
          </a:bodyPr>
          <a:p>
            <a:r>
              <a:rPr lang="en-US" altLang="zh-CN" sz="1600"/>
              <a:t>1.</a:t>
            </a:r>
            <a:r>
              <a:rPr lang="zh-CN" altLang="en-US" sz="1600"/>
              <a:t>定义波动：</a:t>
            </a:r>
            <a:endParaRPr lang="zh-CN" altLang="en-US" sz="1600"/>
          </a:p>
          <a:p>
            <a:pPr lvl="1"/>
            <a:endParaRPr lang="en-US" altLang="zh-CN" sz="1600"/>
          </a:p>
          <a:p>
            <a:pPr lvl="1"/>
            <a:r>
              <a:rPr lang="zh-CN" altLang="en-US" sz="1600"/>
              <a:t>第</a:t>
            </a:r>
            <a:r>
              <a:rPr lang="en-US" altLang="zh-CN" sz="1600"/>
              <a:t> i </a:t>
            </a:r>
            <a:r>
              <a:rPr lang="zh-CN" altLang="en-US" sz="1600"/>
              <a:t>天与第</a:t>
            </a:r>
            <a:r>
              <a:rPr lang="en-US" altLang="zh-CN" sz="1600"/>
              <a:t> i-1 </a:t>
            </a:r>
            <a:r>
              <a:rPr lang="zh-CN" altLang="en-US" sz="1600"/>
              <a:t>天的波动值为：</a:t>
            </a:r>
            <a:r>
              <a:rPr lang="en-US" altLang="zh-CN" sz="1600"/>
              <a:t>diff;= [price[i] - price[i - 1]]</a:t>
            </a:r>
            <a:endParaRPr lang="en-US" altLang="zh-CN" sz="1600"/>
          </a:p>
          <a:p>
            <a:endParaRPr lang="zh-CN" altLang="en-US" sz="1600"/>
          </a:p>
          <a:p>
            <a:r>
              <a:rPr lang="en-US" altLang="zh-CN" sz="1600"/>
              <a:t>2.</a:t>
            </a:r>
            <a:r>
              <a:rPr lang="zh-CN" altLang="en-US" sz="1600"/>
              <a:t>遍历求最小值：</a:t>
            </a:r>
            <a:endParaRPr lang="zh-CN" altLang="en-US" sz="1600"/>
          </a:p>
          <a:p>
            <a:endParaRPr lang="en-US" altLang="zh-CN" sz="1600"/>
          </a:p>
          <a:p>
            <a:pPr lvl="1"/>
            <a:r>
              <a:rPr lang="zh-CN" altLang="en-US" sz="1600"/>
              <a:t>初始化</a:t>
            </a:r>
            <a:r>
              <a:rPr lang="en-US" altLang="zh-CN" sz="1600"/>
              <a:t> min_diff </a:t>
            </a:r>
            <a:r>
              <a:rPr lang="zh-CN" altLang="en-US" sz="1600"/>
              <a:t>为一个较大数（例如正无穷或</a:t>
            </a:r>
            <a:r>
              <a:rPr lang="en-US" altLang="zh-CN" sz="1600"/>
              <a:t> INT_MAX</a:t>
            </a:r>
            <a:r>
              <a:rPr lang="zh-CN" altLang="en-US" sz="1600"/>
              <a:t>）</a:t>
            </a:r>
            <a:endParaRPr lang="zh-CN" altLang="en-US" sz="1600"/>
          </a:p>
          <a:p>
            <a:pPr lvl="1"/>
            <a:endParaRPr lang="en-US" altLang="zh-CN" sz="1600"/>
          </a:p>
          <a:p>
            <a:pPr lvl="1"/>
            <a:r>
              <a:rPr lang="zh-CN" altLang="en-US" sz="1600"/>
              <a:t>从第二天开始遍历到第</a:t>
            </a:r>
            <a:r>
              <a:rPr lang="en-US" altLang="zh-CN" sz="1600"/>
              <a:t> n </a:t>
            </a:r>
            <a:r>
              <a:rPr lang="zh-CN" altLang="en-US" sz="1600"/>
              <a:t>天：</a:t>
            </a:r>
            <a:endParaRPr lang="zh-CN" altLang="en-US" sz="1600"/>
          </a:p>
          <a:p>
            <a:pPr lvl="1"/>
            <a:endParaRPr lang="en-US" altLang="zh-CN" sz="1600"/>
          </a:p>
          <a:p>
            <a:pPr lvl="1"/>
            <a:r>
              <a:rPr lang="zh-CN" altLang="en-US" sz="1600"/>
              <a:t>计算</a:t>
            </a:r>
            <a:r>
              <a:rPr lang="en-US" altLang="zh-CN" sz="1600"/>
              <a:t> abs(price[i] - price[i-1])</a:t>
            </a:r>
            <a:endParaRPr lang="en-US" altLang="zh-CN" sz="1600"/>
          </a:p>
          <a:p>
            <a:pPr lvl="1"/>
            <a:endParaRPr lang="en-US" altLang="zh-CN" sz="1600"/>
          </a:p>
          <a:p>
            <a:pPr lvl="1"/>
            <a:r>
              <a:rPr lang="zh-CN" altLang="en-US" sz="1600"/>
              <a:t>更新</a:t>
            </a:r>
            <a:r>
              <a:rPr lang="en-US" altLang="zh-CN" sz="1600"/>
              <a:t> min_diff </a:t>
            </a:r>
            <a:r>
              <a:rPr lang="zh-CN" altLang="en-US" sz="1600"/>
              <a:t>为最小值</a:t>
            </a:r>
            <a:endParaRPr lang="zh-CN" altLang="en-US" sz="1600"/>
          </a:p>
          <a:p>
            <a:pPr lvl="1"/>
            <a:endParaRPr lang="en-US" altLang="zh-CN" sz="1600"/>
          </a:p>
          <a:p>
            <a:r>
              <a:rPr lang="en-US" altLang="zh-CN" sz="1600"/>
              <a:t>3.</a:t>
            </a:r>
            <a:r>
              <a:rPr lang="zh-CN" altLang="en-US" sz="1600"/>
              <a:t>返回结果：</a:t>
            </a:r>
            <a:endParaRPr lang="zh-CN" altLang="en-US" sz="1600"/>
          </a:p>
          <a:p>
            <a:endParaRPr lang="en-US" altLang="zh-CN" sz="1600"/>
          </a:p>
          <a:p>
            <a:pPr lvl="1"/>
            <a:r>
              <a:rPr lang="zh-CN" altLang="en-US" sz="1600"/>
              <a:t>遍历结束后，</a:t>
            </a:r>
            <a:r>
              <a:rPr lang="en-US" altLang="zh-CN" sz="1600"/>
              <a:t>min_diff </a:t>
            </a:r>
            <a:r>
              <a:rPr lang="zh-CN" altLang="en-US" sz="1600"/>
              <a:t>就是</a:t>
            </a:r>
            <a:r>
              <a:rPr lang="en-US" altLang="zh-CN" sz="1600"/>
              <a:t> n </a:t>
            </a:r>
            <a:r>
              <a:rPr lang="zh-CN" altLang="en-US" sz="1600"/>
              <a:t>天中的最小波动值</a:t>
            </a:r>
            <a:endParaRPr lang="zh-CN" altLang="en-US" sz="1600"/>
          </a:p>
          <a:p>
            <a:endParaRPr lang="en-US" altLang="zh-CN" sz="1600"/>
          </a:p>
          <a:p>
            <a:endParaRPr lang="zh-CN" altLang="en-US"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代码逐行讲解</a:t>
            </a:r>
            <a:r>
              <a:rPr lang="en-US" altLang="zh-CN" sz="3200" b="1" dirty="0">
                <a:solidFill>
                  <a:schemeClr val="bg1"/>
                </a:solidFill>
                <a:latin typeface="微软雅黑" panose="020B0503020204020204" charset="-122"/>
                <a:ea typeface="微软雅黑" panose="020B0503020204020204" charset="-122"/>
              </a:rPr>
              <a:t> </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016000" y="1310640"/>
            <a:ext cx="8627745" cy="4769485"/>
          </a:xfrm>
          <a:prstGeom prst="rect">
            <a:avLst/>
          </a:prstGeom>
          <a:noFill/>
        </p:spPr>
        <p:txBody>
          <a:bodyPr wrap="square" rtlCol="0" anchor="t">
            <a:spAutoFit/>
          </a:bodyPr>
          <a:p>
            <a:r>
              <a:rPr lang="en-US" altLang="zh-CN" sz="1600"/>
              <a:t>1.</a:t>
            </a:r>
            <a:r>
              <a:rPr lang="zh-CN" altLang="en-US" sz="1600"/>
              <a:t>输入与初始化</a:t>
            </a:r>
            <a:endParaRPr lang="zh-CN" altLang="en-US" sz="1600"/>
          </a:p>
          <a:p>
            <a:endParaRPr lang="en-US" altLang="zh-CN" sz="1600"/>
          </a:p>
          <a:p>
            <a:pPr lvl="1"/>
            <a:r>
              <a:rPr lang="zh-CN" altLang="en-US" sz="1600"/>
              <a:t>包含</a:t>
            </a:r>
            <a:r>
              <a:rPr lang="en-US" altLang="zh-CN" sz="1600"/>
              <a:t> &lt;iostream&gt;</a:t>
            </a:r>
            <a:r>
              <a:rPr lang="zh-CN" altLang="en-US" sz="1600"/>
              <a:t>、</a:t>
            </a:r>
            <a:r>
              <a:rPr lang="en-US" altLang="zh-CN" sz="1600"/>
              <a:t>&lt;vector&gt;</a:t>
            </a:r>
            <a:r>
              <a:rPr lang="zh-CN" altLang="en-US" sz="1600"/>
              <a:t>、</a:t>
            </a:r>
            <a:r>
              <a:rPr lang="en-US" altLang="zh-CN" sz="1600"/>
              <a:t>&lt;cmath&gt;</a:t>
            </a:r>
            <a:endParaRPr lang="en-US" altLang="zh-CN" sz="1600"/>
          </a:p>
          <a:p>
            <a:pPr lvl="1"/>
            <a:endParaRPr lang="en-US" altLang="zh-CN" sz="1600"/>
          </a:p>
          <a:p>
            <a:pPr lvl="1"/>
            <a:r>
              <a:rPr lang="zh-CN" altLang="en-US" sz="1600"/>
              <a:t>使用</a:t>
            </a:r>
            <a:r>
              <a:rPr lang="en-US" altLang="zh-CN" sz="1600"/>
              <a:t> std </a:t>
            </a:r>
            <a:r>
              <a:rPr lang="zh-CN" altLang="en-US" sz="1600"/>
              <a:t>命名空间</a:t>
            </a:r>
            <a:endParaRPr lang="zh-CN" altLang="en-US" sz="1600"/>
          </a:p>
          <a:p>
            <a:pPr lvl="1"/>
            <a:endParaRPr lang="en-US" altLang="zh-CN" sz="1600"/>
          </a:p>
          <a:p>
            <a:pPr lvl="1"/>
            <a:r>
              <a:rPr lang="zh-CN" altLang="en-US" sz="1600"/>
              <a:t>定义整型</a:t>
            </a:r>
            <a:r>
              <a:rPr lang="en-US" altLang="zh-CN" sz="1600"/>
              <a:t> n</a:t>
            </a:r>
            <a:r>
              <a:rPr lang="zh-CN" altLang="en-US" sz="1600"/>
              <a:t>，存储连续天数</a:t>
            </a:r>
            <a:endParaRPr lang="zh-CN" altLang="en-US" sz="1600"/>
          </a:p>
          <a:p>
            <a:pPr lvl="1"/>
            <a:endParaRPr lang="en-US" altLang="zh-CN" sz="1600"/>
          </a:p>
          <a:p>
            <a:pPr lvl="1"/>
            <a:r>
              <a:rPr lang="zh-CN" altLang="en-US" sz="1600"/>
              <a:t>定义</a:t>
            </a:r>
            <a:r>
              <a:rPr lang="en-US" altLang="zh-CN" sz="1600"/>
              <a:t> price[] </a:t>
            </a:r>
            <a:r>
              <a:rPr lang="zh-CN" altLang="en-US" sz="1600"/>
              <a:t>数组存储每天的收盘价格</a:t>
            </a:r>
            <a:endParaRPr lang="zh-CN" altLang="en-US" sz="1600"/>
          </a:p>
          <a:p>
            <a:pPr lvl="1"/>
            <a:endParaRPr lang="en-US" altLang="zh-CN" sz="1600"/>
          </a:p>
          <a:p>
            <a:pPr lvl="1"/>
            <a:r>
              <a:rPr lang="zh-CN" altLang="en-US" sz="1600"/>
              <a:t>循环读入价格</a:t>
            </a:r>
            <a:endParaRPr lang="zh-CN" altLang="en-US" sz="1600"/>
          </a:p>
          <a:p>
            <a:endParaRPr lang="en-US" altLang="zh-CN" sz="1600"/>
          </a:p>
          <a:p>
            <a:r>
              <a:rPr lang="en-US" altLang="zh-CN" sz="1600"/>
              <a:t>2.</a:t>
            </a:r>
            <a:r>
              <a:rPr lang="zh-CN" altLang="en-US" sz="1600"/>
              <a:t>初始化最小波动值</a:t>
            </a:r>
            <a:endParaRPr lang="zh-CN" altLang="en-US" sz="1600"/>
          </a:p>
          <a:p>
            <a:pPr lvl="1"/>
            <a:endParaRPr lang="en-US" altLang="zh-CN" sz="1600"/>
          </a:p>
          <a:p>
            <a:pPr lvl="1"/>
            <a:r>
              <a:rPr lang="zh-CN" altLang="en-US" sz="1600"/>
              <a:t>定义</a:t>
            </a:r>
            <a:r>
              <a:rPr lang="en-US" altLang="zh-CN" sz="1600"/>
              <a:t> min_diff </a:t>
            </a:r>
            <a:r>
              <a:rPr lang="zh-CN" altLang="en-US" sz="1600"/>
              <a:t>并初始化为</a:t>
            </a:r>
            <a:r>
              <a:rPr lang="en-US" altLang="zh-CN" sz="1600"/>
              <a:t> INT_MAX</a:t>
            </a:r>
            <a:endParaRPr lang="en-US" altLang="zh-CN" sz="1600"/>
          </a:p>
          <a:p>
            <a:pPr lvl="1"/>
            <a:endParaRPr lang="en-US" altLang="zh-CN" sz="1600"/>
          </a:p>
          <a:p>
            <a:pPr lvl="1"/>
            <a:r>
              <a:rPr lang="zh-CN" altLang="en-US" sz="1600"/>
              <a:t>用于存储当前遍历到的最小波动值</a:t>
            </a:r>
            <a:endParaRPr lang="zh-CN" altLang="en-US" sz="1600"/>
          </a:p>
          <a:p>
            <a:endParaRPr lang="en-US" altLang="zh-CN" sz="1600"/>
          </a:p>
          <a:p>
            <a:endParaRPr lang="zh-CN" altLang="en-US"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8745" y="101600"/>
            <a:ext cx="4168775"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代码逐行讲解</a:t>
            </a:r>
            <a:endParaRPr lang="en-US" altLang="zh-CN" sz="3200" b="1" dirty="0">
              <a:solidFill>
                <a:schemeClr val="bg1"/>
              </a:solidFill>
              <a:latin typeface="微软雅黑" panose="020B0503020204020204" charset="-122"/>
              <a:ea typeface="微软雅黑" panose="020B0503020204020204" charset="-122"/>
            </a:endParaRPr>
          </a:p>
        </p:txBody>
      </p:sp>
      <p:sp>
        <p:nvSpPr>
          <p:cNvPr id="3" name="文本框 2"/>
          <p:cNvSpPr txBox="1"/>
          <p:nvPr/>
        </p:nvSpPr>
        <p:spPr>
          <a:xfrm>
            <a:off x="980440" y="1478280"/>
            <a:ext cx="8344535" cy="3574415"/>
          </a:xfrm>
          <a:prstGeom prst="rect">
            <a:avLst/>
          </a:prstGeom>
          <a:noFill/>
        </p:spPr>
        <p:txBody>
          <a:bodyPr wrap="square" rtlCol="0" anchor="t">
            <a:noAutofit/>
          </a:bodyPr>
          <a:p>
            <a:r>
              <a:rPr lang="en-US" altLang="zh-CN" sz="1600">
                <a:sym typeface="+mn-ea"/>
              </a:rPr>
              <a:t>3. </a:t>
            </a:r>
            <a:r>
              <a:rPr lang="zh-CN" altLang="en-US" sz="1600">
                <a:sym typeface="+mn-ea"/>
              </a:rPr>
              <a:t>遍历计算波动</a:t>
            </a:r>
            <a:endParaRPr lang="zh-CN" altLang="en-US" sz="1600"/>
          </a:p>
          <a:p>
            <a:endParaRPr lang="en-US" altLang="zh-CN" sz="1600"/>
          </a:p>
          <a:p>
            <a:pPr lvl="1"/>
            <a:r>
              <a:rPr lang="zh-CN" altLang="en-US" sz="1600">
                <a:sym typeface="+mn-ea"/>
              </a:rPr>
              <a:t>从第二天开始遍历数组（</a:t>
            </a:r>
            <a:r>
              <a:rPr lang="en-US" altLang="zh-CN" sz="1600">
                <a:sym typeface="+mn-ea"/>
              </a:rPr>
              <a:t>i = 1 </a:t>
            </a:r>
            <a:r>
              <a:rPr lang="zh-CN" altLang="en-US" sz="1600">
                <a:sym typeface="+mn-ea"/>
              </a:rPr>
              <a:t>到</a:t>
            </a:r>
            <a:r>
              <a:rPr lang="en-US" altLang="zh-CN" sz="1600">
                <a:sym typeface="+mn-ea"/>
              </a:rPr>
              <a:t> i = n-1</a:t>
            </a:r>
            <a:r>
              <a:rPr lang="zh-CN" altLang="en-US" sz="1600">
                <a:sym typeface="+mn-ea"/>
              </a:rPr>
              <a:t>）</a:t>
            </a:r>
            <a:endParaRPr lang="zh-CN" altLang="en-US" sz="1600"/>
          </a:p>
          <a:p>
            <a:pPr lvl="1"/>
            <a:endParaRPr lang="en-US" altLang="zh-CN" sz="1600"/>
          </a:p>
          <a:p>
            <a:pPr lvl="1"/>
            <a:r>
              <a:rPr lang="zh-CN" altLang="en-US" sz="1600">
                <a:sym typeface="+mn-ea"/>
              </a:rPr>
              <a:t>计算</a:t>
            </a:r>
            <a:r>
              <a:rPr lang="en-US" altLang="zh-CN" sz="1600">
                <a:sym typeface="+mn-ea"/>
              </a:rPr>
              <a:t> diff = abs(price[i] - price[i-1])</a:t>
            </a:r>
            <a:endParaRPr lang="en-US" altLang="zh-CN" sz="1600"/>
          </a:p>
          <a:p>
            <a:pPr lvl="1"/>
            <a:endParaRPr lang="en-US" altLang="zh-CN" sz="1600"/>
          </a:p>
          <a:p>
            <a:pPr lvl="1"/>
            <a:r>
              <a:rPr lang="zh-CN" altLang="en-US" sz="1600">
                <a:sym typeface="+mn-ea"/>
              </a:rPr>
              <a:t>如果</a:t>
            </a:r>
            <a:r>
              <a:rPr lang="en-US" altLang="zh-CN" sz="1600">
                <a:sym typeface="+mn-ea"/>
              </a:rPr>
              <a:t> diff &lt; min_diff</a:t>
            </a:r>
            <a:r>
              <a:rPr lang="zh-CN" altLang="en-US" sz="1600">
                <a:sym typeface="+mn-ea"/>
              </a:rPr>
              <a:t>，则更新</a:t>
            </a:r>
            <a:r>
              <a:rPr lang="en-US" altLang="zh-CN" sz="1600">
                <a:sym typeface="+mn-ea"/>
              </a:rPr>
              <a:t> min_diff</a:t>
            </a:r>
            <a:endParaRPr lang="en-US" altLang="zh-CN" sz="1600"/>
          </a:p>
          <a:p>
            <a:endParaRPr lang="en-US" altLang="zh-CN" sz="1600"/>
          </a:p>
          <a:p>
            <a:r>
              <a:rPr lang="en-US" altLang="zh-CN" sz="1600">
                <a:sym typeface="+mn-ea"/>
              </a:rPr>
              <a:t>4.</a:t>
            </a:r>
            <a:r>
              <a:rPr lang="zh-CN" altLang="en-US" sz="1600">
                <a:sym typeface="+mn-ea"/>
              </a:rPr>
              <a:t>输出结果与结束</a:t>
            </a:r>
            <a:endParaRPr lang="zh-CN" altLang="en-US" sz="1600"/>
          </a:p>
          <a:p>
            <a:endParaRPr lang="en-US" altLang="zh-CN" sz="1600"/>
          </a:p>
          <a:p>
            <a:pPr lvl="1"/>
            <a:r>
              <a:rPr lang="zh-CN" altLang="en-US" sz="1600">
                <a:sym typeface="+mn-ea"/>
              </a:rPr>
              <a:t>输出</a:t>
            </a:r>
            <a:r>
              <a:rPr lang="en-US" altLang="zh-CN" sz="1600">
                <a:sym typeface="+mn-ea"/>
              </a:rPr>
              <a:t> min_diff</a:t>
            </a:r>
            <a:r>
              <a:rPr lang="zh-CN" altLang="en-US" sz="1600">
                <a:sym typeface="+mn-ea"/>
              </a:rPr>
              <a:t>，即</a:t>
            </a:r>
            <a:r>
              <a:rPr lang="en-US" altLang="zh-CN" sz="1600">
                <a:sym typeface="+mn-ea"/>
              </a:rPr>
              <a:t> n </a:t>
            </a:r>
            <a:r>
              <a:rPr lang="zh-CN" altLang="en-US" sz="1600">
                <a:sym typeface="+mn-ea"/>
              </a:rPr>
              <a:t>天中的最小波动值</a:t>
            </a:r>
            <a:endParaRPr lang="zh-CN" altLang="en-US" sz="1600"/>
          </a:p>
          <a:p>
            <a:pPr lvl="1"/>
            <a:endParaRPr lang="en-US" altLang="zh-CN" sz="1600"/>
          </a:p>
          <a:p>
            <a:pPr lvl="1"/>
            <a:r>
              <a:rPr lang="zh-CN" altLang="en-US" sz="1600">
                <a:sym typeface="+mn-ea"/>
              </a:rPr>
              <a:t>程序返回</a:t>
            </a:r>
            <a:r>
              <a:rPr lang="en-US" altLang="zh-CN" sz="1600">
                <a:sym typeface="+mn-ea"/>
              </a:rPr>
              <a:t> 0</a:t>
            </a:r>
            <a:r>
              <a:rPr lang="zh-CN" altLang="en-US" sz="1600">
                <a:sym typeface="+mn-ea"/>
              </a:rPr>
              <a:t>，正常结束</a:t>
            </a:r>
            <a:endParaRPr lang="zh-CN" altLang="en-US" sz="160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01327"/>
            <a:ext cx="3605067"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5-</a:t>
            </a:r>
            <a:r>
              <a:rPr lang="zh-CN" altLang="en-US" sz="3200" b="1" dirty="0">
                <a:solidFill>
                  <a:schemeClr val="bg1"/>
                </a:solidFill>
                <a:latin typeface="微软雅黑" panose="020B0503020204020204" charset="-122"/>
                <a:ea typeface="微软雅黑" panose="020B0503020204020204" charset="-122"/>
              </a:rPr>
              <a:t>用例</a:t>
            </a:r>
            <a:r>
              <a:rPr lang="zh-CN" altLang="en-US" sz="3200" b="1" dirty="0">
                <a:solidFill>
                  <a:schemeClr val="bg1"/>
                </a:solidFill>
                <a:latin typeface="微软雅黑" panose="020B0503020204020204" charset="-122"/>
                <a:ea typeface="微软雅黑" panose="020B0503020204020204" charset="-122"/>
              </a:rPr>
              <a:t>及运行结果</a:t>
            </a:r>
            <a:endParaRPr lang="zh-CN" altLang="en-US" sz="32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691871" y="1336675"/>
            <a:ext cx="10500129" cy="1198880"/>
          </a:xfrm>
          <a:prstGeom prst="rect">
            <a:avLst/>
          </a:prstGeom>
          <a:noFill/>
        </p:spPr>
        <p:txBody>
          <a:bodyPr wrap="square" rtlCol="0" anchor="t">
            <a:spAutoFit/>
          </a:bodyPr>
          <a:lstStyle/>
          <a:p>
            <a:r>
              <a:rPr lang="zh-CN" altLang="en-US" dirty="0">
                <a:sym typeface="+mn-ea"/>
              </a:rPr>
              <a:t>用例</a:t>
            </a:r>
            <a:r>
              <a:rPr lang="en-US" altLang="zh-CN" dirty="0">
                <a:sym typeface="+mn-ea"/>
              </a:rPr>
              <a:t>1</a:t>
            </a:r>
            <a:r>
              <a:rPr lang="zh-CN" altLang="en-US" dirty="0">
                <a:sym typeface="+mn-ea"/>
              </a:rPr>
              <a:t>：</a:t>
            </a:r>
            <a:r>
              <a:rPr lang="en-US" altLang="zh-CN" dirty="0">
                <a:sym typeface="+mn-ea"/>
              </a:rPr>
              <a:t> </a:t>
            </a:r>
            <a:endParaRPr lang="en-US" altLang="zh-CN" dirty="0">
              <a:sym typeface="+mn-ea"/>
            </a:endParaRPr>
          </a:p>
          <a:p>
            <a:r>
              <a:rPr lang="en-US" altLang="zh-CN" dirty="0">
                <a:sym typeface="+mn-ea"/>
              </a:rPr>
              <a:t>	6</a:t>
            </a:r>
            <a:endParaRPr lang="en-US" altLang="zh-CN" dirty="0">
              <a:sym typeface="+mn-ea"/>
            </a:endParaRPr>
          </a:p>
          <a:p>
            <a:pPr marL="457200" lvl="1" indent="457200"/>
            <a:r>
              <a:rPr lang="en-US" altLang="zh-CN" dirty="0">
                <a:sym typeface="+mn-ea"/>
              </a:rPr>
              <a:t>2 5 5 7 3 5</a:t>
            </a:r>
            <a:endParaRPr lang="en-US" altLang="zh-CN" dirty="0">
              <a:sym typeface="+mn-ea"/>
            </a:endParaRPr>
          </a:p>
          <a:p>
            <a:endParaRPr lang="en-US" altLang="zh-CN" dirty="0">
              <a:sym typeface="+mn-ea"/>
            </a:endParaRPr>
          </a:p>
        </p:txBody>
      </p:sp>
      <p:sp>
        <p:nvSpPr>
          <p:cNvPr id="3" name="文本框 2"/>
          <p:cNvSpPr txBox="1"/>
          <p:nvPr/>
        </p:nvSpPr>
        <p:spPr>
          <a:xfrm>
            <a:off x="1691640" y="4295140"/>
            <a:ext cx="3501390" cy="645160"/>
          </a:xfrm>
          <a:prstGeom prst="rect">
            <a:avLst/>
          </a:prstGeom>
          <a:noFill/>
        </p:spPr>
        <p:txBody>
          <a:bodyPr wrap="square" rtlCol="0">
            <a:spAutoFit/>
          </a:bodyPr>
          <a:p>
            <a:r>
              <a:rPr lang="zh-CN" altLang="en-US"/>
              <a:t>用例</a:t>
            </a:r>
            <a:r>
              <a:rPr lang="en-US" altLang="zh-CN"/>
              <a:t>2</a:t>
            </a:r>
            <a:r>
              <a:rPr lang="zh-CN" altLang="en-US"/>
              <a:t>：</a:t>
            </a:r>
            <a:endParaRPr lang="zh-CN" altLang="en-US"/>
          </a:p>
          <a:p>
            <a:r>
              <a:rPr lang="en-US" altLang="zh-CN"/>
              <a:t>	-2000</a:t>
            </a:r>
            <a:endParaRPr lang="en-US" altLang="zh-CN"/>
          </a:p>
        </p:txBody>
      </p:sp>
      <p:sp>
        <p:nvSpPr>
          <p:cNvPr id="10" name="文本框 9"/>
          <p:cNvSpPr txBox="1"/>
          <p:nvPr/>
        </p:nvSpPr>
        <p:spPr>
          <a:xfrm>
            <a:off x="1035050" y="6233160"/>
            <a:ext cx="10338435" cy="368300"/>
          </a:xfrm>
          <a:prstGeom prst="rect">
            <a:avLst/>
          </a:prstGeom>
          <a:noFill/>
        </p:spPr>
        <p:txBody>
          <a:bodyPr wrap="square" rtlCol="0">
            <a:spAutoFit/>
          </a:bodyPr>
          <a:p>
            <a:r>
              <a:rPr lang="en-US" altLang="zh-CN"/>
              <a:t>(</a:t>
            </a:r>
            <a:r>
              <a:rPr lang="zh-CN" altLang="en-US"/>
              <a:t>在</a:t>
            </a:r>
            <a:r>
              <a:rPr lang="en-US" altLang="zh-CN"/>
              <a:t>C</a:t>
            </a:r>
            <a:r>
              <a:rPr lang="zh-CN" altLang="en-US"/>
              <a:t>盘存储并运行代码和存储目录包含中文是不规范的</a:t>
            </a:r>
            <a:r>
              <a:rPr lang="en-US" altLang="zh-CN"/>
              <a:t>,</a:t>
            </a:r>
            <a:r>
              <a:rPr lang="zh-CN" altLang="en-US"/>
              <a:t>建议在</a:t>
            </a:r>
            <a:r>
              <a:rPr lang="en-US" altLang="zh-CN"/>
              <a:t>D </a:t>
            </a:r>
            <a:r>
              <a:rPr lang="zh-CN" altLang="en-US"/>
              <a:t>盘新建一个文件保存代码</a:t>
            </a:r>
            <a:r>
              <a:rPr lang="en-US" altLang="zh-CN"/>
              <a:t>)</a:t>
            </a:r>
            <a:endParaRPr lang="en-US" altLang="zh-CN"/>
          </a:p>
        </p:txBody>
      </p:sp>
      <p:pic>
        <p:nvPicPr>
          <p:cNvPr id="4" name="图片 3"/>
          <p:cNvPicPr>
            <a:picLocks noChangeAspect="1"/>
          </p:cNvPicPr>
          <p:nvPr/>
        </p:nvPicPr>
        <p:blipFill>
          <a:blip r:embed="rId1"/>
          <a:srcRect r="14667"/>
          <a:stretch>
            <a:fillRect/>
          </a:stretch>
        </p:blipFill>
        <p:spPr>
          <a:xfrm>
            <a:off x="7650480" y="1483995"/>
            <a:ext cx="3291840" cy="1495425"/>
          </a:xfrm>
          <a:prstGeom prst="rect">
            <a:avLst/>
          </a:prstGeom>
        </p:spPr>
      </p:pic>
      <p:pic>
        <p:nvPicPr>
          <p:cNvPr id="7" name="图片 6"/>
          <p:cNvPicPr>
            <a:picLocks noChangeAspect="1"/>
          </p:cNvPicPr>
          <p:nvPr/>
        </p:nvPicPr>
        <p:blipFill>
          <a:blip r:embed="rId2"/>
          <a:stretch>
            <a:fillRect/>
          </a:stretch>
        </p:blipFill>
        <p:spPr>
          <a:xfrm>
            <a:off x="7751445" y="4100195"/>
            <a:ext cx="3190875" cy="13430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9035" y="142890"/>
            <a:ext cx="4487890" cy="583565"/>
          </a:xfrm>
          <a:prstGeom prst="rect">
            <a:avLst/>
          </a:prstGeom>
          <a:solidFill>
            <a:schemeClr val="tx1">
              <a:lumMod val="75000"/>
              <a:lumOff val="25000"/>
            </a:schemeClr>
          </a:solidFill>
          <a:ln w="28575" cmpd="sng">
            <a:solidFill>
              <a:schemeClr val="accent1">
                <a:shade val="50000"/>
              </a:schemeClr>
            </a:solidFill>
            <a:prstDash val="lgDashDot"/>
          </a:ln>
          <a:effectLst>
            <a:innerShdw blurRad="63500" dist="50800" dir="18900000">
              <a:prstClr val="black">
                <a:alpha val="50000"/>
              </a:prstClr>
            </a:innerShdw>
          </a:effectLst>
        </p:spPr>
        <p:txBody>
          <a:bodyPr wrap="square" rtlCol="0">
            <a:spAutoFit/>
          </a:bodyPr>
          <a:lstStyle/>
          <a:p>
            <a:r>
              <a:rPr lang="zh-CN" altLang="en-US" sz="3200" b="1" dirty="0">
                <a:solidFill>
                  <a:schemeClr val="bg1"/>
                </a:solidFill>
                <a:latin typeface="微软雅黑" panose="020B0503020204020204" charset="-122"/>
                <a:ea typeface="微软雅黑" panose="020B0503020204020204" charset="-122"/>
              </a:rPr>
              <a:t>小班</a:t>
            </a:r>
            <a:r>
              <a:rPr lang="en-US" altLang="zh-CN" sz="3200" b="1" dirty="0" err="1">
                <a:solidFill>
                  <a:schemeClr val="bg1"/>
                </a:solidFill>
                <a:latin typeface="微软雅黑" panose="020B0503020204020204" charset="-122"/>
                <a:ea typeface="微软雅黑" panose="020B0503020204020204" charset="-122"/>
              </a:rPr>
              <a:t>分析与总结</a:t>
            </a:r>
            <a:endParaRPr lang="en-US" altLang="zh-CN" sz="32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174750" y="1379855"/>
            <a:ext cx="9084310" cy="3973195"/>
          </a:xfrm>
          <a:prstGeom prst="rect">
            <a:avLst/>
          </a:prstGeom>
          <a:noFill/>
        </p:spPr>
        <p:txBody>
          <a:bodyPr wrap="square" rtlCol="0" anchor="t">
            <a:noAutofit/>
          </a:bodyPr>
          <a:p>
            <a:pPr indent="0" fontAlgn="auto">
              <a:lnSpc>
                <a:spcPct val="150000"/>
              </a:lnSpc>
            </a:pPr>
            <a:r>
              <a:rPr lang="en-US" altLang="zh-CN"/>
              <a:t>1.</a:t>
            </a:r>
            <a:r>
              <a:rPr lang="zh-CN" altLang="en-US"/>
              <a:t>熟练使用数组索引操作、相邻元素关系、前缀和或累计量，可以把复杂问题拆解为局部计算和全局统计的组合。</a:t>
            </a:r>
            <a:endParaRPr lang="en-US" altLang="zh-CN"/>
          </a:p>
          <a:p>
            <a:pPr indent="0" fontAlgn="auto">
              <a:lnSpc>
                <a:spcPct val="150000"/>
              </a:lnSpc>
            </a:pPr>
            <a:endParaRPr lang="en-US" altLang="zh-CN"/>
          </a:p>
          <a:p>
            <a:pPr indent="0" fontAlgn="auto">
              <a:lnSpc>
                <a:spcPct val="150000"/>
              </a:lnSpc>
            </a:pPr>
            <a:r>
              <a:rPr lang="en-US" altLang="zh-CN"/>
              <a:t>2.</a:t>
            </a:r>
            <a:r>
              <a:rPr lang="zh-CN" altLang="en-US"/>
              <a:t>用二维数组、向量数组或集合存储对象间关系，便于快速查找和遍历，为图等问题打基础。</a:t>
            </a:r>
            <a:endParaRPr lang="zh-CN" altLang="en-US"/>
          </a:p>
          <a:p>
            <a:pPr indent="0" fontAlgn="auto">
              <a:lnSpc>
                <a:spcPct val="150000"/>
              </a:lnSpc>
            </a:pPr>
            <a:endParaRPr lang="en-US" altLang="zh-CN"/>
          </a:p>
          <a:p>
            <a:pPr indent="0" fontAlgn="auto">
              <a:lnSpc>
                <a:spcPct val="150000"/>
              </a:lnSpc>
            </a:pPr>
            <a:r>
              <a:rPr lang="en-US" altLang="zh-CN"/>
              <a:t>3.</a:t>
            </a:r>
            <a:r>
              <a:rPr lang="zh-CN" altLang="en-US"/>
              <a:t>注意首尾、空集、极值等边界情况，强调逻辑完整性，避免遗漏或重复计算。</a:t>
            </a:r>
            <a:endParaRPr lang="zh-CN" altLang="en-US"/>
          </a:p>
          <a:p>
            <a:pPr indent="0" fontAlgn="auto">
              <a:lnSpc>
                <a:spcPct val="150000"/>
              </a:lnSpc>
            </a:pPr>
            <a:endParaRPr lang="en-US" altLang="zh-CN"/>
          </a:p>
          <a:p>
            <a:pPr indent="0" fontAlgn="auto">
              <a:lnSpc>
                <a:spcPct val="150000"/>
              </a:lnSpc>
            </a:pPr>
            <a:r>
              <a:rPr lang="en-US" altLang="zh-CN"/>
              <a:t>4.</a:t>
            </a:r>
            <a:r>
              <a:rPr lang="zh-CN" altLang="en-US"/>
              <a:t>先用暴力法保证正确性，再寻找统计法、前缀</a:t>
            </a:r>
            <a:r>
              <a:rPr lang="en-US" altLang="zh-CN"/>
              <a:t>/</a:t>
            </a:r>
            <a:r>
              <a:rPr lang="zh-CN" altLang="en-US"/>
              <a:t>后缀、哈希或排序优化，培养从可行解到高效解的思路转换能力。</a:t>
            </a:r>
            <a:endParaRPr lang="zh-CN"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4784</Words>
  <Application>WPS 演示</Application>
  <PresentationFormat>宽屏</PresentationFormat>
  <Paragraphs>424</Paragraphs>
  <Slides>29</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29</vt:i4>
      </vt:variant>
    </vt:vector>
  </HeadingPairs>
  <TitlesOfParts>
    <vt:vector size="48" baseType="lpstr">
      <vt:lpstr>Arial</vt:lpstr>
      <vt:lpstr>宋体</vt:lpstr>
      <vt:lpstr>Wingdings</vt:lpstr>
      <vt:lpstr>Wingdings 3</vt:lpstr>
      <vt:lpstr>Arial</vt:lpstr>
      <vt:lpstr>微软雅黑</vt:lpstr>
      <vt:lpstr>仿宋</vt:lpstr>
      <vt:lpstr>Century Gothic</vt:lpstr>
      <vt:lpstr>华文楷体</vt:lpstr>
      <vt:lpstr>Arial Unicode MS</vt:lpstr>
      <vt:lpstr>Calibri</vt:lpstr>
      <vt:lpstr>-apple-system</vt:lpstr>
      <vt:lpstr>Segoe Print</vt:lpstr>
      <vt:lpstr>等线 Light</vt:lpstr>
      <vt:lpstr>等线</vt:lpstr>
      <vt:lpstr>汉仪君黑-45简</vt:lpstr>
      <vt:lpstr>BatangChe</vt:lpstr>
      <vt:lpstr>离子</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王云超</dc:creator>
  <cp:lastModifiedBy>顾念</cp:lastModifiedBy>
  <cp:revision>10</cp:revision>
  <dcterms:created xsi:type="dcterms:W3CDTF">2023-08-09T12:44:00Z</dcterms:created>
  <dcterms:modified xsi:type="dcterms:W3CDTF">2025-11-16T08:08:07Z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9E6D20489959442A90E0CAB4B939C3CE_12</vt:lpwstr>
  </property>
</Properties>
</file>