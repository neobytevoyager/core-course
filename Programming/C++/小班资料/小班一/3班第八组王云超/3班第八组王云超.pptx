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</p:sldMasterIdLst>
  <p:notesMasterIdLst>
    <p:notesMasterId r:id="rId5"/>
  </p:notesMasterIdLst>
  <p:sldIdLst>
    <p:sldId id="258" r:id="rId4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79" r:id="rId15"/>
    <p:sldId id="280" r:id="rId16"/>
    <p:sldId id="268" r:id="rId17"/>
    <p:sldId id="269" r:id="rId18"/>
    <p:sldId id="270" r:id="rId19"/>
    <p:sldId id="271" r:id="rId20"/>
    <p:sldId id="272" r:id="rId21"/>
    <p:sldId id="274" r:id="rId22"/>
    <p:sldId id="273" r:id="rId23"/>
    <p:sldId id="275" r:id="rId24"/>
    <p:sldId id="276" r:id="rId25"/>
    <p:sldId id="277" r:id="rId26"/>
    <p:sldId id="278" r:id="rId27"/>
    <p:sldId id="281" r:id="rId28"/>
    <p:sldId id="282" r:id="rId29"/>
    <p:sldId id="284" r:id="rId30"/>
    <p:sldId id="283" r:id="rId31"/>
    <p:sldId id="285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0" y="160256"/>
            <a:ext cx="348792" cy="414779"/>
            <a:chOff x="0" y="160256"/>
            <a:chExt cx="348792" cy="414779"/>
          </a:xfrm>
        </p:grpSpPr>
        <p:sp>
          <p:nvSpPr>
            <p:cNvPr id="4" name="矩形 3"/>
            <p:cNvSpPr/>
            <p:nvPr/>
          </p:nvSpPr>
          <p:spPr>
            <a:xfrm>
              <a:off x="0" y="160256"/>
              <a:ext cx="188536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54524" y="160256"/>
              <a:ext cx="94268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4" b="122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流程图: 手动输入 7"/>
          <p:cNvSpPr/>
          <p:nvPr/>
        </p:nvSpPr>
        <p:spPr>
          <a:xfrm rot="5400000" flipV="1">
            <a:off x="5157537" y="-176465"/>
            <a:ext cx="6858002" cy="721092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00"/>
              <a:gd name="connsiteY0-2" fmla="*/ 2995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0 w 10000"/>
              <a:gd name="connsiteY4-10" fmla="*/ 2995 h 10000"/>
              <a:gd name="connsiteX0-11" fmla="*/ 0 w 10000"/>
              <a:gd name="connsiteY0-12" fmla="*/ 3321 h 10326"/>
              <a:gd name="connsiteX1-13" fmla="*/ 9983 w 10000"/>
              <a:gd name="connsiteY1-14" fmla="*/ 0 h 10326"/>
              <a:gd name="connsiteX2-15" fmla="*/ 10000 w 10000"/>
              <a:gd name="connsiteY2-16" fmla="*/ 10326 h 10326"/>
              <a:gd name="connsiteX3-17" fmla="*/ 0 w 10000"/>
              <a:gd name="connsiteY3-18" fmla="*/ 10326 h 10326"/>
              <a:gd name="connsiteX4-19" fmla="*/ 0 w 10000"/>
              <a:gd name="connsiteY4-20" fmla="*/ 3321 h 10326"/>
              <a:gd name="connsiteX0-21" fmla="*/ 0 w 10001"/>
              <a:gd name="connsiteY0-22" fmla="*/ 3338 h 10343"/>
              <a:gd name="connsiteX1-23" fmla="*/ 10000 w 10001"/>
              <a:gd name="connsiteY1-24" fmla="*/ 0 h 10343"/>
              <a:gd name="connsiteX2-25" fmla="*/ 10000 w 10001"/>
              <a:gd name="connsiteY2-26" fmla="*/ 10343 h 10343"/>
              <a:gd name="connsiteX3-27" fmla="*/ 0 w 10001"/>
              <a:gd name="connsiteY3-28" fmla="*/ 10343 h 10343"/>
              <a:gd name="connsiteX4-29" fmla="*/ 0 w 10001"/>
              <a:gd name="connsiteY4-30" fmla="*/ 3338 h 103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1" h="10343">
                <a:moveTo>
                  <a:pt x="0" y="3338"/>
                </a:moveTo>
                <a:lnTo>
                  <a:pt x="10000" y="0"/>
                </a:lnTo>
                <a:cubicBezTo>
                  <a:pt x="10006" y="3442"/>
                  <a:pt x="9994" y="6901"/>
                  <a:pt x="10000" y="10343"/>
                </a:cubicBezTo>
                <a:lnTo>
                  <a:pt x="0" y="10343"/>
                </a:lnTo>
                <a:lnTo>
                  <a:pt x="0" y="3338"/>
                </a:lnTo>
                <a:close/>
              </a:path>
            </a:pathLst>
          </a:custGeom>
          <a:solidFill>
            <a:srgbClr val="3F3F3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1838131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5019870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5758" y="3435349"/>
            <a:ext cx="10986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一次小班课</a:t>
            </a:r>
            <a:endParaRPr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28816" y="2422905"/>
            <a:ext cx="4066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POWERPOINT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05522" y="5133634"/>
            <a:ext cx="646199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第八组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计科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2404        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王云超  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学号：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202415010110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 rot="5400000">
            <a:off x="8764051" y="2003330"/>
            <a:ext cx="195942" cy="363893"/>
          </a:xfrm>
          <a:prstGeom prst="chevron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501650" y="1798955"/>
            <a:ext cx="3200400" cy="3633470"/>
            <a:chOff x="2910" y="2538"/>
            <a:chExt cx="5040" cy="5722"/>
          </a:xfrm>
        </p:grpSpPr>
        <p:sp>
          <p:nvSpPr>
            <p:cNvPr id="5" name="Freeform 5"/>
            <p:cNvSpPr/>
            <p:nvPr/>
          </p:nvSpPr>
          <p:spPr bwMode="auto">
            <a:xfrm>
              <a:off x="3695" y="3430"/>
              <a:ext cx="3471" cy="3941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rgbClr val="083451"/>
              </a:solidFill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" name="Freeform 5"/>
            <p:cNvSpPr/>
            <p:nvPr/>
          </p:nvSpPr>
          <p:spPr bwMode="auto">
            <a:xfrm>
              <a:off x="2910" y="2538"/>
              <a:ext cx="5040" cy="5723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noFill/>
            <a:ln w="12700">
              <a:solidFill>
                <a:srgbClr val="093B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59"/>
            <p:cNvSpPr txBox="1">
              <a:spLocks noChangeArrowheads="1"/>
            </p:cNvSpPr>
            <p:nvPr/>
          </p:nvSpPr>
          <p:spPr bwMode="auto">
            <a:xfrm flipH="1">
              <a:off x="3684" y="4600"/>
              <a:ext cx="3493" cy="15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36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目录</a:t>
              </a:r>
              <a:endParaRPr lang="en-US" altLang="zh-CN" sz="36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ko-KR" sz="2400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378825" y="411480"/>
            <a:ext cx="1966595" cy="923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79900" y="1426210"/>
            <a:ext cx="7515860" cy="6483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作业三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游泳训练时间计算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79265" y="2211705"/>
            <a:ext cx="7516495" cy="6965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作业三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小芳找工作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279265" y="3122930"/>
            <a:ext cx="7516495" cy="6978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作业四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T1(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填空题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79265" y="4035425"/>
            <a:ext cx="7516495" cy="6559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作业四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最赚钱的一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79265" y="5005705"/>
            <a:ext cx="7516495" cy="6235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05/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开放二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T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求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six(x)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近似值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游泳训练时间计算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30" y="1591310"/>
            <a:ext cx="10036810" cy="4646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5300" y="1536700"/>
            <a:ext cx="985837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问题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定性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本题考查数学和输入输出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知识。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解题思路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将开始时间和结束时间分别解析为时、分、秒；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分别转换为总秒数（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h*3600+m*60+s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）；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计算两者差值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diff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（结束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-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开始）；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将秒数差值转换回时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(diff / 3600)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、分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((diff % 3600) / 60)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、秒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(diff % 60)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；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5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格式化输出，确保分和秒为两位，不足补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注意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事项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输出，确保分和秒为两位（小时没有这个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要求），不足补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0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050" y="1231265"/>
            <a:ext cx="9387840" cy="5073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第一行：引入标准输入输出库，让程序能读能写。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第二行：再引入一个专门负责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补零对齐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的格式库。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第三行：告诉编译器咱们要用标准命名空间，省得后面写前缀。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第四行：程序入口，主函数开始。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第五行：声明六个小盒子，分别叫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a b c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d e f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，用来装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开始时刻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与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结束时刻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的时、分、秒。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第七行：用一条读取指令把两行冒号分隔的时间一次性扫进六个盒子，冒号在这里被当成普通分隔符，不需要额外字符吃掉。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第九行：把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开始时刻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折算成总秒数，先让小时乘以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3600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，再把分钟乘以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60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，最后加上秒，全部累进一个叫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startSec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的整型变量。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第十行：同理，把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结束时刻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也折成总秒数，存进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endSec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第十一行：用结束秒数减去开始秒数，得到纯粹的训练时长，单位是秒，存进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diffSec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第十三行：用整除法把总秒数先换成整小时，结果放进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h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254760"/>
            <a:ext cx="9387840" cy="4741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ym typeface="+mn-ea"/>
              </a:rPr>
              <a:t>第十四行：拿剩余秒数除以</a:t>
            </a:r>
            <a:r>
              <a:rPr lang="en-US" altLang="zh-CN" dirty="0">
                <a:sym typeface="+mn-ea"/>
              </a:rPr>
              <a:t> 60 </a:t>
            </a:r>
            <a:r>
              <a:rPr lang="zh-CN" altLang="en-US" dirty="0">
                <a:sym typeface="+mn-ea"/>
              </a:rPr>
              <a:t>得到整分钟，放进</a:t>
            </a:r>
            <a:r>
              <a:rPr lang="en-US" altLang="zh-CN" dirty="0">
                <a:sym typeface="+mn-ea"/>
              </a:rPr>
              <a:t> m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ym typeface="+mn-ea"/>
              </a:rPr>
              <a:t>第十五行：最后剩下的秒数直接取余</a:t>
            </a:r>
            <a:r>
              <a:rPr lang="en-US" altLang="zh-CN" dirty="0">
                <a:sym typeface="+mn-ea"/>
              </a:rPr>
              <a:t> 60</a:t>
            </a:r>
            <a:r>
              <a:rPr lang="zh-CN" altLang="en-US" dirty="0">
                <a:sym typeface="+mn-ea"/>
              </a:rPr>
              <a:t>，得到</a:t>
            </a:r>
            <a:r>
              <a:rPr lang="en-US" altLang="zh-CN" dirty="0">
                <a:sym typeface="+mn-ea"/>
              </a:rPr>
              <a:t> s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第十七行：输出小时，前面不补零。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第十八行：切换格式器，让接下来的数字宽度固定为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2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，空位用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0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填充，然后输出分钟和冒号。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第十九行：保持同样的补零格式，继续输出秒。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第二十行：换行，结束输出。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第二十二行：主函数返回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0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，告诉操作系统一切正常。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en-US" dirty="0">
                <a:sym typeface="+mn-ea"/>
              </a:rPr>
              <a:t>━━━━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易错提醒</a:t>
            </a:r>
            <a:r>
              <a:rPr lang="en-US" altLang="zh-CN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━━━━</a:t>
            </a:r>
            <a:endParaRPr lang="en-US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一、补零格式只影响紧跟其后的那次输出，所以小时前面不会多出多余的零。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二、题目保证结束时间不早于开始时间，因此不用考虑跨天减一天的麻烦。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三、如果更习惯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C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风格，可以用一句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printf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配合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%02d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直接搞定补零，效果相同。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39190" y="1896110"/>
          <a:ext cx="9034780" cy="41846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58695"/>
                <a:gridCol w="2258695"/>
                <a:gridCol w="2258695"/>
                <a:gridCol w="2258695"/>
              </a:tblGrid>
              <a:tr h="83693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功能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控制符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作用域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是否持久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</a:tr>
              <a:tr h="83693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宽度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2159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setw(n)</a:t>
                      </a:r>
                      <a:endParaRPr lang="en-US" altLang="zh-CN" sz="1600" b="0" i="0">
                        <a:latin typeface="Century Gothic" panose="020B0502020202020204" charset="0"/>
                        <a:ea typeface="华文楷体" panose="02010600040101010101" charset="-122"/>
                        <a:cs typeface="Century Gothic" panose="020B0502020202020204" charset="0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仅下一次输出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临时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</a:tr>
              <a:tr h="83693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填充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2159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setfill(ch)</a:t>
                      </a:r>
                      <a:endParaRPr lang="en-US" altLang="zh-CN" sz="1600" b="0" i="0">
                        <a:latin typeface="Century Gothic" panose="020B0502020202020204" charset="0"/>
                        <a:ea typeface="华文楷体" panose="02010600040101010101" charset="-122"/>
                        <a:cs typeface="Century Gothic" panose="020B0502020202020204" charset="0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一旦设置一直有效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持久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</a:tr>
              <a:tr h="83693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对齐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2159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left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 / 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right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 / 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internal</a:t>
                      </a:r>
                      <a:endParaRPr lang="en-US" altLang="zh-CN" sz="1600" b="0" i="0">
                        <a:latin typeface="Century Gothic" panose="020B0502020202020204" charset="0"/>
                        <a:ea typeface="华文楷体" panose="02010600040101010101" charset="-122"/>
                        <a:cs typeface="Century Gothic" panose="020B0502020202020204" charset="0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一旦设置一直有效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持久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</a:tr>
              <a:tr h="83693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精度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2159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setprecision(n)</a:t>
                      </a:r>
                      <a:endParaRPr lang="en-US" altLang="zh-CN" sz="1600" b="0" i="0">
                        <a:latin typeface="Century Gothic" panose="020B0502020202020204" charset="0"/>
                        <a:ea typeface="华文楷体" panose="02010600040101010101" charset="-122"/>
                        <a:cs typeface="Century Gothic" panose="020B0502020202020204" charset="0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配合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 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fixed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 </a:t>
                      </a: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或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 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scientific</a:t>
                      </a:r>
                      <a:r>
                        <a:rPr lang="en-US" altLang="zh-CN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 </a:t>
                      </a: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  <a:cs typeface="Century Gothic" panose="020B0502020202020204" charset="0"/>
                        </a:rPr>
                        <a:t>才表示“小数位数”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  <a:cs typeface="Century Gothic" panose="020B0502020202020204" charset="0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latin typeface="Century Gothic" panose="020B0502020202020204" charset="0"/>
                          <a:ea typeface="华文楷体" panose="02010600040101010101" charset="-122"/>
                        </a:rPr>
                        <a:t>持久</a:t>
                      </a:r>
                      <a:endParaRPr lang="zh-CN" altLang="en-US" sz="1600" b="0" i="0">
                        <a:latin typeface="Century Gothic" panose="020B0502020202020204" charset="0"/>
                        <a:ea typeface="华文楷体" panose="02010600040101010101" charset="-122"/>
                      </a:endParaRPr>
                    </a:p>
                  </a:txBody>
                  <a:tcPr marL="54746" marR="54746" marT="54746" marB="54746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139190" y="1269365"/>
            <a:ext cx="2176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iomanip </a:t>
            </a:r>
            <a:r>
              <a:rPr lang="zh-CN" altLang="en-US"/>
              <a:t>四大件：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11:20:15 11:25:21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09:45:30 12:10:45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36437"/>
          <a:stretch>
            <a:fillRect/>
          </a:stretch>
        </p:blipFill>
        <p:spPr>
          <a:xfrm>
            <a:off x="6997065" y="1595755"/>
            <a:ext cx="4123055" cy="1619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10445"/>
          <a:stretch>
            <a:fillRect/>
          </a:stretch>
        </p:blipFill>
        <p:spPr>
          <a:xfrm>
            <a:off x="6997065" y="3963670"/>
            <a:ext cx="412305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小芳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找工作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1254125"/>
            <a:ext cx="9205595" cy="4681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5300" y="1289050"/>
            <a:ext cx="985837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问题定性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本题考察基本控制结构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if_else,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也可以用三元操作符来缩短代码（可读性较差）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解题思路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）读入三变量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对每个条件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打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true/false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cnt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统计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true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个数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）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cnt 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≥ 2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说明该公司至少满足小芳的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个条件，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输出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Accept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否则输出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Refuse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注意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事项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lvl="2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ym typeface="+mn-ea"/>
              </a:rPr>
              <a:t>cnt = (s &gt;= 5000) + (v == 'y') + (d &lt;= 2000);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加减运算符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+ -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的优先级确实高于关系运算符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&gt;= == &lt;=,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所以一定要加括号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0" y="1466215"/>
            <a:ext cx="6071235" cy="51492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3400" y="1000760"/>
            <a:ext cx="238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c++</a:t>
            </a:r>
            <a:r>
              <a:rPr lang="zh-CN" altLang="en-US"/>
              <a:t>运算</a:t>
            </a:r>
            <a:r>
              <a:rPr lang="zh-CN" altLang="en-US"/>
              <a:t>优先级：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970" y="1435100"/>
            <a:ext cx="7994650" cy="48920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060" y="901700"/>
            <a:ext cx="1360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接上页：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0395" y="1556385"/>
            <a:ext cx="938784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第一行：把标准输入输出库请进来，让程序能读能写。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第二行：直接打开标准命名空间，省得后面再写前缀。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第四行：主函数开始，程序入口。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第五行：准备三个小盒子，两个整型叫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s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d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，分别装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月薪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通勤距离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；一个字符型叫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v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，用来装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是否带薪休假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的标志。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第六行：一次性把键盘上的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数字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字母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数字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读进三个盒子，顺序不能错。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第八行：现场打分。三条小判断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月薪过不过五千、休假标不标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y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、距离超不超过两千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每条满足就得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1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分，三条加起来放进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cnt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，最高分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3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，最低分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0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第十行：当场宣判：只要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cnt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达到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2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分或以上，输出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Accept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；否则输出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Refuse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第十一行：换行收工。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lvl="2" indent="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第十三行：向操作系统报告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一切正常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，程序结束。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5500 y 1500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3000 n 2500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9120" y="1537335"/>
            <a:ext cx="4191000" cy="14573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120" y="4063365"/>
            <a:ext cx="4048125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循环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加法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1835150"/>
            <a:ext cx="930592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5300" y="1536700"/>
            <a:ext cx="985837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问题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定性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本题考察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循环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解题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思路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sum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的初始值为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0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每次循环都会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sum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都会加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一共循环了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5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次，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sum=0+1+2+3+4+5=15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代码参见循环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计数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最赚钱的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一天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65250"/>
            <a:ext cx="8827135" cy="46742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5300" y="1536700"/>
            <a:ext cx="9858375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问题定性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本题考察循环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,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打擂台范式的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引入。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解题思路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1).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变量设计：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maxProfit </a:t>
            </a:r>
            <a:r>
              <a:rPr lang="en-US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←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INT_MIN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（初始极小值）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,bestDay </a:t>
            </a:r>
            <a:r>
              <a:rPr lang="en-US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←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1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1.</a:t>
            </a:r>
            <a:endParaRPr lang="en-US" altLang="zh-CN" sz="20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2).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一次遍历，同步记录「当前最大盈利」和「对应天数」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3).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若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profit &gt; maxProfit </a:t>
            </a:r>
            <a:r>
              <a:rPr lang="en-US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→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更新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maxProfit 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与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bestDay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4).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输出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bestDay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注意事项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变量一定要初始化；更新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bestDay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时，一定不要忘记更新</a:t>
            </a:r>
            <a:r>
              <a:rPr lang="en-US" altLang="zh-CN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maxProfit 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254760"/>
            <a:ext cx="9676765" cy="5164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第一行：把标准输入输出库请进来，让程序能读能写。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第二行：再请进来一个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极限值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库，方便拿整数里的最小值当起跑线。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第三行：打开标准命名空间，省得写前缀。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第五行：主函数开始。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第六行：一次性读入三个小盒子：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n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表示总共要查多少天，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c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s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后面循环里用。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第七行：给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最大盈利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设一个极小值，确保任何正盈利都能把它比下去。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第八行：先默认第一天最赚钱，万一全亏损就输出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1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第十行：循环从第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1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天扫到第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n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天。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第十一行：每天读两个数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当天成本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c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和当天销售额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s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第十二行：现场算盈利：销售额减成本，结果扔进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profit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第十三到十六行：一旦发现今天的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profit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比历史最高还高，立刻刷新纪录，同时把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	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最赚钱那天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的编号更新成今天。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第十八行：循环结束后，输出那个纪录保持者的天数编号。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第十九行：向操作系统举手报告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一切正常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，程序结束。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254760"/>
            <a:ext cx="9676765" cy="5164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INT_MIN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扩展：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定义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头文件：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&lt;climits&gt;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值：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-2147483648</a:t>
            </a:r>
            <a:endParaRPr lang="en-US" altLang="zh-CN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含义：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32-bit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有符号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int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能表示的最小值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用途速记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初始化「求最大值」变量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例：找最大利润、最高温度、最长距离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保证任何合法数据都能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刷新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它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小坑提醒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仅适用于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int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类型；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若用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long long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请改用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LLONG_MIN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（头文件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&lt;climits&gt;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同样提供）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不要手写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-2147483648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魔法数，易敲错、难维护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4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78 99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89 65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247 356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199 325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3</a:t>
            </a:r>
            <a:endParaRPr lang="en-US" altLang="zh-CN"/>
          </a:p>
          <a:p>
            <a:pPr lvl="2"/>
            <a:r>
              <a:rPr lang="en-US" altLang="zh-CN"/>
              <a:t>100 80</a:t>
            </a:r>
            <a:endParaRPr lang="en-US" altLang="zh-CN"/>
          </a:p>
          <a:p>
            <a:pPr lvl="2"/>
            <a:r>
              <a:rPr lang="en-US" altLang="zh-CN"/>
              <a:t>200 150</a:t>
            </a:r>
            <a:endParaRPr lang="en-US" altLang="zh-CN"/>
          </a:p>
          <a:p>
            <a:pPr lvl="2"/>
            <a:r>
              <a:rPr lang="en-US" altLang="zh-CN"/>
              <a:t>300 280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4105" y="1316990"/>
            <a:ext cx="3062605" cy="2081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105" y="3867785"/>
            <a:ext cx="3075940" cy="18961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求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six(x)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近似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值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" y="1084580"/>
            <a:ext cx="8629650" cy="52057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5300" y="1536700"/>
            <a:ext cx="1001458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问题定性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本题考察循环知识，同时要了解麦克劳林公式在原点处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快速收敛特性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解题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思路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）使用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while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循环把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规约到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-pi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到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pi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区间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）使用变量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term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记录每一项的值，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sum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记录整个展开式的值。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）根据麦克劳林展开式，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term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之间有递推式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term</a:t>
            </a:r>
            <a:r>
              <a:rPr lang="en-US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ₙ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= -term</a:t>
            </a:r>
            <a:r>
              <a:rPr lang="en-US" altLang="zh-CN" sz="2000" baseline="-25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n-1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·x</a:t>
            </a:r>
            <a:r>
              <a:rPr lang="en-US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²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/(2n)(2n+1)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4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）当前循环的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term&lt; 0.5e-13 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时，跳出循环，输出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sum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注意事项</a:t>
            </a: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由于麦克劳林在原点快速收敛的特性，要先把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归约到靠近原点的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区间。本题精度较高，要使用</a:t>
            </a:r>
            <a:r>
              <a:rPr lang="en-US" altLang="zh-CN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long double,</a:t>
            </a:r>
            <a:r>
              <a:rPr lang="zh-CN" altLang="en-US" sz="20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输出时要保留十三位小数</a:t>
            </a:r>
            <a:endParaRPr lang="en-US" altLang="zh-CN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lvl="0" indent="0">
              <a:lnSpc>
                <a:spcPct val="150000"/>
              </a:lnSpc>
              <a:buFont typeface="+mj-lt"/>
              <a:buNone/>
            </a:pPr>
            <a:endParaRPr lang="zh-CN" altLang="en-US" sz="20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4345" y="1320800"/>
            <a:ext cx="9676765" cy="5164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第一行：请来标准输入输出库，负责读写。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第二行：再请来格式控制库，待会儿要定小数位数。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第三行：把数学库也拉进来，取绝对值函数在后面循环里当守门员。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第四行：打开标准命名空间，省得写前缀。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第六行：主函数开始。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第七行：提前把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π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抄到小数点后十位，类型用最高精度的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long double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，省得后面老写数字。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第八行：准备一只超高精度盒子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x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，装用户扔进来的弧度值。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第九行：一次性把键盘数据读进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x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第十行：顺手把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2π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算好存起来，避免循环里反复乘两次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π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第十二行：当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x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比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π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大时，就一圈一圈地减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2π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，直到它落在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(−π, π]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区间。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第十三行：当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x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比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−π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小时，就一圈一圈地加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2π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，同样把它抬进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(−π, π]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区间。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这两行相当于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把任意角度折回主值区间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，让泰勒级数收敛更快。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4345" y="1320800"/>
            <a:ext cx="9676765" cy="5164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第十五行：开两只高精度变量：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sum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当累加器，先清零；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term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先放上第一项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x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，对应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n=0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时的泰勒项。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第十六行：再开一只整数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n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，记录现在是第几项，从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0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开始数。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第十八行：设立守门规则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只要当前项的绝对值还大于或等于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0.5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×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10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⁻¹³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，就继续加，否则认为精度已够，可以收工。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第十九行：把当前项累进总和。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第二十行：项序号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n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进一。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第二十一行：用递推公式直接算出下一项：先翻转符号，再乘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x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²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，再除以连续的偶数与奇数乘积，相当于把阶乘展开成乘一次除一次，避免真正去算阶乘，速度又快又稳。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第二十三行：把结果固定成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13 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位小数，一次性输出。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第二十四行：向操作系统报告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正常结束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sym typeface="+mn-ea"/>
              </a:rPr>
              <a:t>，程序谢幕。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4345" y="1320800"/>
            <a:ext cx="10896600" cy="5164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扩展：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abs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家族：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457200" lvl="3" indent="457200">
              <a:lnSpc>
                <a:spcPct val="120000"/>
              </a:lnSpc>
              <a:buFont typeface="+mj-ea"/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     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                       </a:t>
            </a:r>
            <a:endParaRPr lang="zh-CN" altLang="en-US" sz="2000" dirty="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92885" y="2222500"/>
          <a:ext cx="9067800" cy="3616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57045"/>
                <a:gridCol w="1836420"/>
                <a:gridCol w="1818640"/>
                <a:gridCol w="1828165"/>
                <a:gridCol w="1827530"/>
              </a:tblGrid>
              <a:tr h="570865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函数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头文件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签名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作用域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返回类型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</a:tr>
              <a:tr h="57150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abs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&lt;cstdlib&gt;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int abs(int)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整数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int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</a:tr>
              <a:tr h="570865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labs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&lt;cstdlib&gt;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long labs(long)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长整数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long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</a:tr>
              <a:tr h="666115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llabs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&lt;cstdlib&gt;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long long llabs(long long)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超长整数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long long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</a:tr>
              <a:tr h="571500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fabs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&lt;cmath&gt;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double fabs(double)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浮点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double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</a:tr>
              <a:tr h="666115"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fabsl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&lt;cmath&gt;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long double fabsl(long double)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b="0" i="0">
                          <a:latin typeface="+mj-lt"/>
                          <a:ea typeface="-apple-system"/>
                        </a:rPr>
                        <a:t>扩展精度</a:t>
                      </a:r>
                      <a:endParaRPr lang="zh-CN" altLang="en-US" sz="1100" b="0" i="0">
                        <a:latin typeface="+mj-lt"/>
                        <a:ea typeface="-apple-system"/>
                      </a:endParaRPr>
                    </a:p>
                  </a:txBody>
                  <a:tcPr marL="54746" marR="54746" marT="54746" marB="54746"/>
                </a:tc>
                <a:tc>
                  <a:txBody>
                    <a:bodyPr/>
                    <a:p>
                      <a:pPr marL="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0" i="0">
                          <a:latin typeface="+mj-lt"/>
                          <a:ea typeface="-apple-system"/>
                          <a:cs typeface="+mj-lt"/>
                        </a:rPr>
                        <a:t>long double</a:t>
                      </a:r>
                      <a:endParaRPr lang="en-US" altLang="zh-CN" sz="1100" b="0" i="0">
                        <a:latin typeface="+mj-lt"/>
                        <a:ea typeface="-apple-system"/>
                        <a:cs typeface="+mj-lt"/>
                      </a:endParaRPr>
                    </a:p>
                  </a:txBody>
                  <a:tcPr marL="54746" marR="54746" marT="54746" marB="54746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30000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-2000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550" y="1336675"/>
            <a:ext cx="3889375" cy="16046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0" y="3827780"/>
            <a:ext cx="3889375" cy="17005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小班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分析与总结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2105" y="1526540"/>
            <a:ext cx="1152779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逐项累加</a:t>
            </a:r>
            <a:r>
              <a:rPr lang="en-US" altLang="zh-CN" sz="2000" dirty="0"/>
              <a:t> sum += term —— </a:t>
            </a:r>
            <a:r>
              <a:rPr lang="zh-CN" altLang="en-US" sz="2000" dirty="0"/>
              <a:t>第一次把</a:t>
            </a:r>
            <a:r>
              <a:rPr lang="en-US" altLang="zh-CN" sz="2000" dirty="0"/>
              <a:t>“</a:t>
            </a:r>
            <a:r>
              <a:rPr lang="zh-CN" altLang="en-US" sz="2000" dirty="0"/>
              <a:t>无穷级数</a:t>
            </a:r>
            <a:r>
              <a:rPr lang="en-US" altLang="zh-CN" sz="2000" dirty="0"/>
              <a:t>”</a:t>
            </a:r>
            <a:r>
              <a:rPr lang="zh-CN" altLang="en-US" sz="2000" dirty="0"/>
              <a:t>装进</a:t>
            </a:r>
            <a:r>
              <a:rPr lang="en-US" altLang="zh-CN" sz="2000" dirty="0"/>
              <a:t> for/while</a:t>
            </a:r>
            <a:r>
              <a:rPr lang="zh-CN" altLang="en-US" sz="2000" dirty="0"/>
              <a:t>，体会</a:t>
            </a:r>
            <a:r>
              <a:rPr lang="en-US" altLang="zh-CN" sz="2000" dirty="0"/>
              <a:t>“</a:t>
            </a:r>
            <a:r>
              <a:rPr lang="zh-CN" altLang="en-US" sz="2000" dirty="0"/>
              <a:t>一行代码</a:t>
            </a:r>
            <a:r>
              <a:rPr lang="en-US" altLang="zh-CN" sz="2000" dirty="0"/>
              <a:t>=</a:t>
            </a:r>
            <a:r>
              <a:rPr lang="zh-CN" altLang="en-US" sz="2000" dirty="0"/>
              <a:t>一步数学</a:t>
            </a:r>
            <a:r>
              <a:rPr lang="en-US" altLang="zh-CN" sz="2000" dirty="0"/>
              <a:t>”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一次比较完成</a:t>
            </a:r>
            <a:r>
              <a:rPr lang="en-US" altLang="zh-CN" sz="2000" dirty="0"/>
              <a:t>“</a:t>
            </a:r>
            <a:r>
              <a:rPr lang="zh-CN" altLang="en-US" sz="2000" dirty="0"/>
              <a:t>最值更新</a:t>
            </a:r>
            <a:r>
              <a:rPr lang="en-US" altLang="zh-CN" sz="2000" dirty="0"/>
              <a:t>”</a:t>
            </a:r>
            <a:r>
              <a:rPr lang="zh-CN" altLang="en-US" sz="2000" dirty="0"/>
              <a:t>，掌握</a:t>
            </a:r>
            <a:r>
              <a:rPr lang="en-US" altLang="zh-CN" sz="2000" dirty="0"/>
              <a:t>“</a:t>
            </a:r>
            <a:r>
              <a:rPr lang="zh-CN" altLang="en-US" sz="2000" dirty="0"/>
              <a:t>打擂台</a:t>
            </a:r>
            <a:r>
              <a:rPr lang="en-US" altLang="zh-CN" sz="2000" dirty="0"/>
              <a:t>”</a:t>
            </a:r>
            <a:r>
              <a:rPr lang="zh-CN" altLang="en-US" sz="2000" dirty="0"/>
              <a:t>范式。</a:t>
            </a: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三</a:t>
            </a:r>
            <a:r>
              <a:rPr lang="zh-CN" altLang="en-US" sz="2000" dirty="0"/>
              <a:t>元运算符把双分支压缩成</a:t>
            </a:r>
            <a:r>
              <a:rPr lang="zh-CN" altLang="en-US" sz="2000" dirty="0"/>
              <a:t>一行表达式。</a:t>
            </a: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sz="2000" dirty="0"/>
              <a:t>4.</a:t>
            </a:r>
            <a:r>
              <a:rPr lang="en-US" altLang="zh-CN" sz="2000" dirty="0"/>
              <a:t> </a:t>
            </a:r>
            <a:r>
              <a:rPr lang="zh-CN" altLang="en-US" sz="2000" dirty="0"/>
              <a:t>用</a:t>
            </a:r>
            <a:r>
              <a:rPr lang="en-US" altLang="zh-CN" sz="2000" dirty="0"/>
              <a:t>“</a:t>
            </a:r>
            <a:r>
              <a:rPr lang="zh-CN" altLang="en-US" sz="2000" dirty="0"/>
              <a:t>误差门槛</a:t>
            </a:r>
            <a:r>
              <a:rPr lang="en-US" altLang="zh-CN" sz="2000" dirty="0"/>
              <a:t>”</a:t>
            </a:r>
            <a:r>
              <a:rPr lang="zh-CN" altLang="en-US" sz="2000" dirty="0"/>
              <a:t>代替固定次数，首次接触</a:t>
            </a:r>
            <a:r>
              <a:rPr lang="en-US" altLang="zh-CN" sz="2000" dirty="0"/>
              <a:t>“</a:t>
            </a:r>
            <a:r>
              <a:rPr lang="zh-CN" altLang="en-US" sz="2000" dirty="0"/>
              <a:t>自适应终止</a:t>
            </a:r>
            <a:r>
              <a:rPr lang="en-US" altLang="zh-CN" sz="2000" dirty="0"/>
              <a:t>”</a:t>
            </a:r>
            <a:r>
              <a:rPr lang="zh-CN" altLang="en-US" sz="2000" dirty="0"/>
              <a:t>；</a:t>
            </a: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sz="2000" dirty="0"/>
              <a:t>5.</a:t>
            </a:r>
            <a:r>
              <a:rPr lang="en-US" altLang="zh-CN" sz="2000" dirty="0"/>
              <a:t> </a:t>
            </a:r>
            <a:r>
              <a:rPr lang="zh-CN" altLang="en-US" sz="2000" dirty="0"/>
              <a:t>用循环实现</a:t>
            </a:r>
            <a:r>
              <a:rPr lang="en-US" altLang="zh-CN" sz="2000" dirty="0"/>
              <a:t>“</a:t>
            </a:r>
            <a:r>
              <a:rPr lang="zh-CN" altLang="en-US" sz="2000" dirty="0"/>
              <a:t>模运算</a:t>
            </a:r>
            <a:r>
              <a:rPr lang="en-US" altLang="zh-CN" sz="2000" dirty="0"/>
              <a:t>”</a:t>
            </a:r>
            <a:r>
              <a:rPr lang="zh-CN" altLang="en-US" sz="2000" dirty="0"/>
              <a:t>，理解</a:t>
            </a:r>
            <a:r>
              <a:rPr lang="en-US" altLang="zh-CN" sz="2000" dirty="0"/>
              <a:t>“</a:t>
            </a:r>
            <a:r>
              <a:rPr lang="zh-CN" altLang="en-US" sz="2000" dirty="0"/>
              <a:t>控制结构可以</a:t>
            </a:r>
            <a:r>
              <a:rPr lang="zh-CN" altLang="en-US" sz="2000" dirty="0"/>
              <a:t>实现数学库</a:t>
            </a:r>
            <a:r>
              <a:rPr lang="en-US" altLang="zh-CN" sz="2000" dirty="0"/>
              <a:t>”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indent="0">
              <a:lnSpc>
                <a:spcPct val="150000"/>
              </a:lnSpc>
              <a:buFont typeface="+mj-lt"/>
              <a:buNone/>
            </a:pPr>
            <a:endParaRPr lang="zh-CN" alt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11*329"/>
  <p:tag name="TABLE_ENDDRAG_RECT" val="89*149*711*329"/>
</p:tagLst>
</file>

<file path=ppt/tags/tag2.xml><?xml version="1.0" encoding="utf-8"?>
<p:tagLst xmlns:p="http://schemas.openxmlformats.org/presentationml/2006/main">
  <p:tag name="TABLE_ENDDRAG_ORIGIN_RECT" val="713*284"/>
  <p:tag name="TABLE_ENDDRAG_RECT" val="117*175*714*28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4505</Words>
  <Application>WPS 演示</Application>
  <PresentationFormat>宽屏</PresentationFormat>
  <Paragraphs>379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Wingdings 3</vt:lpstr>
      <vt:lpstr>Arial</vt:lpstr>
      <vt:lpstr>微软雅黑</vt:lpstr>
      <vt:lpstr>仿宋</vt:lpstr>
      <vt:lpstr>Century Gothic</vt:lpstr>
      <vt:lpstr>华文楷体</vt:lpstr>
      <vt:lpstr>Arial Unicode MS</vt:lpstr>
      <vt:lpstr>Calibri</vt:lpstr>
      <vt:lpstr>-apple-system</vt:lpstr>
      <vt:lpstr>Segoe Print</vt:lpstr>
      <vt:lpstr>等线 Light</vt:lpstr>
      <vt:lpstr>等线</vt:lpstr>
      <vt:lpstr>离子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王云超</dc:creator>
  <cp:lastModifiedBy>WPS_1748860242</cp:lastModifiedBy>
  <cp:revision>9</cp:revision>
  <dcterms:created xsi:type="dcterms:W3CDTF">2023-08-09T12:44:00Z</dcterms:created>
  <dcterms:modified xsi:type="dcterms:W3CDTF">2025-10-26T06:24:48Z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9E6D20489959442A90E0CAB4B939C3CE_12</vt:lpwstr>
  </property>
</Properties>
</file>