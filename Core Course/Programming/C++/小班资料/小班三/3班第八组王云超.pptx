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</p:sldMasterIdLst>
  <p:notesMasterIdLst>
    <p:notesMasterId r:id="rId5"/>
  </p:notesMasterIdLst>
  <p:sldIdLst>
    <p:sldId id="258" r:id="rId4"/>
    <p:sldId id="259" r:id="rId6"/>
    <p:sldId id="260" r:id="rId7"/>
    <p:sldId id="261" r:id="rId8"/>
    <p:sldId id="262" r:id="rId9"/>
    <p:sldId id="263" r:id="rId10"/>
    <p:sldId id="294" r:id="rId11"/>
    <p:sldId id="266" r:id="rId12"/>
    <p:sldId id="267" r:id="rId13"/>
    <p:sldId id="268" r:id="rId14"/>
    <p:sldId id="287" r:id="rId15"/>
    <p:sldId id="269" r:id="rId16"/>
    <p:sldId id="270" r:id="rId17"/>
    <p:sldId id="271" r:id="rId18"/>
    <p:sldId id="288" r:id="rId19"/>
    <p:sldId id="290" r:id="rId20"/>
    <p:sldId id="272" r:id="rId21"/>
    <p:sldId id="274" r:id="rId22"/>
    <p:sldId id="273" r:id="rId23"/>
    <p:sldId id="293" r:id="rId24"/>
    <p:sldId id="27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0" y="160256"/>
            <a:ext cx="348792" cy="414779"/>
            <a:chOff x="0" y="160256"/>
            <a:chExt cx="348792" cy="414779"/>
          </a:xfrm>
        </p:grpSpPr>
        <p:sp>
          <p:nvSpPr>
            <p:cNvPr id="4" name="矩形 3"/>
            <p:cNvSpPr/>
            <p:nvPr/>
          </p:nvSpPr>
          <p:spPr>
            <a:xfrm>
              <a:off x="0" y="160256"/>
              <a:ext cx="188536" cy="414779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54524" y="160256"/>
              <a:ext cx="94268" cy="414779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4" b="122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流程图: 手动输入 7"/>
          <p:cNvSpPr/>
          <p:nvPr/>
        </p:nvSpPr>
        <p:spPr>
          <a:xfrm rot="5400000" flipV="1">
            <a:off x="5157537" y="-176465"/>
            <a:ext cx="6858002" cy="721092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0 w 10000"/>
              <a:gd name="connsiteY0-2" fmla="*/ 2995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0 w 10000"/>
              <a:gd name="connsiteY4-10" fmla="*/ 2995 h 10000"/>
              <a:gd name="connsiteX0-11" fmla="*/ 0 w 10000"/>
              <a:gd name="connsiteY0-12" fmla="*/ 3321 h 10326"/>
              <a:gd name="connsiteX1-13" fmla="*/ 9983 w 10000"/>
              <a:gd name="connsiteY1-14" fmla="*/ 0 h 10326"/>
              <a:gd name="connsiteX2-15" fmla="*/ 10000 w 10000"/>
              <a:gd name="connsiteY2-16" fmla="*/ 10326 h 10326"/>
              <a:gd name="connsiteX3-17" fmla="*/ 0 w 10000"/>
              <a:gd name="connsiteY3-18" fmla="*/ 10326 h 10326"/>
              <a:gd name="connsiteX4-19" fmla="*/ 0 w 10000"/>
              <a:gd name="connsiteY4-20" fmla="*/ 3321 h 10326"/>
              <a:gd name="connsiteX0-21" fmla="*/ 0 w 10001"/>
              <a:gd name="connsiteY0-22" fmla="*/ 3338 h 10343"/>
              <a:gd name="connsiteX1-23" fmla="*/ 10000 w 10001"/>
              <a:gd name="connsiteY1-24" fmla="*/ 0 h 10343"/>
              <a:gd name="connsiteX2-25" fmla="*/ 10000 w 10001"/>
              <a:gd name="connsiteY2-26" fmla="*/ 10343 h 10343"/>
              <a:gd name="connsiteX3-27" fmla="*/ 0 w 10001"/>
              <a:gd name="connsiteY3-28" fmla="*/ 10343 h 10343"/>
              <a:gd name="connsiteX4-29" fmla="*/ 0 w 10001"/>
              <a:gd name="connsiteY4-30" fmla="*/ 3338 h 103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1" h="10343">
                <a:moveTo>
                  <a:pt x="0" y="3338"/>
                </a:moveTo>
                <a:lnTo>
                  <a:pt x="10000" y="0"/>
                </a:lnTo>
                <a:cubicBezTo>
                  <a:pt x="10006" y="3442"/>
                  <a:pt x="9994" y="6901"/>
                  <a:pt x="10000" y="10343"/>
                </a:cubicBezTo>
                <a:lnTo>
                  <a:pt x="0" y="10343"/>
                </a:lnTo>
                <a:lnTo>
                  <a:pt x="0" y="3338"/>
                </a:lnTo>
                <a:close/>
              </a:path>
            </a:pathLst>
          </a:custGeom>
          <a:solidFill>
            <a:srgbClr val="3F3F3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1838131"/>
            <a:ext cx="12192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0" y="5019870"/>
            <a:ext cx="12192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45758" y="3435349"/>
            <a:ext cx="10986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三次小班课</a:t>
            </a:r>
            <a:endParaRPr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28816" y="2422905"/>
            <a:ext cx="40664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POWERPOINT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05522" y="5133634"/>
            <a:ext cx="646199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第八组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计科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2404        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王云超  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学号：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202415010110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箭头: V 形 19"/>
          <p:cNvSpPr/>
          <p:nvPr/>
        </p:nvSpPr>
        <p:spPr>
          <a:xfrm rot="5400000">
            <a:off x="8764051" y="2003330"/>
            <a:ext cx="195942" cy="363893"/>
          </a:xfrm>
          <a:prstGeom prst="chevron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501650" y="1798955"/>
            <a:ext cx="3200400" cy="3633470"/>
            <a:chOff x="2910" y="2538"/>
            <a:chExt cx="5040" cy="5722"/>
          </a:xfrm>
        </p:grpSpPr>
        <p:sp>
          <p:nvSpPr>
            <p:cNvPr id="5" name="Freeform 5"/>
            <p:cNvSpPr/>
            <p:nvPr/>
          </p:nvSpPr>
          <p:spPr bwMode="auto">
            <a:xfrm>
              <a:off x="3695" y="3430"/>
              <a:ext cx="3471" cy="3941"/>
            </a:xfrm>
            <a:custGeom>
              <a:avLst/>
              <a:gdLst>
                <a:gd name="T0" fmla="*/ 6935 w 12812"/>
                <a:gd name="T1" fmla="*/ 195 h 14572"/>
                <a:gd name="T2" fmla="*/ 9609 w 12812"/>
                <a:gd name="T3" fmla="*/ 1739 h 14572"/>
                <a:gd name="T4" fmla="*/ 12283 w 12812"/>
                <a:gd name="T5" fmla="*/ 3282 h 14572"/>
                <a:gd name="T6" fmla="*/ 12812 w 12812"/>
                <a:gd name="T7" fmla="*/ 4199 h 14572"/>
                <a:gd name="T8" fmla="*/ 12812 w 12812"/>
                <a:gd name="T9" fmla="*/ 7286 h 14572"/>
                <a:gd name="T10" fmla="*/ 12812 w 12812"/>
                <a:gd name="T11" fmla="*/ 10374 h 14572"/>
                <a:gd name="T12" fmla="*/ 12283 w 12812"/>
                <a:gd name="T13" fmla="*/ 11290 h 14572"/>
                <a:gd name="T14" fmla="*/ 9609 w 12812"/>
                <a:gd name="T15" fmla="*/ 12834 h 14572"/>
                <a:gd name="T16" fmla="*/ 6935 w 12812"/>
                <a:gd name="T17" fmla="*/ 14378 h 14572"/>
                <a:gd name="T18" fmla="*/ 5877 w 12812"/>
                <a:gd name="T19" fmla="*/ 14378 h 14572"/>
                <a:gd name="T20" fmla="*/ 3203 w 12812"/>
                <a:gd name="T21" fmla="*/ 12834 h 14572"/>
                <a:gd name="T22" fmla="*/ 529 w 12812"/>
                <a:gd name="T23" fmla="*/ 11290 h 14572"/>
                <a:gd name="T24" fmla="*/ 0 w 12812"/>
                <a:gd name="T25" fmla="*/ 10374 h 14572"/>
                <a:gd name="T26" fmla="*/ 0 w 12812"/>
                <a:gd name="T27" fmla="*/ 7286 h 14572"/>
                <a:gd name="T28" fmla="*/ 0 w 12812"/>
                <a:gd name="T29" fmla="*/ 4199 h 14572"/>
                <a:gd name="T30" fmla="*/ 529 w 12812"/>
                <a:gd name="T31" fmla="*/ 3282 h 14572"/>
                <a:gd name="T32" fmla="*/ 3203 w 12812"/>
                <a:gd name="T33" fmla="*/ 1739 h 14572"/>
                <a:gd name="T34" fmla="*/ 5877 w 12812"/>
                <a:gd name="T35" fmla="*/ 195 h 14572"/>
                <a:gd name="T36" fmla="*/ 6935 w 12812"/>
                <a:gd name="T37" fmla="*/ 195 h 14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12" h="14572">
                  <a:moveTo>
                    <a:pt x="6935" y="195"/>
                  </a:moveTo>
                  <a:lnTo>
                    <a:pt x="9609" y="1739"/>
                  </a:lnTo>
                  <a:lnTo>
                    <a:pt x="12283" y="3282"/>
                  </a:lnTo>
                  <a:cubicBezTo>
                    <a:pt x="12620" y="3477"/>
                    <a:pt x="12812" y="3810"/>
                    <a:pt x="12812" y="4199"/>
                  </a:cubicBezTo>
                  <a:lnTo>
                    <a:pt x="12812" y="7286"/>
                  </a:lnTo>
                  <a:lnTo>
                    <a:pt x="12812" y="10374"/>
                  </a:lnTo>
                  <a:cubicBezTo>
                    <a:pt x="12812" y="10763"/>
                    <a:pt x="12620" y="11096"/>
                    <a:pt x="12283" y="11290"/>
                  </a:cubicBezTo>
                  <a:lnTo>
                    <a:pt x="9609" y="12834"/>
                  </a:lnTo>
                  <a:lnTo>
                    <a:pt x="6935" y="14378"/>
                  </a:lnTo>
                  <a:cubicBezTo>
                    <a:pt x="6599" y="14572"/>
                    <a:pt x="6213" y="14572"/>
                    <a:pt x="5877" y="14378"/>
                  </a:cubicBezTo>
                  <a:lnTo>
                    <a:pt x="3203" y="12834"/>
                  </a:lnTo>
                  <a:lnTo>
                    <a:pt x="529" y="11290"/>
                  </a:lnTo>
                  <a:cubicBezTo>
                    <a:pt x="193" y="11096"/>
                    <a:pt x="0" y="10763"/>
                    <a:pt x="0" y="10374"/>
                  </a:cubicBezTo>
                  <a:lnTo>
                    <a:pt x="0" y="7286"/>
                  </a:lnTo>
                  <a:lnTo>
                    <a:pt x="0" y="4199"/>
                  </a:lnTo>
                  <a:cubicBezTo>
                    <a:pt x="0" y="3810"/>
                    <a:pt x="193" y="3477"/>
                    <a:pt x="529" y="3282"/>
                  </a:cubicBezTo>
                  <a:lnTo>
                    <a:pt x="3203" y="1739"/>
                  </a:lnTo>
                  <a:lnTo>
                    <a:pt x="5877" y="195"/>
                  </a:lnTo>
                  <a:cubicBezTo>
                    <a:pt x="6213" y="0"/>
                    <a:pt x="6599" y="0"/>
                    <a:pt x="6935" y="195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rgbClr val="083451"/>
              </a:solidFill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" name="Freeform 5"/>
            <p:cNvSpPr/>
            <p:nvPr/>
          </p:nvSpPr>
          <p:spPr bwMode="auto">
            <a:xfrm>
              <a:off x="2910" y="2538"/>
              <a:ext cx="5040" cy="5723"/>
            </a:xfrm>
            <a:custGeom>
              <a:avLst/>
              <a:gdLst>
                <a:gd name="T0" fmla="*/ 6935 w 12812"/>
                <a:gd name="T1" fmla="*/ 195 h 14572"/>
                <a:gd name="T2" fmla="*/ 9609 w 12812"/>
                <a:gd name="T3" fmla="*/ 1739 h 14572"/>
                <a:gd name="T4" fmla="*/ 12283 w 12812"/>
                <a:gd name="T5" fmla="*/ 3282 h 14572"/>
                <a:gd name="T6" fmla="*/ 12812 w 12812"/>
                <a:gd name="T7" fmla="*/ 4199 h 14572"/>
                <a:gd name="T8" fmla="*/ 12812 w 12812"/>
                <a:gd name="T9" fmla="*/ 7286 h 14572"/>
                <a:gd name="T10" fmla="*/ 12812 w 12812"/>
                <a:gd name="T11" fmla="*/ 10374 h 14572"/>
                <a:gd name="T12" fmla="*/ 12283 w 12812"/>
                <a:gd name="T13" fmla="*/ 11290 h 14572"/>
                <a:gd name="T14" fmla="*/ 9609 w 12812"/>
                <a:gd name="T15" fmla="*/ 12834 h 14572"/>
                <a:gd name="T16" fmla="*/ 6935 w 12812"/>
                <a:gd name="T17" fmla="*/ 14378 h 14572"/>
                <a:gd name="T18" fmla="*/ 5877 w 12812"/>
                <a:gd name="T19" fmla="*/ 14378 h 14572"/>
                <a:gd name="T20" fmla="*/ 3203 w 12812"/>
                <a:gd name="T21" fmla="*/ 12834 h 14572"/>
                <a:gd name="T22" fmla="*/ 529 w 12812"/>
                <a:gd name="T23" fmla="*/ 11290 h 14572"/>
                <a:gd name="T24" fmla="*/ 0 w 12812"/>
                <a:gd name="T25" fmla="*/ 10374 h 14572"/>
                <a:gd name="T26" fmla="*/ 0 w 12812"/>
                <a:gd name="T27" fmla="*/ 7286 h 14572"/>
                <a:gd name="T28" fmla="*/ 0 w 12812"/>
                <a:gd name="T29" fmla="*/ 4199 h 14572"/>
                <a:gd name="T30" fmla="*/ 529 w 12812"/>
                <a:gd name="T31" fmla="*/ 3282 h 14572"/>
                <a:gd name="T32" fmla="*/ 3203 w 12812"/>
                <a:gd name="T33" fmla="*/ 1739 h 14572"/>
                <a:gd name="T34" fmla="*/ 5877 w 12812"/>
                <a:gd name="T35" fmla="*/ 195 h 14572"/>
                <a:gd name="T36" fmla="*/ 6935 w 12812"/>
                <a:gd name="T37" fmla="*/ 195 h 14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12" h="14572">
                  <a:moveTo>
                    <a:pt x="6935" y="195"/>
                  </a:moveTo>
                  <a:lnTo>
                    <a:pt x="9609" y="1739"/>
                  </a:lnTo>
                  <a:lnTo>
                    <a:pt x="12283" y="3282"/>
                  </a:lnTo>
                  <a:cubicBezTo>
                    <a:pt x="12620" y="3477"/>
                    <a:pt x="12812" y="3810"/>
                    <a:pt x="12812" y="4199"/>
                  </a:cubicBezTo>
                  <a:lnTo>
                    <a:pt x="12812" y="7286"/>
                  </a:lnTo>
                  <a:lnTo>
                    <a:pt x="12812" y="10374"/>
                  </a:lnTo>
                  <a:cubicBezTo>
                    <a:pt x="12812" y="10763"/>
                    <a:pt x="12620" y="11096"/>
                    <a:pt x="12283" y="11290"/>
                  </a:cubicBezTo>
                  <a:lnTo>
                    <a:pt x="9609" y="12834"/>
                  </a:lnTo>
                  <a:lnTo>
                    <a:pt x="6935" y="14378"/>
                  </a:lnTo>
                  <a:cubicBezTo>
                    <a:pt x="6599" y="14572"/>
                    <a:pt x="6213" y="14572"/>
                    <a:pt x="5877" y="14378"/>
                  </a:cubicBezTo>
                  <a:lnTo>
                    <a:pt x="3203" y="12834"/>
                  </a:lnTo>
                  <a:lnTo>
                    <a:pt x="529" y="11290"/>
                  </a:lnTo>
                  <a:cubicBezTo>
                    <a:pt x="193" y="11096"/>
                    <a:pt x="0" y="10763"/>
                    <a:pt x="0" y="10374"/>
                  </a:cubicBezTo>
                  <a:lnTo>
                    <a:pt x="0" y="7286"/>
                  </a:lnTo>
                  <a:lnTo>
                    <a:pt x="0" y="4199"/>
                  </a:lnTo>
                  <a:cubicBezTo>
                    <a:pt x="0" y="3810"/>
                    <a:pt x="193" y="3477"/>
                    <a:pt x="529" y="3282"/>
                  </a:cubicBezTo>
                  <a:lnTo>
                    <a:pt x="3203" y="1739"/>
                  </a:lnTo>
                  <a:lnTo>
                    <a:pt x="5877" y="195"/>
                  </a:lnTo>
                  <a:cubicBezTo>
                    <a:pt x="6213" y="0"/>
                    <a:pt x="6599" y="0"/>
                    <a:pt x="6935" y="195"/>
                  </a:cubicBezTo>
                  <a:close/>
                </a:path>
              </a:pathLst>
            </a:custGeom>
            <a:noFill/>
            <a:ln w="12700">
              <a:solidFill>
                <a:srgbClr val="093B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Box 59"/>
            <p:cNvSpPr txBox="1">
              <a:spLocks noChangeArrowheads="1"/>
            </p:cNvSpPr>
            <p:nvPr/>
          </p:nvSpPr>
          <p:spPr bwMode="auto">
            <a:xfrm flipH="1">
              <a:off x="3684" y="4600"/>
              <a:ext cx="3493" cy="15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36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目录</a:t>
              </a:r>
              <a:endParaRPr lang="en-US" altLang="zh-CN" sz="36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defRPr/>
              </a:pPr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  <a:endParaRPr lang="en-US" altLang="ko-KR" sz="2400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378825" y="411480"/>
            <a:ext cx="1966595" cy="923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79900" y="1426210"/>
            <a:ext cx="7515860" cy="6483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开放三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T16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最大连续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79900" y="2482850"/>
            <a:ext cx="7516495" cy="69659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02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练习七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T1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E-mail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地址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279265" y="3586480"/>
            <a:ext cx="7516495" cy="6978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练习八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看电影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79265" y="4691380"/>
            <a:ext cx="7516495" cy="6559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04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练习八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T5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火星人足球赛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最大连续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" y="1003935"/>
            <a:ext cx="7077710" cy="5283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8205" y="988060"/>
            <a:ext cx="9403715" cy="57543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目标：在长度为</a:t>
            </a:r>
            <a:r>
              <a:rPr lang="en-US" altLang="zh-CN" sz="1600"/>
              <a:t> n </a:t>
            </a:r>
            <a:r>
              <a:rPr lang="zh-CN" altLang="en-US" sz="1600"/>
              <a:t>的数组中找出一个连续子数组，使得这个子数组的元素和最大，并输出该子数组的起始下标和结束下标（下标从</a:t>
            </a:r>
            <a:r>
              <a:rPr lang="en-US" altLang="zh-CN" sz="1600"/>
              <a:t> 0 </a:t>
            </a:r>
            <a:r>
              <a:rPr lang="zh-CN" altLang="en-US" sz="1600"/>
              <a:t>开始）。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/>
              <a:t>常用且高效的方法是</a:t>
            </a:r>
            <a:r>
              <a:rPr lang="en-US" altLang="zh-CN" sz="1600"/>
              <a:t> Kadane </a:t>
            </a:r>
            <a:r>
              <a:rPr lang="zh-CN" altLang="en-US" sz="1600"/>
              <a:t>算法（动态规划思想）：</a:t>
            </a:r>
            <a:endParaRPr lang="zh-CN" altLang="en-US" sz="1600"/>
          </a:p>
          <a:p>
            <a:endParaRPr lang="en-US" altLang="zh-CN" sz="1600"/>
          </a:p>
          <a:p>
            <a:pPr lvl="1"/>
            <a:r>
              <a:rPr lang="zh-CN" altLang="en-US" sz="1600"/>
              <a:t>维护一个当前累加和</a:t>
            </a:r>
            <a:r>
              <a:rPr lang="en-US" altLang="zh-CN" sz="1600"/>
              <a:t> sum</a:t>
            </a:r>
            <a:r>
              <a:rPr lang="zh-CN" altLang="en-US" sz="1600"/>
              <a:t>：表示以当前位置结尾的</a:t>
            </a:r>
            <a:r>
              <a:rPr lang="en-US" altLang="zh-CN" sz="1600"/>
              <a:t>“</a:t>
            </a:r>
            <a:r>
              <a:rPr lang="zh-CN" altLang="en-US" sz="1600"/>
              <a:t>当前正在考虑的连续段</a:t>
            </a:r>
            <a:r>
              <a:rPr lang="en-US" altLang="zh-CN" sz="1600"/>
              <a:t>”</a:t>
            </a:r>
            <a:r>
              <a:rPr lang="zh-CN" altLang="en-US" sz="1600"/>
              <a:t>的和。</a:t>
            </a:r>
            <a:endParaRPr lang="zh-CN" altLang="en-US" sz="1600"/>
          </a:p>
          <a:p>
            <a:pPr lvl="1"/>
            <a:endParaRPr lang="en-US" altLang="zh-CN" sz="1600"/>
          </a:p>
          <a:p>
            <a:pPr lvl="1"/>
            <a:r>
              <a:rPr lang="zh-CN" altLang="en-US" sz="1600"/>
              <a:t>当</a:t>
            </a:r>
            <a:r>
              <a:rPr lang="en-US" altLang="zh-CN" sz="1600"/>
              <a:t> sum </a:t>
            </a:r>
            <a:r>
              <a:rPr lang="zh-CN" altLang="en-US" sz="1600"/>
              <a:t>变为负数时，继续向右扩展任何新区间都会使总和更小，所以应当将</a:t>
            </a:r>
            <a:r>
              <a:rPr lang="en-US" altLang="zh-CN" sz="1600"/>
              <a:t> sum </a:t>
            </a:r>
            <a:r>
              <a:rPr lang="zh-CN" altLang="en-US" sz="1600"/>
              <a:t>置零，从下一个位置重新开始新的连续段（记录</a:t>
            </a:r>
            <a:r>
              <a:rPr lang="en-US" altLang="zh-CN" sz="1600"/>
              <a:t> tempStart = i + 1</a:t>
            </a:r>
            <a:r>
              <a:rPr lang="zh-CN" altLang="en-US" sz="1600"/>
              <a:t>）。</a:t>
            </a:r>
            <a:endParaRPr lang="zh-CN" altLang="en-US" sz="1600"/>
          </a:p>
          <a:p>
            <a:pPr lvl="1"/>
            <a:endParaRPr lang="en-US" altLang="zh-CN" sz="1600"/>
          </a:p>
          <a:p>
            <a:pPr lvl="1"/>
            <a:r>
              <a:rPr lang="zh-CN" altLang="en-US" sz="1600"/>
              <a:t>同时维护一个</a:t>
            </a:r>
            <a:r>
              <a:rPr lang="en-US" altLang="zh-CN" sz="1600"/>
              <a:t> maxSum</a:t>
            </a:r>
            <a:r>
              <a:rPr lang="zh-CN" altLang="en-US" sz="1600"/>
              <a:t>：记录历史上遇到过的最大连续和。当</a:t>
            </a:r>
            <a:r>
              <a:rPr lang="en-US" altLang="zh-CN" sz="1600"/>
              <a:t> sum </a:t>
            </a:r>
            <a:r>
              <a:rPr lang="zh-CN" altLang="en-US" sz="1600"/>
              <a:t>超过</a:t>
            </a:r>
            <a:r>
              <a:rPr lang="en-US" altLang="zh-CN" sz="1600"/>
              <a:t> maxSum </a:t>
            </a:r>
            <a:r>
              <a:rPr lang="zh-CN" altLang="en-US" sz="1600"/>
              <a:t>时更新</a:t>
            </a:r>
            <a:r>
              <a:rPr lang="en-US" altLang="zh-CN" sz="1600"/>
              <a:t> maxSum </a:t>
            </a:r>
            <a:r>
              <a:rPr lang="zh-CN" altLang="en-US" sz="1600"/>
              <a:t>并记录当前段的起止下标（</a:t>
            </a:r>
            <a:r>
              <a:rPr lang="en-US" altLang="zh-CN" sz="1600"/>
              <a:t>Left = tempStart</a:t>
            </a:r>
            <a:r>
              <a:rPr lang="zh-CN" altLang="en-US" sz="1600"/>
              <a:t>，</a:t>
            </a:r>
            <a:r>
              <a:rPr lang="en-US" altLang="zh-CN" sz="1600"/>
              <a:t>Right = i</a:t>
            </a:r>
            <a:r>
              <a:rPr lang="zh-CN" altLang="en-US" sz="1600"/>
              <a:t>）。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/>
              <a:t>要处理所有负数的情况：</a:t>
            </a:r>
            <a:endParaRPr lang="zh-CN" altLang="en-US" sz="1600"/>
          </a:p>
          <a:p>
            <a:endParaRPr lang="zh-CN" altLang="en-US" sz="1600"/>
          </a:p>
          <a:p>
            <a:pPr lvl="1"/>
            <a:r>
              <a:rPr lang="zh-CN" altLang="en-US" sz="1600"/>
              <a:t>将</a:t>
            </a:r>
            <a:r>
              <a:rPr lang="en-US" altLang="zh-CN" sz="1600"/>
              <a:t> maxSum </a:t>
            </a:r>
            <a:r>
              <a:rPr lang="zh-CN" altLang="en-US" sz="1600"/>
              <a:t>初始化为</a:t>
            </a:r>
            <a:r>
              <a:rPr lang="en-US" altLang="zh-CN" sz="1600"/>
              <a:t> a[0]</a:t>
            </a:r>
            <a:r>
              <a:rPr lang="zh-CN" altLang="en-US" sz="1600"/>
              <a:t>（数组第一个元素），而不是</a:t>
            </a:r>
            <a:r>
              <a:rPr lang="en-US" altLang="zh-CN" sz="1600"/>
              <a:t> INT_MIN </a:t>
            </a:r>
            <a:r>
              <a:rPr lang="zh-CN" altLang="en-US" sz="1600"/>
              <a:t>也可以，但关键是保证即便</a:t>
            </a:r>
            <a:r>
              <a:rPr lang="en-US" altLang="zh-CN" sz="1600"/>
              <a:t> sum </a:t>
            </a:r>
            <a:r>
              <a:rPr lang="zh-CN" altLang="en-US" sz="1600"/>
              <a:t>一直被重置为</a:t>
            </a:r>
            <a:r>
              <a:rPr lang="en-US" altLang="zh-CN" sz="1600"/>
              <a:t> 0</a:t>
            </a:r>
            <a:r>
              <a:rPr lang="zh-CN" altLang="en-US" sz="1600"/>
              <a:t>，</a:t>
            </a:r>
            <a:r>
              <a:rPr lang="en-US" altLang="zh-CN" sz="1600"/>
              <a:t>maxSum </a:t>
            </a:r>
            <a:r>
              <a:rPr lang="zh-CN" altLang="en-US" sz="1600"/>
              <a:t>仍能反映数组中的最大元素（若整个数组都负数，则最大连续和就是数组中最大的单个元素）。在循环开始时，</a:t>
            </a:r>
            <a:r>
              <a:rPr lang="en-US" altLang="zh-CN" sz="1600"/>
              <a:t>sum </a:t>
            </a:r>
            <a:r>
              <a:rPr lang="zh-CN" altLang="en-US" sz="1600"/>
              <a:t>从</a:t>
            </a:r>
            <a:r>
              <a:rPr lang="en-US" altLang="zh-CN" sz="1600"/>
              <a:t> 0 </a:t>
            </a:r>
            <a:r>
              <a:rPr lang="zh-CN" altLang="en-US" sz="1600"/>
              <a:t>开始累加；如果数组所有元素都为负，</a:t>
            </a:r>
            <a:r>
              <a:rPr lang="en-US" altLang="zh-CN" sz="1600"/>
              <a:t>sum </a:t>
            </a:r>
            <a:r>
              <a:rPr lang="zh-CN" altLang="en-US" sz="1600"/>
              <a:t>在任何时刻都不会超过初始</a:t>
            </a:r>
            <a:r>
              <a:rPr lang="en-US" altLang="zh-CN" sz="1600"/>
              <a:t> maxSum</a:t>
            </a:r>
            <a:r>
              <a:rPr lang="zh-CN" altLang="en-US" sz="1600"/>
              <a:t>，因此</a:t>
            </a:r>
            <a:r>
              <a:rPr lang="en-US" altLang="zh-CN" sz="1600"/>
              <a:t> Left/Right </a:t>
            </a:r>
            <a:r>
              <a:rPr lang="zh-CN" altLang="en-US" sz="1600"/>
              <a:t>会保持为初始值</a:t>
            </a:r>
            <a:r>
              <a:rPr lang="en-US" altLang="zh-CN" sz="1600"/>
              <a:t> 0,0</a:t>
            </a:r>
            <a:r>
              <a:rPr lang="zh-CN" altLang="en-US" sz="1600"/>
              <a:t>，这意味着输出的最大子数组是单个第一个元素</a:t>
            </a:r>
            <a:r>
              <a:rPr lang="en-US" altLang="zh-CN" sz="1600"/>
              <a:t> —— </a:t>
            </a:r>
            <a:r>
              <a:rPr lang="zh-CN" altLang="en-US" sz="1600"/>
              <a:t>为正确解法的一种常见实现。但更严谨的做法是在比较时使用</a:t>
            </a:r>
            <a:r>
              <a:rPr lang="en-US" altLang="zh-CN" sz="1600"/>
              <a:t> maxSum </a:t>
            </a:r>
            <a:r>
              <a:rPr lang="zh-CN" altLang="en-US" sz="1600"/>
              <a:t>初始为</a:t>
            </a:r>
            <a:r>
              <a:rPr lang="en-US" altLang="zh-CN" sz="1600"/>
              <a:t> a[0] </a:t>
            </a:r>
            <a:r>
              <a:rPr lang="zh-CN" altLang="en-US" sz="1600"/>
              <a:t>并及时更新</a:t>
            </a:r>
            <a:r>
              <a:rPr lang="en-US" altLang="zh-CN" sz="1600"/>
              <a:t> Left/Right </a:t>
            </a:r>
            <a:r>
              <a:rPr lang="zh-CN" altLang="en-US" sz="1600"/>
              <a:t>即可。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/>
              <a:t>时间复杂度</a:t>
            </a:r>
            <a:r>
              <a:rPr lang="en-US" altLang="zh-CN" sz="1600"/>
              <a:t> O(n)</a:t>
            </a:r>
            <a:r>
              <a:rPr lang="zh-CN" altLang="en-US" sz="1600"/>
              <a:t>，空间复杂度</a:t>
            </a:r>
            <a:r>
              <a:rPr lang="en-US" altLang="zh-CN" sz="1600"/>
              <a:t> O(1)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8200" y="911225"/>
            <a:ext cx="9048115" cy="585152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输入与初始化</a:t>
            </a:r>
            <a:endParaRPr lang="zh-CN" altLang="en-US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包含</a:t>
            </a:r>
            <a:r>
              <a:rPr lang="en-US" altLang="zh-CN" sz="1600"/>
              <a:t> iostream </a:t>
            </a:r>
            <a:r>
              <a:rPr lang="zh-CN" altLang="en-US" sz="1600"/>
              <a:t>并使用标准命名空间以便输入输出。</a:t>
            </a:r>
            <a:endParaRPr lang="en-US" altLang="zh-CN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读入整数</a:t>
            </a:r>
            <a:r>
              <a:rPr lang="en-US" altLang="zh-CN" sz="1600"/>
              <a:t> n</a:t>
            </a:r>
            <a:r>
              <a:rPr lang="zh-CN" altLang="en-US" sz="1600"/>
              <a:t>，用于表示数组的长度。</a:t>
            </a:r>
            <a:endParaRPr lang="en-US" altLang="zh-CN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动态开辟整型数组</a:t>
            </a:r>
            <a:r>
              <a:rPr lang="en-US" altLang="zh-CN" sz="1600"/>
              <a:t> p </a:t>
            </a:r>
            <a:r>
              <a:rPr lang="zh-CN" altLang="en-US" sz="1600"/>
              <a:t>存储输入的</a:t>
            </a:r>
            <a:r>
              <a:rPr lang="en-US" altLang="zh-CN" sz="1600"/>
              <a:t> n </a:t>
            </a:r>
            <a:r>
              <a:rPr lang="zh-CN" altLang="en-US" sz="1600"/>
              <a:t>个整数。</a:t>
            </a:r>
            <a:endParaRPr lang="en-US" altLang="zh-CN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循环读入数组元素。</a:t>
            </a:r>
            <a:endParaRPr lang="en-US" altLang="zh-CN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定义整型变量</a:t>
            </a:r>
            <a:r>
              <a:rPr lang="en-US" altLang="zh-CN" sz="1600"/>
              <a:t> Left </a:t>
            </a:r>
            <a:r>
              <a:rPr lang="zh-CN" altLang="en-US" sz="1600"/>
              <a:t>与</a:t>
            </a:r>
            <a:r>
              <a:rPr lang="en-US" altLang="zh-CN" sz="1600"/>
              <a:t> Right </a:t>
            </a:r>
            <a:r>
              <a:rPr lang="zh-CN" altLang="en-US" sz="1600"/>
              <a:t>用于接收最大连续和子数组的起止下标。</a:t>
            </a:r>
            <a:endParaRPr lang="zh-CN" altLang="en-US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在函数 getMaxSum() 内部初始化变量：</a:t>
            </a:r>
            <a:endParaRPr lang="zh-CN" altLang="en-US" sz="1600"/>
          </a:p>
          <a:p>
            <a:pPr lvl="2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sum = 0（当前累计和）</a:t>
            </a:r>
            <a:endParaRPr lang="zh-CN" altLang="en-US" sz="1600"/>
          </a:p>
          <a:p>
            <a:pPr lvl="2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maxSum = a[0]（历史最大和）</a:t>
            </a:r>
            <a:endParaRPr lang="zh-CN" altLang="en-US" sz="1600"/>
          </a:p>
          <a:p>
            <a:pPr lvl="2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tempStart = 0（当前候选起点）</a:t>
            </a:r>
            <a:endParaRPr lang="en-US" altLang="zh-CN" sz="1600"/>
          </a:p>
          <a:p>
            <a:pPr lvl="2" indent="0" algn="l" fontAlgn="auto">
              <a:lnSpc>
                <a:spcPct val="120000"/>
              </a:lnSpc>
              <a:buClrTx/>
              <a:buSzTx/>
              <a:buNone/>
            </a:pPr>
            <a:r>
              <a:rPr lang="en-US" altLang="zh-CN" sz="1600"/>
              <a:t>Left = 0, Right = 0</a:t>
            </a:r>
            <a:r>
              <a:rPr lang="zh-CN" altLang="en-US" sz="1600"/>
              <a:t>（最大区间默认初值）</a:t>
            </a:r>
            <a:endParaRPr lang="zh-CN" altLang="en-US" sz="1600"/>
          </a:p>
          <a:p>
            <a:pPr indent="0" algn="l" fontAlgn="auto">
              <a:lnSpc>
                <a:spcPct val="120000"/>
              </a:lnSpc>
              <a:buClrTx/>
              <a:buSzTx/>
              <a:buNone/>
            </a:pPr>
            <a:endParaRPr lang="en-US" altLang="zh-CN" sz="1600"/>
          </a:p>
          <a:p>
            <a:pPr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遍历思路</a:t>
            </a:r>
            <a:endParaRPr lang="zh-CN" altLang="en-US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通过</a:t>
            </a:r>
            <a:r>
              <a:rPr lang="en-US" altLang="zh-CN" sz="1600"/>
              <a:t> for (int i = 0; i &lt; n; ++i) </a:t>
            </a:r>
            <a:r>
              <a:rPr lang="zh-CN" altLang="en-US" sz="1600"/>
              <a:t>从左到右扫描整个数组。</a:t>
            </a:r>
            <a:endParaRPr lang="en-US" altLang="zh-CN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每访问一个元素时先执行</a:t>
            </a:r>
            <a:r>
              <a:rPr lang="en-US" altLang="zh-CN" sz="1600"/>
              <a:t> sum += a[i]</a:t>
            </a:r>
            <a:r>
              <a:rPr lang="zh-CN" altLang="en-US" sz="1600"/>
              <a:t>，扩展当前连续区间到</a:t>
            </a:r>
            <a:r>
              <a:rPr lang="en-US" altLang="zh-CN" sz="1600"/>
              <a:t> i </a:t>
            </a:r>
            <a:r>
              <a:rPr lang="zh-CN" altLang="en-US" sz="1600"/>
              <a:t>位置。</a:t>
            </a:r>
            <a:endParaRPr lang="zh-CN" altLang="en-US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任何时刻若</a:t>
            </a:r>
            <a:r>
              <a:rPr lang="en-US" altLang="zh-CN" sz="1600"/>
              <a:t> sum &gt; maxSum</a:t>
            </a:r>
            <a:r>
              <a:rPr lang="zh-CN" altLang="en-US" sz="1600"/>
              <a:t>，说明找到了比历史更优的连续和，需要更新答案区间。</a:t>
            </a:r>
            <a:endParaRPr lang="en-US" altLang="zh-CN" sz="1600"/>
          </a:p>
          <a:p>
            <a:pPr lvl="1" indent="0" algn="l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1600"/>
              <a:t>若</a:t>
            </a:r>
            <a:r>
              <a:rPr lang="en-US" altLang="zh-CN" sz="1600"/>
              <a:t> sum &lt; 0</a:t>
            </a:r>
            <a:r>
              <a:rPr lang="zh-CN" altLang="en-US" sz="1600"/>
              <a:t>，则从</a:t>
            </a:r>
            <a:r>
              <a:rPr lang="en-US" altLang="zh-CN" sz="1600"/>
              <a:t> i+1 </a:t>
            </a:r>
            <a:r>
              <a:rPr lang="zh-CN" altLang="en-US" sz="1600"/>
              <a:t>重新开始新一段连续区间，因为负值将降低后续和。</a:t>
            </a:r>
            <a:endParaRPr lang="zh-C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4240" y="917575"/>
            <a:ext cx="8249920" cy="5631180"/>
          </a:xfrm>
          <a:prstGeom prst="rect">
            <a:avLst/>
          </a:prstGeom>
        </p:spPr>
        <p:txBody>
          <a:bodyPr wrap="square">
            <a:spAutoFit/>
          </a:bodyPr>
          <a:p>
            <a:pPr lvl="1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主逻辑判断与更新</a:t>
            </a:r>
            <a:endParaRPr lang="en-US" altLang="zh-CN" sz="1600"/>
          </a:p>
          <a:p>
            <a:pPr lvl="2" indent="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sz="1600"/>
              <a:t>sum &gt; maxSum</a:t>
            </a:r>
            <a:r>
              <a:rPr lang="zh-CN" altLang="en-US" sz="1600"/>
              <a:t>：</a:t>
            </a:r>
            <a:endParaRPr lang="en-US" altLang="zh-CN" sz="1600"/>
          </a:p>
          <a:p>
            <a:pPr lvl="3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更新</a:t>
            </a:r>
            <a:r>
              <a:rPr lang="en-US" altLang="zh-CN" sz="1600"/>
              <a:t> maxSum = sum</a:t>
            </a:r>
            <a:endParaRPr lang="en-US" altLang="zh-CN" sz="1600"/>
          </a:p>
          <a:p>
            <a:pPr lvl="3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更新</a:t>
            </a:r>
            <a:r>
              <a:rPr lang="en-US" altLang="zh-CN" sz="1600"/>
              <a:t> Left = tempStart</a:t>
            </a:r>
            <a:endParaRPr lang="en-US" altLang="zh-CN" sz="1600"/>
          </a:p>
          <a:p>
            <a:pPr lvl="3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更新</a:t>
            </a:r>
            <a:r>
              <a:rPr lang="en-US" altLang="zh-CN" sz="1600"/>
              <a:t> Right = i</a:t>
            </a:r>
            <a:endParaRPr lang="en-US" altLang="zh-CN" sz="1600"/>
          </a:p>
          <a:p>
            <a:pPr lvl="3" indent="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表示以</a:t>
            </a:r>
            <a:r>
              <a:rPr lang="en-US" altLang="zh-CN" sz="1600"/>
              <a:t> tempStart </a:t>
            </a:r>
            <a:r>
              <a:rPr lang="zh-CN" altLang="en-US" sz="1600"/>
              <a:t>到</a:t>
            </a:r>
            <a:r>
              <a:rPr lang="en-US" altLang="zh-CN" sz="1600"/>
              <a:t> i </a:t>
            </a:r>
            <a:r>
              <a:rPr lang="zh-CN" altLang="en-US" sz="1600"/>
              <a:t>为止的连续区间是当前最优答案</a:t>
            </a:r>
            <a:endParaRPr lang="zh-CN" altLang="en-US" sz="1600"/>
          </a:p>
          <a:p>
            <a:pPr lvl="2" indent="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sz="1600"/>
              <a:t>sum &lt; 0</a:t>
            </a:r>
            <a:r>
              <a:rPr lang="zh-CN" altLang="en-US" sz="1600"/>
              <a:t>：</a:t>
            </a:r>
            <a:endParaRPr lang="en-US" altLang="zh-CN" sz="1600"/>
          </a:p>
          <a:p>
            <a:pPr lvl="3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将</a:t>
            </a:r>
            <a:r>
              <a:rPr lang="en-US" altLang="zh-CN" sz="1600"/>
              <a:t> sum = 0</a:t>
            </a:r>
            <a:r>
              <a:rPr lang="zh-CN" altLang="en-US" sz="1600"/>
              <a:t>，丢弃当前连续区间</a:t>
            </a:r>
            <a:endParaRPr lang="en-US" altLang="zh-CN" sz="1600"/>
          </a:p>
          <a:p>
            <a:pPr lvl="3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将</a:t>
            </a:r>
            <a:r>
              <a:rPr lang="en-US" altLang="zh-CN" sz="1600"/>
              <a:t> tempStart = i + 1</a:t>
            </a:r>
            <a:r>
              <a:rPr lang="zh-CN" altLang="en-US" sz="1600"/>
              <a:t>，从下一个位置重新开始尝试新连续段</a:t>
            </a:r>
            <a:endParaRPr lang="en-US" altLang="zh-CN" sz="1600"/>
          </a:p>
          <a:p>
            <a:pPr lvl="2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其余情况（</a:t>
            </a:r>
            <a:r>
              <a:rPr lang="en-US" altLang="zh-CN" sz="1600"/>
              <a:t>0 ≤ sum ≤ maxSum</a:t>
            </a:r>
            <a:r>
              <a:rPr lang="zh-CN" altLang="en-US" sz="1600"/>
              <a:t>）继续遍历，不修改记录</a:t>
            </a:r>
            <a:endParaRPr lang="zh-CN" altLang="en-US" sz="1600"/>
          </a:p>
          <a:p>
            <a:pPr lvl="2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遍历结束时，</a:t>
            </a:r>
            <a:r>
              <a:rPr lang="en-US" altLang="zh-CN" sz="1600"/>
              <a:t>Left </a:t>
            </a:r>
            <a:r>
              <a:rPr lang="zh-CN" altLang="en-US" sz="1600"/>
              <a:t>和</a:t>
            </a:r>
            <a:r>
              <a:rPr lang="en-US" altLang="zh-CN" sz="1600"/>
              <a:t> Right </a:t>
            </a:r>
            <a:r>
              <a:rPr lang="zh-CN" altLang="en-US" sz="1600"/>
              <a:t>已锁定最终答案</a:t>
            </a:r>
            <a:endParaRPr lang="en-US" altLang="zh-CN" sz="1600"/>
          </a:p>
          <a:p>
            <a:pPr lvl="1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输出与结束</a:t>
            </a:r>
            <a:endParaRPr lang="zh-CN" altLang="en-US" sz="1600"/>
          </a:p>
          <a:p>
            <a:pPr lvl="2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输出</a:t>
            </a:r>
            <a:r>
              <a:rPr lang="en-US" altLang="zh-CN" sz="1600"/>
              <a:t> Left </a:t>
            </a:r>
            <a:r>
              <a:rPr lang="zh-CN" altLang="en-US" sz="1600"/>
              <a:t>与</a:t>
            </a:r>
            <a:r>
              <a:rPr lang="en-US" altLang="zh-CN" sz="1600"/>
              <a:t> Right </a:t>
            </a:r>
            <a:r>
              <a:rPr lang="zh-CN" altLang="en-US" sz="1600"/>
              <a:t>作为最大连续和子数组的起始与结束下标。</a:t>
            </a:r>
            <a:endParaRPr lang="en-US" altLang="zh-CN" sz="1600"/>
          </a:p>
          <a:p>
            <a:pPr lvl="2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释放动态内存</a:t>
            </a:r>
            <a:r>
              <a:rPr lang="en-US" altLang="zh-CN" sz="1600"/>
              <a:t> delete[] p</a:t>
            </a:r>
            <a:r>
              <a:rPr lang="zh-CN" altLang="en-US" sz="1600"/>
              <a:t>。</a:t>
            </a:r>
            <a:endParaRPr lang="en-US" altLang="zh-CN" sz="1600"/>
          </a:p>
          <a:p>
            <a:pPr lvl="2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/>
              <a:t>程序正常返回。</a:t>
            </a:r>
            <a:endParaRPr lang="zh-CN" alt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42671" y="1336675"/>
            <a:ext cx="10500129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8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3 -5 1 5 -4 12 0 -1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40" y="4295140"/>
            <a:ext cx="4223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6</a:t>
            </a:r>
            <a:endParaRPr lang="en-US" altLang="zh-CN"/>
          </a:p>
          <a:p>
            <a:pPr marL="457200" lvl="1" indent="457200"/>
            <a:r>
              <a:rPr lang="en-US" altLang="zh-CN"/>
              <a:t>-8 -3 -6 -2 -5 -7</a:t>
            </a:r>
            <a:endParaRPr lang="en-US" altLang="zh-CN"/>
          </a:p>
          <a:p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930" y="1336675"/>
            <a:ext cx="3538220" cy="1406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930" y="3778885"/>
            <a:ext cx="3538220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E-mail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地址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969645"/>
            <a:ext cx="8608695" cy="53378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6780" y="1569720"/>
            <a:ext cx="8905240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本题给出的字符串可能非常长（</a:t>
            </a:r>
            <a:r>
              <a:rPr lang="en-US" altLang="zh-CN" sz="1600">
                <a:sym typeface="+mn-ea"/>
              </a:rPr>
              <a:t>n ≤ 10⁶</a:t>
            </a:r>
            <a:r>
              <a:rPr lang="zh-CN" altLang="en-US" sz="1600">
                <a:sym typeface="+mn-ea"/>
              </a:rPr>
              <a:t>），需要统计所有满足邮箱格式的 连续子串 的数量。邮箱格式必须满足以下结构：</a:t>
            </a:r>
            <a:endParaRPr lang="zh-CN" altLang="en-US" sz="1600"/>
          </a:p>
          <a:p>
            <a:pPr lvl="1"/>
            <a:r>
              <a:rPr lang="zh-CN" altLang="en-US" sz="1600">
                <a:sym typeface="+mn-ea"/>
              </a:rPr>
              <a:t>开头部分（</a:t>
            </a:r>
            <a:r>
              <a:rPr lang="en-US" altLang="zh-CN" sz="1600">
                <a:sym typeface="+mn-ea"/>
              </a:rPr>
              <a:t>A</a:t>
            </a:r>
            <a:r>
              <a:rPr lang="zh-CN" altLang="en-US" sz="1600">
                <a:sym typeface="+mn-ea"/>
              </a:rPr>
              <a:t>） </a:t>
            </a:r>
            <a:r>
              <a:rPr lang="en-US" altLang="zh-CN" sz="1600">
                <a:sym typeface="+mn-ea"/>
              </a:rPr>
              <a:t>+ '@' + </a:t>
            </a:r>
            <a:r>
              <a:rPr lang="zh-CN" altLang="en-US" sz="1600">
                <a:sym typeface="+mn-ea"/>
              </a:rPr>
              <a:t>中间部分（</a:t>
            </a:r>
            <a:r>
              <a:rPr lang="en-US" altLang="zh-CN" sz="1600">
                <a:sym typeface="+mn-ea"/>
              </a:rPr>
              <a:t>B</a:t>
            </a:r>
            <a:r>
              <a:rPr lang="zh-CN" altLang="en-US" sz="1600">
                <a:sym typeface="+mn-ea"/>
              </a:rPr>
              <a:t>） </a:t>
            </a:r>
            <a:r>
              <a:rPr lang="en-US" altLang="zh-CN" sz="1600">
                <a:sym typeface="+mn-ea"/>
              </a:rPr>
              <a:t>+ '.' + </a:t>
            </a:r>
            <a:r>
              <a:rPr lang="zh-CN" altLang="en-US" sz="1600">
                <a:sym typeface="+mn-ea"/>
              </a:rPr>
              <a:t>结尾部分（</a:t>
            </a:r>
            <a:r>
              <a:rPr lang="en-US" altLang="zh-CN" sz="1600">
                <a:sym typeface="+mn-ea"/>
              </a:rPr>
              <a:t>C</a:t>
            </a:r>
            <a:r>
              <a:rPr lang="zh-CN" altLang="en-US" sz="1600">
                <a:sym typeface="+mn-ea"/>
              </a:rPr>
              <a:t>）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并且：</a:t>
            </a:r>
            <a:endParaRPr lang="zh-CN" altLang="en-US" sz="1600"/>
          </a:p>
          <a:p>
            <a:pPr lvl="1">
              <a:buFont typeface="Arial" panose="020B0604020202020204"/>
              <a:buChar char="•"/>
            </a:pPr>
            <a:r>
              <a:rPr lang="en-US" altLang="zh-CN" sz="1600">
                <a:sym typeface="+mn-ea"/>
              </a:rPr>
              <a:t>A</a:t>
            </a:r>
            <a:r>
              <a:rPr lang="zh-CN" altLang="en-US" sz="1600">
                <a:sym typeface="+mn-ea"/>
              </a:rPr>
              <a:t>：字母开头，由字母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数字</a:t>
            </a:r>
            <a:r>
              <a:rPr lang="en-US" altLang="zh-CN" sz="1600">
                <a:sym typeface="+mn-ea"/>
              </a:rPr>
              <a:t>/'_' </a:t>
            </a:r>
            <a:r>
              <a:rPr lang="zh-CN" altLang="en-US" sz="1600">
                <a:sym typeface="+mn-ea"/>
              </a:rPr>
              <a:t>组成</a:t>
            </a:r>
            <a:endParaRPr lang="zh-CN" altLang="en-US" sz="1600"/>
          </a:p>
          <a:p>
            <a:pPr lvl="1">
              <a:buFont typeface="Arial" panose="020B0604020202020204"/>
              <a:buChar char="•"/>
            </a:pPr>
            <a:r>
              <a:rPr lang="en-US" altLang="zh-CN" sz="1600">
                <a:sym typeface="+mn-ea"/>
              </a:rPr>
              <a:t>B</a:t>
            </a:r>
            <a:r>
              <a:rPr lang="zh-CN" altLang="en-US" sz="1600">
                <a:sym typeface="+mn-ea"/>
              </a:rPr>
              <a:t>：非空字母或数字序列</a:t>
            </a:r>
            <a:endParaRPr lang="zh-CN" altLang="en-US" sz="1600"/>
          </a:p>
          <a:p>
            <a:pPr lvl="1">
              <a:buFont typeface="Arial" panose="020B0604020202020204"/>
              <a:buChar char="•"/>
            </a:pPr>
            <a:r>
              <a:rPr lang="en-US" altLang="zh-CN" sz="1600">
                <a:sym typeface="+mn-ea"/>
              </a:rPr>
              <a:t>C</a:t>
            </a:r>
            <a:r>
              <a:rPr lang="zh-CN" altLang="en-US" sz="1600">
                <a:sym typeface="+mn-ea"/>
              </a:rPr>
              <a:t>：非空并且只包含字母，不允许数字、</a:t>
            </a:r>
            <a:r>
              <a:rPr lang="en-US" altLang="zh-CN" sz="1600">
                <a:sym typeface="+mn-ea"/>
              </a:rPr>
              <a:t>'_'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'.'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我们只需找到所有满足结构的 </a:t>
            </a:r>
            <a:r>
              <a:rPr lang="en-US" altLang="zh-CN" sz="1600">
                <a:sym typeface="+mn-ea"/>
              </a:rPr>
              <a:t>(A, B, C) </a:t>
            </a:r>
            <a:r>
              <a:rPr lang="zh-CN" altLang="en-US" sz="1600">
                <a:sym typeface="+mn-ea"/>
              </a:rPr>
              <a:t>三段，并且一个字符串中不同下标范围视为不同子串，因此答案可能非常大。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核心思想：</a:t>
            </a:r>
            <a:endParaRPr lang="zh-CN" altLang="en-US" sz="1600"/>
          </a:p>
          <a:p>
            <a:pPr lvl="1">
              <a:buAutoNum type="arabicPeriod"/>
            </a:pPr>
            <a:r>
              <a:rPr lang="zh-CN" altLang="en-US" sz="1600">
                <a:sym typeface="+mn-ea"/>
              </a:rPr>
              <a:t>每个 </a:t>
            </a:r>
            <a:r>
              <a:rPr lang="en-US" altLang="zh-CN" sz="1600">
                <a:sym typeface="+mn-ea"/>
              </a:rPr>
              <a:t>'@' </a:t>
            </a:r>
            <a:r>
              <a:rPr lang="zh-CN" altLang="en-US" sz="1600">
                <a:sym typeface="+mn-ea"/>
              </a:rPr>
              <a:t>作为中心，将邮箱结构分成左右两边。</a:t>
            </a:r>
            <a:endParaRPr lang="zh-CN" altLang="en-US" sz="1600"/>
          </a:p>
          <a:p>
            <a:pPr lvl="1">
              <a:buAutoNum type="arabicPeriod"/>
            </a:pPr>
            <a:r>
              <a:rPr lang="zh-CN" altLang="en-US" sz="1600">
                <a:sym typeface="+mn-ea"/>
              </a:rPr>
              <a:t>对 </a:t>
            </a:r>
            <a:r>
              <a:rPr lang="en-US" altLang="zh-CN" sz="1600">
                <a:sym typeface="+mn-ea"/>
              </a:rPr>
              <a:t>'@' </a:t>
            </a:r>
            <a:r>
              <a:rPr lang="zh-CN" altLang="en-US" sz="1600">
                <a:sym typeface="+mn-ea"/>
              </a:rPr>
              <a:t>左边统计可作为合法开头段 </a:t>
            </a:r>
            <a:r>
              <a:rPr lang="en-US" altLang="zh-CN" sz="1600">
                <a:sym typeface="+mn-ea"/>
              </a:rPr>
              <a:t>A </a:t>
            </a:r>
            <a:r>
              <a:rPr lang="zh-CN" altLang="en-US" sz="1600">
                <a:sym typeface="+mn-ea"/>
              </a:rPr>
              <a:t>的数量。</a:t>
            </a:r>
            <a:endParaRPr lang="zh-CN" altLang="en-US" sz="1600"/>
          </a:p>
          <a:p>
            <a:pPr lvl="1">
              <a:buAutoNum type="arabicPeriod"/>
            </a:pPr>
            <a:r>
              <a:rPr lang="zh-CN" altLang="en-US" sz="1600">
                <a:sym typeface="+mn-ea"/>
              </a:rPr>
              <a:t>对 </a:t>
            </a:r>
            <a:r>
              <a:rPr lang="en-US" altLang="zh-CN" sz="1600">
                <a:sym typeface="+mn-ea"/>
              </a:rPr>
              <a:t>'@' </a:t>
            </a:r>
            <a:r>
              <a:rPr lang="zh-CN" altLang="en-US" sz="1600">
                <a:sym typeface="+mn-ea"/>
              </a:rPr>
              <a:t>右边统计所有可能作为合法中间段 </a:t>
            </a:r>
            <a:r>
              <a:rPr lang="en-US" altLang="zh-CN" sz="1600">
                <a:sym typeface="+mn-ea"/>
              </a:rPr>
              <a:t>B</a:t>
            </a:r>
            <a:r>
              <a:rPr lang="zh-CN" altLang="en-US" sz="1600">
                <a:sym typeface="+mn-ea"/>
              </a:rPr>
              <a:t>，再往右匹配所有合法结尾段 </a:t>
            </a:r>
            <a:r>
              <a:rPr lang="en-US" altLang="zh-CN" sz="1600">
                <a:sym typeface="+mn-ea"/>
              </a:rPr>
              <a:t>C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  <a:p>
            <a:pPr lvl="1">
              <a:buAutoNum type="arabicPeriod"/>
            </a:pPr>
            <a:r>
              <a:rPr lang="zh-CN" altLang="en-US" sz="1600">
                <a:sym typeface="+mn-ea"/>
              </a:rPr>
              <a:t>任意一个 </a:t>
            </a:r>
            <a:r>
              <a:rPr lang="en-US" altLang="zh-CN" sz="1600">
                <a:sym typeface="+mn-ea"/>
              </a:rPr>
              <a:t>'@' </a:t>
            </a:r>
            <a:r>
              <a:rPr lang="zh-CN" altLang="en-US" sz="1600">
                <a:sym typeface="+mn-ea"/>
              </a:rPr>
              <a:t>的贡献 </a:t>
            </a:r>
            <a:r>
              <a:rPr lang="en-US" altLang="zh-CN" sz="1600">
                <a:sym typeface="+mn-ea"/>
              </a:rPr>
              <a:t>= A </a:t>
            </a:r>
            <a:r>
              <a:rPr lang="zh-CN" altLang="en-US" sz="1600">
                <a:sym typeface="+mn-ea"/>
              </a:rPr>
              <a:t>的数量 </a:t>
            </a:r>
            <a:r>
              <a:rPr lang="en-US" altLang="zh-CN" sz="1600">
                <a:sym typeface="+mn-ea"/>
              </a:rPr>
              <a:t>× C </a:t>
            </a:r>
            <a:r>
              <a:rPr lang="zh-CN" altLang="en-US" sz="1600">
                <a:sym typeface="+mn-ea"/>
              </a:rPr>
              <a:t>的数量（因为 </a:t>
            </a:r>
            <a:r>
              <a:rPr lang="en-US" altLang="zh-CN" sz="1600">
                <a:sym typeface="+mn-ea"/>
              </a:rPr>
              <a:t>B </a:t>
            </a:r>
            <a:r>
              <a:rPr lang="zh-CN" altLang="en-US" sz="1600">
                <a:sym typeface="+mn-ea"/>
              </a:rPr>
              <a:t>是固定位置到点之前的连续字串）。</a:t>
            </a:r>
            <a:endParaRPr lang="zh-CN" altLang="en-US" sz="1600"/>
          </a:p>
          <a:p>
            <a:pPr lvl="1">
              <a:buAutoNum type="arabicPeriod"/>
            </a:pPr>
            <a:r>
              <a:rPr lang="zh-CN" altLang="en-US" sz="1600">
                <a:sym typeface="+mn-ea"/>
              </a:rPr>
              <a:t>将所有 </a:t>
            </a:r>
            <a:r>
              <a:rPr lang="en-US" altLang="zh-CN" sz="1600">
                <a:sym typeface="+mn-ea"/>
              </a:rPr>
              <a:t>'@' </a:t>
            </a:r>
            <a:r>
              <a:rPr lang="zh-CN" altLang="en-US" sz="1600">
                <a:sym typeface="+mn-ea"/>
              </a:rPr>
              <a:t>的贡献累加就是答案。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注意点：子串按“具体下标区间”区分，因此只要起点或终点不同，就算另一个有效子串。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时间复杂度必须为 </a:t>
            </a:r>
            <a:r>
              <a:rPr lang="en-US" altLang="zh-CN" sz="1600">
                <a:sym typeface="+mn-ea"/>
              </a:rPr>
              <a:t>O(n)</a:t>
            </a:r>
            <a:r>
              <a:rPr lang="zh-CN" altLang="en-US" sz="1600">
                <a:sym typeface="+mn-ea"/>
              </a:rPr>
              <a:t>，不能多次回扫。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8035" y="1221105"/>
            <a:ext cx="8592820" cy="489267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输入与预处理</a:t>
            </a:r>
            <a:endParaRPr lang="en-US" altLang="zh-CN" sz="1600"/>
          </a:p>
          <a:p>
            <a:pPr lvl="1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输入一个长度为</a:t>
            </a:r>
            <a:r>
              <a:rPr lang="en-US" altLang="zh-CN" sz="1600"/>
              <a:t> n </a:t>
            </a:r>
            <a:r>
              <a:rPr lang="zh-CN" altLang="en-US" sz="1600"/>
              <a:t>的字符串</a:t>
            </a:r>
            <a:r>
              <a:rPr lang="en-US" altLang="zh-CN" sz="1600"/>
              <a:t> s</a:t>
            </a:r>
            <a:r>
              <a:rPr lang="zh-CN" altLang="en-US" sz="1600"/>
              <a:t>，只包含字母、数字、</a:t>
            </a:r>
            <a:r>
              <a:rPr lang="en-US" altLang="zh-CN" sz="1600"/>
              <a:t>'.'</a:t>
            </a:r>
            <a:r>
              <a:rPr lang="zh-CN" altLang="en-US" sz="1600"/>
              <a:t>、</a:t>
            </a:r>
            <a:r>
              <a:rPr lang="en-US" altLang="zh-CN" sz="1600"/>
              <a:t>'_'</a:t>
            </a:r>
            <a:r>
              <a:rPr lang="zh-CN" altLang="en-US" sz="1600"/>
              <a:t>、</a:t>
            </a:r>
            <a:r>
              <a:rPr lang="en-US" altLang="zh-CN" sz="1600"/>
              <a:t>'@'</a:t>
            </a:r>
            <a:r>
              <a:rPr lang="zh-CN" altLang="en-US" sz="1600"/>
              <a:t>。</a:t>
            </a:r>
            <a:endParaRPr lang="en-US" altLang="zh-CN" sz="1600"/>
          </a:p>
          <a:p>
            <a:pPr lvl="1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扫描一遍字符串，记录所有</a:t>
            </a:r>
            <a:r>
              <a:rPr lang="en-US" altLang="zh-CN" sz="1600"/>
              <a:t> '@' </a:t>
            </a:r>
            <a:r>
              <a:rPr lang="zh-CN" altLang="en-US" sz="1600"/>
              <a:t>的下标位置。</a:t>
            </a:r>
            <a:endParaRPr lang="en-US" altLang="zh-CN" sz="1600"/>
          </a:p>
          <a:p>
            <a:pPr lvl="1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准备三个数组（或计数器区间）</a:t>
            </a:r>
            <a:endParaRPr lang="en-US" altLang="zh-CN" sz="1600"/>
          </a:p>
          <a:p>
            <a:pPr lvl="2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1600"/>
              <a:t>LeftCount[i]</a:t>
            </a:r>
            <a:r>
              <a:rPr lang="zh-CN" altLang="en-US" sz="1600"/>
              <a:t>：以位置</a:t>
            </a:r>
            <a:r>
              <a:rPr lang="en-US" altLang="zh-CN" sz="1600"/>
              <a:t> i </a:t>
            </a:r>
            <a:r>
              <a:rPr lang="zh-CN" altLang="en-US" sz="1600"/>
              <a:t>为</a:t>
            </a:r>
            <a:r>
              <a:rPr lang="en-US" altLang="zh-CN" sz="1600"/>
              <a:t> '@' </a:t>
            </a:r>
            <a:r>
              <a:rPr lang="zh-CN" altLang="en-US" sz="1600"/>
              <a:t>时，其左侧能形成多少合法的</a:t>
            </a:r>
            <a:r>
              <a:rPr lang="en-US" altLang="zh-CN" sz="1600"/>
              <a:t> A </a:t>
            </a:r>
            <a:r>
              <a:rPr lang="zh-CN" altLang="en-US" sz="1600"/>
              <a:t>段。</a:t>
            </a:r>
            <a:endParaRPr lang="en-US" altLang="zh-CN" sz="1600"/>
          </a:p>
          <a:p>
            <a:pPr lvl="2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1600"/>
              <a:t>RightCount[i]</a:t>
            </a:r>
            <a:r>
              <a:rPr lang="zh-CN" altLang="en-US" sz="1600"/>
              <a:t>：以位置</a:t>
            </a:r>
            <a:r>
              <a:rPr lang="en-US" altLang="zh-CN" sz="1600"/>
              <a:t> i </a:t>
            </a:r>
            <a:r>
              <a:rPr lang="zh-CN" altLang="en-US" sz="1600"/>
              <a:t>为</a:t>
            </a:r>
            <a:r>
              <a:rPr lang="en-US" altLang="zh-CN" sz="1600"/>
              <a:t> '@' </a:t>
            </a:r>
            <a:r>
              <a:rPr lang="zh-CN" altLang="en-US" sz="1600"/>
              <a:t>时，其右侧能形成多少合法的</a:t>
            </a:r>
            <a:r>
              <a:rPr lang="en-US" altLang="zh-CN" sz="1600"/>
              <a:t> C </a:t>
            </a:r>
            <a:r>
              <a:rPr lang="zh-CN" altLang="en-US" sz="1600"/>
              <a:t>段。</a:t>
            </a:r>
            <a:endParaRPr lang="en-US" altLang="zh-CN" sz="1600"/>
          </a:p>
          <a:p>
            <a:pPr lvl="2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中间部分</a:t>
            </a:r>
            <a:r>
              <a:rPr lang="en-US" altLang="zh-CN" sz="1600"/>
              <a:t> B </a:t>
            </a:r>
            <a:r>
              <a:rPr lang="zh-CN" altLang="en-US" sz="1600"/>
              <a:t>不需要计数，因为每个</a:t>
            </a:r>
            <a:r>
              <a:rPr lang="en-US" altLang="zh-CN" sz="1600"/>
              <a:t> '@' </a:t>
            </a:r>
            <a:r>
              <a:rPr lang="zh-CN" altLang="en-US" sz="1600"/>
              <a:t>后紧跟的连续字母数字必须至少为</a:t>
            </a:r>
            <a:r>
              <a:rPr lang="en-US" altLang="zh-CN" sz="1600"/>
              <a:t> 1</a:t>
            </a:r>
            <a:r>
              <a:rPr lang="zh-CN" altLang="en-US" sz="1600"/>
              <a:t>。</a:t>
            </a:r>
            <a:endParaRPr lang="en-US" altLang="zh-CN" sz="1600"/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计算每个</a:t>
            </a:r>
            <a:r>
              <a:rPr lang="en-US" altLang="zh-CN" sz="1600"/>
              <a:t> '@' </a:t>
            </a:r>
            <a:r>
              <a:rPr lang="zh-CN" altLang="en-US" sz="1600"/>
              <a:t>左侧的合法开头</a:t>
            </a:r>
            <a:r>
              <a:rPr lang="en-US" altLang="zh-CN" sz="1600"/>
              <a:t> A </a:t>
            </a:r>
            <a:r>
              <a:rPr lang="zh-CN" altLang="en-US" sz="1600"/>
              <a:t>段数量</a:t>
            </a:r>
            <a:endParaRPr lang="en-US" altLang="zh-CN" sz="1600"/>
          </a:p>
          <a:p>
            <a:pPr lvl="1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从左向右扫描字符串，维护一个指针</a:t>
            </a:r>
            <a:r>
              <a:rPr lang="en-US" altLang="zh-CN" sz="1600"/>
              <a:t> L </a:t>
            </a:r>
            <a:r>
              <a:rPr lang="zh-CN" altLang="en-US" sz="1600"/>
              <a:t>指向</a:t>
            </a:r>
            <a:r>
              <a:rPr lang="en-US" altLang="zh-CN" sz="1600"/>
              <a:t>“</a:t>
            </a:r>
            <a:r>
              <a:rPr lang="zh-CN" altLang="en-US" sz="1600"/>
              <a:t>当前合法</a:t>
            </a:r>
            <a:r>
              <a:rPr lang="en-US" altLang="zh-CN" sz="1600"/>
              <a:t> A </a:t>
            </a:r>
            <a:r>
              <a:rPr lang="zh-CN" altLang="en-US" sz="1600"/>
              <a:t>段的起始位置</a:t>
            </a:r>
            <a:r>
              <a:rPr lang="en-US" altLang="zh-CN" sz="1600"/>
              <a:t>”</a:t>
            </a:r>
            <a:r>
              <a:rPr lang="zh-CN" altLang="en-US" sz="1600"/>
              <a:t>。</a:t>
            </a:r>
            <a:endParaRPr lang="zh-CN" altLang="en-US" sz="1600"/>
          </a:p>
          <a:p>
            <a:pPr lvl="1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1600"/>
              <a:t>A </a:t>
            </a:r>
            <a:r>
              <a:rPr lang="zh-CN" altLang="en-US" sz="1600"/>
              <a:t>段必须以字母开头，之后允许字母</a:t>
            </a:r>
            <a:r>
              <a:rPr lang="en-US" altLang="zh-CN" sz="1600"/>
              <a:t>/</a:t>
            </a:r>
            <a:r>
              <a:rPr lang="zh-CN" altLang="en-US" sz="1600"/>
              <a:t>数字</a:t>
            </a:r>
            <a:r>
              <a:rPr lang="en-US" altLang="zh-CN" sz="1600"/>
              <a:t>/'_'</a:t>
            </a:r>
            <a:r>
              <a:rPr lang="zh-CN" altLang="en-US" sz="1600"/>
              <a:t>。</a:t>
            </a:r>
            <a:endParaRPr lang="zh-CN" altLang="en-US" sz="1600"/>
          </a:p>
          <a:p>
            <a:pPr lvl="1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以某个下标</a:t>
            </a:r>
            <a:r>
              <a:rPr lang="en-US" altLang="zh-CN" sz="1600"/>
              <a:t> i </a:t>
            </a:r>
            <a:r>
              <a:rPr lang="zh-CN" altLang="en-US" sz="1600"/>
              <a:t>作为</a:t>
            </a:r>
            <a:r>
              <a:rPr lang="en-US" altLang="zh-CN" sz="1600"/>
              <a:t> '@'</a:t>
            </a:r>
            <a:r>
              <a:rPr lang="zh-CN" altLang="en-US" sz="1600"/>
              <a:t>，</a:t>
            </a:r>
            <a:r>
              <a:rPr lang="en-US" altLang="zh-CN" sz="1600"/>
              <a:t>A </a:t>
            </a:r>
            <a:r>
              <a:rPr lang="zh-CN" altLang="en-US" sz="1600"/>
              <a:t>段可以从所有满足条件的起点开始到</a:t>
            </a:r>
            <a:r>
              <a:rPr lang="en-US" altLang="zh-CN" sz="1600"/>
              <a:t> '@' </a:t>
            </a:r>
            <a:r>
              <a:rPr lang="zh-CN" altLang="en-US" sz="1600"/>
              <a:t>前结束。</a:t>
            </a:r>
            <a:endParaRPr lang="zh-CN" altLang="en-US" sz="1600"/>
          </a:p>
          <a:p>
            <a:pPr lvl="1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例如字串</a:t>
            </a:r>
            <a:r>
              <a:rPr lang="en-US" altLang="zh-CN" sz="1600"/>
              <a:t> "agapov"</a:t>
            </a:r>
            <a:r>
              <a:rPr lang="zh-CN" altLang="en-US" sz="1600"/>
              <a:t>，每个字母开头都能作为合法起点，因此</a:t>
            </a:r>
            <a:r>
              <a:rPr lang="en-US" altLang="zh-CN" sz="1600"/>
              <a:t> A </a:t>
            </a:r>
            <a:r>
              <a:rPr lang="zh-CN" altLang="en-US" sz="1600"/>
              <a:t>的数量</a:t>
            </a:r>
            <a:r>
              <a:rPr lang="en-US" altLang="zh-CN" sz="1600"/>
              <a:t> = </a:t>
            </a:r>
            <a:r>
              <a:rPr lang="zh-CN" altLang="en-US" sz="1600"/>
              <a:t>单词长度。</a:t>
            </a:r>
            <a:endParaRPr lang="en-US" altLang="zh-CN" sz="1600"/>
          </a:p>
          <a:p>
            <a:pPr lvl="1"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1600"/>
              <a:t>将所有合法</a:t>
            </a:r>
            <a:r>
              <a:rPr lang="en-US" altLang="zh-CN" sz="1600"/>
              <a:t> A </a:t>
            </a:r>
            <a:r>
              <a:rPr lang="zh-CN" altLang="en-US" sz="1600"/>
              <a:t>段数量记录在</a:t>
            </a:r>
            <a:r>
              <a:rPr lang="en-US" altLang="zh-CN" sz="1600"/>
              <a:t> LeftCount[i]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6920" y="1112520"/>
            <a:ext cx="8592820" cy="501586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计算</a:t>
            </a:r>
            <a:r>
              <a:rPr lang="en-US" altLang="zh-CN" sz="1600"/>
              <a:t> '@' </a:t>
            </a:r>
            <a:r>
              <a:rPr lang="zh-CN" altLang="en-US" sz="1600"/>
              <a:t>右侧所有合法结尾</a:t>
            </a:r>
            <a:r>
              <a:rPr lang="en-US" altLang="zh-CN" sz="1600"/>
              <a:t> C </a:t>
            </a:r>
            <a:r>
              <a:rPr lang="zh-CN" altLang="en-US" sz="1600"/>
              <a:t>段数量</a:t>
            </a:r>
            <a:endParaRPr lang="zh-CN" altLang="en-US" sz="1600"/>
          </a:p>
          <a:p>
            <a:pPr lvl="1" indent="0" algn="l">
              <a:buClrTx/>
              <a:buSzTx/>
              <a:buFont typeface="Arial" panose="020B0604020202020204"/>
              <a:buNone/>
            </a:pPr>
            <a:r>
              <a:rPr lang="en-US" altLang="zh-CN" sz="1600"/>
              <a:t>C </a:t>
            </a:r>
            <a:r>
              <a:rPr lang="zh-CN" altLang="en-US" sz="1600"/>
              <a:t>段必须全部由字母组成，不能包含数字、</a:t>
            </a:r>
            <a:r>
              <a:rPr lang="en-US" altLang="zh-CN" sz="1600"/>
              <a:t>'.'</a:t>
            </a:r>
            <a:r>
              <a:rPr lang="zh-CN" altLang="en-US" sz="1600"/>
              <a:t>、</a:t>
            </a:r>
            <a:r>
              <a:rPr lang="en-US" altLang="zh-CN" sz="1600"/>
              <a:t>'_'</a:t>
            </a:r>
            <a:r>
              <a:rPr lang="zh-CN" altLang="en-US" sz="1600"/>
              <a:t>。</a:t>
            </a:r>
            <a:endParaRPr lang="en-US" altLang="zh-CN" sz="1600"/>
          </a:p>
          <a:p>
            <a:pPr lvl="1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对每一个</a:t>
            </a:r>
            <a:r>
              <a:rPr lang="en-US" altLang="zh-CN" sz="1600"/>
              <a:t> '@'</a:t>
            </a:r>
            <a:r>
              <a:rPr lang="zh-CN" altLang="en-US" sz="1600"/>
              <a:t>：</a:t>
            </a:r>
            <a:endParaRPr lang="en-US" altLang="zh-CN" sz="1600"/>
          </a:p>
          <a:p>
            <a:pPr lvl="2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找到</a:t>
            </a:r>
            <a:r>
              <a:rPr lang="en-US" altLang="zh-CN" sz="1600"/>
              <a:t> '@' </a:t>
            </a:r>
            <a:r>
              <a:rPr lang="zh-CN" altLang="en-US" sz="1600"/>
              <a:t>后第一个</a:t>
            </a:r>
            <a:r>
              <a:rPr lang="en-US" altLang="zh-CN" sz="1600"/>
              <a:t> '.' </a:t>
            </a:r>
            <a:r>
              <a:rPr lang="zh-CN" altLang="en-US" sz="1600"/>
              <a:t>作为中间分界点。</a:t>
            </a:r>
            <a:endParaRPr lang="en-US" altLang="zh-CN" sz="1600"/>
          </a:p>
          <a:p>
            <a:pPr lvl="2" indent="0" algn="l">
              <a:buClrTx/>
              <a:buSzTx/>
              <a:buFont typeface="Arial" panose="020B0604020202020204"/>
              <a:buNone/>
            </a:pPr>
            <a:r>
              <a:rPr lang="en-US" altLang="zh-CN" sz="1600"/>
              <a:t>'.' </a:t>
            </a:r>
            <a:r>
              <a:rPr lang="zh-CN" altLang="en-US" sz="1600"/>
              <a:t>后连续的字母组成一个字符串，比如</a:t>
            </a:r>
            <a:r>
              <a:rPr lang="en-US" altLang="zh-CN" sz="1600"/>
              <a:t> "com" </a:t>
            </a:r>
            <a:r>
              <a:rPr lang="zh-CN" altLang="en-US" sz="1600"/>
              <a:t>长度为</a:t>
            </a:r>
            <a:r>
              <a:rPr lang="en-US" altLang="zh-CN" sz="1600"/>
              <a:t> 3</a:t>
            </a:r>
            <a:r>
              <a:rPr lang="zh-CN" altLang="en-US" sz="1600"/>
              <a:t>。</a:t>
            </a:r>
            <a:endParaRPr lang="en-US" altLang="zh-CN" sz="1600"/>
          </a:p>
          <a:p>
            <a:pPr lvl="1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这个</a:t>
            </a:r>
            <a:r>
              <a:rPr lang="en-US" altLang="zh-CN" sz="1600"/>
              <a:t> C </a:t>
            </a:r>
            <a:r>
              <a:rPr lang="zh-CN" altLang="en-US" sz="1600"/>
              <a:t>段可以从位置</a:t>
            </a:r>
            <a:r>
              <a:rPr lang="en-US" altLang="zh-CN" sz="1600"/>
              <a:t> . </a:t>
            </a:r>
            <a:r>
              <a:rPr lang="zh-CN" altLang="en-US" sz="1600"/>
              <a:t>后的任意一个字母开始，因此</a:t>
            </a:r>
            <a:r>
              <a:rPr lang="en-US" altLang="zh-CN" sz="1600"/>
              <a:t> C </a:t>
            </a:r>
            <a:r>
              <a:rPr lang="zh-CN" altLang="en-US" sz="1600"/>
              <a:t>的数量就是这段字母长度。</a:t>
            </a:r>
            <a:endParaRPr lang="en-US" altLang="zh-CN" sz="1600"/>
          </a:p>
          <a:p>
            <a:pPr lvl="1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例如</a:t>
            </a:r>
            <a:r>
              <a:rPr lang="en-US" altLang="zh-CN" sz="1600"/>
              <a:t> "com" </a:t>
            </a:r>
            <a:r>
              <a:rPr lang="zh-CN" altLang="en-US" sz="1600"/>
              <a:t>生成：</a:t>
            </a:r>
            <a:endParaRPr lang="en-US" altLang="zh-CN" sz="1600"/>
          </a:p>
          <a:p>
            <a:pPr lvl="2" indent="0" algn="l">
              <a:buClrTx/>
              <a:buSzTx/>
              <a:buFont typeface="Arial" panose="020B0604020202020204"/>
              <a:buNone/>
            </a:pPr>
            <a:r>
              <a:rPr lang="en-US" altLang="zh-CN" sz="1600"/>
              <a:t>"c"</a:t>
            </a:r>
            <a:endParaRPr lang="en-US" altLang="zh-CN" sz="1600"/>
          </a:p>
          <a:p>
            <a:pPr lvl="2" indent="0" algn="l">
              <a:buClrTx/>
              <a:buSzTx/>
              <a:buFont typeface="Arial" panose="020B0604020202020204"/>
              <a:buNone/>
            </a:pPr>
            <a:r>
              <a:rPr lang="en-US" altLang="zh-CN" sz="1600"/>
              <a:t>"co"</a:t>
            </a:r>
            <a:endParaRPr lang="en-US" altLang="zh-CN" sz="1600"/>
          </a:p>
          <a:p>
            <a:pPr lvl="2" indent="0" algn="l">
              <a:buClrTx/>
              <a:buSzTx/>
              <a:buFont typeface="Arial" panose="020B0604020202020204"/>
              <a:buNone/>
            </a:pPr>
            <a:r>
              <a:rPr lang="en-US" altLang="zh-CN" sz="1600"/>
              <a:t>"com"</a:t>
            </a:r>
            <a:endParaRPr lang="en-US" altLang="zh-CN" sz="1600"/>
          </a:p>
          <a:p>
            <a:pPr lvl="2" indent="0" algn="l">
              <a:buClrTx/>
              <a:buSzTx/>
              <a:buFont typeface="Arial" panose="020B0604020202020204"/>
              <a:buNone/>
            </a:pP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共</a:t>
            </a:r>
            <a:r>
              <a:rPr lang="en-US" altLang="zh-CN" sz="1600"/>
              <a:t> 3 </a:t>
            </a:r>
            <a:r>
              <a:rPr lang="zh-CN" altLang="en-US" sz="1600"/>
              <a:t>种合法</a:t>
            </a:r>
            <a:r>
              <a:rPr lang="en-US" altLang="zh-CN" sz="1600"/>
              <a:t> C </a:t>
            </a:r>
            <a:r>
              <a:rPr lang="zh-CN" altLang="en-US" sz="1600"/>
              <a:t>段。</a:t>
            </a:r>
            <a:endParaRPr lang="en-US" altLang="zh-CN" sz="1600"/>
          </a:p>
          <a:p>
            <a:pPr lvl="1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将结果存入</a:t>
            </a:r>
            <a:r>
              <a:rPr lang="en-US" altLang="zh-CN" sz="1600"/>
              <a:t> RightCount[i]</a:t>
            </a:r>
            <a:r>
              <a:rPr lang="zh-CN" altLang="en-US" sz="1600"/>
              <a:t>。</a:t>
            </a:r>
            <a:endParaRPr lang="zh-CN" altLang="en-US" sz="1600"/>
          </a:p>
          <a:p>
            <a:pPr indent="0" algn="l">
              <a:buClrTx/>
              <a:buSzTx/>
              <a:buFont typeface="Arial" panose="020B0604020202020204"/>
              <a:buNone/>
            </a:pPr>
            <a:r>
              <a:rPr lang="en-US" altLang="zh-CN" sz="1600"/>
              <a:t> </a:t>
            </a:r>
            <a:r>
              <a:rPr lang="zh-CN" altLang="en-US" sz="1600"/>
              <a:t>合并形成总答案</a:t>
            </a:r>
            <a:endParaRPr lang="en-US" altLang="zh-CN" sz="1600"/>
          </a:p>
          <a:p>
            <a:pPr lvl="1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对字符串中每一个</a:t>
            </a:r>
            <a:r>
              <a:rPr lang="en-US" altLang="zh-CN" sz="1600"/>
              <a:t> '@'</a:t>
            </a:r>
            <a:r>
              <a:rPr lang="zh-CN" altLang="en-US" sz="1600"/>
              <a:t>：</a:t>
            </a:r>
            <a:endParaRPr lang="en-US" altLang="zh-CN" sz="1600"/>
          </a:p>
          <a:p>
            <a:pPr lvl="2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若左侧存在合法</a:t>
            </a:r>
            <a:r>
              <a:rPr lang="en-US" altLang="zh-CN" sz="1600"/>
              <a:t> A</a:t>
            </a:r>
            <a:endParaRPr lang="en-US" altLang="zh-CN" sz="1600"/>
          </a:p>
          <a:p>
            <a:pPr lvl="2" indent="0" algn="l">
              <a:buClrTx/>
              <a:buSzTx/>
              <a:buFont typeface="Arial" panose="020B0604020202020204"/>
              <a:buNone/>
            </a:pPr>
            <a:r>
              <a:rPr lang="en-US" altLang="zh-CN" sz="1600"/>
              <a:t>'@' </a:t>
            </a:r>
            <a:r>
              <a:rPr lang="zh-CN" altLang="en-US" sz="1600"/>
              <a:t>后有合法</a:t>
            </a:r>
            <a:r>
              <a:rPr lang="en-US" altLang="zh-CN" sz="1600"/>
              <a:t> B</a:t>
            </a:r>
            <a:endParaRPr lang="en-US" altLang="zh-CN" sz="1600"/>
          </a:p>
          <a:p>
            <a:pPr lvl="2" indent="0" algn="l">
              <a:buClrTx/>
              <a:buSzTx/>
              <a:buFont typeface="Arial" panose="020B0604020202020204"/>
              <a:buNone/>
            </a:pPr>
            <a:r>
              <a:rPr lang="en-US" altLang="zh-CN" sz="1600"/>
              <a:t>'@' </a:t>
            </a:r>
            <a:r>
              <a:rPr lang="zh-CN" altLang="en-US" sz="1600"/>
              <a:t>后的</a:t>
            </a:r>
            <a:r>
              <a:rPr lang="en-US" altLang="zh-CN" sz="1600"/>
              <a:t> '.' </a:t>
            </a:r>
            <a:r>
              <a:rPr lang="zh-CN" altLang="en-US" sz="1600"/>
              <a:t>之后有合法</a:t>
            </a:r>
            <a:r>
              <a:rPr lang="en-US" altLang="zh-CN" sz="1600"/>
              <a:t> C</a:t>
            </a:r>
            <a:endParaRPr lang="en-US" altLang="zh-CN" sz="1600"/>
          </a:p>
          <a:p>
            <a:pPr lvl="1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则该</a:t>
            </a:r>
            <a:r>
              <a:rPr lang="en-US" altLang="zh-CN" sz="1600"/>
              <a:t> '@' </a:t>
            </a:r>
            <a:r>
              <a:rPr lang="zh-CN" altLang="en-US" sz="1600"/>
              <a:t>的贡献</a:t>
            </a:r>
            <a:r>
              <a:rPr lang="en-US" altLang="zh-CN" sz="1600"/>
              <a:t> = LeftCount[i] </a:t>
            </a:r>
            <a:r>
              <a:rPr lang="en-US" altLang="en-US" sz="1600"/>
              <a:t>×</a:t>
            </a:r>
            <a:r>
              <a:rPr lang="en-US" altLang="zh-CN" sz="1600"/>
              <a:t> RightCount[i]</a:t>
            </a:r>
            <a:endParaRPr lang="en-US" altLang="zh-CN" sz="1600"/>
          </a:p>
          <a:p>
            <a:pPr lvl="1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所有</a:t>
            </a:r>
            <a:r>
              <a:rPr lang="en-US" altLang="zh-CN" sz="1600"/>
              <a:t> '@' </a:t>
            </a:r>
            <a:r>
              <a:rPr lang="zh-CN" altLang="en-US" sz="1600"/>
              <a:t>的贡献加和就是最终答案。</a:t>
            </a:r>
            <a:endParaRPr lang="en-US" altLang="zh-CN" sz="1600"/>
          </a:p>
          <a:p>
            <a:pPr lvl="1" indent="0" algn="l">
              <a:buClrTx/>
              <a:buSzTx/>
              <a:buFont typeface="Arial" panose="020B0604020202020204"/>
              <a:buNone/>
            </a:pPr>
            <a:r>
              <a:rPr lang="zh-CN" altLang="en-US" sz="1600"/>
              <a:t>输出这个数量（允许重复，不去重）。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1871" y="1336675"/>
            <a:ext cx="10500129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gerald.agapov1991@gmail.com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40" y="4295140"/>
            <a:ext cx="42233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x@x.x@x.x_e_@r1.com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930" y="1336675"/>
            <a:ext cx="4174490" cy="14173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930" y="3950335"/>
            <a:ext cx="4235450" cy="14293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看电影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30" y="1012190"/>
            <a:ext cx="9594850" cy="52362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4065" y="1346835"/>
            <a:ext cx="8919210" cy="476948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None/>
            </a:pPr>
            <a:r>
              <a:rPr lang="zh-CN" altLang="en-US" sz="1600"/>
              <a:t>数据对象分析</a:t>
            </a:r>
            <a:endParaRPr lang="zh-CN" altLang="en-US" sz="1600"/>
          </a:p>
          <a:p>
            <a:pPr lvl="1" indent="0">
              <a:buNone/>
            </a:pPr>
            <a:r>
              <a:rPr lang="zh-CN" altLang="en-US" sz="1600"/>
              <a:t>题目要求对每部电影根据科学家熟悉的语言情况进行评价，其中：</a:t>
            </a:r>
            <a:endParaRPr lang="en-US" altLang="zh-CN" sz="1600"/>
          </a:p>
          <a:p>
            <a:pPr lvl="1" indent="0">
              <a:buNone/>
            </a:pPr>
            <a:r>
              <a:rPr lang="zh-CN" altLang="en-US" sz="1600"/>
              <a:t>熟悉音频语言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“</a:t>
            </a:r>
            <a:r>
              <a:rPr lang="zh-CN" altLang="en-US" sz="1600"/>
              <a:t>非常高兴</a:t>
            </a:r>
            <a:r>
              <a:rPr lang="en-US" altLang="zh-CN" sz="1600"/>
              <a:t>”</a:t>
            </a:r>
            <a:endParaRPr lang="en-US" altLang="zh-CN" sz="1600"/>
          </a:p>
          <a:p>
            <a:pPr lvl="1" indent="0">
              <a:buNone/>
            </a:pPr>
            <a:r>
              <a:rPr lang="zh-CN" altLang="en-US" sz="1600"/>
              <a:t>熟悉字语言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“</a:t>
            </a:r>
            <a:r>
              <a:rPr lang="zh-CN" altLang="en-US" sz="1600"/>
              <a:t>基本满意</a:t>
            </a:r>
            <a:r>
              <a:rPr lang="en-US" altLang="zh-CN" sz="1600"/>
              <a:t>”</a:t>
            </a:r>
            <a:endParaRPr lang="en-US" altLang="zh-CN" sz="1600"/>
          </a:p>
          <a:p>
            <a:pPr lvl="1" indent="0">
              <a:buNone/>
            </a:pPr>
            <a:r>
              <a:rPr lang="zh-CN" altLang="en-US" sz="1600"/>
              <a:t>因此可将每部电影抽象为一个结构体</a:t>
            </a:r>
            <a:r>
              <a:rPr lang="en-US" altLang="zh-CN" sz="1600"/>
              <a:t> Movie</a:t>
            </a:r>
            <a:r>
              <a:rPr lang="zh-CN" altLang="en-US" sz="1600"/>
              <a:t>，包含：</a:t>
            </a:r>
            <a:endParaRPr lang="zh-CN" altLang="en-US" sz="1600"/>
          </a:p>
          <a:p>
            <a:pPr lvl="1" indent="0">
              <a:buNone/>
            </a:pPr>
            <a:r>
              <a:rPr lang="zh-CN" altLang="en-US" sz="1600"/>
              <a:t>编号</a:t>
            </a:r>
            <a:r>
              <a:rPr lang="en-US" altLang="zh-CN" sz="1600"/>
              <a:t> id</a:t>
            </a:r>
            <a:r>
              <a:rPr lang="zh-CN" altLang="en-US" sz="1600"/>
              <a:t>、音频语言</a:t>
            </a:r>
            <a:r>
              <a:rPr lang="en-US" altLang="zh-CN" sz="1600"/>
              <a:t> audio</a:t>
            </a:r>
            <a:r>
              <a:rPr lang="zh-CN" altLang="en-US" sz="1600"/>
              <a:t>、字幕语言</a:t>
            </a:r>
            <a:r>
              <a:rPr lang="en-US" altLang="zh-CN" sz="1600"/>
              <a:t> subtitle</a:t>
            </a:r>
            <a:r>
              <a:rPr lang="zh-CN" altLang="en-US" sz="1600"/>
              <a:t>、非常高兴人数</a:t>
            </a:r>
            <a:r>
              <a:rPr lang="en-US" altLang="zh-CN" sz="1600"/>
              <a:t> happy</a:t>
            </a:r>
            <a:r>
              <a:rPr lang="zh-CN" altLang="en-US" sz="1600"/>
              <a:t>、基本满意人数</a:t>
            </a:r>
            <a:r>
              <a:rPr lang="en-US" altLang="zh-CN" sz="1600"/>
              <a:t> satisfied</a:t>
            </a:r>
            <a:endParaRPr lang="en-US" altLang="zh-CN" sz="1600"/>
          </a:p>
          <a:p>
            <a:pPr indent="0">
              <a:buNone/>
            </a:pPr>
            <a:r>
              <a:rPr lang="zh-CN" altLang="en-US" sz="1600"/>
              <a:t>评分指标构造原理</a:t>
            </a:r>
            <a:endParaRPr lang="zh-CN" altLang="en-US" sz="1600"/>
          </a:p>
          <a:p>
            <a:pPr lvl="1" indent="0">
              <a:buNone/>
            </a:pPr>
            <a:r>
              <a:rPr lang="zh-CN" altLang="en-US" sz="1600"/>
              <a:t>首先统计所有科学家熟悉的语言数量：</a:t>
            </a:r>
            <a:endParaRPr lang="en-US" altLang="zh-CN" sz="1600"/>
          </a:p>
          <a:p>
            <a:pPr lvl="2" indent="0">
              <a:buNone/>
            </a:pPr>
            <a:r>
              <a:rPr lang="en-US" altLang="zh-CN" sz="1600"/>
              <a:t>cnt[x] </a:t>
            </a:r>
            <a:r>
              <a:rPr lang="zh-CN" altLang="en-US" sz="1600"/>
              <a:t>代表熟悉语言</a:t>
            </a:r>
            <a:r>
              <a:rPr lang="en-US" altLang="zh-CN" sz="1600"/>
              <a:t> x </a:t>
            </a:r>
            <a:r>
              <a:rPr lang="zh-CN" altLang="en-US" sz="1600"/>
              <a:t>的科学家人数</a:t>
            </a:r>
            <a:endParaRPr lang="zh-CN" altLang="en-US" sz="1600"/>
          </a:p>
          <a:p>
            <a:pPr lvl="1" indent="0">
              <a:buNone/>
            </a:pPr>
            <a:r>
              <a:rPr lang="zh-CN" altLang="en-US" sz="1600"/>
              <a:t>则对电影</a:t>
            </a:r>
            <a:r>
              <a:rPr lang="en-US" altLang="zh-CN" sz="1600"/>
              <a:t> j</a:t>
            </a:r>
            <a:r>
              <a:rPr lang="zh-CN" altLang="en-US" sz="1600"/>
              <a:t>：</a:t>
            </a:r>
            <a:endParaRPr lang="en-US" altLang="zh-CN" sz="1600"/>
          </a:p>
          <a:p>
            <a:pPr lvl="2" indent="0">
              <a:buNone/>
            </a:pPr>
            <a:r>
              <a:rPr lang="en-US" altLang="zh-CN" sz="1600"/>
              <a:t>happy[j] = cnt[audio[j]]</a:t>
            </a:r>
            <a:endParaRPr lang="en-US" altLang="zh-CN" sz="1600"/>
          </a:p>
          <a:p>
            <a:pPr lvl="2" indent="0">
              <a:buNone/>
            </a:pPr>
            <a:r>
              <a:rPr lang="en-US" altLang="zh-CN" sz="1600"/>
              <a:t>satisfied[j] = cnt[subtitle[j]]</a:t>
            </a:r>
            <a:endParaRPr lang="en-US" altLang="zh-CN" sz="1600"/>
          </a:p>
          <a:p>
            <a:pPr indent="0">
              <a:buNone/>
            </a:pPr>
            <a:r>
              <a:rPr lang="zh-CN" altLang="en-US" sz="1600"/>
              <a:t>电影最佳选择规则（双重优先级）</a:t>
            </a:r>
            <a:endParaRPr lang="zh-CN" altLang="en-US" sz="1600"/>
          </a:p>
          <a:p>
            <a:pPr lvl="1" indent="0">
              <a:buNone/>
            </a:pPr>
            <a:r>
              <a:rPr lang="zh-CN" altLang="en-US" sz="1600"/>
              <a:t>第一优先级：非常高兴人数</a:t>
            </a:r>
            <a:r>
              <a:rPr lang="en-US" altLang="zh-CN" sz="1600"/>
              <a:t> happy </a:t>
            </a:r>
            <a:r>
              <a:rPr lang="zh-CN" altLang="en-US" sz="1600"/>
              <a:t>最大</a:t>
            </a:r>
            <a:endParaRPr lang="zh-CN" altLang="en-US" sz="1600"/>
          </a:p>
          <a:p>
            <a:pPr lvl="1" indent="0">
              <a:buNone/>
            </a:pPr>
            <a:r>
              <a:rPr lang="zh-CN" altLang="en-US" sz="1600"/>
              <a:t>第二优先级：在</a:t>
            </a:r>
            <a:r>
              <a:rPr lang="en-US" altLang="zh-CN" sz="1600"/>
              <a:t> happy </a:t>
            </a:r>
            <a:r>
              <a:rPr lang="zh-CN" altLang="en-US" sz="1600"/>
              <a:t>最大的电影中，基本满意人数</a:t>
            </a:r>
            <a:r>
              <a:rPr lang="en-US" altLang="zh-CN" sz="1600"/>
              <a:t> satisfied </a:t>
            </a:r>
            <a:r>
              <a:rPr lang="zh-CN" altLang="en-US" sz="1600"/>
              <a:t>最大</a:t>
            </a:r>
            <a:endParaRPr lang="zh-CN" altLang="en-US" sz="1600"/>
          </a:p>
          <a:p>
            <a:pPr lvl="1" indent="0">
              <a:buNone/>
            </a:pPr>
            <a:r>
              <a:rPr lang="zh-CN" altLang="en-US" sz="1600"/>
              <a:t>若仍有并列，则全部输出电影编号</a:t>
            </a:r>
            <a:endParaRPr lang="zh-CN" altLang="en-US" sz="1600"/>
          </a:p>
          <a:p>
            <a:pPr lvl="1" indent="0">
              <a:buNone/>
            </a:pPr>
            <a:r>
              <a:rPr lang="zh-CN" altLang="en-US" sz="1600"/>
              <a:t>若两项都为</a:t>
            </a:r>
            <a:r>
              <a:rPr lang="en-US" altLang="zh-CN" sz="1600"/>
              <a:t> 0</a:t>
            </a:r>
            <a:r>
              <a:rPr lang="zh-CN" altLang="en-US" sz="1600"/>
              <a:t>，则输出</a:t>
            </a:r>
            <a:r>
              <a:rPr lang="en-US" altLang="zh-CN" sz="1600"/>
              <a:t> unsatisfied</a:t>
            </a:r>
            <a:endParaRPr lang="en-US" altLang="zh-CN" sz="1600"/>
          </a:p>
          <a:p>
            <a:pPr indent="0"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4405" y="1045210"/>
            <a:ext cx="1028319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/>
            <a:r>
              <a:rPr lang="zh-CN" altLang="en-US" sz="1600"/>
              <a:t>读取科学家熟悉的语言并统计出现频率</a:t>
            </a:r>
            <a:endParaRPr lang="zh-CN" altLang="en-US" sz="1600"/>
          </a:p>
          <a:p>
            <a:pPr lvl="2"/>
            <a:r>
              <a:rPr lang="zh-CN" altLang="en-US" sz="1600"/>
              <a:t>输入</a:t>
            </a:r>
            <a:r>
              <a:rPr lang="en-US" altLang="zh-CN" sz="1600"/>
              <a:t> n</a:t>
            </a:r>
            <a:endParaRPr lang="en-US" altLang="zh-CN" sz="1600"/>
          </a:p>
          <a:p>
            <a:pPr lvl="2"/>
            <a:r>
              <a:rPr lang="zh-CN" altLang="en-US" sz="1600"/>
              <a:t>建立数组</a:t>
            </a:r>
            <a:r>
              <a:rPr lang="en-US" altLang="zh-CN" sz="1600"/>
              <a:t> cnt[1001] </a:t>
            </a:r>
            <a:r>
              <a:rPr lang="zh-CN" altLang="en-US" sz="1600"/>
              <a:t>初始为</a:t>
            </a:r>
            <a:r>
              <a:rPr lang="en-US" altLang="zh-CN" sz="1600"/>
              <a:t> 0</a:t>
            </a:r>
            <a:endParaRPr lang="en-US" altLang="zh-CN" sz="1600"/>
          </a:p>
          <a:p>
            <a:pPr lvl="2"/>
            <a:r>
              <a:rPr lang="zh-CN" altLang="en-US" sz="1600"/>
              <a:t>对每位科学家熟悉的语言</a:t>
            </a:r>
            <a:r>
              <a:rPr lang="en-US" altLang="zh-CN" sz="1600"/>
              <a:t> x </a:t>
            </a:r>
            <a:r>
              <a:rPr lang="zh-CN" altLang="en-US" sz="1600"/>
              <a:t>执行</a:t>
            </a:r>
            <a:r>
              <a:rPr lang="en-US" altLang="zh-CN" sz="1600"/>
              <a:t> cnt[x]++</a:t>
            </a:r>
            <a:r>
              <a:rPr lang="zh-CN" altLang="en-US" sz="1600"/>
              <a:t>，得到每种语言熟悉人数</a:t>
            </a:r>
            <a:endParaRPr lang="zh-CN" altLang="en-US" sz="1600"/>
          </a:p>
          <a:p>
            <a:pPr lvl="2"/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为电影评分提供</a:t>
            </a:r>
            <a:r>
              <a:rPr lang="en-US" altLang="zh-CN" sz="1600"/>
              <a:t> O(1) </a:t>
            </a:r>
            <a:r>
              <a:rPr lang="zh-CN" altLang="en-US" sz="1600"/>
              <a:t>查询能力</a:t>
            </a:r>
            <a:endParaRPr lang="en-US" altLang="zh-CN" sz="1600"/>
          </a:p>
          <a:p>
            <a:pPr lvl="1"/>
            <a:r>
              <a:rPr lang="zh-CN" altLang="en-US" sz="1600"/>
              <a:t>读取电影音频和字幕语言并创建电影对象数组</a:t>
            </a:r>
            <a:endParaRPr lang="en-US" altLang="zh-CN" sz="1600"/>
          </a:p>
          <a:p>
            <a:pPr lvl="2"/>
            <a:r>
              <a:rPr lang="zh-CN" altLang="en-US" sz="1600"/>
              <a:t>输入</a:t>
            </a:r>
            <a:r>
              <a:rPr lang="en-US" altLang="zh-CN" sz="1600"/>
              <a:t> m</a:t>
            </a:r>
            <a:endParaRPr lang="en-US" altLang="zh-CN" sz="1600"/>
          </a:p>
          <a:p>
            <a:pPr lvl="2"/>
            <a:r>
              <a:rPr lang="zh-CN" altLang="en-US" sz="1600"/>
              <a:t>依次填入电影编号</a:t>
            </a:r>
            <a:r>
              <a:rPr lang="en-US" altLang="zh-CN" sz="1600"/>
              <a:t> id</a:t>
            </a:r>
            <a:r>
              <a:rPr lang="zh-CN" altLang="en-US" sz="1600"/>
              <a:t>、音频语言</a:t>
            </a:r>
            <a:r>
              <a:rPr lang="en-US" altLang="zh-CN" sz="1600"/>
              <a:t> audio</a:t>
            </a:r>
            <a:r>
              <a:rPr lang="zh-CN" altLang="en-US" sz="1600"/>
              <a:t>、字幕语言</a:t>
            </a:r>
            <a:r>
              <a:rPr lang="en-US" altLang="zh-CN" sz="1600"/>
              <a:t> subtitle</a:t>
            </a:r>
            <a:endParaRPr lang="en-US" altLang="zh-CN" sz="1600"/>
          </a:p>
          <a:p>
            <a:pPr lvl="2"/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还未计算评分，但数据结构已形成</a:t>
            </a:r>
            <a:endParaRPr lang="en-US" altLang="zh-CN" sz="1600"/>
          </a:p>
          <a:p>
            <a:pPr lvl="1"/>
            <a:r>
              <a:rPr lang="zh-CN" altLang="en-US" sz="1600"/>
              <a:t>计算每部电影的</a:t>
            </a:r>
            <a:r>
              <a:rPr lang="en-US" altLang="zh-CN" sz="1600"/>
              <a:t> happy </a:t>
            </a:r>
            <a:r>
              <a:rPr lang="zh-CN" altLang="en-US" sz="1600"/>
              <a:t>和</a:t>
            </a:r>
            <a:r>
              <a:rPr lang="en-US" altLang="zh-CN" sz="1600"/>
              <a:t> satisfied</a:t>
            </a:r>
            <a:endParaRPr lang="en-US" altLang="zh-CN" sz="1600"/>
          </a:p>
          <a:p>
            <a:pPr lvl="2"/>
            <a:r>
              <a:rPr lang="en-US" altLang="zh-CN" sz="1600"/>
              <a:t>happy = cnt[audio]</a:t>
            </a:r>
            <a:r>
              <a:rPr lang="zh-CN" altLang="en-US" sz="1600"/>
              <a:t>、</a:t>
            </a:r>
            <a:r>
              <a:rPr lang="en-US" altLang="zh-CN" sz="1600"/>
              <a:t>satisfied = cnt[subtitle]</a:t>
            </a:r>
            <a:endParaRPr lang="en-US" altLang="zh-CN" sz="1600"/>
          </a:p>
          <a:p>
            <a:pPr lvl="2"/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映射为评分指标，实现常数时间评分</a:t>
            </a:r>
            <a:endParaRPr lang="zh-CN" altLang="en-US" sz="1600"/>
          </a:p>
          <a:p>
            <a:pPr lvl="2"/>
            <a:r>
              <a:rPr lang="zh-CN" altLang="en-US" sz="1600"/>
              <a:t>第一轮筛选</a:t>
            </a:r>
            <a:r>
              <a:rPr lang="en-US" altLang="zh-CN" sz="1600"/>
              <a:t> — </a:t>
            </a:r>
            <a:r>
              <a:rPr lang="zh-CN" altLang="en-US" sz="1600"/>
              <a:t>找最大</a:t>
            </a:r>
            <a:r>
              <a:rPr lang="en-US" altLang="zh-CN" sz="1600"/>
              <a:t> happy</a:t>
            </a:r>
            <a:endParaRPr lang="en-US" altLang="zh-CN" sz="1600"/>
          </a:p>
          <a:p>
            <a:pPr lvl="2"/>
            <a:r>
              <a:rPr lang="zh-CN" altLang="en-US" sz="1600"/>
              <a:t>遍历所有电影，记录</a:t>
            </a:r>
            <a:r>
              <a:rPr lang="en-US" altLang="zh-CN" sz="1600"/>
              <a:t> maxHappy</a:t>
            </a:r>
            <a:endParaRPr lang="en-US" altLang="zh-CN" sz="1600"/>
          </a:p>
          <a:p>
            <a:pPr lvl="2"/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锁定一批候选电影</a:t>
            </a:r>
            <a:endParaRPr lang="en-US" altLang="zh-CN" sz="1600"/>
          </a:p>
          <a:p>
            <a:pPr lvl="1"/>
            <a:r>
              <a:rPr lang="zh-CN" altLang="en-US" sz="1600"/>
              <a:t>第二轮筛选</a:t>
            </a:r>
            <a:r>
              <a:rPr lang="en-US" altLang="zh-CN" sz="1600"/>
              <a:t> — </a:t>
            </a:r>
            <a:r>
              <a:rPr lang="zh-CN" altLang="en-US" sz="1600"/>
              <a:t>在候选电影中找最大</a:t>
            </a:r>
            <a:r>
              <a:rPr lang="en-US" altLang="zh-CN" sz="1600"/>
              <a:t> satisfied</a:t>
            </a:r>
            <a:endParaRPr lang="en-US" altLang="zh-CN" sz="1600"/>
          </a:p>
          <a:p>
            <a:pPr lvl="2"/>
            <a:r>
              <a:rPr lang="zh-CN" altLang="en-US" sz="1600"/>
              <a:t>筛选出</a:t>
            </a:r>
            <a:r>
              <a:rPr lang="en-US" altLang="zh-CN" sz="1600"/>
              <a:t> happy == maxHappy </a:t>
            </a:r>
            <a:r>
              <a:rPr lang="zh-CN" altLang="en-US" sz="1600"/>
              <a:t>的电影</a:t>
            </a:r>
            <a:endParaRPr lang="en-US" altLang="zh-CN" sz="1600"/>
          </a:p>
          <a:p>
            <a:pPr lvl="2"/>
            <a:r>
              <a:rPr lang="zh-CN" altLang="en-US" sz="1600"/>
              <a:t>其中找最大</a:t>
            </a:r>
            <a:r>
              <a:rPr lang="en-US" altLang="zh-CN" sz="1600"/>
              <a:t> satisfied </a:t>
            </a:r>
            <a:r>
              <a:rPr lang="zh-CN" altLang="en-US" sz="1600"/>
              <a:t>得</a:t>
            </a:r>
            <a:r>
              <a:rPr lang="en-US" altLang="zh-CN" sz="1600"/>
              <a:t> maxSatisfied</a:t>
            </a:r>
            <a:endParaRPr lang="en-US" altLang="zh-CN" sz="1600"/>
          </a:p>
          <a:p>
            <a:pPr lvl="1"/>
            <a:r>
              <a:rPr lang="zh-CN" altLang="en-US" sz="1600"/>
              <a:t>输出最佳电影编号或</a:t>
            </a:r>
            <a:r>
              <a:rPr lang="en-US" altLang="zh-CN" sz="1600"/>
              <a:t> unsatisfied</a:t>
            </a:r>
            <a:endParaRPr lang="en-US" altLang="zh-CN" sz="1600"/>
          </a:p>
          <a:p>
            <a:pPr lvl="2"/>
            <a:r>
              <a:rPr lang="zh-CN" altLang="en-US" sz="1600"/>
              <a:t>若</a:t>
            </a:r>
            <a:r>
              <a:rPr lang="en-US" altLang="zh-CN" sz="1600"/>
              <a:t> maxHappy == 0 &amp;&amp; maxSatisfied == 0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输出</a:t>
            </a:r>
            <a:r>
              <a:rPr lang="en-US" altLang="zh-CN" sz="1600"/>
              <a:t> "unsatisfied"</a:t>
            </a:r>
            <a:endParaRPr lang="en-US" altLang="zh-CN" sz="1600"/>
          </a:p>
          <a:p>
            <a:pPr lvl="2"/>
            <a:r>
              <a:rPr lang="zh-CN" altLang="en-US" sz="1600"/>
              <a:t>否则输出所有</a:t>
            </a:r>
            <a:r>
              <a:rPr lang="en-US" altLang="zh-CN" sz="1600"/>
              <a:t> happy == maxHappy </a:t>
            </a:r>
            <a:r>
              <a:rPr lang="zh-CN" altLang="en-US" sz="1600"/>
              <a:t>且</a:t>
            </a:r>
            <a:r>
              <a:rPr lang="en-US" altLang="zh-CN" sz="1600"/>
              <a:t> satisfied == maxSatisfied </a:t>
            </a:r>
            <a:r>
              <a:rPr lang="zh-CN" altLang="en-US" sz="1600"/>
              <a:t>的电影编号（升序）</a:t>
            </a:r>
            <a:endParaRPr lang="zh-CN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1871" y="1336675"/>
            <a:ext cx="10500129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3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2 3 2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2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3 2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2 3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40" y="4295140"/>
            <a:ext cx="35013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5</a:t>
            </a:r>
            <a:endParaRPr lang="en-US" altLang="zh-CN"/>
          </a:p>
          <a:p>
            <a:pPr lvl="2"/>
            <a:r>
              <a:rPr lang="en-US" altLang="zh-CN"/>
              <a:t>1 2 2 3 3</a:t>
            </a:r>
            <a:endParaRPr lang="en-US" altLang="zh-CN"/>
          </a:p>
          <a:p>
            <a:pPr lvl="2"/>
            <a:r>
              <a:rPr lang="en-US" altLang="zh-CN"/>
              <a:t>3</a:t>
            </a:r>
            <a:endParaRPr lang="en-US" altLang="zh-CN"/>
          </a:p>
          <a:p>
            <a:pPr lvl="2"/>
            <a:r>
              <a:rPr lang="en-US" altLang="zh-CN"/>
              <a:t>2 1 3</a:t>
            </a:r>
            <a:endParaRPr lang="en-US" altLang="zh-CN"/>
          </a:p>
          <a:p>
            <a:pPr lvl="2"/>
            <a:r>
              <a:rPr lang="en-US" altLang="zh-CN"/>
              <a:t>3 2 1</a:t>
            </a:r>
            <a:endParaRPr lang="en-US" altLang="zh-CN"/>
          </a:p>
          <a:p>
            <a:pPr lvl="2"/>
            <a:r>
              <a:rPr lang="en-US" altLang="zh-CN"/>
              <a:t>1 3 2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6770" y="1296035"/>
            <a:ext cx="3448685" cy="17964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770" y="3860165"/>
            <a:ext cx="3479165" cy="19704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火星人足球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赛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50" y="995045"/>
            <a:ext cx="9207500" cy="5514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5025" y="837565"/>
            <a:ext cx="9766300" cy="5893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/>
              <a:t>本题看似文本处理，但本质上是事件记录</a:t>
            </a:r>
            <a:r>
              <a:rPr lang="en-US" altLang="zh-CN" sz="1600"/>
              <a:t> + </a:t>
            </a:r>
            <a:r>
              <a:rPr lang="zh-CN" altLang="en-US" sz="1600"/>
              <a:t>状态更新</a:t>
            </a:r>
            <a:r>
              <a:rPr lang="en-US" altLang="zh-CN" sz="1600"/>
              <a:t> + </a:t>
            </a:r>
            <a:r>
              <a:rPr lang="zh-CN" altLang="en-US" sz="1600"/>
              <a:t>红牌生成</a:t>
            </a:r>
            <a:r>
              <a:rPr lang="en-US" altLang="zh-CN" sz="1600"/>
              <a:t> + </a:t>
            </a:r>
            <a:r>
              <a:rPr lang="zh-CN" altLang="en-US" sz="1600"/>
              <a:t>按规则输出的问题。</a:t>
            </a:r>
            <a:endParaRPr lang="en-US" altLang="zh-CN" sz="1600"/>
          </a:p>
          <a:p>
            <a:r>
              <a:rPr lang="zh-CN" altLang="en-US" sz="1600"/>
              <a:t>关键点共有</a:t>
            </a:r>
            <a:r>
              <a:rPr lang="en-US" altLang="zh-CN" sz="1600"/>
              <a:t> 3 </a:t>
            </a:r>
            <a:r>
              <a:rPr lang="zh-CN" altLang="en-US" sz="1600"/>
              <a:t>个：</a:t>
            </a:r>
            <a:endParaRPr lang="en-US" altLang="zh-CN" sz="1600"/>
          </a:p>
          <a:p>
            <a:r>
              <a:rPr lang="zh-CN" altLang="en-US" sz="1600"/>
              <a:t>记录每个球员的牌数状态（结构体</a:t>
            </a:r>
            <a:r>
              <a:rPr lang="en-US" altLang="zh-CN" sz="1600"/>
              <a:t> / </a:t>
            </a:r>
            <a:r>
              <a:rPr lang="zh-CN" altLang="en-US" sz="1600"/>
              <a:t>哈希表思想）</a:t>
            </a:r>
            <a:endParaRPr lang="en-US" altLang="zh-CN" sz="1600"/>
          </a:p>
          <a:p>
            <a:pPr lvl="1"/>
            <a:r>
              <a:rPr lang="zh-CN" altLang="en-US" sz="1600"/>
              <a:t>每队球员编号可能相同，因此必须区分</a:t>
            </a:r>
            <a:r>
              <a:rPr lang="en-US" altLang="zh-CN" sz="1600"/>
              <a:t>“</a:t>
            </a:r>
            <a:r>
              <a:rPr lang="zh-CN" altLang="en-US" sz="1600"/>
              <a:t>队</a:t>
            </a:r>
            <a:r>
              <a:rPr lang="en-US" altLang="zh-CN" sz="1600"/>
              <a:t> + </a:t>
            </a:r>
            <a:r>
              <a:rPr lang="zh-CN" altLang="en-US" sz="1600"/>
              <a:t>号码</a:t>
            </a:r>
            <a:r>
              <a:rPr lang="en-US" altLang="zh-CN" sz="1600"/>
              <a:t>”</a:t>
            </a:r>
            <a:r>
              <a:rPr lang="zh-CN" altLang="en-US" sz="1600"/>
              <a:t>。</a:t>
            </a:r>
            <a:endParaRPr lang="zh-CN" altLang="en-US" sz="1600"/>
          </a:p>
          <a:p>
            <a:pPr lvl="1"/>
            <a:r>
              <a:rPr lang="zh-CN" altLang="en-US" sz="1600"/>
              <a:t>我们为两队分别维护：</a:t>
            </a:r>
            <a:endParaRPr lang="en-US" altLang="zh-CN" sz="1600"/>
          </a:p>
          <a:p>
            <a:pPr lvl="2"/>
            <a:r>
              <a:rPr lang="en-US" altLang="zh-CN" sz="1600"/>
              <a:t>yellow[</a:t>
            </a:r>
            <a:r>
              <a:rPr lang="zh-CN" altLang="en-US" sz="1600"/>
              <a:t>队名</a:t>
            </a:r>
            <a:r>
              <a:rPr lang="en-US" altLang="zh-CN" sz="1600"/>
              <a:t>][</a:t>
            </a:r>
            <a:r>
              <a:rPr lang="zh-CN" altLang="en-US" sz="1600"/>
              <a:t>号码</a:t>
            </a:r>
            <a:r>
              <a:rPr lang="en-US" altLang="zh-CN" sz="1600"/>
              <a:t>]  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黄牌数量（</a:t>
            </a:r>
            <a:r>
              <a:rPr lang="en-US" altLang="zh-CN" sz="1600"/>
              <a:t>0, 1</a:t>
            </a:r>
            <a:r>
              <a:rPr lang="zh-CN" altLang="en-US" sz="1600"/>
              <a:t>）</a:t>
            </a:r>
            <a:endParaRPr lang="zh-CN" altLang="en-US" sz="1600"/>
          </a:p>
          <a:p>
            <a:pPr lvl="2"/>
            <a:r>
              <a:rPr lang="en-US" altLang="zh-CN" sz="1600"/>
              <a:t>red[</a:t>
            </a:r>
            <a:r>
              <a:rPr lang="zh-CN" altLang="en-US" sz="1600"/>
              <a:t>队名</a:t>
            </a:r>
            <a:r>
              <a:rPr lang="en-US" altLang="zh-CN" sz="1600"/>
              <a:t>][</a:t>
            </a:r>
            <a:r>
              <a:rPr lang="zh-CN" altLang="en-US" sz="1600"/>
              <a:t>号码</a:t>
            </a:r>
            <a:r>
              <a:rPr lang="en-US" altLang="zh-CN" sz="1600"/>
              <a:t>]     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是否已被罚下（避免重复输出）</a:t>
            </a:r>
            <a:endParaRPr lang="en-US" altLang="zh-CN" sz="1600"/>
          </a:p>
          <a:p>
            <a:pPr lvl="2"/>
            <a:r>
              <a:rPr lang="zh-CN" altLang="en-US" sz="1600"/>
              <a:t>每次处理输入行，根据</a:t>
            </a:r>
            <a:r>
              <a:rPr lang="en-US" altLang="zh-CN" sz="1600"/>
              <a:t>“</a:t>
            </a:r>
            <a:r>
              <a:rPr lang="zh-CN" altLang="en-US" sz="1600"/>
              <a:t>队标记</a:t>
            </a:r>
            <a:r>
              <a:rPr lang="en-US" altLang="zh-CN" sz="1600"/>
              <a:t> h/a”</a:t>
            </a:r>
            <a:r>
              <a:rPr lang="zh-CN" altLang="en-US" sz="1600"/>
              <a:t>切换主队</a:t>
            </a:r>
            <a:r>
              <a:rPr lang="en-US" altLang="zh-CN" sz="1600"/>
              <a:t>/</a:t>
            </a:r>
            <a:r>
              <a:rPr lang="zh-CN" altLang="en-US" sz="1600"/>
              <a:t>客队的状态表。</a:t>
            </a:r>
            <a:endParaRPr lang="zh-CN" altLang="en-US" sz="1600"/>
          </a:p>
          <a:p>
            <a:r>
              <a:rPr lang="zh-CN" altLang="en-US" sz="1600"/>
              <a:t>判定何时产生红牌（本题核心逻辑）</a:t>
            </a:r>
            <a:endParaRPr lang="zh-CN" altLang="en-US" sz="1600"/>
          </a:p>
          <a:p>
            <a:pPr lvl="1"/>
            <a:r>
              <a:rPr lang="zh-CN" altLang="en-US" sz="1600"/>
              <a:t>对于一条犯规记录：</a:t>
            </a:r>
            <a:endParaRPr lang="zh-CN" altLang="en-US" sz="1600"/>
          </a:p>
          <a:p>
            <a:pPr lvl="2"/>
            <a:r>
              <a:rPr lang="zh-CN" altLang="en-US" sz="1600"/>
              <a:t>若为</a:t>
            </a:r>
            <a:r>
              <a:rPr lang="en-US" altLang="zh-CN" sz="1600"/>
              <a:t> r</a:t>
            </a:r>
            <a:r>
              <a:rPr lang="zh-CN" altLang="en-US" sz="1600"/>
              <a:t>（红牌）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立即罚下</a:t>
            </a:r>
            <a:endParaRPr lang="zh-CN" altLang="en-US" sz="1600"/>
          </a:p>
          <a:p>
            <a:pPr lvl="2"/>
            <a:r>
              <a:rPr lang="zh-CN" altLang="en-US" sz="1600"/>
              <a:t>若为</a:t>
            </a:r>
            <a:r>
              <a:rPr lang="en-US" altLang="zh-CN" sz="1600"/>
              <a:t> y</a:t>
            </a:r>
            <a:r>
              <a:rPr lang="zh-CN" altLang="en-US" sz="1600"/>
              <a:t>（黄牌）</a:t>
            </a:r>
            <a:endParaRPr lang="en-US" altLang="zh-CN" sz="1600"/>
          </a:p>
          <a:p>
            <a:pPr lvl="2"/>
            <a:r>
              <a:rPr lang="zh-CN" altLang="en-US" sz="1600"/>
              <a:t>若该球员之前已有</a:t>
            </a:r>
            <a:r>
              <a:rPr lang="en-US" altLang="zh-CN" sz="1600"/>
              <a:t> 1 </a:t>
            </a:r>
            <a:r>
              <a:rPr lang="zh-CN" altLang="en-US" sz="1600"/>
              <a:t>张黄牌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本次自动变红</a:t>
            </a:r>
            <a:endParaRPr lang="zh-CN" altLang="en-US" sz="1600"/>
          </a:p>
          <a:p>
            <a:pPr lvl="2"/>
            <a:r>
              <a:rPr lang="zh-CN" altLang="en-US" sz="1600"/>
              <a:t>若之前没有黄牌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仅记录黄牌，不输出</a:t>
            </a:r>
            <a:endParaRPr lang="zh-CN" altLang="en-US" sz="1600"/>
          </a:p>
          <a:p>
            <a:pPr lvl="1"/>
            <a:r>
              <a:rPr lang="zh-CN" altLang="en-US" sz="1600"/>
              <a:t>一旦球员产生红牌，就立即把这条红牌信息记录下来，包括：</a:t>
            </a:r>
            <a:endParaRPr lang="zh-CN" altLang="en-US" sz="1600"/>
          </a:p>
          <a:p>
            <a:pPr lvl="2"/>
            <a:r>
              <a:rPr lang="zh-CN" altLang="en-US" sz="1600"/>
              <a:t>所属队名</a:t>
            </a:r>
            <a:endParaRPr lang="zh-CN" altLang="en-US" sz="1600"/>
          </a:p>
          <a:p>
            <a:pPr lvl="2"/>
            <a:r>
              <a:rPr lang="zh-CN" altLang="en-US" sz="1600"/>
              <a:t>球员编号</a:t>
            </a:r>
            <a:endParaRPr lang="zh-CN" altLang="en-US" sz="1600"/>
          </a:p>
          <a:p>
            <a:pPr lvl="2"/>
            <a:r>
              <a:rPr lang="zh-CN" altLang="en-US" sz="1600"/>
              <a:t>时间</a:t>
            </a:r>
            <a:endParaRPr lang="en-US" altLang="zh-CN" sz="1600"/>
          </a:p>
          <a:p>
            <a:r>
              <a:rPr lang="zh-CN" altLang="en-US" sz="1600"/>
              <a:t>最终输出顺序规则（容易被忽略）</a:t>
            </a:r>
            <a:endParaRPr lang="zh-CN" altLang="en-US" sz="1600"/>
          </a:p>
          <a:p>
            <a:pPr lvl="1"/>
            <a:r>
              <a:rPr lang="zh-CN" altLang="en-US" sz="1600"/>
              <a:t>按题目要求排序：</a:t>
            </a:r>
            <a:endParaRPr lang="zh-CN" altLang="en-US" sz="1600"/>
          </a:p>
          <a:p>
            <a:pPr lvl="2"/>
            <a:r>
              <a:rPr lang="zh-CN" altLang="en-US" sz="1600"/>
              <a:t>时间升序</a:t>
            </a:r>
            <a:endParaRPr lang="zh-CN" altLang="en-US" sz="1600"/>
          </a:p>
          <a:p>
            <a:pPr lvl="2"/>
            <a:r>
              <a:rPr lang="zh-CN" altLang="en-US" sz="1600"/>
              <a:t>若时间相同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主队优先</a:t>
            </a:r>
            <a:endParaRPr lang="en-US" altLang="zh-CN" sz="1600"/>
          </a:p>
          <a:p>
            <a:pPr lvl="2"/>
            <a:r>
              <a:rPr lang="zh-CN" altLang="en-US" sz="1600"/>
              <a:t>若同一时间同一球队多人被罚下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号码大的在前</a:t>
            </a:r>
            <a:endParaRPr lang="en-US" altLang="zh-CN" sz="1600"/>
          </a:p>
          <a:p>
            <a:pPr lvl="1"/>
            <a:r>
              <a:rPr lang="zh-CN" altLang="en-US" sz="1600"/>
              <a:t>因此输出前必须进行一次自定义排序。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7705" y="840740"/>
            <a:ext cx="8163560" cy="6369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/>
              <a:t>读取队名、事件数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/>
              <a:t>读取主队和客队的名字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/>
              <a:t>读取</a:t>
            </a:r>
            <a:r>
              <a:rPr lang="en-US" altLang="zh-CN" sz="1600"/>
              <a:t> n</a:t>
            </a:r>
            <a:r>
              <a:rPr lang="zh-CN" altLang="en-US" sz="1600"/>
              <a:t>（犯规事件条数）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/>
              <a:t>使用</a:t>
            </a:r>
            <a:r>
              <a:rPr lang="en-US" altLang="zh-CN" sz="1600"/>
              <a:t> map / </a:t>
            </a:r>
            <a:r>
              <a:rPr lang="zh-CN" altLang="en-US" sz="1600"/>
              <a:t>数组记录每队的</a:t>
            </a:r>
            <a:r>
              <a:rPr lang="en-US" altLang="zh-CN" sz="1600"/>
              <a:t> yellow </a:t>
            </a:r>
            <a:r>
              <a:rPr lang="zh-CN" altLang="en-US" sz="1600"/>
              <a:t>和</a:t>
            </a:r>
            <a:r>
              <a:rPr lang="en-US" altLang="zh-CN" sz="1600"/>
              <a:t> red </a:t>
            </a:r>
            <a:r>
              <a:rPr lang="zh-CN" altLang="en-US" sz="1600"/>
              <a:t>状态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/>
              <a:t>创建数组</a:t>
            </a:r>
            <a:r>
              <a:rPr lang="en-US" altLang="zh-CN" sz="1600"/>
              <a:t> ans </a:t>
            </a:r>
            <a:r>
              <a:rPr lang="zh-CN" altLang="en-US" sz="1600"/>
              <a:t>用于存放所有红牌事件</a:t>
            </a:r>
            <a:endParaRPr lang="en-US" altLang="zh-CN" sz="1600"/>
          </a:p>
          <a:p>
            <a:pPr indent="0" fontAlgn="auto">
              <a:lnSpc>
                <a:spcPct val="150000"/>
              </a:lnSpc>
            </a:pPr>
            <a:r>
              <a:rPr lang="zh-CN" altLang="en-US" sz="1600"/>
              <a:t>逐条读取犯规信息并判断是否应出红牌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/>
              <a:t>每条事件包含：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zh-CN" altLang="en-US" sz="1600"/>
              <a:t>时间</a:t>
            </a:r>
            <a:r>
              <a:rPr lang="en-US" altLang="zh-CN" sz="1600"/>
              <a:t> t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zh-CN" altLang="en-US" sz="1600"/>
              <a:t>队伍标记</a:t>
            </a:r>
            <a:r>
              <a:rPr lang="en-US" altLang="zh-CN" sz="1600"/>
              <a:t> h/a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zh-CN" altLang="en-US" sz="1600"/>
              <a:t>球员号</a:t>
            </a:r>
            <a:r>
              <a:rPr lang="en-US" altLang="zh-CN" sz="1600"/>
              <a:t> m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zh-CN" altLang="en-US" sz="1600"/>
              <a:t>牌类型</a:t>
            </a:r>
            <a:r>
              <a:rPr lang="en-US" altLang="zh-CN" sz="1600"/>
              <a:t> y/r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/>
              <a:t>处理逻辑：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zh-CN" altLang="en-US" sz="1600"/>
              <a:t>如果是</a:t>
            </a:r>
            <a:r>
              <a:rPr lang="en-US" altLang="zh-CN" sz="1600"/>
              <a:t> r</a:t>
            </a:r>
            <a:r>
              <a:rPr lang="zh-CN" altLang="en-US" sz="1600"/>
              <a:t>：直接产生红牌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zh-CN" altLang="en-US" sz="1600"/>
              <a:t>如果是</a:t>
            </a:r>
            <a:r>
              <a:rPr lang="en-US" altLang="zh-CN" sz="1600"/>
              <a:t> y</a:t>
            </a:r>
            <a:r>
              <a:rPr lang="zh-CN" altLang="en-US" sz="1600"/>
              <a:t>：</a:t>
            </a:r>
            <a:endParaRPr lang="zh-CN" altLang="en-US" sz="1600"/>
          </a:p>
          <a:p>
            <a:pPr lvl="2" indent="0" fontAlgn="auto">
              <a:lnSpc>
                <a:spcPct val="150000"/>
              </a:lnSpc>
            </a:pPr>
            <a:r>
              <a:rPr lang="zh-CN" altLang="en-US" sz="1600"/>
              <a:t>若之前已有一张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此次变红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zh-CN" altLang="en-US" sz="1600"/>
              <a:t>否则只记录黄牌，不输出</a:t>
            </a:r>
            <a:endParaRPr lang="en-US" altLang="zh-CN" sz="1600"/>
          </a:p>
          <a:p>
            <a:pPr indent="0" fontAlgn="auto">
              <a:lnSpc>
                <a:spcPct val="150000"/>
              </a:lnSpc>
            </a:pPr>
            <a:endParaRPr lang="zh-CN" altLang="en-US"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93775" y="771525"/>
            <a:ext cx="7626985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红牌事件的储存格式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每条红牌用结构体记录：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en-US" altLang="zh-CN" sz="1600">
                <a:sym typeface="+mn-ea"/>
              </a:rPr>
              <a:t>teamName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en-US" altLang="zh-CN" sz="1600">
                <a:sym typeface="+mn-ea"/>
              </a:rPr>
              <a:t>playerID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en-US" altLang="zh-CN" sz="1600">
                <a:sym typeface="+mn-ea"/>
              </a:rPr>
              <a:t>time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en-US" altLang="zh-CN" sz="1600">
                <a:sym typeface="+mn-ea"/>
              </a:rPr>
              <a:t>type (</a:t>
            </a:r>
            <a:r>
              <a:rPr lang="zh-CN" altLang="en-US" sz="1600">
                <a:sym typeface="+mn-ea"/>
              </a:rPr>
              <a:t>用于排序：主队</a:t>
            </a:r>
            <a:r>
              <a:rPr lang="en-US" altLang="zh-CN" sz="1600">
                <a:sym typeface="+mn-ea"/>
              </a:rPr>
              <a:t> 0</a:t>
            </a:r>
            <a:r>
              <a:rPr lang="zh-CN" altLang="en-US" sz="1600">
                <a:sym typeface="+mn-ea"/>
              </a:rPr>
              <a:t>，客队</a:t>
            </a:r>
            <a:r>
              <a:rPr lang="en-US" altLang="zh-CN" sz="1600">
                <a:sym typeface="+mn-ea"/>
              </a:rPr>
              <a:t> 1)</a:t>
            </a:r>
            <a:endParaRPr lang="en-US" altLang="zh-CN" sz="1600"/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排序规则：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时间升序</a:t>
            </a:r>
            <a:endParaRPr lang="zh-CN" altLang="en-US" sz="1600"/>
          </a:p>
          <a:p>
            <a:pPr lvl="1" indent="0" fontAlgn="auto">
              <a:lnSpc>
                <a:spcPct val="150000"/>
              </a:lnSpc>
            </a:pPr>
            <a:r>
              <a:rPr lang="en-US" altLang="zh-CN" sz="1600">
                <a:sym typeface="+mn-ea"/>
              </a:rPr>
              <a:t>type</a:t>
            </a:r>
            <a:r>
              <a:rPr lang="zh-CN" altLang="en-US" sz="1600">
                <a:sym typeface="+mn-ea"/>
              </a:rPr>
              <a:t>升序（主队</a:t>
            </a:r>
            <a:r>
              <a:rPr lang="en-US" altLang="zh-CN" sz="1600">
                <a:sym typeface="+mn-ea"/>
              </a:rPr>
              <a:t>=0 </a:t>
            </a:r>
            <a:r>
              <a:rPr lang="en-US" altLang="en-US" sz="1600">
                <a:sym typeface="+mn-ea"/>
              </a:rPr>
              <a:t>→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更靠前）</a:t>
            </a:r>
            <a:endParaRPr lang="zh-CN" altLang="en-US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同一队时：</a:t>
            </a:r>
            <a:r>
              <a:rPr lang="en-US" altLang="zh-CN" sz="1600">
                <a:sym typeface="+mn-ea"/>
              </a:rPr>
              <a:t>playerID </a:t>
            </a:r>
            <a:r>
              <a:rPr lang="zh-CN" altLang="en-US" sz="1600">
                <a:sym typeface="+mn-ea"/>
              </a:rPr>
              <a:t>降序</a:t>
            </a:r>
            <a:endParaRPr lang="en-US" altLang="zh-CN" sz="1600"/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输出结果：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若没有红牌</a:t>
            </a:r>
            <a:r>
              <a:rPr lang="en-US" altLang="zh-CN" sz="1600">
                <a:sym typeface="+mn-ea"/>
              </a:rPr>
              <a:t> </a:t>
            </a:r>
            <a:r>
              <a:rPr lang="en-US" altLang="en-US" sz="1600">
                <a:sym typeface="+mn-ea"/>
              </a:rPr>
              <a:t>→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输出</a:t>
            </a:r>
            <a:r>
              <a:rPr lang="en-US" altLang="zh-CN" sz="1600">
                <a:sym typeface="+mn-ea"/>
              </a:rPr>
              <a:t> "No Red Card"</a:t>
            </a:r>
            <a:endParaRPr lang="en-US" altLang="zh-CN" sz="1600"/>
          </a:p>
          <a:p>
            <a:pPr lvl="1" indent="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否则逐行输出：</a:t>
            </a:r>
            <a:endParaRPr lang="en-US" altLang="zh-CN" sz="1600"/>
          </a:p>
          <a:p>
            <a:pPr lvl="2" indent="0" fontAlgn="auto">
              <a:lnSpc>
                <a:spcPct val="150000"/>
              </a:lnSpc>
            </a:pPr>
            <a:r>
              <a:rPr lang="en-US" altLang="zh-CN" sz="1600">
                <a:sym typeface="+mn-ea"/>
              </a:rPr>
              <a:t>teamName playerID time</a:t>
            </a:r>
            <a:endParaRPr lang="en-US" altLang="zh-CN" sz="1600"/>
          </a:p>
          <a:p>
            <a:pPr indent="0" fontAlgn="auto">
              <a:lnSpc>
                <a:spcPct val="150000"/>
              </a:lnSpc>
            </a:pP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17271" y="937260"/>
            <a:ext cx="10500129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</a:t>
            </a:r>
            <a:r>
              <a:rPr lang="en-US" altLang="zh-CN" sz="1000" dirty="0">
                <a:sym typeface="+mn-ea"/>
              </a:rPr>
              <a:t>MC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CSKA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9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28 a 3 y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62 h 25 y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66 h 42 y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70 h 25 y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77 a 4 y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79 a 25 y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82 h 42 r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89 h 16 y</a:t>
            </a:r>
            <a:endParaRPr lang="en-US" altLang="zh-CN" sz="1000" dirty="0">
              <a:sym typeface="+mn-ea"/>
            </a:endParaRPr>
          </a:p>
          <a:p>
            <a:pPr lvl="2"/>
            <a:r>
              <a:rPr lang="en-US" altLang="zh-CN" sz="1000" dirty="0">
                <a:sym typeface="+mn-ea"/>
              </a:rPr>
              <a:t>90 a 13 r</a:t>
            </a:r>
            <a:endParaRPr lang="en-US" altLang="zh-CN" sz="1000" dirty="0">
              <a:sym typeface="+mn-ea"/>
            </a:endParaRPr>
          </a:p>
          <a:p>
            <a:endParaRPr lang="en-US" altLang="zh-CN" sz="10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7040" y="3517900"/>
            <a:ext cx="35013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</a:t>
            </a:r>
            <a:r>
              <a:rPr lang="en-US" altLang="zh-CN" sz="1200"/>
              <a:t>AAA</a:t>
            </a:r>
            <a:endParaRPr lang="en-US" altLang="zh-CN" sz="1200"/>
          </a:p>
          <a:p>
            <a:pPr lvl="2"/>
            <a:r>
              <a:rPr lang="en-US" altLang="zh-CN" sz="1200"/>
              <a:t>BBB</a:t>
            </a:r>
            <a:endParaRPr lang="en-US" altLang="zh-CN" sz="1200"/>
          </a:p>
          <a:p>
            <a:pPr lvl="2"/>
            <a:r>
              <a:rPr lang="en-US" altLang="zh-CN" sz="1200"/>
              <a:t>6</a:t>
            </a:r>
            <a:endParaRPr lang="en-US" altLang="zh-CN" sz="1200"/>
          </a:p>
          <a:p>
            <a:pPr lvl="2"/>
            <a:r>
              <a:rPr lang="en-US" altLang="zh-CN" sz="1200"/>
              <a:t>10 h 5 y</a:t>
            </a:r>
            <a:endParaRPr lang="en-US" altLang="zh-CN" sz="1200"/>
          </a:p>
          <a:p>
            <a:pPr lvl="2"/>
            <a:r>
              <a:rPr lang="en-US" altLang="zh-CN" sz="1200"/>
              <a:t>10 h 5 y</a:t>
            </a:r>
            <a:endParaRPr lang="en-US" altLang="zh-CN" sz="1200"/>
          </a:p>
          <a:p>
            <a:pPr lvl="2"/>
            <a:r>
              <a:rPr lang="en-US" altLang="zh-CN" sz="1200"/>
              <a:t>10 h 7 y</a:t>
            </a:r>
            <a:endParaRPr lang="en-US" altLang="zh-CN" sz="1200"/>
          </a:p>
          <a:p>
            <a:pPr lvl="2"/>
            <a:r>
              <a:rPr lang="en-US" altLang="zh-CN" sz="1200"/>
              <a:t>10 h 7 r</a:t>
            </a:r>
            <a:endParaRPr lang="en-US" altLang="zh-CN" sz="1200"/>
          </a:p>
          <a:p>
            <a:pPr lvl="2"/>
            <a:r>
              <a:rPr lang="en-US" altLang="zh-CN" sz="1200"/>
              <a:t>10 a 3 r</a:t>
            </a:r>
            <a:endParaRPr lang="en-US" altLang="zh-CN" sz="1200"/>
          </a:p>
          <a:p>
            <a:pPr lvl="2"/>
            <a:r>
              <a:rPr lang="en-US" altLang="zh-CN" sz="1200"/>
              <a:t>10 a 4 r</a:t>
            </a:r>
            <a:endParaRPr lang="en-US" altLang="zh-CN" sz="1200"/>
          </a:p>
          <a:p>
            <a:pPr lvl="2"/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r="14869"/>
          <a:stretch>
            <a:fillRect/>
          </a:stretch>
        </p:blipFill>
        <p:spPr>
          <a:xfrm>
            <a:off x="7228840" y="685165"/>
            <a:ext cx="2435860" cy="2587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840" y="3429000"/>
            <a:ext cx="2435860" cy="255397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4943</Words>
  <Application>WPS 演示</Application>
  <PresentationFormat>宽屏</PresentationFormat>
  <Paragraphs>334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Wingdings 3</vt:lpstr>
      <vt:lpstr>Arial</vt:lpstr>
      <vt:lpstr>微软雅黑</vt:lpstr>
      <vt:lpstr>Century Gothic</vt:lpstr>
      <vt:lpstr>Arial Unicode MS</vt:lpstr>
      <vt:lpstr>Calibri</vt:lpstr>
      <vt:lpstr>离子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王云超</dc:creator>
  <cp:lastModifiedBy>顾念</cp:lastModifiedBy>
  <cp:revision>13</cp:revision>
  <dcterms:created xsi:type="dcterms:W3CDTF">2023-08-09T12:44:00Z</dcterms:created>
  <dcterms:modified xsi:type="dcterms:W3CDTF">2025-12-07T02:22:00Z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9E6D20489959442A90E0CAB4B939C3CE_12</vt:lpwstr>
  </property>
</Properties>
</file>