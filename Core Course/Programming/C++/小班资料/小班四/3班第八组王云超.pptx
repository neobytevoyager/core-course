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3"/>
  </p:sldMasterIdLst>
  <p:notesMasterIdLst>
    <p:notesMasterId r:id="rId5"/>
  </p:notesMasterIdLst>
  <p:handoutMasterIdLst>
    <p:handoutMasterId r:id="rId22"/>
  </p:handoutMasterIdLst>
  <p:sldIdLst>
    <p:sldId id="258" r:id="rId4"/>
    <p:sldId id="259" r:id="rId6"/>
    <p:sldId id="260" r:id="rId7"/>
    <p:sldId id="261" r:id="rId8"/>
    <p:sldId id="262" r:id="rId9"/>
    <p:sldId id="266" r:id="rId10"/>
    <p:sldId id="267" r:id="rId11"/>
    <p:sldId id="268" r:id="rId12"/>
    <p:sldId id="270" r:id="rId13"/>
    <p:sldId id="271" r:id="rId14"/>
    <p:sldId id="288" r:id="rId15"/>
    <p:sldId id="290" r:id="rId16"/>
    <p:sldId id="272" r:id="rId17"/>
    <p:sldId id="274" r:id="rId18"/>
    <p:sldId id="273" r:id="rId19"/>
    <p:sldId id="276" r:id="rId20"/>
    <p:sldId id="285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handoutMaster" Target="handoutMasters/handoutMaster1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A9903-2883-4999-B175-77B73BF11E1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BAE3-8096-4744-8509-3057B45F4B1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A9903-2883-4999-B175-77B73BF11E1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BAE3-8096-4744-8509-3057B45F4B1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A9903-2883-4999-B175-77B73BF11E1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BAE3-8096-4744-8509-3057B45F4B1F}" type="slidenum">
              <a:rPr lang="zh-CN" altLang="en-US" smtClean="0"/>
            </a:fld>
            <a:endParaRPr lang="zh-CN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A9903-2883-4999-B175-77B73BF11E1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BAE3-8096-4744-8509-3057B45F4B1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A9903-2883-4999-B175-77B73BF11E1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BAE3-8096-4744-8509-3057B45F4B1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A9903-2883-4999-B175-77B73BF11E1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BAE3-8096-4744-8509-3057B45F4B1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A9903-2883-4999-B175-77B73BF11E1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BAE3-8096-4744-8509-3057B45F4B1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A9903-2883-4999-B175-77B73BF11E1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BAE3-8096-4744-8509-3057B45F4B1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A9903-2883-4999-B175-77B73BF11E1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BAE3-8096-4744-8509-3057B45F4B1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A9903-2883-4999-B175-77B73BF11E1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BAE3-8096-4744-8509-3057B45F4B1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A9903-2883-4999-B175-77B73BF11E1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BAE3-8096-4744-8509-3057B45F4B1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A9903-2883-4999-B175-77B73BF11E1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BAE3-8096-4744-8509-3057B45F4B1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0" y="160256"/>
            <a:ext cx="348792" cy="414779"/>
            <a:chOff x="0" y="160256"/>
            <a:chExt cx="348792" cy="414779"/>
          </a:xfrm>
        </p:grpSpPr>
        <p:sp>
          <p:nvSpPr>
            <p:cNvPr id="4" name="矩形 3"/>
            <p:cNvSpPr/>
            <p:nvPr/>
          </p:nvSpPr>
          <p:spPr>
            <a:xfrm>
              <a:off x="0" y="160256"/>
              <a:ext cx="188536" cy="414779"/>
            </a:xfrm>
            <a:prstGeom prst="rect">
              <a:avLst/>
            </a:prstGeom>
            <a:solidFill>
              <a:srgbClr val="5C5C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254524" y="160256"/>
              <a:ext cx="94268" cy="414779"/>
            </a:xfrm>
            <a:prstGeom prst="rect">
              <a:avLst/>
            </a:prstGeom>
            <a:solidFill>
              <a:srgbClr val="5C5C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54" b="12259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4" name="流程图: 手动输入 7"/>
          <p:cNvSpPr/>
          <p:nvPr/>
        </p:nvSpPr>
        <p:spPr>
          <a:xfrm rot="5400000" flipV="1">
            <a:off x="5157537" y="-176465"/>
            <a:ext cx="6858002" cy="7210927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-1" fmla="*/ 0 w 10000"/>
              <a:gd name="connsiteY0-2" fmla="*/ 2995 h 10000"/>
              <a:gd name="connsiteX1-3" fmla="*/ 10000 w 10000"/>
              <a:gd name="connsiteY1-4" fmla="*/ 0 h 10000"/>
              <a:gd name="connsiteX2-5" fmla="*/ 10000 w 10000"/>
              <a:gd name="connsiteY2-6" fmla="*/ 10000 h 10000"/>
              <a:gd name="connsiteX3-7" fmla="*/ 0 w 10000"/>
              <a:gd name="connsiteY3-8" fmla="*/ 10000 h 10000"/>
              <a:gd name="connsiteX4-9" fmla="*/ 0 w 10000"/>
              <a:gd name="connsiteY4-10" fmla="*/ 2995 h 10000"/>
              <a:gd name="connsiteX0-11" fmla="*/ 0 w 10000"/>
              <a:gd name="connsiteY0-12" fmla="*/ 3321 h 10326"/>
              <a:gd name="connsiteX1-13" fmla="*/ 9983 w 10000"/>
              <a:gd name="connsiteY1-14" fmla="*/ 0 h 10326"/>
              <a:gd name="connsiteX2-15" fmla="*/ 10000 w 10000"/>
              <a:gd name="connsiteY2-16" fmla="*/ 10326 h 10326"/>
              <a:gd name="connsiteX3-17" fmla="*/ 0 w 10000"/>
              <a:gd name="connsiteY3-18" fmla="*/ 10326 h 10326"/>
              <a:gd name="connsiteX4-19" fmla="*/ 0 w 10000"/>
              <a:gd name="connsiteY4-20" fmla="*/ 3321 h 10326"/>
              <a:gd name="connsiteX0-21" fmla="*/ 0 w 10001"/>
              <a:gd name="connsiteY0-22" fmla="*/ 3338 h 10343"/>
              <a:gd name="connsiteX1-23" fmla="*/ 10000 w 10001"/>
              <a:gd name="connsiteY1-24" fmla="*/ 0 h 10343"/>
              <a:gd name="connsiteX2-25" fmla="*/ 10000 w 10001"/>
              <a:gd name="connsiteY2-26" fmla="*/ 10343 h 10343"/>
              <a:gd name="connsiteX3-27" fmla="*/ 0 w 10001"/>
              <a:gd name="connsiteY3-28" fmla="*/ 10343 h 10343"/>
              <a:gd name="connsiteX4-29" fmla="*/ 0 w 10001"/>
              <a:gd name="connsiteY4-30" fmla="*/ 3338 h 1034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01" h="10343">
                <a:moveTo>
                  <a:pt x="0" y="3338"/>
                </a:moveTo>
                <a:lnTo>
                  <a:pt x="10000" y="0"/>
                </a:lnTo>
                <a:cubicBezTo>
                  <a:pt x="10006" y="3442"/>
                  <a:pt x="9994" y="6901"/>
                  <a:pt x="10000" y="10343"/>
                </a:cubicBezTo>
                <a:lnTo>
                  <a:pt x="0" y="10343"/>
                </a:lnTo>
                <a:lnTo>
                  <a:pt x="0" y="3338"/>
                </a:lnTo>
                <a:close/>
              </a:path>
            </a:pathLst>
          </a:custGeom>
          <a:solidFill>
            <a:srgbClr val="3F3F3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A9903-2883-4999-B175-77B73BF11E1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BAE3-8096-4744-8509-3057B45F4B1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A9903-2883-4999-B175-77B73BF11E1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BAE3-8096-4744-8509-3057B45F4B1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A9903-2883-4999-B175-77B73BF11E1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BAE3-8096-4744-8509-3057B45F4B1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A9903-2883-4999-B175-77B73BF11E1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9BAE3-8096-4744-8509-3057B45F4B1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2" Type="http://schemas.openxmlformats.org/officeDocument/2006/relationships/theme" Target="../theme/theme1.xml"/><Relationship Id="rId21" Type="http://schemas.openxmlformats.org/officeDocument/2006/relationships/image" Target="../media/image4.png"/><Relationship Id="rId20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9" Type="http://schemas.openxmlformats.org/officeDocument/2006/relationships/image" Target="../media/image2.png"/><Relationship Id="rId18" Type="http://schemas.openxmlformats.org/officeDocument/2006/relationships/image" Target="../media/image1.png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6.xml"/><Relationship Id="rId8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>
            <a:fillRect/>
          </a:stretch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>
            <a:fillRect/>
          </a:stretch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>
            <a:fillRect/>
          </a:stretch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>
            <a:fillRect/>
          </a:stretch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571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BA9903-2883-4999-B175-77B73BF11E1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39BAE3-8096-4744-8509-3057B45F4B1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0" y="1838131"/>
            <a:ext cx="121920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0" y="5019870"/>
            <a:ext cx="121920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545758" y="3435349"/>
            <a:ext cx="1098677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四次小班课</a:t>
            </a:r>
            <a:endParaRPr sz="48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828816" y="2422905"/>
            <a:ext cx="40664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POWERPOINT</a:t>
            </a:r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905522" y="5133634"/>
            <a:ext cx="6461998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第八组</a:t>
            </a:r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号</a:t>
            </a:r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计科</a:t>
            </a:r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2404        </a:t>
            </a:r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王云超  </a:t>
            </a:r>
            <a:endParaRPr lang="en-US" altLang="zh-CN" sz="32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学号：</a:t>
            </a:r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202415010110</a:t>
            </a:r>
            <a:endParaRPr lang="en-US" altLang="zh-CN" sz="32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箭头: V 形 19"/>
          <p:cNvSpPr/>
          <p:nvPr/>
        </p:nvSpPr>
        <p:spPr>
          <a:xfrm rot="5400000">
            <a:off x="8764051" y="2003330"/>
            <a:ext cx="195942" cy="363893"/>
          </a:xfrm>
          <a:prstGeom prst="chevron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>
            <a:off x="501650" y="1798955"/>
            <a:ext cx="3200400" cy="3633470"/>
            <a:chOff x="2910" y="2538"/>
            <a:chExt cx="5040" cy="5722"/>
          </a:xfrm>
        </p:grpSpPr>
        <p:sp>
          <p:nvSpPr>
            <p:cNvPr id="5" name="Freeform 5"/>
            <p:cNvSpPr/>
            <p:nvPr/>
          </p:nvSpPr>
          <p:spPr bwMode="auto">
            <a:xfrm>
              <a:off x="3695" y="3430"/>
              <a:ext cx="3471" cy="3941"/>
            </a:xfrm>
            <a:custGeom>
              <a:avLst/>
              <a:gdLst>
                <a:gd name="T0" fmla="*/ 6935 w 12812"/>
                <a:gd name="T1" fmla="*/ 195 h 14572"/>
                <a:gd name="T2" fmla="*/ 9609 w 12812"/>
                <a:gd name="T3" fmla="*/ 1739 h 14572"/>
                <a:gd name="T4" fmla="*/ 12283 w 12812"/>
                <a:gd name="T5" fmla="*/ 3282 h 14572"/>
                <a:gd name="T6" fmla="*/ 12812 w 12812"/>
                <a:gd name="T7" fmla="*/ 4199 h 14572"/>
                <a:gd name="T8" fmla="*/ 12812 w 12812"/>
                <a:gd name="T9" fmla="*/ 7286 h 14572"/>
                <a:gd name="T10" fmla="*/ 12812 w 12812"/>
                <a:gd name="T11" fmla="*/ 10374 h 14572"/>
                <a:gd name="T12" fmla="*/ 12283 w 12812"/>
                <a:gd name="T13" fmla="*/ 11290 h 14572"/>
                <a:gd name="T14" fmla="*/ 9609 w 12812"/>
                <a:gd name="T15" fmla="*/ 12834 h 14572"/>
                <a:gd name="T16" fmla="*/ 6935 w 12812"/>
                <a:gd name="T17" fmla="*/ 14378 h 14572"/>
                <a:gd name="T18" fmla="*/ 5877 w 12812"/>
                <a:gd name="T19" fmla="*/ 14378 h 14572"/>
                <a:gd name="T20" fmla="*/ 3203 w 12812"/>
                <a:gd name="T21" fmla="*/ 12834 h 14572"/>
                <a:gd name="T22" fmla="*/ 529 w 12812"/>
                <a:gd name="T23" fmla="*/ 11290 h 14572"/>
                <a:gd name="T24" fmla="*/ 0 w 12812"/>
                <a:gd name="T25" fmla="*/ 10374 h 14572"/>
                <a:gd name="T26" fmla="*/ 0 w 12812"/>
                <a:gd name="T27" fmla="*/ 7286 h 14572"/>
                <a:gd name="T28" fmla="*/ 0 w 12812"/>
                <a:gd name="T29" fmla="*/ 4199 h 14572"/>
                <a:gd name="T30" fmla="*/ 529 w 12812"/>
                <a:gd name="T31" fmla="*/ 3282 h 14572"/>
                <a:gd name="T32" fmla="*/ 3203 w 12812"/>
                <a:gd name="T33" fmla="*/ 1739 h 14572"/>
                <a:gd name="T34" fmla="*/ 5877 w 12812"/>
                <a:gd name="T35" fmla="*/ 195 h 14572"/>
                <a:gd name="T36" fmla="*/ 6935 w 12812"/>
                <a:gd name="T37" fmla="*/ 195 h 145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2812" h="14572">
                  <a:moveTo>
                    <a:pt x="6935" y="195"/>
                  </a:moveTo>
                  <a:lnTo>
                    <a:pt x="9609" y="1739"/>
                  </a:lnTo>
                  <a:lnTo>
                    <a:pt x="12283" y="3282"/>
                  </a:lnTo>
                  <a:cubicBezTo>
                    <a:pt x="12620" y="3477"/>
                    <a:pt x="12812" y="3810"/>
                    <a:pt x="12812" y="4199"/>
                  </a:cubicBezTo>
                  <a:lnTo>
                    <a:pt x="12812" y="7286"/>
                  </a:lnTo>
                  <a:lnTo>
                    <a:pt x="12812" y="10374"/>
                  </a:lnTo>
                  <a:cubicBezTo>
                    <a:pt x="12812" y="10763"/>
                    <a:pt x="12620" y="11096"/>
                    <a:pt x="12283" y="11290"/>
                  </a:cubicBezTo>
                  <a:lnTo>
                    <a:pt x="9609" y="12834"/>
                  </a:lnTo>
                  <a:lnTo>
                    <a:pt x="6935" y="14378"/>
                  </a:lnTo>
                  <a:cubicBezTo>
                    <a:pt x="6599" y="14572"/>
                    <a:pt x="6213" y="14572"/>
                    <a:pt x="5877" y="14378"/>
                  </a:cubicBezTo>
                  <a:lnTo>
                    <a:pt x="3203" y="12834"/>
                  </a:lnTo>
                  <a:lnTo>
                    <a:pt x="529" y="11290"/>
                  </a:lnTo>
                  <a:cubicBezTo>
                    <a:pt x="193" y="11096"/>
                    <a:pt x="0" y="10763"/>
                    <a:pt x="0" y="10374"/>
                  </a:cubicBezTo>
                  <a:lnTo>
                    <a:pt x="0" y="7286"/>
                  </a:lnTo>
                  <a:lnTo>
                    <a:pt x="0" y="4199"/>
                  </a:lnTo>
                  <a:cubicBezTo>
                    <a:pt x="0" y="3810"/>
                    <a:pt x="193" y="3477"/>
                    <a:pt x="529" y="3282"/>
                  </a:cubicBezTo>
                  <a:lnTo>
                    <a:pt x="3203" y="1739"/>
                  </a:lnTo>
                  <a:lnTo>
                    <a:pt x="5877" y="195"/>
                  </a:lnTo>
                  <a:cubicBezTo>
                    <a:pt x="6213" y="0"/>
                    <a:pt x="6599" y="0"/>
                    <a:pt x="6935" y="195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25400">
              <a:solidFill>
                <a:srgbClr val="083451"/>
              </a:solidFill>
            </a:ln>
            <a:effectLst>
              <a:outerShdw blurRad="381000" dist="254000" dir="2700000" algn="tl" rotWithShape="0">
                <a:prstClr val="black">
                  <a:alpha val="6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2" name="Freeform 5"/>
            <p:cNvSpPr/>
            <p:nvPr/>
          </p:nvSpPr>
          <p:spPr bwMode="auto">
            <a:xfrm>
              <a:off x="2910" y="2538"/>
              <a:ext cx="5040" cy="5723"/>
            </a:xfrm>
            <a:custGeom>
              <a:avLst/>
              <a:gdLst>
                <a:gd name="T0" fmla="*/ 6935 w 12812"/>
                <a:gd name="T1" fmla="*/ 195 h 14572"/>
                <a:gd name="T2" fmla="*/ 9609 w 12812"/>
                <a:gd name="T3" fmla="*/ 1739 h 14572"/>
                <a:gd name="T4" fmla="*/ 12283 w 12812"/>
                <a:gd name="T5" fmla="*/ 3282 h 14572"/>
                <a:gd name="T6" fmla="*/ 12812 w 12812"/>
                <a:gd name="T7" fmla="*/ 4199 h 14572"/>
                <a:gd name="T8" fmla="*/ 12812 w 12812"/>
                <a:gd name="T9" fmla="*/ 7286 h 14572"/>
                <a:gd name="T10" fmla="*/ 12812 w 12812"/>
                <a:gd name="T11" fmla="*/ 10374 h 14572"/>
                <a:gd name="T12" fmla="*/ 12283 w 12812"/>
                <a:gd name="T13" fmla="*/ 11290 h 14572"/>
                <a:gd name="T14" fmla="*/ 9609 w 12812"/>
                <a:gd name="T15" fmla="*/ 12834 h 14572"/>
                <a:gd name="T16" fmla="*/ 6935 w 12812"/>
                <a:gd name="T17" fmla="*/ 14378 h 14572"/>
                <a:gd name="T18" fmla="*/ 5877 w 12812"/>
                <a:gd name="T19" fmla="*/ 14378 h 14572"/>
                <a:gd name="T20" fmla="*/ 3203 w 12812"/>
                <a:gd name="T21" fmla="*/ 12834 h 14572"/>
                <a:gd name="T22" fmla="*/ 529 w 12812"/>
                <a:gd name="T23" fmla="*/ 11290 h 14572"/>
                <a:gd name="T24" fmla="*/ 0 w 12812"/>
                <a:gd name="T25" fmla="*/ 10374 h 14572"/>
                <a:gd name="T26" fmla="*/ 0 w 12812"/>
                <a:gd name="T27" fmla="*/ 7286 h 14572"/>
                <a:gd name="T28" fmla="*/ 0 w 12812"/>
                <a:gd name="T29" fmla="*/ 4199 h 14572"/>
                <a:gd name="T30" fmla="*/ 529 w 12812"/>
                <a:gd name="T31" fmla="*/ 3282 h 14572"/>
                <a:gd name="T32" fmla="*/ 3203 w 12812"/>
                <a:gd name="T33" fmla="*/ 1739 h 14572"/>
                <a:gd name="T34" fmla="*/ 5877 w 12812"/>
                <a:gd name="T35" fmla="*/ 195 h 14572"/>
                <a:gd name="T36" fmla="*/ 6935 w 12812"/>
                <a:gd name="T37" fmla="*/ 195 h 145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2812" h="14572">
                  <a:moveTo>
                    <a:pt x="6935" y="195"/>
                  </a:moveTo>
                  <a:lnTo>
                    <a:pt x="9609" y="1739"/>
                  </a:lnTo>
                  <a:lnTo>
                    <a:pt x="12283" y="3282"/>
                  </a:lnTo>
                  <a:cubicBezTo>
                    <a:pt x="12620" y="3477"/>
                    <a:pt x="12812" y="3810"/>
                    <a:pt x="12812" y="4199"/>
                  </a:cubicBezTo>
                  <a:lnTo>
                    <a:pt x="12812" y="7286"/>
                  </a:lnTo>
                  <a:lnTo>
                    <a:pt x="12812" y="10374"/>
                  </a:lnTo>
                  <a:cubicBezTo>
                    <a:pt x="12812" y="10763"/>
                    <a:pt x="12620" y="11096"/>
                    <a:pt x="12283" y="11290"/>
                  </a:cubicBezTo>
                  <a:lnTo>
                    <a:pt x="9609" y="12834"/>
                  </a:lnTo>
                  <a:lnTo>
                    <a:pt x="6935" y="14378"/>
                  </a:lnTo>
                  <a:cubicBezTo>
                    <a:pt x="6599" y="14572"/>
                    <a:pt x="6213" y="14572"/>
                    <a:pt x="5877" y="14378"/>
                  </a:cubicBezTo>
                  <a:lnTo>
                    <a:pt x="3203" y="12834"/>
                  </a:lnTo>
                  <a:lnTo>
                    <a:pt x="529" y="11290"/>
                  </a:lnTo>
                  <a:cubicBezTo>
                    <a:pt x="193" y="11096"/>
                    <a:pt x="0" y="10763"/>
                    <a:pt x="0" y="10374"/>
                  </a:cubicBezTo>
                  <a:lnTo>
                    <a:pt x="0" y="7286"/>
                  </a:lnTo>
                  <a:lnTo>
                    <a:pt x="0" y="4199"/>
                  </a:lnTo>
                  <a:cubicBezTo>
                    <a:pt x="0" y="3810"/>
                    <a:pt x="193" y="3477"/>
                    <a:pt x="529" y="3282"/>
                  </a:cubicBezTo>
                  <a:lnTo>
                    <a:pt x="3203" y="1739"/>
                  </a:lnTo>
                  <a:lnTo>
                    <a:pt x="5877" y="195"/>
                  </a:lnTo>
                  <a:cubicBezTo>
                    <a:pt x="6213" y="0"/>
                    <a:pt x="6599" y="0"/>
                    <a:pt x="6935" y="195"/>
                  </a:cubicBezTo>
                  <a:close/>
                </a:path>
              </a:pathLst>
            </a:custGeom>
            <a:noFill/>
            <a:ln w="12700">
              <a:solidFill>
                <a:srgbClr val="093B5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TextBox 59"/>
            <p:cNvSpPr txBox="1">
              <a:spLocks noChangeArrowheads="1"/>
            </p:cNvSpPr>
            <p:nvPr/>
          </p:nvSpPr>
          <p:spPr bwMode="auto">
            <a:xfrm flipH="1">
              <a:off x="3684" y="4600"/>
              <a:ext cx="3493" cy="15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r>
                <a:rPr lang="zh-CN" altLang="en-US" sz="3600" b="1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目录</a:t>
              </a:r>
              <a:endParaRPr lang="en-US" altLang="zh-CN" sz="36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>
                <a:defRPr/>
              </a:pPr>
              <a:r>
                <a:rPr lang="en-US" altLang="zh-CN" sz="2400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CONTENTS</a:t>
              </a:r>
              <a:endParaRPr lang="en-US" altLang="ko-KR" sz="2400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8378825" y="411480"/>
            <a:ext cx="1966595" cy="92329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lgDashDot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endParaRPr lang="zh-CN" altLang="en-US" sz="5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279900" y="1426210"/>
            <a:ext cx="7515860" cy="64833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lgDashDot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rtlCol="0">
            <a:no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01 /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作业十 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T14Computer,CPU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的关系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279900" y="2583815"/>
            <a:ext cx="7516495" cy="69659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lgDashDot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rtlCol="0">
            <a:no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02 /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作业十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T15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基类成员的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访问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279900" y="3715385"/>
            <a:ext cx="7516495" cy="69786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lgDashDot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rtlCol="0">
            <a:no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03 /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开放四 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T11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小希的新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工作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279900" y="5075555"/>
            <a:ext cx="7516495" cy="65595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lgDashDot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rtlCol="0">
            <a:no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04 /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开放四 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T13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松雅的新旅馆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118745" y="142875"/>
            <a:ext cx="7308215" cy="58356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lgDashDot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3200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问题-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Computer,CPU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的关系</a:t>
            </a:r>
            <a:endParaRPr lang="zh-CN" altLang="en-US" sz="3200" b="1" dirty="0" err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4340" y="964565"/>
            <a:ext cx="5944235" cy="55149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9035" y="142890"/>
            <a:ext cx="4487890" cy="58356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lgDashDot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1-思路分析及原理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13105" y="919480"/>
            <a:ext cx="9685655" cy="5842000"/>
          </a:xfrm>
          <a:prstGeom prst="rect">
            <a:avLst/>
          </a:prstGeom>
        </p:spPr>
        <p:txBody>
          <a:bodyPr wrap="square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/>
              <a:t>1.  </a:t>
            </a:r>
            <a:r>
              <a:rPr lang="zh-CN" altLang="en-US"/>
              <a:t>分析对象间的逻辑关系：</a:t>
            </a:r>
            <a:endParaRPr lang="zh-CN" altLang="en-US"/>
          </a:p>
          <a:p>
            <a:pPr lvl="1" indent="0" fontAlgn="auto">
              <a:lnSpc>
                <a:spcPct val="150000"/>
              </a:lnSpc>
            </a:pPr>
            <a:r>
              <a:rPr lang="zh-CN" altLang="en-US"/>
              <a:t>面向对象设计中，确定类之间关系的核心在于判断是</a:t>
            </a:r>
            <a:r>
              <a:rPr lang="en-US" altLang="zh-CN"/>
              <a:t>“Is-a”</a:t>
            </a:r>
            <a:r>
              <a:rPr lang="zh-CN" altLang="en-US"/>
              <a:t>（是一个）还是</a:t>
            </a:r>
            <a:r>
              <a:rPr lang="en-US" altLang="zh-CN"/>
              <a:t>“Has-a”</a:t>
            </a:r>
            <a:r>
              <a:rPr lang="zh-CN" altLang="en-US"/>
              <a:t>（有一个）的关系。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en-US" altLang="zh-CN"/>
              <a:t>2.  </a:t>
            </a:r>
            <a:r>
              <a:rPr lang="zh-CN" altLang="en-US"/>
              <a:t>继承关系</a:t>
            </a:r>
            <a:r>
              <a:rPr lang="en-US" altLang="zh-CN"/>
              <a:t> (Is-a)</a:t>
            </a:r>
            <a:r>
              <a:rPr lang="zh-CN" altLang="en-US"/>
              <a:t>：</a:t>
            </a:r>
            <a:endParaRPr lang="zh-CN" altLang="en-US"/>
          </a:p>
          <a:p>
            <a:pPr lvl="1" indent="0" fontAlgn="auto">
              <a:lnSpc>
                <a:spcPct val="150000"/>
              </a:lnSpc>
            </a:pPr>
            <a:r>
              <a:rPr lang="en-US" altLang="zh-CN"/>
              <a:t>    Laptop</a:t>
            </a:r>
            <a:r>
              <a:rPr lang="zh-CN" altLang="en-US"/>
              <a:t>（笔记本电脑）是一个</a:t>
            </a:r>
            <a:r>
              <a:rPr lang="en-US" altLang="zh-CN"/>
              <a:t>Computer</a:t>
            </a:r>
            <a:r>
              <a:rPr lang="zh-CN" altLang="en-US"/>
              <a:t>（电脑）。</a:t>
            </a:r>
            <a:endParaRPr lang="zh-CN" altLang="en-US"/>
          </a:p>
          <a:p>
            <a:pPr lvl="1" indent="0" fontAlgn="auto">
              <a:lnSpc>
                <a:spcPct val="150000"/>
              </a:lnSpc>
            </a:pPr>
            <a:r>
              <a:rPr lang="en-US" altLang="zh-CN"/>
              <a:t>    </a:t>
            </a:r>
            <a:r>
              <a:rPr lang="zh-CN" altLang="en-US"/>
              <a:t>在</a:t>
            </a:r>
            <a:r>
              <a:rPr lang="en-US" altLang="zh-CN"/>
              <a:t>C++</a:t>
            </a:r>
            <a:r>
              <a:rPr lang="zh-CN" altLang="en-US"/>
              <a:t>中，</a:t>
            </a:r>
            <a:r>
              <a:rPr lang="en-US" altLang="zh-CN"/>
              <a:t>Is-a</a:t>
            </a:r>
            <a:r>
              <a:rPr lang="zh-CN" altLang="en-US"/>
              <a:t>关系通过继承（</a:t>
            </a:r>
            <a:r>
              <a:rPr lang="en-US" altLang="zh-CN"/>
              <a:t>Inheritance</a:t>
            </a:r>
            <a:r>
              <a:rPr lang="zh-CN" altLang="en-US"/>
              <a:t>）来实现，即</a:t>
            </a:r>
            <a:r>
              <a:rPr lang="en-US" altLang="zh-CN"/>
              <a:t> class Derived : 	public Base</a:t>
            </a:r>
            <a:r>
              <a:rPr lang="zh-CN" altLang="en-US"/>
              <a:t>。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en-US" altLang="zh-CN"/>
              <a:t>3.  </a:t>
            </a:r>
            <a:r>
              <a:rPr lang="zh-CN" altLang="en-US"/>
              <a:t>组合关系</a:t>
            </a:r>
            <a:r>
              <a:rPr lang="en-US" altLang="zh-CN"/>
              <a:t> (Has-a)</a:t>
            </a:r>
            <a:r>
              <a:rPr lang="zh-CN" altLang="en-US"/>
              <a:t>：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en-US" altLang="zh-CN"/>
              <a:t>      Computer</a:t>
            </a:r>
            <a:r>
              <a:rPr lang="zh-CN" altLang="en-US"/>
              <a:t>（电脑）或</a:t>
            </a:r>
            <a:r>
              <a:rPr lang="en-US" altLang="zh-CN"/>
              <a:t> Laptop</a:t>
            </a:r>
            <a:r>
              <a:rPr lang="zh-CN" altLang="en-US"/>
              <a:t>（笔记本）内部有一个</a:t>
            </a:r>
            <a:r>
              <a:rPr lang="en-US" altLang="zh-CN"/>
              <a:t> CPU</a:t>
            </a:r>
            <a:r>
              <a:rPr lang="zh-CN" altLang="en-US"/>
              <a:t>（处理器）。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en-US" altLang="zh-CN"/>
              <a:t>      </a:t>
            </a:r>
            <a:r>
              <a:rPr lang="zh-CN" altLang="en-US"/>
              <a:t>在</a:t>
            </a:r>
            <a:r>
              <a:rPr lang="en-US" altLang="zh-CN"/>
              <a:t>C++</a:t>
            </a:r>
            <a:r>
              <a:rPr lang="zh-CN" altLang="en-US"/>
              <a:t>中，</a:t>
            </a:r>
            <a:r>
              <a:rPr lang="en-US" altLang="zh-CN"/>
              <a:t>Has-a</a:t>
            </a:r>
            <a:r>
              <a:rPr lang="zh-CN" altLang="en-US"/>
              <a:t>关系通过组合（</a:t>
            </a:r>
            <a:r>
              <a:rPr lang="en-US" altLang="zh-CN"/>
              <a:t>Composition</a:t>
            </a:r>
            <a:r>
              <a:rPr lang="zh-CN" altLang="en-US"/>
              <a:t>）来实现，即将一个类的对象作为另一个类的成员变量。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en-US" altLang="zh-CN"/>
              <a:t>4.  UML</a:t>
            </a:r>
            <a:r>
              <a:rPr lang="zh-CN" altLang="en-US"/>
              <a:t>类图思维：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en-US" altLang="zh-CN"/>
              <a:t>       Inheritance: Laptop -&gt;Computer</a:t>
            </a:r>
            <a:endParaRPr lang="en-US" altLang="zh-CN"/>
          </a:p>
          <a:p>
            <a:pPr indent="0" fontAlgn="auto">
              <a:lnSpc>
                <a:spcPct val="150000"/>
              </a:lnSpc>
            </a:pPr>
            <a:r>
              <a:rPr lang="en-US" altLang="zh-CN"/>
              <a:t>       Composition: Laptop -&gt; CPU</a:t>
            </a:r>
            <a:endParaRPr lang="en-US" altLang="zh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18745" y="101600"/>
            <a:ext cx="4168775" cy="58356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lgDashDot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1-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代码逐行讲解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12470" y="873760"/>
            <a:ext cx="9048115" cy="5908040"/>
          </a:xfrm>
          <a:prstGeom prst="rect">
            <a:avLst/>
          </a:prstGeom>
        </p:spPr>
        <p:txBody>
          <a:bodyPr wrap="square">
            <a:spAutoFit/>
          </a:bodyPr>
          <a:p>
            <a:pPr indent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/>
              <a:t>选项</a:t>
            </a:r>
            <a:r>
              <a:rPr lang="en-US" altLang="zh-CN"/>
              <a:t> A </a:t>
            </a:r>
            <a:r>
              <a:rPr lang="zh-CN" altLang="en-US"/>
              <a:t>分析：</a:t>
            </a:r>
            <a:endParaRPr lang="zh-CN" altLang="en-US"/>
          </a:p>
          <a:p>
            <a:pPr indent="0" algn="l" fontAlgn="auto">
              <a:lnSpc>
                <a:spcPct val="150000"/>
              </a:lnSpc>
              <a:buClrTx/>
              <a:buSzTx/>
              <a:buNone/>
            </a:pPr>
            <a:r>
              <a:rPr lang="en-US" altLang="zh-CN"/>
              <a:t>       </a:t>
            </a:r>
            <a:r>
              <a:rPr lang="zh-CN" altLang="en-US"/>
              <a:t>定义了</a:t>
            </a:r>
            <a:r>
              <a:rPr lang="en-US" altLang="zh-CN"/>
              <a:t>Computer</a:t>
            </a:r>
            <a:r>
              <a:rPr lang="zh-CN" altLang="en-US"/>
              <a:t>内部包含</a:t>
            </a:r>
            <a:r>
              <a:rPr lang="en-US" altLang="zh-CN"/>
              <a:t>Laptop</a:t>
            </a:r>
            <a:r>
              <a:rPr lang="zh-CN" altLang="en-US"/>
              <a:t>。逻辑错误，电脑不一定包含笔记本，应该是笔记本继承自电脑。</a:t>
            </a:r>
            <a:endParaRPr lang="zh-CN" altLang="en-US"/>
          </a:p>
          <a:p>
            <a:pPr indent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/>
              <a:t>选项</a:t>
            </a:r>
            <a:r>
              <a:rPr lang="en-US" altLang="zh-CN"/>
              <a:t> B </a:t>
            </a:r>
            <a:r>
              <a:rPr lang="zh-CN" altLang="en-US"/>
              <a:t>分析</a:t>
            </a:r>
            <a:r>
              <a:rPr lang="en-US" altLang="zh-CN"/>
              <a:t> (</a:t>
            </a:r>
            <a:r>
              <a:rPr lang="zh-CN" altLang="en-US"/>
              <a:t>正确</a:t>
            </a:r>
            <a:r>
              <a:rPr lang="en-US" altLang="zh-CN"/>
              <a:t>)</a:t>
            </a:r>
            <a:r>
              <a:rPr lang="zh-CN" altLang="en-US"/>
              <a:t>：</a:t>
            </a:r>
            <a:endParaRPr lang="zh-CN" altLang="en-US"/>
          </a:p>
          <a:p>
            <a:pPr indent="0" algn="l" fontAlgn="auto">
              <a:lnSpc>
                <a:spcPct val="150000"/>
              </a:lnSpc>
              <a:buClrTx/>
              <a:buSzTx/>
              <a:buNone/>
            </a:pPr>
            <a:r>
              <a:rPr lang="en-US" altLang="zh-CN"/>
              <a:t>      class Laptop : public Computer</a:t>
            </a:r>
            <a:r>
              <a:rPr lang="zh-CN" altLang="en-US"/>
              <a:t>：正确体现了</a:t>
            </a:r>
            <a:r>
              <a:rPr lang="en-US" altLang="zh-CN"/>
              <a:t> Laptop </a:t>
            </a:r>
            <a:r>
              <a:rPr lang="zh-CN" altLang="en-US"/>
              <a:t>是</a:t>
            </a:r>
            <a:r>
              <a:rPr lang="en-US" altLang="zh-CN"/>
              <a:t> Computer </a:t>
            </a:r>
            <a:r>
              <a:rPr lang="zh-CN" altLang="en-US"/>
              <a:t>的继承关系。</a:t>
            </a:r>
            <a:endParaRPr lang="zh-CN" altLang="en-US"/>
          </a:p>
          <a:p>
            <a:pPr indent="0" algn="l" fontAlgn="auto">
              <a:lnSpc>
                <a:spcPct val="150000"/>
              </a:lnSpc>
              <a:buClrTx/>
              <a:buSzTx/>
              <a:buNone/>
            </a:pPr>
            <a:r>
              <a:rPr lang="en-US" altLang="zh-CN"/>
              <a:t>      public: CPU intel;</a:t>
            </a:r>
            <a:r>
              <a:rPr lang="zh-CN" altLang="en-US"/>
              <a:t>：正确体现了</a:t>
            </a:r>
            <a:r>
              <a:rPr lang="en-US" altLang="zh-CN"/>
              <a:t> Laptop </a:t>
            </a:r>
            <a:r>
              <a:rPr lang="zh-CN" altLang="en-US"/>
              <a:t>内部</a:t>
            </a:r>
            <a:r>
              <a:rPr lang="en-US" altLang="zh-CN"/>
              <a:t> </a:t>
            </a:r>
            <a:r>
              <a:rPr lang="zh-CN" altLang="en-US"/>
              <a:t>拥有</a:t>
            </a:r>
            <a:r>
              <a:rPr lang="en-US" altLang="zh-CN"/>
              <a:t> CPU </a:t>
            </a:r>
            <a:r>
              <a:rPr lang="zh-CN" altLang="en-US"/>
              <a:t>的组合关系。</a:t>
            </a:r>
            <a:endParaRPr lang="zh-CN" altLang="en-US"/>
          </a:p>
          <a:p>
            <a:pPr indent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/>
              <a:t>选项</a:t>
            </a:r>
            <a:r>
              <a:rPr lang="en-US" altLang="zh-CN"/>
              <a:t> C </a:t>
            </a:r>
            <a:r>
              <a:rPr lang="zh-CN" altLang="en-US"/>
              <a:t>分析：</a:t>
            </a:r>
            <a:endParaRPr lang="zh-CN" altLang="en-US"/>
          </a:p>
          <a:p>
            <a:pPr indent="0" algn="l" fontAlgn="auto">
              <a:lnSpc>
                <a:spcPct val="150000"/>
              </a:lnSpc>
              <a:buClrTx/>
              <a:buSzTx/>
              <a:buNone/>
            </a:pPr>
            <a:r>
              <a:rPr lang="en-US" altLang="zh-CN"/>
              <a:t>       </a:t>
            </a:r>
            <a:r>
              <a:rPr lang="zh-CN" altLang="en-US"/>
              <a:t>使用了多重继承。虽然语法上允许，但在逻辑上</a:t>
            </a:r>
            <a:r>
              <a:rPr lang="en-US" altLang="zh-CN"/>
              <a:t> Laptop </a:t>
            </a:r>
            <a:r>
              <a:rPr lang="zh-CN" altLang="en-US"/>
              <a:t>不是一个</a:t>
            </a:r>
            <a:r>
              <a:rPr lang="en-US" altLang="zh-CN"/>
              <a:t> CPU</a:t>
            </a:r>
            <a:r>
              <a:rPr lang="zh-CN" altLang="en-US"/>
              <a:t>，它只是包含</a:t>
            </a:r>
            <a:r>
              <a:rPr lang="en-US" altLang="zh-CN"/>
              <a:t> CPU</a:t>
            </a:r>
            <a:r>
              <a:rPr lang="zh-CN" altLang="en-US"/>
              <a:t>，因此不应继承</a:t>
            </a:r>
            <a:r>
              <a:rPr lang="en-US" altLang="zh-CN"/>
              <a:t> CPU</a:t>
            </a:r>
            <a:r>
              <a:rPr lang="zh-CN" altLang="en-US"/>
              <a:t>。</a:t>
            </a:r>
            <a:endParaRPr lang="zh-CN" altLang="en-US"/>
          </a:p>
          <a:p>
            <a:pPr indent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/>
              <a:t>选项</a:t>
            </a:r>
            <a:r>
              <a:rPr lang="en-US" altLang="zh-CN"/>
              <a:t> D </a:t>
            </a:r>
            <a:r>
              <a:rPr lang="zh-CN" altLang="en-US"/>
              <a:t>分析：</a:t>
            </a:r>
            <a:endParaRPr lang="zh-CN" altLang="en-US"/>
          </a:p>
          <a:p>
            <a:pPr indent="0" algn="l" fontAlgn="auto">
              <a:lnSpc>
                <a:spcPct val="150000"/>
              </a:lnSpc>
              <a:buClrTx/>
              <a:buSzTx/>
              <a:buNone/>
            </a:pPr>
            <a:r>
              <a:rPr lang="en-US" altLang="zh-CN"/>
              <a:t>       </a:t>
            </a:r>
            <a:r>
              <a:rPr lang="zh-CN" altLang="en-US"/>
              <a:t>让</a:t>
            </a:r>
            <a:r>
              <a:rPr lang="en-US" altLang="zh-CN"/>
              <a:t> Laptop </a:t>
            </a:r>
            <a:r>
              <a:rPr lang="zh-CN" altLang="en-US"/>
              <a:t>继承自</a:t>
            </a:r>
            <a:r>
              <a:rPr lang="en-US" altLang="zh-CN"/>
              <a:t> CPU</a:t>
            </a:r>
            <a:r>
              <a:rPr lang="zh-CN" altLang="en-US"/>
              <a:t>，逻辑完全反了（笔记本不是处理器）。且在内部包含</a:t>
            </a:r>
            <a:r>
              <a:rPr lang="en-US" altLang="zh-CN"/>
              <a:t> Computer </a:t>
            </a:r>
            <a:r>
              <a:rPr lang="zh-CN" altLang="en-US"/>
              <a:t>对象也不符合逻辑（笔记本是电脑的一种，而不是包含电脑）。</a:t>
            </a:r>
            <a:endParaRPr lang="zh-CN" altLang="en-US"/>
          </a:p>
          <a:p>
            <a:pPr indent="0" algn="l" fontAlgn="auto">
              <a:lnSpc>
                <a:spcPct val="150000"/>
              </a:lnSpc>
              <a:buClrTx/>
              <a:buSzTx/>
              <a:buNone/>
            </a:pPr>
            <a:endParaRPr lang="zh-CN" altLang="en-US"/>
          </a:p>
          <a:p>
            <a:pPr indent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/>
              <a:t>故选择</a:t>
            </a:r>
            <a:r>
              <a:rPr lang="en-US" altLang="zh-CN"/>
              <a:t>B</a:t>
            </a:r>
            <a:endParaRPr lang="en-US" altLang="zh-C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118745" y="142875"/>
            <a:ext cx="7308215" cy="58356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lgDashDot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3200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问题-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基类成员的访问</a:t>
            </a:r>
            <a:endParaRPr lang="zh-CN" altLang="en-US" sz="3200" b="1" dirty="0" err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4855" y="1905635"/>
            <a:ext cx="9767570" cy="30467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9035" y="142890"/>
            <a:ext cx="4487890" cy="58356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lgDashDot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2-思路分析及原理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51230" y="1410970"/>
            <a:ext cx="8761095" cy="3953510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spcAft>
                <a:spcPct val="60000"/>
              </a:spcAft>
            </a:pPr>
            <a:r>
              <a:rPr lang="en-US" altLang="zh-CN"/>
              <a:t>1.  C++</a:t>
            </a:r>
            <a:r>
              <a:rPr lang="zh-CN" altLang="en-US"/>
              <a:t>的三种访问权限</a:t>
            </a:r>
            <a:r>
              <a:rPr lang="zh-CN" altLang="en-US"/>
              <a:t>：</a:t>
            </a:r>
            <a:endParaRPr lang="zh-CN" altLang="en-US"/>
          </a:p>
          <a:p>
            <a:pPr>
              <a:spcAft>
                <a:spcPct val="60000"/>
              </a:spcAft>
            </a:pPr>
            <a:r>
              <a:rPr lang="en-US" altLang="zh-CN"/>
              <a:t>C++</a:t>
            </a:r>
            <a:r>
              <a:rPr lang="zh-CN" altLang="en-US"/>
              <a:t>通过</a:t>
            </a:r>
            <a:r>
              <a:rPr lang="en-US" altLang="zh-CN"/>
              <a:t>public</a:t>
            </a:r>
            <a:r>
              <a:rPr lang="zh-CN" altLang="en-US" sz="1600"/>
              <a:t>、</a:t>
            </a:r>
            <a:r>
              <a:rPr lang="en-US" altLang="zh-CN"/>
              <a:t>protected</a:t>
            </a:r>
            <a:r>
              <a:rPr lang="zh-CN" altLang="en-US"/>
              <a:t>、</a:t>
            </a:r>
            <a:r>
              <a:rPr lang="en-US" altLang="zh-CN"/>
              <a:t>private </a:t>
            </a:r>
            <a:r>
              <a:rPr lang="zh-CN" altLang="en-US"/>
              <a:t>三个关键字来控制成员变量和成员函数的访问范围。</a:t>
            </a:r>
            <a:endParaRPr lang="zh-CN" altLang="en-US"/>
          </a:p>
          <a:p>
            <a:pPr>
              <a:spcAft>
                <a:spcPct val="60000"/>
              </a:spcAft>
            </a:pPr>
            <a:r>
              <a:rPr lang="en-US" altLang="zh-CN"/>
              <a:t>2.  </a:t>
            </a:r>
            <a:r>
              <a:rPr lang="zh-CN" altLang="en-US"/>
              <a:t>权限对比：</a:t>
            </a:r>
            <a:endParaRPr lang="zh-CN" altLang="en-US"/>
          </a:p>
          <a:p>
            <a:pPr>
              <a:spcAft>
                <a:spcPct val="60000"/>
              </a:spcAft>
            </a:pPr>
            <a:r>
              <a:rPr lang="en-US" altLang="zh-CN"/>
              <a:t>       Public (</a:t>
            </a:r>
            <a:r>
              <a:rPr lang="zh-CN" altLang="en-US"/>
              <a:t>公有</a:t>
            </a:r>
            <a:r>
              <a:rPr lang="en-US" altLang="zh-CN"/>
              <a:t>)</a:t>
            </a:r>
            <a:r>
              <a:rPr lang="zh-CN" altLang="en-US"/>
              <a:t>：类内部、派生类、类外部（</a:t>
            </a:r>
            <a:r>
              <a:rPr lang="en-US" altLang="zh-CN"/>
              <a:t>main</a:t>
            </a:r>
            <a:r>
              <a:rPr lang="zh-CN" altLang="en-US"/>
              <a:t>函数等）均可访问。</a:t>
            </a:r>
            <a:endParaRPr lang="zh-CN" altLang="en-US"/>
          </a:p>
          <a:p>
            <a:pPr>
              <a:spcAft>
                <a:spcPct val="60000"/>
              </a:spcAft>
            </a:pPr>
            <a:r>
              <a:rPr lang="en-US" altLang="zh-CN"/>
              <a:t>       Private (</a:t>
            </a:r>
            <a:r>
              <a:rPr lang="zh-CN" altLang="en-US"/>
              <a:t>私有</a:t>
            </a:r>
            <a:r>
              <a:rPr lang="en-US" altLang="zh-CN"/>
              <a:t>)</a:t>
            </a:r>
            <a:r>
              <a:rPr lang="zh-CN" altLang="en-US"/>
              <a:t>：只有基类自己的成员函数可以访问，派生类和外部都无法直接访问。</a:t>
            </a:r>
            <a:endParaRPr lang="zh-CN" altLang="en-US"/>
          </a:p>
          <a:p>
            <a:pPr>
              <a:spcAft>
                <a:spcPct val="60000"/>
              </a:spcAft>
            </a:pPr>
            <a:r>
              <a:rPr lang="en-US" altLang="zh-CN"/>
              <a:t>       Protected (</a:t>
            </a:r>
            <a:r>
              <a:rPr lang="zh-CN" altLang="en-US"/>
              <a:t>保护</a:t>
            </a:r>
            <a:r>
              <a:rPr lang="en-US" altLang="zh-CN"/>
              <a:t>)</a:t>
            </a:r>
            <a:r>
              <a:rPr lang="zh-CN" altLang="en-US"/>
              <a:t>：这是一个折中的权限，专门为继承设计。它允许基类和派生类内部访问，但禁止类外部（对象实例）直接访问。</a:t>
            </a:r>
            <a:endParaRPr lang="zh-CN" altLang="en-US"/>
          </a:p>
          <a:p>
            <a:pPr>
              <a:spcAft>
                <a:spcPct val="60000"/>
              </a:spcAft>
            </a:pPr>
            <a:r>
              <a:rPr lang="en-US" altLang="zh-CN"/>
              <a:t>3.  </a:t>
            </a:r>
            <a:r>
              <a:rPr lang="zh-CN" altLang="en-US"/>
              <a:t>题目关键词捕捉：</a:t>
            </a:r>
            <a:endParaRPr lang="zh-CN" altLang="en-US"/>
          </a:p>
          <a:p>
            <a:pPr>
              <a:spcAft>
                <a:spcPct val="60000"/>
              </a:spcAft>
            </a:pPr>
            <a:r>
              <a:rPr lang="en-US" altLang="zh-CN"/>
              <a:t>“</a:t>
            </a:r>
            <a:r>
              <a:rPr lang="zh-CN" altLang="en-US"/>
              <a:t>只能在基类和派生类的定义体内访问</a:t>
            </a:r>
            <a:r>
              <a:rPr lang="en-US" altLang="zh-CN"/>
              <a:t>”-&gt; </a:t>
            </a:r>
            <a:r>
              <a:rPr lang="zh-CN" altLang="en-US"/>
              <a:t>排除外部访问，但包含派生类</a:t>
            </a:r>
            <a:r>
              <a:rPr lang="en-US" altLang="zh-CN"/>
              <a:t>-&gt; </a:t>
            </a:r>
            <a:r>
              <a:rPr lang="zh-CN" altLang="en-US"/>
              <a:t>锁定</a:t>
            </a:r>
            <a:r>
              <a:rPr lang="en-US" altLang="zh-CN"/>
              <a:t>protected</a:t>
            </a:r>
            <a:r>
              <a:rPr lang="zh-CN" altLang="en-US"/>
              <a:t>。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18745" y="101600"/>
            <a:ext cx="4168775" cy="58356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lgDashDot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2-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代码逐行讲解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08355" y="1458595"/>
            <a:ext cx="9225915" cy="4707890"/>
          </a:xfrm>
          <a:prstGeom prst="rect">
            <a:avLst/>
          </a:prstGeom>
        </p:spPr>
        <p:txBody>
          <a:bodyPr wrap="square">
            <a:spAutoFit/>
          </a:bodyPr>
          <a:p>
            <a:pPr indent="0" algn="l" fontAlgn="auto">
              <a:lnSpc>
                <a:spcPct val="150000"/>
              </a:lnSpc>
              <a:buClrTx/>
              <a:buSzTx/>
              <a:buFont typeface="Arial" panose="020B0604020202020204"/>
              <a:buNone/>
            </a:pPr>
            <a:r>
              <a:rPr lang="zh-CN" altLang="en-US" sz="2000"/>
              <a:t>选项</a:t>
            </a:r>
            <a:r>
              <a:rPr lang="en-US" altLang="zh-CN" sz="2000"/>
              <a:t> A (private)</a:t>
            </a:r>
            <a:r>
              <a:rPr lang="zh-CN" altLang="en-US" sz="2000"/>
              <a:t>：</a:t>
            </a:r>
            <a:endParaRPr lang="zh-CN" altLang="en-US" sz="2000"/>
          </a:p>
          <a:p>
            <a:pPr indent="0" algn="l" fontAlgn="auto">
              <a:lnSpc>
                <a:spcPct val="150000"/>
              </a:lnSpc>
              <a:buClrTx/>
              <a:buSzTx/>
              <a:buFont typeface="Arial" panose="020B0604020202020204"/>
              <a:buNone/>
            </a:pPr>
            <a:r>
              <a:rPr lang="en-US" altLang="zh-CN" sz="2000"/>
              <a:t>       </a:t>
            </a:r>
            <a:r>
              <a:rPr lang="zh-CN" altLang="en-US" sz="2000"/>
              <a:t>私有成员只能被基类自己访问，派生类无法访问。不符合题意。</a:t>
            </a:r>
            <a:endParaRPr lang="zh-CN" altLang="en-US" sz="2000"/>
          </a:p>
          <a:p>
            <a:pPr indent="0" algn="l" fontAlgn="auto">
              <a:lnSpc>
                <a:spcPct val="150000"/>
              </a:lnSpc>
              <a:buClrTx/>
              <a:buSzTx/>
              <a:buFont typeface="Arial" panose="020B0604020202020204"/>
              <a:buNone/>
            </a:pPr>
            <a:r>
              <a:rPr lang="zh-CN" altLang="en-US" sz="2000"/>
              <a:t>选项</a:t>
            </a:r>
            <a:r>
              <a:rPr lang="en-US" altLang="zh-CN" sz="2000"/>
              <a:t> B (protected) (</a:t>
            </a:r>
            <a:r>
              <a:rPr lang="zh-CN" altLang="en-US" sz="2000"/>
              <a:t>正确</a:t>
            </a:r>
            <a:r>
              <a:rPr lang="en-US" altLang="zh-CN" sz="2000"/>
              <a:t>)</a:t>
            </a:r>
            <a:r>
              <a:rPr lang="zh-CN" altLang="en-US" sz="2000"/>
              <a:t>：</a:t>
            </a:r>
            <a:endParaRPr lang="zh-CN" altLang="en-US" sz="2000"/>
          </a:p>
          <a:p>
            <a:pPr indent="0" algn="l" fontAlgn="auto">
              <a:lnSpc>
                <a:spcPct val="150000"/>
              </a:lnSpc>
              <a:buClrTx/>
              <a:buSzTx/>
              <a:buFont typeface="Arial" panose="020B0604020202020204"/>
              <a:buNone/>
            </a:pPr>
            <a:r>
              <a:rPr lang="en-US" altLang="zh-CN" sz="2000"/>
              <a:t>       </a:t>
            </a:r>
            <a:r>
              <a:rPr lang="zh-CN" altLang="en-US" sz="2000"/>
              <a:t>保护成员的设计初衷就是为了让子类（派生类）可以继承和使用，同时不对外公开。符合</a:t>
            </a:r>
            <a:r>
              <a:rPr lang="en-US" altLang="zh-CN" sz="2000"/>
              <a:t>“</a:t>
            </a:r>
            <a:r>
              <a:rPr lang="zh-CN" altLang="en-US" sz="2000"/>
              <a:t>基类和派生类定义体内访问</a:t>
            </a:r>
            <a:r>
              <a:rPr lang="en-US" altLang="zh-CN" sz="2000"/>
              <a:t>”</a:t>
            </a:r>
            <a:r>
              <a:rPr lang="zh-CN" altLang="en-US" sz="2000"/>
              <a:t>的描述。</a:t>
            </a:r>
            <a:endParaRPr lang="zh-CN" altLang="en-US" sz="2000"/>
          </a:p>
          <a:p>
            <a:pPr indent="0" algn="l" fontAlgn="auto">
              <a:lnSpc>
                <a:spcPct val="150000"/>
              </a:lnSpc>
              <a:buClrTx/>
              <a:buSzTx/>
              <a:buFont typeface="Arial" panose="020B0604020202020204"/>
              <a:buNone/>
            </a:pPr>
            <a:r>
              <a:rPr lang="zh-CN" altLang="en-US" sz="2000"/>
              <a:t>选项</a:t>
            </a:r>
            <a:r>
              <a:rPr lang="en-US" altLang="zh-CN" sz="2000"/>
              <a:t> C (public)</a:t>
            </a:r>
            <a:r>
              <a:rPr lang="zh-CN" altLang="en-US" sz="2000"/>
              <a:t>：</a:t>
            </a:r>
            <a:endParaRPr lang="zh-CN" altLang="en-US" sz="2000"/>
          </a:p>
          <a:p>
            <a:pPr indent="0" algn="l" fontAlgn="auto">
              <a:lnSpc>
                <a:spcPct val="150000"/>
              </a:lnSpc>
              <a:buClrTx/>
              <a:buSzTx/>
              <a:buFont typeface="Arial" panose="020B0604020202020204"/>
              <a:buNone/>
            </a:pPr>
            <a:r>
              <a:rPr lang="en-US" altLang="zh-CN" sz="2000"/>
              <a:t>       </a:t>
            </a:r>
            <a:r>
              <a:rPr lang="zh-CN" altLang="en-US" sz="2000"/>
              <a:t>公有成员可以在任何地方被访问，包括类的外部。范围太广，不符合题意。</a:t>
            </a:r>
            <a:endParaRPr lang="zh-CN" altLang="en-US" sz="2000"/>
          </a:p>
          <a:p>
            <a:pPr indent="0" algn="l" fontAlgn="auto">
              <a:lnSpc>
                <a:spcPct val="150000"/>
              </a:lnSpc>
              <a:buClrTx/>
              <a:buSzTx/>
              <a:buFont typeface="Arial" panose="020B0604020202020204"/>
              <a:buNone/>
            </a:pPr>
            <a:r>
              <a:rPr lang="zh-CN" altLang="en-US" sz="2000"/>
              <a:t>选项</a:t>
            </a:r>
            <a:r>
              <a:rPr lang="en-US" altLang="zh-CN" sz="2000"/>
              <a:t> D (preserve)</a:t>
            </a:r>
            <a:r>
              <a:rPr lang="zh-CN" altLang="en-US" sz="2000"/>
              <a:t>：</a:t>
            </a:r>
            <a:endParaRPr lang="zh-CN" altLang="en-US" sz="2000"/>
          </a:p>
          <a:p>
            <a:pPr indent="0" algn="l" fontAlgn="auto">
              <a:lnSpc>
                <a:spcPct val="150000"/>
              </a:lnSpc>
              <a:buClrTx/>
              <a:buSzTx/>
              <a:buFont typeface="Arial" panose="020B0604020202020204"/>
              <a:buNone/>
            </a:pPr>
            <a:r>
              <a:rPr lang="en-US" altLang="zh-CN" sz="2000"/>
              <a:t>       </a:t>
            </a:r>
            <a:r>
              <a:rPr lang="zh-CN" altLang="en-US" sz="2000"/>
              <a:t>这甚至不是</a:t>
            </a:r>
            <a:r>
              <a:rPr lang="en-US" altLang="zh-CN" sz="2000"/>
              <a:t>C++</a:t>
            </a:r>
            <a:r>
              <a:rPr lang="zh-CN" altLang="en-US" sz="2000"/>
              <a:t>的关键字，属于干扰项。</a:t>
            </a:r>
            <a:endParaRPr lang="zh-CN" altLang="en-US" sz="2000"/>
          </a:p>
          <a:p>
            <a:pPr indent="0" algn="l" fontAlgn="auto">
              <a:lnSpc>
                <a:spcPct val="150000"/>
              </a:lnSpc>
              <a:buClrTx/>
              <a:buSzTx/>
              <a:buFont typeface="Arial" panose="020B0604020202020204"/>
              <a:buNone/>
            </a:pPr>
            <a:endParaRPr lang="zh-CN" altLang="en-US"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118745" y="142875"/>
            <a:ext cx="7308215" cy="58356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lgDashDot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3200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问题-</a:t>
            </a:r>
            <a:r>
              <a:rPr lang="zh-CN" altLang="en-US" sz="3200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小希的</a:t>
            </a:r>
            <a:r>
              <a:rPr lang="zh-CN" altLang="en-US" sz="3200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新工作</a:t>
            </a:r>
            <a:endParaRPr lang="zh-CN" altLang="en-US" sz="3200" b="1" dirty="0" err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4170" y="1422400"/>
            <a:ext cx="10180955" cy="45021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9035" y="142890"/>
            <a:ext cx="4487890" cy="58356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lgDashDot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3-思路分析及原理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66445" y="1229995"/>
            <a:ext cx="8919210" cy="5077460"/>
          </a:xfrm>
          <a:prstGeom prst="rect">
            <a:avLst/>
          </a:prstGeom>
        </p:spPr>
        <p:txBody>
          <a:bodyPr wrap="square">
            <a:spAutoFit/>
          </a:bodyPr>
          <a:p>
            <a:pPr indent="0">
              <a:buNone/>
            </a:pPr>
            <a:r>
              <a:rPr lang="en-US" altLang="zh-CN"/>
              <a:t>1.  </a:t>
            </a:r>
            <a:r>
              <a:rPr lang="zh-CN" altLang="en-US"/>
              <a:t>核心思想：模拟与贪心</a:t>
            </a:r>
            <a:endParaRPr lang="en-US" altLang="zh-CN"/>
          </a:p>
          <a:p>
            <a:pPr indent="0">
              <a:buNone/>
            </a:pPr>
            <a:r>
              <a:rPr lang="en-US" altLang="zh-CN"/>
              <a:t>    </a:t>
            </a:r>
            <a:r>
              <a:rPr lang="zh-CN" altLang="en-US"/>
              <a:t>我们需要按时间顺序，把一天的时间轴切分为</a:t>
            </a:r>
            <a:r>
              <a:rPr lang="en-US" altLang="zh-CN"/>
              <a:t>“</a:t>
            </a:r>
            <a:r>
              <a:rPr lang="zh-CN" altLang="en-US"/>
              <a:t>工作时间</a:t>
            </a:r>
            <a:r>
              <a:rPr lang="en-US" altLang="zh-CN"/>
              <a:t>”</a:t>
            </a:r>
            <a:r>
              <a:rPr lang="zh-CN" altLang="en-US"/>
              <a:t>和</a:t>
            </a:r>
            <a:r>
              <a:rPr lang="en-US" altLang="zh-CN"/>
              <a:t>“</a:t>
            </a:r>
            <a:r>
              <a:rPr lang="zh-CN" altLang="en-US"/>
              <a:t>空闲时间</a:t>
            </a:r>
            <a:r>
              <a:rPr lang="en-US" altLang="zh-CN"/>
              <a:t>”</a:t>
            </a:r>
            <a:r>
              <a:rPr lang="zh-CN" altLang="en-US"/>
              <a:t>。只要有一段空闲时间长度</a:t>
            </a:r>
            <a:r>
              <a:rPr lang="en-US" altLang="zh-CN"/>
              <a:t> </a:t>
            </a:r>
            <a:r>
              <a:rPr lang="zh-CN" altLang="en-US"/>
              <a:t>，我们就可以在里面塞入尽可能多的休息次数。</a:t>
            </a:r>
            <a:endParaRPr lang="zh-CN" altLang="en-US"/>
          </a:p>
          <a:p>
            <a:pPr indent="0">
              <a:buNone/>
            </a:pPr>
            <a:endParaRPr lang="en-US" altLang="zh-CN"/>
          </a:p>
          <a:p>
            <a:pPr indent="0">
              <a:buNone/>
            </a:pPr>
            <a:r>
              <a:rPr lang="en-US" altLang="zh-CN"/>
              <a:t>2.  </a:t>
            </a:r>
            <a:r>
              <a:rPr lang="zh-CN" altLang="en-US"/>
              <a:t>空闲时间段的组成</a:t>
            </a:r>
            <a:endParaRPr lang="en-US" altLang="zh-CN"/>
          </a:p>
          <a:p>
            <a:pPr indent="0">
              <a:buNone/>
            </a:pPr>
            <a:r>
              <a:rPr lang="en-US" altLang="zh-CN"/>
              <a:t>    </a:t>
            </a:r>
            <a:r>
              <a:rPr lang="zh-CN" altLang="en-US"/>
              <a:t>这道题的空闲时间主要分布在三个位置：</a:t>
            </a:r>
            <a:endParaRPr lang="zh-CN" altLang="en-US"/>
          </a:p>
          <a:p>
            <a:pPr indent="0">
              <a:buNone/>
            </a:pPr>
            <a:r>
              <a:rPr lang="en-US" altLang="zh-CN"/>
              <a:t>       </a:t>
            </a:r>
            <a:r>
              <a:rPr lang="zh-CN" altLang="en-US"/>
              <a:t>上班开始前：从</a:t>
            </a:r>
            <a:r>
              <a:rPr lang="en-US" altLang="zh-CN"/>
              <a:t> 0 </a:t>
            </a:r>
            <a:r>
              <a:rPr lang="zh-CN" altLang="en-US"/>
              <a:t>分钟到第</a:t>
            </a:r>
            <a:r>
              <a:rPr lang="en-US" altLang="zh-CN"/>
              <a:t>1</a:t>
            </a:r>
            <a:r>
              <a:rPr lang="zh-CN" altLang="en-US"/>
              <a:t>个客人到来之前。</a:t>
            </a:r>
            <a:endParaRPr lang="zh-CN" altLang="en-US"/>
          </a:p>
          <a:p>
            <a:pPr indent="0">
              <a:buNone/>
            </a:pPr>
            <a:r>
              <a:rPr lang="en-US" altLang="zh-CN"/>
              <a:t>       </a:t>
            </a:r>
            <a:r>
              <a:rPr lang="zh-CN" altLang="en-US"/>
              <a:t>客人之间：从上一个客人服务结束，到下一个客人到来之前。</a:t>
            </a:r>
            <a:endParaRPr lang="zh-CN" altLang="en-US"/>
          </a:p>
          <a:p>
            <a:pPr indent="0">
              <a:buNone/>
            </a:pPr>
            <a:r>
              <a:rPr lang="en-US" altLang="zh-CN"/>
              <a:t>       </a:t>
            </a:r>
            <a:r>
              <a:rPr lang="zh-CN" altLang="en-US"/>
              <a:t>最后一位客人离开后：从最后一位客人服务结束，到下班时间</a:t>
            </a:r>
            <a:r>
              <a:rPr lang="en-US" altLang="zh-CN"/>
              <a:t> L </a:t>
            </a:r>
            <a:r>
              <a:rPr lang="zh-CN" altLang="en-US"/>
              <a:t>之前。</a:t>
            </a:r>
            <a:endParaRPr lang="zh-CN" altLang="en-US"/>
          </a:p>
          <a:p>
            <a:pPr indent="0">
              <a:buNone/>
            </a:pPr>
            <a:endParaRPr lang="en-US" altLang="zh-CN"/>
          </a:p>
          <a:p>
            <a:pPr indent="0">
              <a:buNone/>
            </a:pPr>
            <a:r>
              <a:rPr lang="en-US" altLang="zh-CN"/>
              <a:t>3.  </a:t>
            </a:r>
            <a:r>
              <a:rPr lang="zh-CN" altLang="en-US"/>
              <a:t>计算公式</a:t>
            </a:r>
            <a:endParaRPr lang="en-US" altLang="zh-CN"/>
          </a:p>
          <a:p>
            <a:pPr indent="0">
              <a:buNone/>
            </a:pPr>
            <a:r>
              <a:rPr lang="en-US" altLang="zh-CN"/>
              <a:t>    </a:t>
            </a:r>
            <a:r>
              <a:rPr lang="zh-CN" altLang="en-US"/>
              <a:t>对于任意一段长度为</a:t>
            </a:r>
            <a:r>
              <a:rPr lang="en-US" altLang="zh-CN"/>
              <a:t> gap </a:t>
            </a:r>
            <a:r>
              <a:rPr lang="zh-CN" altLang="en-US"/>
              <a:t>的空闲时间，能休息的次数为</a:t>
            </a:r>
            <a:r>
              <a:rPr lang="en-US" altLang="zh-CN"/>
              <a:t> gap / a</a:t>
            </a:r>
            <a:r>
              <a:rPr lang="zh-CN" altLang="en-US"/>
              <a:t>（利用</a:t>
            </a:r>
            <a:r>
              <a:rPr lang="en-US" altLang="zh-CN"/>
              <a:t>C++</a:t>
            </a:r>
            <a:r>
              <a:rPr lang="zh-CN" altLang="en-US"/>
              <a:t>整数除法向下取整的特性，自动舍去不足</a:t>
            </a:r>
            <a:r>
              <a:rPr lang="en-US" altLang="zh-CN"/>
              <a:t> a </a:t>
            </a:r>
            <a:r>
              <a:rPr lang="zh-CN" altLang="en-US"/>
              <a:t>分钟的零头）。</a:t>
            </a:r>
            <a:endParaRPr lang="zh-CN" altLang="en-US"/>
          </a:p>
          <a:p>
            <a:pPr indent="0">
              <a:buNone/>
            </a:pPr>
            <a:endParaRPr lang="en-US" altLang="zh-CN"/>
          </a:p>
          <a:p>
            <a:pPr indent="0">
              <a:buNone/>
            </a:pPr>
            <a:r>
              <a:rPr lang="en-US" altLang="zh-CN"/>
              <a:t>4.  </a:t>
            </a:r>
            <a:r>
              <a:rPr lang="zh-CN" altLang="en-US"/>
              <a:t>变量维护</a:t>
            </a:r>
            <a:endParaRPr lang="en-US" altLang="zh-CN"/>
          </a:p>
          <a:p>
            <a:pPr indent="0">
              <a:buNone/>
            </a:pPr>
            <a:r>
              <a:rPr lang="en-US" altLang="zh-CN"/>
              <a:t>    </a:t>
            </a:r>
            <a:r>
              <a:rPr lang="zh-CN" altLang="en-US"/>
              <a:t>我们需要一个变量（例如</a:t>
            </a:r>
            <a:r>
              <a:rPr lang="en-US" altLang="zh-CN"/>
              <a:t> last_end</a:t>
            </a:r>
            <a:r>
              <a:rPr lang="zh-CN" altLang="en-US"/>
              <a:t>）来记录上一次服务结束的时间点。初始值为</a:t>
            </a:r>
            <a:r>
              <a:rPr lang="en-US" altLang="zh-CN"/>
              <a:t> 0</a:t>
            </a:r>
            <a:r>
              <a:rPr lang="zh-CN" altLang="en-US"/>
              <a:t>。</a:t>
            </a:r>
            <a:endParaRPr lang="zh-CN" altLang="en-US"/>
          </a:p>
          <a:p>
            <a:pPr indent="0">
              <a:buNone/>
            </a:pPr>
            <a:r>
              <a:rPr lang="en-US" altLang="zh-CN"/>
              <a:t>    </a:t>
            </a:r>
            <a:r>
              <a:rPr lang="zh-CN" altLang="en-US"/>
              <a:t>每次读取新客人时，当前空闲时间</a:t>
            </a:r>
            <a:r>
              <a:rPr lang="en-US" altLang="zh-CN"/>
              <a:t> = </a:t>
            </a:r>
            <a:r>
              <a:rPr lang="zh-CN" altLang="en-US"/>
              <a:t>当前客人到达时间</a:t>
            </a:r>
            <a:r>
              <a:rPr lang="en-US" altLang="zh-CN"/>
              <a:t> - last_end</a:t>
            </a:r>
            <a:r>
              <a:rPr lang="zh-CN" altLang="en-US"/>
              <a:t>。</a:t>
            </a:r>
            <a:endParaRPr lang="zh-CN" altLang="en-US"/>
          </a:p>
          <a:p>
            <a:pPr indent="0">
              <a:buNone/>
            </a:pPr>
            <a:r>
              <a:rPr lang="en-US" altLang="zh-CN"/>
              <a:t>    </a:t>
            </a:r>
            <a:r>
              <a:rPr lang="zh-CN" altLang="en-US"/>
              <a:t>处理完后，更新</a:t>
            </a:r>
            <a:r>
              <a:rPr lang="en-US" altLang="zh-CN"/>
              <a:t> last_end = </a:t>
            </a:r>
            <a:r>
              <a:rPr lang="zh-CN" altLang="en-US"/>
              <a:t>当前客人到达时间</a:t>
            </a:r>
            <a:r>
              <a:rPr lang="en-US" altLang="zh-CN"/>
              <a:t> + </a:t>
            </a:r>
            <a:r>
              <a:rPr lang="zh-CN" altLang="en-US"/>
              <a:t>服务时长。</a:t>
            </a:r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18745" y="101600"/>
            <a:ext cx="4168775" cy="58356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lgDashDot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3-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代码逐行讲解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20090" y="1252220"/>
            <a:ext cx="10283190" cy="47999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一、</a:t>
            </a:r>
            <a:r>
              <a:rPr lang="en-US" altLang="zh-CN"/>
              <a:t> </a:t>
            </a:r>
            <a:r>
              <a:rPr lang="zh-CN" altLang="en-US"/>
              <a:t>变量定义与输入</a:t>
            </a:r>
            <a:endParaRPr lang="en-US" altLang="zh-CN"/>
          </a:p>
          <a:p>
            <a:r>
              <a:rPr lang="en-US" altLang="zh-CN"/>
              <a:t>1.  </a:t>
            </a:r>
            <a:r>
              <a:rPr lang="zh-CN" altLang="en-US"/>
              <a:t>定义</a:t>
            </a:r>
            <a:r>
              <a:rPr lang="en-US" altLang="zh-CN"/>
              <a:t>n, L, a </a:t>
            </a:r>
            <a:r>
              <a:rPr lang="zh-CN" altLang="en-US"/>
              <a:t>并读入；</a:t>
            </a:r>
            <a:endParaRPr lang="zh-CN" altLang="en-US"/>
          </a:p>
          <a:p>
            <a:r>
              <a:rPr lang="en-US" altLang="zh-CN"/>
              <a:t>2.  </a:t>
            </a:r>
            <a:r>
              <a:rPr lang="zh-CN" altLang="en-US"/>
              <a:t>定义</a:t>
            </a:r>
            <a:r>
              <a:rPr lang="en-US" altLang="zh-CN"/>
              <a:t>ans (answer) </a:t>
            </a:r>
            <a:r>
              <a:rPr lang="zh-CN" altLang="en-US"/>
              <a:t>用于累加休息次数，初始化为</a:t>
            </a:r>
            <a:r>
              <a:rPr lang="en-US" altLang="zh-CN"/>
              <a:t>0</a:t>
            </a:r>
            <a:r>
              <a:rPr lang="zh-CN" altLang="en-US"/>
              <a:t>；</a:t>
            </a:r>
            <a:endParaRPr lang="zh-CN" altLang="en-US"/>
          </a:p>
          <a:p>
            <a:r>
              <a:rPr lang="en-US" altLang="zh-CN"/>
              <a:t>3.  </a:t>
            </a:r>
            <a:r>
              <a:rPr lang="zh-CN" altLang="en-US"/>
              <a:t>定义</a:t>
            </a:r>
            <a:r>
              <a:rPr lang="en-US" altLang="zh-CN"/>
              <a:t>last </a:t>
            </a:r>
            <a:r>
              <a:rPr lang="zh-CN" altLang="en-US"/>
              <a:t>用于记录上一段忙碌结束的时间点（即当前空闲段的起始点），初始化为</a:t>
            </a:r>
            <a:r>
              <a:rPr lang="en-US" altLang="zh-CN"/>
              <a:t>0</a:t>
            </a:r>
            <a:r>
              <a:rPr lang="zh-CN" altLang="en-US"/>
              <a:t>（代表从上班第</a:t>
            </a:r>
            <a:r>
              <a:rPr lang="en-US" altLang="zh-CN"/>
              <a:t>0</a:t>
            </a:r>
            <a:r>
              <a:rPr lang="zh-CN" altLang="en-US"/>
              <a:t>分钟开始）。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二、</a:t>
            </a:r>
            <a:r>
              <a:rPr lang="en-US" altLang="zh-CN"/>
              <a:t> </a:t>
            </a:r>
            <a:r>
              <a:rPr lang="zh-CN" altLang="en-US"/>
              <a:t>循环处理每个客人</a:t>
            </a:r>
            <a:endParaRPr lang="en-US" altLang="zh-CN"/>
          </a:p>
          <a:p>
            <a:r>
              <a:rPr lang="en-US" altLang="zh-CN"/>
              <a:t>1. for </a:t>
            </a:r>
            <a:r>
              <a:rPr lang="zh-CN" altLang="en-US"/>
              <a:t>循环</a:t>
            </a:r>
            <a:r>
              <a:rPr lang="en-US" altLang="zh-CN"/>
              <a:t> n </a:t>
            </a:r>
            <a:r>
              <a:rPr lang="zh-CN" altLang="en-US"/>
              <a:t>次，读入当前客人的到达时间</a:t>
            </a:r>
            <a:r>
              <a:rPr lang="en-US" altLang="zh-CN"/>
              <a:t>t </a:t>
            </a:r>
            <a:r>
              <a:rPr lang="zh-CN" altLang="en-US"/>
              <a:t>和服务时长</a:t>
            </a:r>
            <a:r>
              <a:rPr lang="en-US" altLang="zh-CN"/>
              <a:t>l</a:t>
            </a:r>
            <a:r>
              <a:rPr lang="zh-CN" altLang="en-US"/>
              <a:t>；</a:t>
            </a:r>
            <a:endParaRPr lang="zh-CN" altLang="en-US"/>
          </a:p>
          <a:p>
            <a:r>
              <a:rPr lang="en-US" altLang="zh-CN"/>
              <a:t>2.  </a:t>
            </a:r>
            <a:r>
              <a:rPr lang="zh-CN" altLang="en-US"/>
              <a:t>计算空闲隙缝：</a:t>
            </a:r>
            <a:r>
              <a:rPr lang="en-US" altLang="zh-CN"/>
              <a:t>gap = t - last</a:t>
            </a:r>
            <a:r>
              <a:rPr lang="zh-CN" altLang="en-US"/>
              <a:t>；这是上一位客人走后（或上班开始）到当前客人来之前的空窗期；</a:t>
            </a:r>
            <a:endParaRPr lang="zh-CN" altLang="en-US"/>
          </a:p>
          <a:p>
            <a:r>
              <a:rPr lang="en-US" altLang="zh-CN"/>
              <a:t>3.  </a:t>
            </a:r>
            <a:r>
              <a:rPr lang="zh-CN" altLang="en-US"/>
              <a:t>累加休息次数：</a:t>
            </a:r>
            <a:r>
              <a:rPr lang="en-US" altLang="zh-CN"/>
              <a:t>ans += gap / a</a:t>
            </a:r>
            <a:r>
              <a:rPr lang="zh-CN" altLang="en-US"/>
              <a:t>；看看这个空窗期能容纳几个</a:t>
            </a:r>
            <a:r>
              <a:rPr lang="en-US" altLang="zh-CN"/>
              <a:t> a </a:t>
            </a:r>
            <a:r>
              <a:rPr lang="zh-CN" altLang="en-US"/>
              <a:t>分钟；</a:t>
            </a:r>
            <a:endParaRPr lang="zh-CN" altLang="en-US"/>
          </a:p>
          <a:p>
            <a:r>
              <a:rPr lang="en-US" altLang="zh-CN"/>
              <a:t>4.  </a:t>
            </a:r>
            <a:r>
              <a:rPr lang="zh-CN" altLang="en-US"/>
              <a:t>更新结束时间：</a:t>
            </a:r>
            <a:r>
              <a:rPr lang="en-US" altLang="zh-CN"/>
              <a:t>last = t + l</a:t>
            </a:r>
            <a:r>
              <a:rPr lang="zh-CN" altLang="en-US"/>
              <a:t>；当前客人服务完后，时间来到了</a:t>
            </a:r>
            <a:r>
              <a:rPr lang="en-US" altLang="zh-CN"/>
              <a:t>t + l</a:t>
            </a:r>
            <a:r>
              <a:rPr lang="zh-CN" altLang="en-US"/>
              <a:t>，这将是下一个空闲段的起点。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三、</a:t>
            </a:r>
            <a:r>
              <a:rPr lang="en-US" altLang="zh-CN"/>
              <a:t> </a:t>
            </a:r>
            <a:r>
              <a:rPr lang="zh-CN" altLang="en-US"/>
              <a:t>处理尾声与输出</a:t>
            </a:r>
            <a:endParaRPr lang="en-US" altLang="zh-CN"/>
          </a:p>
          <a:p>
            <a:r>
              <a:rPr lang="en-US" altLang="zh-CN"/>
              <a:t>1.  </a:t>
            </a:r>
            <a:r>
              <a:rPr lang="zh-CN" altLang="en-US"/>
              <a:t>循环结束后，所有客人都服务完了，但还没下班。</a:t>
            </a:r>
            <a:endParaRPr lang="zh-CN" altLang="en-US"/>
          </a:p>
          <a:p>
            <a:r>
              <a:rPr lang="en-US" altLang="zh-CN"/>
              <a:t>2.  </a:t>
            </a:r>
            <a:r>
              <a:rPr lang="zh-CN" altLang="en-US"/>
              <a:t>计算最后一段空闲：此时</a:t>
            </a:r>
            <a:r>
              <a:rPr lang="en-US" altLang="zh-CN"/>
              <a:t>last </a:t>
            </a:r>
            <a:r>
              <a:rPr lang="zh-CN" altLang="en-US"/>
              <a:t>是最后一位客人离开的时间，距离下班还有</a:t>
            </a:r>
            <a:r>
              <a:rPr lang="en-US" altLang="zh-CN"/>
              <a:t>L - last </a:t>
            </a:r>
            <a:r>
              <a:rPr lang="zh-CN" altLang="en-US"/>
              <a:t>分钟。</a:t>
            </a:r>
            <a:endParaRPr lang="zh-CN" altLang="en-US"/>
          </a:p>
          <a:p>
            <a:r>
              <a:rPr lang="en-US" altLang="zh-CN"/>
              <a:t>3.  </a:t>
            </a:r>
            <a:r>
              <a:rPr lang="zh-CN" altLang="en-US"/>
              <a:t>累加：</a:t>
            </a:r>
            <a:r>
              <a:rPr lang="en-US" altLang="zh-CN"/>
              <a:t>ans += (L - last) / a</a:t>
            </a:r>
            <a:r>
              <a:rPr lang="zh-CN" altLang="en-US"/>
              <a:t>；</a:t>
            </a:r>
            <a:endParaRPr lang="zh-CN" altLang="en-US"/>
          </a:p>
          <a:p>
            <a:r>
              <a:rPr lang="en-US" altLang="zh-CN"/>
              <a:t>4.  </a:t>
            </a:r>
            <a:r>
              <a:rPr lang="zh-CN" altLang="en-US"/>
              <a:t>输出最终的</a:t>
            </a:r>
            <a:r>
              <a:rPr lang="en-US" altLang="zh-CN"/>
              <a:t>ans</a:t>
            </a:r>
            <a:r>
              <a:rPr lang="zh-CN" altLang="en-US"/>
              <a:t>。</a:t>
            </a:r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19035" y="101327"/>
            <a:ext cx="3605067" cy="58356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lgDashDot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3-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用例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及运行结果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691871" y="1336675"/>
            <a:ext cx="10500129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>
                <a:sym typeface="+mn-ea"/>
              </a:rPr>
              <a:t>用例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：</a:t>
            </a:r>
            <a:r>
              <a:rPr lang="en-US" altLang="zh-CN" dirty="0">
                <a:sym typeface="+mn-ea"/>
              </a:rPr>
              <a:t> </a:t>
            </a:r>
            <a:endParaRPr lang="en-US" altLang="zh-CN" dirty="0">
              <a:sym typeface="+mn-ea"/>
            </a:endParaRPr>
          </a:p>
          <a:p>
            <a:r>
              <a:rPr lang="en-US" altLang="zh-CN" dirty="0">
                <a:sym typeface="+mn-ea"/>
              </a:rPr>
              <a:t>	2 11 3</a:t>
            </a:r>
            <a:endParaRPr lang="en-US" altLang="zh-CN" dirty="0">
              <a:sym typeface="+mn-ea"/>
            </a:endParaRPr>
          </a:p>
          <a:p>
            <a:pPr lvl="2"/>
            <a:r>
              <a:rPr lang="en-US" altLang="zh-CN" dirty="0">
                <a:sym typeface="+mn-ea"/>
              </a:rPr>
              <a:t>0 1</a:t>
            </a:r>
            <a:endParaRPr lang="en-US" altLang="zh-CN" dirty="0">
              <a:sym typeface="+mn-ea"/>
            </a:endParaRPr>
          </a:p>
          <a:p>
            <a:pPr lvl="2"/>
            <a:r>
              <a:rPr lang="en-US" altLang="zh-CN" dirty="0">
                <a:sym typeface="+mn-ea"/>
              </a:rPr>
              <a:t>1 1</a:t>
            </a:r>
            <a:endParaRPr lang="en-US" altLang="zh-CN" dirty="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691640" y="4295140"/>
            <a:ext cx="350139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用例</a:t>
            </a:r>
            <a:r>
              <a:rPr lang="en-US" altLang="zh-CN"/>
              <a:t>2</a:t>
            </a:r>
            <a:r>
              <a:rPr lang="zh-CN" altLang="en-US"/>
              <a:t>：</a:t>
            </a:r>
            <a:endParaRPr lang="zh-CN" altLang="en-US"/>
          </a:p>
          <a:p>
            <a:r>
              <a:rPr lang="en-US" altLang="zh-CN"/>
              <a:t>	5 2</a:t>
            </a:r>
            <a:endParaRPr lang="en-US" altLang="zh-CN"/>
          </a:p>
          <a:p>
            <a:pPr marL="457200" lvl="1" indent="457200"/>
            <a:r>
              <a:rPr lang="en-US" altLang="zh-CN"/>
              <a:t>1 5 10 19 25</a:t>
            </a:r>
            <a:endParaRPr lang="en-US" altLang="zh-CN"/>
          </a:p>
          <a:p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1035050" y="6233160"/>
            <a:ext cx="103384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(</a:t>
            </a:r>
            <a:r>
              <a:rPr lang="zh-CN" altLang="en-US"/>
              <a:t>在</a:t>
            </a:r>
            <a:r>
              <a:rPr lang="en-US" altLang="zh-CN"/>
              <a:t>C</a:t>
            </a:r>
            <a:r>
              <a:rPr lang="zh-CN" altLang="en-US"/>
              <a:t>盘存储并运行代码和存储目录包含中文是不规范的</a:t>
            </a:r>
            <a:r>
              <a:rPr lang="en-US" altLang="zh-CN"/>
              <a:t>,</a:t>
            </a:r>
            <a:r>
              <a:rPr lang="zh-CN" altLang="en-US"/>
              <a:t>建议在</a:t>
            </a:r>
            <a:r>
              <a:rPr lang="en-US" altLang="zh-CN"/>
              <a:t>D </a:t>
            </a:r>
            <a:r>
              <a:rPr lang="zh-CN" altLang="en-US"/>
              <a:t>盘新建一个文件保存代码</a:t>
            </a:r>
            <a:r>
              <a:rPr lang="en-US" altLang="zh-CN"/>
              <a:t>)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2140" y="1336675"/>
            <a:ext cx="3814445" cy="173863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2140" y="3954145"/>
            <a:ext cx="3975735" cy="15398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118745" y="142875"/>
            <a:ext cx="7308215" cy="58356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lgDashDot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3200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问题-</a:t>
            </a:r>
            <a:r>
              <a:rPr lang="zh-CN" altLang="en-US" sz="3200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松雅的新旅馆</a:t>
            </a:r>
            <a:endParaRPr lang="zh-CN" altLang="en-US" sz="3200" b="1" dirty="0" err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882015"/>
            <a:ext cx="7515860" cy="585914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9035" y="142890"/>
            <a:ext cx="4487890" cy="58356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lgDashDot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4-思路分析及原理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49630" y="1137920"/>
            <a:ext cx="9766300" cy="5015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/>
              <a:t>1.  </a:t>
            </a:r>
            <a:r>
              <a:rPr lang="zh-CN" altLang="en-US" sz="1600"/>
              <a:t>数据预处理（排序）</a:t>
            </a:r>
            <a:endParaRPr lang="en-US" altLang="zh-CN" sz="1600"/>
          </a:p>
          <a:p>
            <a:r>
              <a:rPr lang="en-US" altLang="zh-CN" sz="1600"/>
              <a:t>    </a:t>
            </a:r>
            <a:r>
              <a:rPr lang="zh-CN" altLang="en-US" sz="1600"/>
              <a:t>题目提示</a:t>
            </a:r>
            <a:r>
              <a:rPr lang="en-US" altLang="zh-CN" sz="1600"/>
              <a:t>“</a:t>
            </a:r>
            <a:r>
              <a:rPr lang="zh-CN" altLang="en-US" sz="1600"/>
              <a:t>输入的相邻</a:t>
            </a:r>
            <a:r>
              <a:rPr lang="en-US" altLang="zh-CN" sz="1600"/>
              <a:t> x_i </a:t>
            </a:r>
            <a:r>
              <a:rPr lang="zh-CN" altLang="en-US" sz="1600"/>
              <a:t>之间的大小关系不确定</a:t>
            </a:r>
            <a:r>
              <a:rPr lang="en-US" altLang="zh-CN" sz="1600"/>
              <a:t>”</a:t>
            </a:r>
            <a:r>
              <a:rPr lang="zh-CN" altLang="en-US" sz="1600"/>
              <a:t>，因此第一步必须根据建筑的中心坐标</a:t>
            </a:r>
            <a:r>
              <a:rPr lang="en-US" altLang="zh-CN" sz="1600"/>
              <a:t> x_i </a:t>
            </a:r>
            <a:r>
              <a:rPr lang="zh-CN" altLang="en-US" sz="1600"/>
              <a:t>对所有建筑进行</a:t>
            </a:r>
            <a:r>
              <a:rPr lang="zh-CN" altLang="en-US" sz="1600"/>
              <a:t>从小到大排序</a:t>
            </a:r>
            <a:r>
              <a:rPr lang="zh-CN" altLang="en-US" sz="1600"/>
              <a:t>。这样我们才能按顺序处理相邻建筑之间的空隙。</a:t>
            </a:r>
            <a:endParaRPr lang="zh-CN" altLang="en-US" sz="1600"/>
          </a:p>
          <a:p>
            <a:endParaRPr lang="en-US" altLang="zh-CN" sz="1600"/>
          </a:p>
          <a:p>
            <a:r>
              <a:rPr lang="en-US" altLang="zh-CN" sz="1600"/>
              <a:t>2.  </a:t>
            </a:r>
            <a:r>
              <a:rPr lang="zh-CN" altLang="en-US" sz="1600"/>
              <a:t>区间边界计算</a:t>
            </a:r>
            <a:endParaRPr lang="en-US" altLang="zh-CN" sz="1600"/>
          </a:p>
          <a:p>
            <a:r>
              <a:rPr lang="en-US" altLang="zh-CN" sz="1600"/>
              <a:t>    </a:t>
            </a:r>
            <a:r>
              <a:rPr lang="zh-CN" altLang="en-US" sz="1600"/>
              <a:t>对于第</a:t>
            </a:r>
            <a:r>
              <a:rPr lang="en-US" altLang="zh-CN" sz="1600"/>
              <a:t> i </a:t>
            </a:r>
            <a:r>
              <a:rPr lang="zh-CN" altLang="en-US" sz="1600"/>
              <a:t>个建筑（中心</a:t>
            </a:r>
            <a:r>
              <a:rPr lang="en-US" altLang="zh-CN" sz="1600"/>
              <a:t> x_i</a:t>
            </a:r>
            <a:r>
              <a:rPr lang="zh-CN" altLang="en-US" sz="1600"/>
              <a:t>，宽</a:t>
            </a:r>
            <a:r>
              <a:rPr lang="en-US" altLang="zh-CN" sz="1600"/>
              <a:t> a_i</a:t>
            </a:r>
            <a:r>
              <a:rPr lang="zh-CN" altLang="en-US" sz="1600"/>
              <a:t>）：</a:t>
            </a:r>
            <a:endParaRPr lang="zh-CN" altLang="en-US" sz="1600"/>
          </a:p>
          <a:p>
            <a:r>
              <a:rPr lang="en-US" altLang="zh-CN" sz="1600"/>
              <a:t>       </a:t>
            </a:r>
            <a:r>
              <a:rPr lang="zh-CN" altLang="en-US" sz="1600"/>
              <a:t>它的右边界坐标为：</a:t>
            </a:r>
            <a:r>
              <a:rPr lang="en-US" altLang="zh-CN" sz="1600"/>
              <a:t>Right_i = x_i + a_i / 2.0</a:t>
            </a:r>
            <a:endParaRPr lang="en-US" altLang="zh-CN" sz="1600"/>
          </a:p>
          <a:p>
            <a:r>
              <a:rPr lang="en-US" altLang="zh-CN" sz="1600"/>
              <a:t>       </a:t>
            </a:r>
            <a:r>
              <a:rPr lang="zh-CN" altLang="en-US" sz="1600"/>
              <a:t>它的左边界坐标为：</a:t>
            </a:r>
            <a:r>
              <a:rPr lang="en-US" altLang="zh-CN" sz="1600"/>
              <a:t>Left_i = x_i - a_i / 2.0</a:t>
            </a:r>
            <a:endParaRPr lang="en-US" altLang="zh-CN" sz="1600"/>
          </a:p>
          <a:p>
            <a:r>
              <a:rPr lang="en-US" altLang="zh-CN" sz="1600"/>
              <a:t>       </a:t>
            </a:r>
            <a:r>
              <a:rPr lang="zh-CN" altLang="en-US" sz="1600"/>
              <a:t>注意</a:t>
            </a:r>
            <a:r>
              <a:rPr lang="zh-CN" altLang="en-US" sz="1600"/>
              <a:t>：因为</a:t>
            </a:r>
            <a:r>
              <a:rPr lang="en-US" altLang="zh-CN" sz="1600"/>
              <a:t> a_i </a:t>
            </a:r>
            <a:r>
              <a:rPr lang="zh-CN" altLang="en-US" sz="1600"/>
              <a:t>可能是奇数，除以</a:t>
            </a:r>
            <a:r>
              <a:rPr lang="en-US" altLang="zh-CN" sz="1600"/>
              <a:t>2</a:t>
            </a:r>
            <a:r>
              <a:rPr lang="zh-CN" altLang="en-US" sz="1600"/>
              <a:t>会产生</a:t>
            </a:r>
            <a:r>
              <a:rPr lang="en-US" altLang="zh-CN" sz="1600"/>
              <a:t>0.5</a:t>
            </a:r>
            <a:r>
              <a:rPr lang="zh-CN" altLang="en-US" sz="1600"/>
              <a:t>，为了避免整数除法丢失精度，计算时建议使用</a:t>
            </a:r>
            <a:r>
              <a:rPr lang="en-US" altLang="zh-CN" sz="1600"/>
              <a:t> double </a:t>
            </a:r>
            <a:r>
              <a:rPr lang="zh-CN" altLang="en-US" sz="1600"/>
              <a:t>类型或者将所有数据乘以</a:t>
            </a:r>
            <a:r>
              <a:rPr lang="en-US" altLang="zh-CN" sz="1600"/>
              <a:t>2</a:t>
            </a:r>
            <a:r>
              <a:rPr lang="zh-CN" altLang="en-US" sz="1600"/>
              <a:t>处理。</a:t>
            </a:r>
            <a:endParaRPr lang="zh-CN" altLang="en-US" sz="1600"/>
          </a:p>
          <a:p>
            <a:endParaRPr lang="en-US" altLang="zh-CN" sz="1600"/>
          </a:p>
          <a:p>
            <a:r>
              <a:rPr lang="en-US" altLang="zh-CN" sz="1600"/>
              <a:t>3.  </a:t>
            </a:r>
            <a:r>
              <a:rPr lang="zh-CN" altLang="en-US" sz="1600"/>
              <a:t>核心逻辑：检查空隙</a:t>
            </a:r>
            <a:r>
              <a:rPr lang="en-US" altLang="zh-CN" sz="1600"/>
              <a:t> (Gap)</a:t>
            </a:r>
            <a:endParaRPr lang="en-US" altLang="zh-CN" sz="1600"/>
          </a:p>
          <a:p>
            <a:r>
              <a:rPr lang="en-US" altLang="zh-CN" sz="1600"/>
              <a:t>    </a:t>
            </a:r>
            <a:r>
              <a:rPr lang="zh-CN" altLang="en-US" sz="1600"/>
              <a:t>旅馆必须挨着现有建筑，所以潜在的建造位置只有两类：</a:t>
            </a:r>
            <a:endParaRPr lang="zh-CN" altLang="en-US" sz="1600"/>
          </a:p>
          <a:p>
            <a:r>
              <a:rPr lang="en-US" altLang="zh-CN" sz="1600"/>
              <a:t>       </a:t>
            </a:r>
            <a:r>
              <a:rPr lang="zh-CN" altLang="en-US" sz="1600"/>
              <a:t>最左侧和最右侧</a:t>
            </a:r>
            <a:r>
              <a:rPr lang="zh-CN" altLang="en-US" sz="1600"/>
              <a:t>：第</a:t>
            </a:r>
            <a:r>
              <a:rPr lang="en-US" altLang="zh-CN" sz="1600"/>
              <a:t>1</a:t>
            </a:r>
            <a:r>
              <a:rPr lang="zh-CN" altLang="en-US" sz="1600"/>
              <a:t>个建筑的左边永远可以建（无限空间），第</a:t>
            </a:r>
            <a:r>
              <a:rPr lang="en-US" altLang="zh-CN" sz="1600"/>
              <a:t> n </a:t>
            </a:r>
            <a:r>
              <a:rPr lang="zh-CN" altLang="en-US" sz="1600"/>
              <a:t>个建筑的右边永远可以建。所以初始计数</a:t>
            </a:r>
            <a:r>
              <a:rPr lang="en-US" altLang="zh-CN" sz="1600"/>
              <a:t> ans = 2</a:t>
            </a:r>
            <a:r>
              <a:rPr lang="zh-CN" altLang="en-US" sz="1600"/>
              <a:t>。</a:t>
            </a:r>
            <a:endParaRPr lang="zh-CN" altLang="en-US" sz="1600"/>
          </a:p>
          <a:p>
            <a:r>
              <a:rPr lang="en-US" altLang="zh-CN" sz="1600"/>
              <a:t>       </a:t>
            </a:r>
            <a:r>
              <a:rPr lang="zh-CN" altLang="en-US" sz="1600"/>
              <a:t>两座建筑之间</a:t>
            </a:r>
            <a:r>
              <a:rPr lang="zh-CN" altLang="en-US" sz="1600"/>
              <a:t>：对于相邻的建筑</a:t>
            </a:r>
            <a:r>
              <a:rPr lang="en-US" altLang="zh-CN" sz="1600"/>
              <a:t> i and i+1</a:t>
            </a:r>
            <a:r>
              <a:rPr lang="zh-CN" altLang="en-US" sz="1600"/>
              <a:t>，计算它们之间的空隙长度</a:t>
            </a:r>
            <a:r>
              <a:rPr lang="en-US" altLang="zh-CN" sz="1600"/>
              <a:t> Gap = Left_{i+1} - Right_i</a:t>
            </a:r>
            <a:r>
              <a:rPr lang="zh-CN" altLang="en-US" sz="1600"/>
              <a:t>。</a:t>
            </a:r>
            <a:endParaRPr lang="zh-CN" altLang="en-US" sz="1600"/>
          </a:p>
          <a:p>
            <a:r>
              <a:rPr lang="en-US" altLang="zh-CN" sz="1600"/>
              <a:t>           </a:t>
            </a:r>
            <a:r>
              <a:rPr lang="zh-CN" altLang="en-US" sz="1600"/>
              <a:t>若</a:t>
            </a:r>
            <a:r>
              <a:rPr lang="en-US" altLang="zh-CN" sz="1600"/>
              <a:t> Gap &gt; t</a:t>
            </a:r>
            <a:r>
              <a:rPr lang="zh-CN" altLang="en-US" sz="1600"/>
              <a:t>：空隙足够大，既可以贴着左边建筑建，也可以贴着右边建筑建（且互不重叠），位置数</a:t>
            </a:r>
            <a:r>
              <a:rPr lang="en-US" altLang="zh-CN" sz="1600"/>
              <a:t> +2</a:t>
            </a:r>
            <a:r>
              <a:rPr lang="zh-CN" altLang="en-US" sz="1600"/>
              <a:t>。</a:t>
            </a:r>
            <a:endParaRPr lang="zh-CN" altLang="en-US" sz="1600"/>
          </a:p>
          <a:p>
            <a:r>
              <a:rPr lang="en-US" altLang="zh-CN" sz="1600"/>
              <a:t>           </a:t>
            </a:r>
            <a:r>
              <a:rPr lang="zh-CN" altLang="en-US" sz="1600"/>
              <a:t>若</a:t>
            </a:r>
            <a:r>
              <a:rPr lang="en-US" altLang="zh-CN" sz="1600"/>
              <a:t> Gap == t</a:t>
            </a:r>
            <a:r>
              <a:rPr lang="zh-CN" altLang="en-US" sz="1600"/>
              <a:t>：空隙刚好塞进一个旅馆，它同时贴着两边的建筑，位置数</a:t>
            </a:r>
            <a:r>
              <a:rPr lang="en-US" altLang="zh-CN" sz="1600"/>
              <a:t> +1</a:t>
            </a:r>
            <a:r>
              <a:rPr lang="zh-CN" altLang="en-US" sz="1600"/>
              <a:t>。</a:t>
            </a:r>
            <a:endParaRPr lang="zh-CN" altLang="en-US" sz="1600"/>
          </a:p>
          <a:p>
            <a:r>
              <a:rPr lang="en-US" altLang="zh-CN" sz="1600"/>
              <a:t>           </a:t>
            </a:r>
            <a:r>
              <a:rPr lang="zh-CN" altLang="en-US" sz="1600"/>
              <a:t>若</a:t>
            </a:r>
            <a:r>
              <a:rPr lang="en-US" altLang="zh-CN" sz="1600"/>
              <a:t> Gap &lt; t</a:t>
            </a:r>
            <a:r>
              <a:rPr lang="zh-CN" altLang="en-US" sz="1600"/>
              <a:t>：空隙太小，塞不进旅馆，位置数</a:t>
            </a:r>
            <a:r>
              <a:rPr lang="en-US" altLang="zh-CN" sz="1600"/>
              <a:t> +0</a:t>
            </a:r>
            <a:r>
              <a:rPr lang="zh-CN" altLang="en-US" sz="1600"/>
              <a:t>。</a:t>
            </a:r>
            <a:endParaRPr lang="zh-CN" altLang="en-US" sz="16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18745" y="101600"/>
            <a:ext cx="4168775" cy="58356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lgDashDot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4-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代码逐行讲解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91210" y="1449070"/>
            <a:ext cx="8618220" cy="46075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700"/>
              <a:t>一、</a:t>
            </a:r>
            <a:r>
              <a:rPr lang="en-US" altLang="zh-CN" sz="1700"/>
              <a:t> </a:t>
            </a:r>
            <a:r>
              <a:rPr lang="zh-CN" altLang="en-US" sz="1700"/>
              <a:t>结构体与排序</a:t>
            </a:r>
            <a:endParaRPr lang="en-US" altLang="zh-CN" sz="1700"/>
          </a:p>
          <a:p>
            <a:r>
              <a:rPr lang="en-US" altLang="zh-CN" sz="1700"/>
              <a:t>1.  </a:t>
            </a:r>
            <a:r>
              <a:rPr lang="zh-CN" altLang="en-US" sz="1700"/>
              <a:t>定义结构体</a:t>
            </a:r>
            <a:r>
              <a:rPr lang="en-US" altLang="zh-CN" sz="1700"/>
              <a:t> Building </a:t>
            </a:r>
            <a:r>
              <a:rPr lang="zh-CN" altLang="en-US" sz="1700"/>
              <a:t>包含</a:t>
            </a:r>
            <a:r>
              <a:rPr lang="en-US" altLang="zh-CN" sz="1700"/>
              <a:t> x </a:t>
            </a:r>
            <a:r>
              <a:rPr lang="zh-CN" altLang="en-US" sz="1700"/>
              <a:t>和</a:t>
            </a:r>
            <a:r>
              <a:rPr lang="en-US" altLang="zh-CN" sz="1700"/>
              <a:t> a</a:t>
            </a:r>
            <a:r>
              <a:rPr lang="zh-CN" altLang="en-US" sz="1700"/>
              <a:t>；</a:t>
            </a:r>
            <a:endParaRPr lang="zh-CN" altLang="en-US" sz="1700"/>
          </a:p>
          <a:p>
            <a:r>
              <a:rPr lang="en-US" altLang="zh-CN" sz="1700"/>
              <a:t>2.  </a:t>
            </a:r>
            <a:r>
              <a:rPr lang="zh-CN" altLang="en-US" sz="1700"/>
              <a:t>编写</a:t>
            </a:r>
            <a:r>
              <a:rPr lang="en-US" altLang="zh-CN" sz="1700"/>
              <a:t> cmp </a:t>
            </a:r>
            <a:r>
              <a:rPr lang="zh-CN" altLang="en-US" sz="1700"/>
              <a:t>函数，按中心坐标</a:t>
            </a:r>
            <a:r>
              <a:rPr lang="en-US" altLang="zh-CN" sz="1700"/>
              <a:t> x </a:t>
            </a:r>
            <a:r>
              <a:rPr lang="zh-CN" altLang="en-US" sz="1700"/>
              <a:t>升序排列；</a:t>
            </a:r>
            <a:endParaRPr lang="zh-CN" altLang="en-US" sz="1700"/>
          </a:p>
          <a:p>
            <a:r>
              <a:rPr lang="en-US" altLang="zh-CN" sz="1700"/>
              <a:t>3.  </a:t>
            </a:r>
            <a:r>
              <a:rPr lang="zh-CN" altLang="en-US" sz="1700"/>
              <a:t>在</a:t>
            </a:r>
            <a:r>
              <a:rPr lang="en-US" altLang="zh-CN" sz="1700"/>
              <a:t> main </a:t>
            </a:r>
            <a:r>
              <a:rPr lang="zh-CN" altLang="en-US" sz="1700"/>
              <a:t>中读取数据并调用</a:t>
            </a:r>
            <a:r>
              <a:rPr lang="en-US" altLang="zh-CN" sz="1700"/>
              <a:t> sort</a:t>
            </a:r>
            <a:r>
              <a:rPr lang="zh-CN" altLang="en-US" sz="1700"/>
              <a:t>。</a:t>
            </a:r>
            <a:endParaRPr lang="zh-CN" altLang="en-US" sz="1700"/>
          </a:p>
          <a:p>
            <a:endParaRPr lang="en-US" altLang="zh-CN" sz="1700"/>
          </a:p>
          <a:p>
            <a:r>
              <a:rPr lang="zh-CN" altLang="en-US" sz="1700"/>
              <a:t>二、</a:t>
            </a:r>
            <a:r>
              <a:rPr lang="en-US" altLang="zh-CN" sz="1700"/>
              <a:t> </a:t>
            </a:r>
            <a:r>
              <a:rPr lang="zh-CN" altLang="en-US" sz="1700"/>
              <a:t>遍历与统计</a:t>
            </a:r>
            <a:endParaRPr lang="en-US" altLang="zh-CN" sz="1700"/>
          </a:p>
          <a:p>
            <a:r>
              <a:rPr lang="en-US" altLang="zh-CN" sz="1700"/>
              <a:t>1.  </a:t>
            </a:r>
            <a:r>
              <a:rPr lang="zh-CN" altLang="en-US" sz="1700"/>
              <a:t>初始化</a:t>
            </a:r>
            <a:r>
              <a:rPr lang="en-US" altLang="zh-CN" sz="1700"/>
              <a:t> ans = 2</a:t>
            </a:r>
            <a:r>
              <a:rPr lang="zh-CN" altLang="en-US" sz="1700"/>
              <a:t>（代表最左端和最右端肯定各有一个解）；</a:t>
            </a:r>
            <a:endParaRPr lang="zh-CN" altLang="en-US" sz="1700"/>
          </a:p>
          <a:p>
            <a:r>
              <a:rPr lang="en-US" altLang="zh-CN" sz="1700"/>
              <a:t>2.  </a:t>
            </a:r>
            <a:r>
              <a:rPr lang="zh-CN" altLang="en-US" sz="1700"/>
              <a:t>使用</a:t>
            </a:r>
            <a:r>
              <a:rPr lang="en-US" altLang="zh-CN" sz="1700"/>
              <a:t> for </a:t>
            </a:r>
            <a:r>
              <a:rPr lang="zh-CN" altLang="en-US" sz="1700"/>
              <a:t>循环遍历从第</a:t>
            </a:r>
            <a:r>
              <a:rPr lang="en-US" altLang="zh-CN" sz="1700"/>
              <a:t> 0 </a:t>
            </a:r>
            <a:r>
              <a:rPr lang="zh-CN" altLang="en-US" sz="1700"/>
              <a:t>个到第</a:t>
            </a:r>
            <a:r>
              <a:rPr lang="en-US" altLang="zh-CN" sz="1700"/>
              <a:t> n-2 </a:t>
            </a:r>
            <a:r>
              <a:rPr lang="zh-CN" altLang="en-US" sz="1700"/>
              <a:t>个建筑（即检查每一对相邻建筑</a:t>
            </a:r>
            <a:r>
              <a:rPr lang="en-US" altLang="zh-CN" sz="1700"/>
              <a:t> i </a:t>
            </a:r>
            <a:r>
              <a:rPr lang="zh-CN" altLang="en-US" sz="1700"/>
              <a:t>和</a:t>
            </a:r>
            <a:r>
              <a:rPr lang="en-US" altLang="zh-CN" sz="1700"/>
              <a:t> i+1</a:t>
            </a:r>
            <a:r>
              <a:rPr lang="zh-CN" altLang="en-US" sz="1700"/>
              <a:t>）；</a:t>
            </a:r>
            <a:endParaRPr lang="zh-CN" altLang="en-US" sz="1700"/>
          </a:p>
          <a:p>
            <a:r>
              <a:rPr lang="en-US" altLang="zh-CN" sz="1700"/>
              <a:t>3.  </a:t>
            </a:r>
            <a:r>
              <a:rPr lang="zh-CN" altLang="en-US" sz="1700"/>
              <a:t>计算距离：</a:t>
            </a:r>
            <a:endParaRPr lang="zh-CN" altLang="en-US" sz="1700"/>
          </a:p>
          <a:p>
            <a:r>
              <a:rPr lang="en-US" altLang="zh-CN" sz="1700"/>
              <a:t>       double right_prev = b[i].x + b[i].a / 2.0; </a:t>
            </a:r>
            <a:r>
              <a:rPr lang="zh-CN" altLang="en-US" sz="1700"/>
              <a:t>（前一个建筑的右墙）</a:t>
            </a:r>
            <a:endParaRPr lang="zh-CN" altLang="en-US" sz="1700"/>
          </a:p>
          <a:p>
            <a:r>
              <a:rPr lang="en-US" altLang="zh-CN" sz="1700"/>
              <a:t>       double left_next = b[i+1].x - b[i+1].a / 2.0; </a:t>
            </a:r>
            <a:r>
              <a:rPr lang="zh-CN" altLang="en-US" sz="1700"/>
              <a:t>（后一个建筑的左墙）</a:t>
            </a:r>
            <a:endParaRPr lang="zh-CN" altLang="en-US" sz="1700"/>
          </a:p>
          <a:p>
            <a:r>
              <a:rPr lang="en-US" altLang="zh-CN" sz="1700"/>
              <a:t>       double gap = left_next - right_prev;</a:t>
            </a:r>
            <a:endParaRPr lang="en-US" altLang="zh-CN" sz="1700"/>
          </a:p>
          <a:p>
            <a:r>
              <a:rPr lang="en-US" altLang="zh-CN" sz="1700"/>
              <a:t>4.  </a:t>
            </a:r>
            <a:r>
              <a:rPr lang="zh-CN" altLang="en-US" sz="1700"/>
              <a:t>判断条件：</a:t>
            </a:r>
            <a:endParaRPr lang="zh-CN" altLang="en-US" sz="1700"/>
          </a:p>
          <a:p>
            <a:r>
              <a:rPr lang="en-US" altLang="zh-CN" sz="1700"/>
              <a:t>       if (gap &gt; t) ans += 2;</a:t>
            </a:r>
            <a:endParaRPr lang="en-US" altLang="zh-CN" sz="1700"/>
          </a:p>
          <a:p>
            <a:r>
              <a:rPr lang="en-US" altLang="zh-CN" sz="1700"/>
              <a:t>       else if (gap == t) ans++;</a:t>
            </a:r>
            <a:endParaRPr lang="en-US" altLang="zh-CN" sz="1700"/>
          </a:p>
          <a:p>
            <a:r>
              <a:rPr lang="en-US" altLang="zh-CN" sz="1700"/>
              <a:t>       </a:t>
            </a:r>
            <a:r>
              <a:rPr lang="zh-CN" altLang="en-US" sz="1700"/>
              <a:t>注意：浮点数比较相等通常用差值小于极小值（如</a:t>
            </a:r>
            <a:r>
              <a:rPr lang="en-US" altLang="zh-CN" sz="1700"/>
              <a:t>1e-9</a:t>
            </a:r>
            <a:r>
              <a:rPr lang="zh-CN" altLang="en-US" sz="1700"/>
              <a:t>）判断，但本题数据较整，直接</a:t>
            </a:r>
            <a:r>
              <a:rPr lang="en-US" altLang="zh-CN" sz="1700"/>
              <a:t> == </a:t>
            </a:r>
            <a:r>
              <a:rPr lang="zh-CN" altLang="en-US" sz="1700"/>
              <a:t>或计算时乘</a:t>
            </a:r>
            <a:r>
              <a:rPr lang="en-US" altLang="zh-CN" sz="1700"/>
              <a:t>2</a:t>
            </a:r>
            <a:r>
              <a:rPr lang="zh-CN" altLang="en-US" sz="1700"/>
              <a:t>转整数通过率也高。最稳妥是</a:t>
            </a:r>
            <a:r>
              <a:rPr lang="en-US" altLang="zh-CN" sz="1700"/>
              <a:t> abs(gap - t) &lt; 1e-9</a:t>
            </a:r>
            <a:r>
              <a:rPr lang="zh-CN" altLang="en-US" sz="1700"/>
              <a:t>。</a:t>
            </a:r>
            <a:endParaRPr lang="zh-CN" altLang="en-US" sz="17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19035" y="101327"/>
            <a:ext cx="3605067" cy="58356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lgDashDot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4-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用例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及运行结果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691871" y="1336675"/>
            <a:ext cx="10500129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>
                <a:sym typeface="+mn-ea"/>
              </a:rPr>
              <a:t>用例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：</a:t>
            </a:r>
            <a:r>
              <a:rPr lang="en-US" altLang="zh-CN" dirty="0">
                <a:sym typeface="+mn-ea"/>
              </a:rPr>
              <a:t> </a:t>
            </a:r>
            <a:endParaRPr lang="en-US" altLang="zh-CN" dirty="0">
              <a:sym typeface="+mn-ea"/>
            </a:endParaRPr>
          </a:p>
          <a:p>
            <a:r>
              <a:rPr lang="en-US" altLang="zh-CN" dirty="0">
                <a:sym typeface="+mn-ea"/>
              </a:rPr>
              <a:t>	2 2</a:t>
            </a:r>
            <a:endParaRPr lang="en-US" altLang="zh-CN" dirty="0">
              <a:sym typeface="+mn-ea"/>
            </a:endParaRPr>
          </a:p>
          <a:p>
            <a:pPr indent="457200"/>
            <a:r>
              <a:rPr lang="en-US" altLang="zh-CN" dirty="0">
                <a:sym typeface="+mn-ea"/>
              </a:rPr>
              <a:t>0 4</a:t>
            </a:r>
            <a:endParaRPr lang="en-US" altLang="zh-CN" dirty="0">
              <a:sym typeface="+mn-ea"/>
            </a:endParaRPr>
          </a:p>
          <a:p>
            <a:pPr indent="457200"/>
            <a:r>
              <a:rPr lang="en-US" altLang="zh-CN" dirty="0">
                <a:sym typeface="+mn-ea"/>
              </a:rPr>
              <a:t>6 2</a:t>
            </a:r>
            <a:endParaRPr lang="en-US" altLang="zh-CN" dirty="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691640" y="4295140"/>
            <a:ext cx="350139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用例</a:t>
            </a:r>
            <a:r>
              <a:rPr lang="en-US" altLang="zh-CN"/>
              <a:t>2</a:t>
            </a:r>
            <a:r>
              <a:rPr lang="zh-CN" altLang="en-US"/>
              <a:t>：</a:t>
            </a:r>
            <a:endParaRPr lang="zh-CN" altLang="en-US"/>
          </a:p>
          <a:p>
            <a:r>
              <a:rPr lang="en-US" altLang="zh-CN"/>
              <a:t>	2 2</a:t>
            </a:r>
            <a:endParaRPr lang="en-US" altLang="zh-CN"/>
          </a:p>
          <a:p>
            <a:pPr lvl="2"/>
            <a:r>
              <a:rPr lang="en-US" altLang="zh-CN"/>
              <a:t>0 4</a:t>
            </a:r>
            <a:endParaRPr lang="en-US" altLang="zh-CN"/>
          </a:p>
          <a:p>
            <a:pPr lvl="2"/>
            <a:r>
              <a:rPr lang="en-US" altLang="zh-CN"/>
              <a:t>5 2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1035050" y="6233160"/>
            <a:ext cx="103384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(</a:t>
            </a:r>
            <a:r>
              <a:rPr lang="zh-CN" altLang="en-US"/>
              <a:t>在</a:t>
            </a:r>
            <a:r>
              <a:rPr lang="en-US" altLang="zh-CN"/>
              <a:t>C</a:t>
            </a:r>
            <a:r>
              <a:rPr lang="zh-CN" altLang="en-US"/>
              <a:t>盘存储并运行代码和存储目录包含中文是不规范的</a:t>
            </a:r>
            <a:r>
              <a:rPr lang="en-US" altLang="zh-CN"/>
              <a:t>,</a:t>
            </a:r>
            <a:r>
              <a:rPr lang="zh-CN" altLang="en-US"/>
              <a:t>建议在</a:t>
            </a:r>
            <a:r>
              <a:rPr lang="en-US" altLang="zh-CN"/>
              <a:t>D </a:t>
            </a:r>
            <a:r>
              <a:rPr lang="zh-CN" altLang="en-US"/>
              <a:t>盘新建一个文件保存代码</a:t>
            </a:r>
            <a:r>
              <a:rPr lang="en-US" altLang="zh-CN"/>
              <a:t>)</a:t>
            </a:r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6090" y="1336675"/>
            <a:ext cx="4158615" cy="192214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6090" y="3932555"/>
            <a:ext cx="4158615" cy="18669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19035" y="142890"/>
            <a:ext cx="4487890" cy="58356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lgDashDot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小班</a:t>
            </a:r>
            <a:r>
              <a:rPr lang="en-US" altLang="zh-CN" sz="3200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分析与总结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92810" y="815340"/>
            <a:ext cx="9084310" cy="58845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1700"/>
              <a:t>1.  </a:t>
            </a:r>
            <a:r>
              <a:rPr lang="zh-CN" altLang="en-US" sz="1700"/>
              <a:t>理论基础的巩固</a:t>
            </a:r>
            <a:r>
              <a:rPr lang="en-US" altLang="zh-CN" sz="1700"/>
              <a:t> (OOP)</a:t>
            </a:r>
            <a:endParaRPr lang="en-US" altLang="zh-CN" sz="1700"/>
          </a:p>
          <a:p>
            <a:pPr indent="0" fontAlgn="auto">
              <a:lnSpc>
                <a:spcPct val="150000"/>
              </a:lnSpc>
            </a:pPr>
            <a:r>
              <a:rPr lang="en-US" altLang="zh-CN" sz="1700"/>
              <a:t>    </a:t>
            </a:r>
            <a:r>
              <a:rPr lang="zh-CN" altLang="en-US" sz="1700"/>
              <a:t>通过选择题的辨析，我们再次明确了面向对象设计中</a:t>
            </a:r>
            <a:r>
              <a:rPr lang="zh-CN" altLang="en-US" sz="1700"/>
              <a:t>继承</a:t>
            </a:r>
            <a:r>
              <a:rPr lang="en-US" altLang="zh-CN" sz="1700"/>
              <a:t> (Is-a) </a:t>
            </a:r>
            <a:r>
              <a:rPr lang="zh-CN" altLang="en-US" sz="1700"/>
              <a:t>与</a:t>
            </a:r>
            <a:r>
              <a:rPr lang="en-US" altLang="zh-CN" sz="1700"/>
              <a:t> </a:t>
            </a:r>
            <a:r>
              <a:rPr lang="zh-CN" altLang="en-US" sz="1700"/>
              <a:t>组合</a:t>
            </a:r>
            <a:r>
              <a:rPr lang="en-US" altLang="zh-CN" sz="1700"/>
              <a:t> (Has-a) </a:t>
            </a:r>
            <a:r>
              <a:rPr lang="zh-CN" altLang="en-US" sz="1700"/>
              <a:t>的逻辑区别，避免设计上的误区；同时深入理解了</a:t>
            </a:r>
            <a:r>
              <a:rPr lang="en-US" altLang="zh-CN" sz="1700"/>
              <a:t> protected </a:t>
            </a:r>
            <a:r>
              <a:rPr lang="zh-CN" altLang="en-US" sz="1700"/>
              <a:t>关键字在继承体系中</a:t>
            </a:r>
            <a:r>
              <a:rPr lang="en-US" altLang="zh-CN" sz="1700"/>
              <a:t>“</a:t>
            </a:r>
            <a:r>
              <a:rPr lang="zh-CN" altLang="en-US" sz="1700"/>
              <a:t>承上启下</a:t>
            </a:r>
            <a:r>
              <a:rPr lang="en-US" altLang="zh-CN" sz="1700"/>
              <a:t>”</a:t>
            </a:r>
            <a:r>
              <a:rPr lang="zh-CN" altLang="en-US" sz="1700"/>
              <a:t>的特殊作用，为后续编写复杂的类结构打下基础。</a:t>
            </a:r>
            <a:endParaRPr lang="zh-CN" altLang="en-US" sz="1700"/>
          </a:p>
          <a:p>
            <a:pPr indent="0" fontAlgn="auto">
              <a:lnSpc>
                <a:spcPct val="150000"/>
              </a:lnSpc>
            </a:pPr>
            <a:endParaRPr lang="en-US" altLang="zh-CN" sz="1700"/>
          </a:p>
          <a:p>
            <a:pPr indent="0" fontAlgn="auto">
              <a:lnSpc>
                <a:spcPct val="150000"/>
              </a:lnSpc>
            </a:pPr>
            <a:r>
              <a:rPr lang="en-US" altLang="zh-CN" sz="1700"/>
              <a:t>2.  </a:t>
            </a:r>
            <a:r>
              <a:rPr lang="zh-CN" altLang="en-US" sz="1700"/>
              <a:t>算法思维的转化</a:t>
            </a:r>
            <a:r>
              <a:rPr lang="en-US" altLang="zh-CN" sz="1700"/>
              <a:t> (</a:t>
            </a:r>
            <a:r>
              <a:rPr lang="zh-CN" altLang="en-US" sz="1700"/>
              <a:t>模拟与贪心</a:t>
            </a:r>
            <a:r>
              <a:rPr lang="en-US" altLang="zh-CN" sz="1700"/>
              <a:t>)</a:t>
            </a:r>
            <a:endParaRPr lang="en-US" altLang="zh-CN" sz="1700"/>
          </a:p>
          <a:p>
            <a:pPr indent="0" fontAlgn="auto">
              <a:lnSpc>
                <a:spcPct val="150000"/>
              </a:lnSpc>
            </a:pPr>
            <a:r>
              <a:rPr lang="en-US" altLang="zh-CN" sz="1700"/>
              <a:t>    </a:t>
            </a:r>
            <a:r>
              <a:rPr lang="zh-CN" altLang="en-US" sz="1700"/>
              <a:t>在</a:t>
            </a:r>
            <a:r>
              <a:rPr lang="en-US" altLang="zh-CN" sz="1700"/>
              <a:t>“</a:t>
            </a:r>
            <a:r>
              <a:rPr lang="zh-CN" altLang="en-US" sz="1700"/>
              <a:t>小希的新工作</a:t>
            </a:r>
            <a:r>
              <a:rPr lang="en-US" altLang="zh-CN" sz="1700"/>
              <a:t>”</a:t>
            </a:r>
            <a:r>
              <a:rPr lang="zh-CN" altLang="en-US" sz="1700"/>
              <a:t>一题中，我们学习了如何将现实生活中的时间管理问题抽象为代码逻辑。核心在于利用</a:t>
            </a:r>
            <a:r>
              <a:rPr lang="zh-CN" altLang="en-US" sz="1700"/>
              <a:t>贪心思想</a:t>
            </a:r>
            <a:r>
              <a:rPr lang="zh-CN" altLang="en-US" sz="1700"/>
              <a:t>处理连续的时间轴，通过捕捉每一个可用的</a:t>
            </a:r>
            <a:r>
              <a:rPr lang="en-US" altLang="zh-CN" sz="1700"/>
              <a:t>“</a:t>
            </a:r>
            <a:r>
              <a:rPr lang="zh-CN" altLang="en-US" sz="1700"/>
              <a:t>空窗期</a:t>
            </a:r>
            <a:r>
              <a:rPr lang="en-US" altLang="zh-CN" sz="1700"/>
              <a:t>”</a:t>
            </a:r>
            <a:r>
              <a:rPr lang="zh-CN" altLang="en-US" sz="1700"/>
              <a:t>来累加局部最优解，从而得到全局最优结果。</a:t>
            </a:r>
            <a:endParaRPr lang="zh-CN" altLang="en-US" sz="1700"/>
          </a:p>
          <a:p>
            <a:pPr indent="0" fontAlgn="auto">
              <a:lnSpc>
                <a:spcPct val="150000"/>
              </a:lnSpc>
            </a:pPr>
            <a:endParaRPr lang="en-US" altLang="zh-CN" sz="1700"/>
          </a:p>
          <a:p>
            <a:pPr indent="0" fontAlgn="auto">
              <a:lnSpc>
                <a:spcPct val="150000"/>
              </a:lnSpc>
            </a:pPr>
            <a:r>
              <a:rPr lang="en-US" altLang="zh-CN" sz="1700"/>
              <a:t>3.  </a:t>
            </a:r>
            <a:r>
              <a:rPr lang="zh-CN" altLang="en-US" sz="1700"/>
              <a:t>数据预处理与边界控制</a:t>
            </a:r>
            <a:r>
              <a:rPr lang="en-US" altLang="zh-CN" sz="1700"/>
              <a:t> (</a:t>
            </a:r>
            <a:r>
              <a:rPr lang="zh-CN" altLang="en-US" sz="1700"/>
              <a:t>区间问题</a:t>
            </a:r>
            <a:r>
              <a:rPr lang="en-US" altLang="zh-CN" sz="1700"/>
              <a:t>)</a:t>
            </a:r>
            <a:endParaRPr lang="en-US" altLang="zh-CN" sz="1700"/>
          </a:p>
          <a:p>
            <a:pPr indent="0" fontAlgn="auto">
              <a:lnSpc>
                <a:spcPct val="150000"/>
              </a:lnSpc>
            </a:pPr>
            <a:r>
              <a:rPr lang="en-US" altLang="zh-CN" sz="1700"/>
              <a:t>    “</a:t>
            </a:r>
            <a:r>
              <a:rPr lang="zh-CN" altLang="en-US" sz="1700"/>
              <a:t>松雅的新旅馆</a:t>
            </a:r>
            <a:r>
              <a:rPr lang="en-US" altLang="zh-CN" sz="1700"/>
              <a:t>”</a:t>
            </a:r>
            <a:r>
              <a:rPr lang="zh-CN" altLang="en-US" sz="1700"/>
              <a:t>向我们展示了</a:t>
            </a:r>
            <a:r>
              <a:rPr lang="zh-CN" altLang="en-US" sz="1700"/>
              <a:t>数据排序</a:t>
            </a:r>
            <a:r>
              <a:rPr lang="zh-CN" altLang="en-US" sz="1700"/>
              <a:t>在几何</a:t>
            </a:r>
            <a:r>
              <a:rPr lang="en-US" altLang="zh-CN" sz="1700"/>
              <a:t>/</a:t>
            </a:r>
            <a:r>
              <a:rPr lang="zh-CN" altLang="en-US" sz="1700"/>
              <a:t>区间类问题中的决定性作用</a:t>
            </a:r>
            <a:r>
              <a:rPr lang="en-US" altLang="zh-CN" sz="1700"/>
              <a:t>——</a:t>
            </a:r>
            <a:r>
              <a:rPr lang="zh-CN" altLang="en-US" sz="1700"/>
              <a:t>无序的数据难以处理，有序的数据则规律自现。同时，该题也提醒我们在处理坐标计算时，需时刻警惕</a:t>
            </a:r>
            <a:r>
              <a:rPr lang="zh-CN" altLang="en-US" sz="1700"/>
              <a:t>整数除法与浮点数精度</a:t>
            </a:r>
            <a:r>
              <a:rPr lang="zh-CN" altLang="en-US" sz="1700"/>
              <a:t>带来的潜在</a:t>
            </a:r>
            <a:r>
              <a:rPr lang="en-US" altLang="zh-CN" sz="1700"/>
              <a:t>Bug</a:t>
            </a:r>
            <a:r>
              <a:rPr lang="zh-CN" altLang="en-US" sz="1700"/>
              <a:t>（如使用</a:t>
            </a:r>
            <a:r>
              <a:rPr lang="en-US" altLang="zh-CN" sz="1700"/>
              <a:t> double </a:t>
            </a:r>
            <a:r>
              <a:rPr lang="zh-CN" altLang="en-US" sz="1700"/>
              <a:t>或扩大倍数处理）。</a:t>
            </a:r>
            <a:endParaRPr lang="zh-CN" altLang="en-US" sz="170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theme/theme1.xml><?xml version="1.0" encoding="utf-8"?>
<a:theme xmlns:a="http://schemas.openxmlformats.org/drawingml/2006/main" name="离子">
  <a:themeElements>
    <a:clrScheme name="离子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离子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离子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4185</Words>
  <Application>WPS 演示</Application>
  <PresentationFormat>宽屏</PresentationFormat>
  <Paragraphs>197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28" baseType="lpstr">
      <vt:lpstr>Arial</vt:lpstr>
      <vt:lpstr>宋体</vt:lpstr>
      <vt:lpstr>Wingdings</vt:lpstr>
      <vt:lpstr>Wingdings 3</vt:lpstr>
      <vt:lpstr>Arial</vt:lpstr>
      <vt:lpstr>微软雅黑</vt:lpstr>
      <vt:lpstr>Century Gothic</vt:lpstr>
      <vt:lpstr>Arial Unicode MS</vt:lpstr>
      <vt:lpstr>Calibri</vt:lpstr>
      <vt:lpstr>离子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王云超</dc:creator>
  <cp:lastModifiedBy>顾念</cp:lastModifiedBy>
  <cp:revision>14</cp:revision>
  <dcterms:created xsi:type="dcterms:W3CDTF">2023-08-09T12:44:00Z</dcterms:created>
  <dcterms:modified xsi:type="dcterms:W3CDTF">2026-01-07T12:39:16Z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9E6D20489959442A90E0CAB4B939C3CE_12</vt:lpwstr>
  </property>
</Properties>
</file>