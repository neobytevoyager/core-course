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661" r:id="rId2"/>
    <p:sldId id="722" r:id="rId3"/>
    <p:sldId id="728" r:id="rId4"/>
    <p:sldId id="729" r:id="rId5"/>
    <p:sldId id="730" r:id="rId6"/>
    <p:sldId id="621" r:id="rId7"/>
    <p:sldId id="267" r:id="rId8"/>
    <p:sldId id="717" r:id="rId9"/>
    <p:sldId id="723" r:id="rId10"/>
    <p:sldId id="718" r:id="rId11"/>
    <p:sldId id="719" r:id="rId12"/>
    <p:sldId id="724" r:id="rId13"/>
    <p:sldId id="725" r:id="rId14"/>
    <p:sldId id="726" r:id="rId15"/>
    <p:sldId id="727" r:id="rId16"/>
    <p:sldId id="731" r:id="rId17"/>
    <p:sldId id="732" r:id="rId18"/>
    <p:sldId id="733" r:id="rId19"/>
    <p:sldId id="737" r:id="rId20"/>
    <p:sldId id="736" r:id="rId21"/>
    <p:sldId id="734" r:id="rId22"/>
    <p:sldId id="735" r:id="rId23"/>
  </p:sldIdLst>
  <p:sldSz cx="9144000" cy="6858000" type="screen4x3"/>
  <p:notesSz cx="7102475" cy="1023143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q ling" initials="cl" lastIdx="1" clrIdx="0">
    <p:extLst>
      <p:ext uri="{19B8F6BF-5375-455C-9EA6-DF929625EA0E}">
        <p15:presenceInfo xmlns:p15="http://schemas.microsoft.com/office/powerpoint/2012/main" userId="727596e247d382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B0F0"/>
    <a:srgbClr val="FF0000"/>
    <a:srgbClr val="33FF33"/>
    <a:srgbClr val="FF3300"/>
    <a:srgbClr val="FF00FF"/>
    <a:srgbClr val="FFCC66"/>
    <a:srgbClr val="99CCFF"/>
    <a:srgbClr val="6B0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E697C5E-0D50-4B74-BA8C-2CA034AE73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8114E96-2351-4512-8842-31E778652B2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3C3F5C4C-EE8F-4A26-B6FC-11F34AD6EF5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67760228-D4CD-4337-A212-FDF5D7CDE1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b="0"/>
            </a:lvl1pPr>
          </a:lstStyle>
          <a:p>
            <a:pPr>
              <a:defRPr/>
            </a:pPr>
            <a:fld id="{C4075BE2-DFA6-40E3-8F08-75819412F0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484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2EBB650-189E-430B-B390-46AC957C0F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D9263B8-6953-4F4A-924B-4B42B21EBE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9427668-63C4-4DD2-A945-4A6E66468ED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6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97A80AF-0D71-4DE1-B5EC-CCE101AB32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59338"/>
            <a:ext cx="520700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E5E54ECA-D06D-44AD-8C7D-241DDD316B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FCFF48BA-F851-4AFB-AD0A-8DC4C0EC66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0263"/>
            <a:ext cx="3078162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F43DF362-07B2-48E3-AFB3-0F3D81F19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94144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3775" y="766763"/>
            <a:ext cx="5114925" cy="383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3DF362-07B2-48E3-AFB3-0F3D81F198F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166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E9169C2-F5CB-4737-B86B-9114F64089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1B6C6-B887-4060-9050-4A85AB0D758A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5294466-D776-4909-A623-DF6F74F64D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F94B5-8154-41DD-8A2D-701C60F106E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8603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7A1808B-B0B3-4214-BF2C-4FAE3FDCDF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86756-4554-4E84-8FBD-DC5039A2CDCE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39A281D-8D56-44E5-9D51-4C4A4C28ED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E1799-C419-413A-A7A7-74D9A1A3F76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19199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5578493-4355-44D0-B020-6247EDB86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642F2-CC3C-4025-ACEE-D20D3A41DBD0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971BAD6-9796-4EC6-9BA2-C21725F6E4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3398B-0BD2-4A5D-93B4-46189001F7FB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0066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1B09D8-D657-4FDE-B98F-C63AB1C8D0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0AD75-F461-4257-9188-B464D38B6AB1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9416DC7-880C-4D9F-8E21-171802BAEA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F956A-2847-48CA-AE65-4CB1792ECDD9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59233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26A960B-CA94-4533-A759-973AD6643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960B8-1AA6-4160-95BE-0E3675869F4E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EA961AC-2479-400E-9DFB-7A2FCBDFCA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F29FC-8280-463B-9EF7-557DF61CFAD4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18095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D4888B6D-8867-409D-BDB5-46FC29B8C4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F4334-582E-42F2-8F73-D21FF1210D80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2753492-BD4E-469B-9FDA-045C3C9D6F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41BC0-0B8A-4FE2-9EC7-CC040C505230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90004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05A61748-F746-448A-9FCE-F8B7108408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E29C824F-F0F7-46D0-B6CD-71E52A8B60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A2FA0-6270-4B8B-8717-CBA49AB2A51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013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B2A20C-0A82-4378-A376-3F8D09114A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7890FA-1317-44CD-A111-2E58B3E44A78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0708EAE-9508-4FA7-A96E-1FB11D6668F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92346-5E03-4040-9B82-692992C715B3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7037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A58033-8A78-4A99-B8C8-0D1F81584D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ADD865-2721-486A-B507-F89B90A8E604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7D54F0A-949D-4325-B373-024150FA50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F12C9-1401-4B08-965E-4854B74C34CF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4637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541385F-E50A-472C-905A-FA8FFA0383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993B0-D601-43B6-97B3-AB3103B89A36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0BDC6CDB-7775-403C-B00A-07B5513A9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4741B-D4F7-4B9D-B28C-371470E845AA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14291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06DAB86-BD1C-451C-80EF-1260E064F1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D24E7-AE6F-482A-944F-19A1B0D41DE4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9977437-2205-4EA6-A798-C9B8BD470C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A686E-1575-4CE7-B830-124735DDD98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740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>
            <a:extLst>
              <a:ext uri="{FF2B5EF4-FFF2-40B4-BE49-F238E27FC236}">
                <a16:creationId xmlns:a16="http://schemas.microsoft.com/office/drawing/2014/main" id="{D9CAB14C-E507-4C7F-A67A-F8F86C5737F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3" imgW="8980952" imgH="6733333" progId="Paint.Picture">
                  <p:embed/>
                </p:oleObj>
              </mc:Choice>
              <mc:Fallback>
                <p:oleObj name="BMP 图象" r:id="rId13" imgW="8980952" imgH="6733333" progId="Paint.Picture">
                  <p:embed/>
                  <p:pic>
                    <p:nvPicPr>
                      <p:cNvPr id="1026" name="Object 15">
                        <a:extLst>
                          <a:ext uri="{FF2B5EF4-FFF2-40B4-BE49-F238E27FC236}">
                            <a16:creationId xmlns:a16="http://schemas.microsoft.com/office/drawing/2014/main" id="{D9CAB14C-E507-4C7F-A67A-F8F86C573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Rectangle 12">
            <a:extLst>
              <a:ext uri="{FF2B5EF4-FFF2-40B4-BE49-F238E27FC236}">
                <a16:creationId xmlns:a16="http://schemas.microsoft.com/office/drawing/2014/main" id="{67753B18-590F-439D-B7E5-01D5C06BDD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54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charset="0"/>
              </a:defRPr>
            </a:lvl1pPr>
          </a:lstStyle>
          <a:p>
            <a:pPr>
              <a:defRPr/>
            </a:pPr>
            <a:fld id="{4B2BA3D2-34A1-499A-81B0-6414FBA51F0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10EE4D5A-66EC-4CD0-AFCF-3CC7B2B4C9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24650" y="627221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b="0">
                <a:solidFill>
                  <a:srgbClr val="FF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685A0D7-4B3D-4E8C-AB18-6D9FE61F43A5}" type="slidenum">
              <a:rPr lang="en-US" altLang="zh-CN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1029" name="Rectangle 16">
            <a:extLst>
              <a:ext uri="{FF2B5EF4-FFF2-40B4-BE49-F238E27FC236}">
                <a16:creationId xmlns:a16="http://schemas.microsoft.com/office/drawing/2014/main" id="{591B208F-F4A7-4742-8326-704959DBB7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4738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3E83A-5A7D-4FD7-818F-B1E5E579A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07910"/>
            <a:ext cx="7772400" cy="1470025"/>
          </a:xfrm>
        </p:spPr>
        <p:txBody>
          <a:bodyPr/>
          <a:lstStyle/>
          <a:p>
            <a:r>
              <a:rPr lang="zh-CN" altLang="en-US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第四次</a:t>
            </a:r>
            <a:br>
              <a:rPr lang="en-US" altLang="zh-CN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</a:br>
            <a:r>
              <a:rPr lang="zh-CN" altLang="en-US" sz="8800" b="1" kern="1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小班讨论</a:t>
            </a:r>
          </a:p>
        </p:txBody>
      </p:sp>
    </p:spTree>
    <p:extLst>
      <p:ext uri="{BB962C8B-B14F-4D97-AF65-F5344CB8AC3E}">
        <p14:creationId xmlns:p14="http://schemas.microsoft.com/office/powerpoint/2010/main" val="4919043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8357" y="251721"/>
            <a:ext cx="872655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KaiTi" panose="02010609060101010101" pitchFamily="49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、根据模型机的结构框架，讲解各模块功能及控制信号作用。</a:t>
            </a:r>
            <a:endParaRPr lang="zh-CN" altLang="zh-CN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KaiTi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688" y="1205828"/>
            <a:ext cx="48006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713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A86756-4554-4E84-8FBD-DC5039A2CDCE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3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88638" y="4526131"/>
            <a:ext cx="78470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程序计数器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PC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：存放即将执行的指令在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RAM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中的地址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0085"/>
            <a:ext cx="2005824" cy="74467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651263" y="5260819"/>
            <a:ext cx="65946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LD_PC=1 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PC 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装载跳 转地址，</a:t>
            </a:r>
            <a:endParaRPr lang="en-US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IN_PC=1 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PC +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" y="1328229"/>
            <a:ext cx="1504950" cy="13716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68525" y="1465990"/>
            <a:ext cx="66872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存储器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：存放指令和数据，由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MUX3-1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提供要访问的内存单元地址，在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RE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WR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信号的控制下进行指令或数据的读取或者存储。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8" y="396391"/>
            <a:ext cx="2243773" cy="67435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65" y="3137872"/>
            <a:ext cx="1781920" cy="104369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330450" y="3299756"/>
            <a:ext cx="66492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3-1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选择器：选择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RAM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的地址来源，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PC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、通用寄存器的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口（源）和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口（目的）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68525" y="530006"/>
            <a:ext cx="61505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指令寄存器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IR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：存放当前要执行的指令。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82643" y="2480421"/>
            <a:ext cx="1154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428543" y="1199419"/>
            <a:ext cx="1154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1257766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" y="5343330"/>
            <a:ext cx="2013296" cy="98541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79" y="3460480"/>
            <a:ext cx="1729539" cy="10949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11" y="1053840"/>
            <a:ext cx="2427298" cy="132742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454966" y="5636615"/>
            <a:ext cx="60330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2-1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选择器：选择通用寄存器的数据来源。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096418" y="2629483"/>
            <a:ext cx="65498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通用寄存器：（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R1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R2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R3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），可保存（提供）操作数和中间计算结果。</a:t>
            </a:r>
            <a:endParaRPr lang="en-US" altLang="zh-CN" sz="2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96408" y="3638567"/>
            <a:ext cx="619087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读取：根据 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SR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 源寄存器，其数据从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口输出； 根据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DR 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 目的寄存器，其数据从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 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口输出。</a:t>
            </a:r>
            <a:endParaRPr lang="en-US" altLang="zh-CN" sz="20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存储：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WE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有效时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，将输入的数据写入由 </a:t>
            </a:r>
            <a:r>
              <a:rPr lang="en-US" altLang="zh-CN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DR</a:t>
            </a:r>
            <a:r>
              <a:rPr lang="zh-CN" altLang="en-US" sz="20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对应的目的寄存器。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43809" y="1323608"/>
            <a:ext cx="65001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算术单元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AU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：实现算术运算并输出结果，或传送源数据送至 总线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BUS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5894" y="1344324"/>
            <a:ext cx="904461" cy="810281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43809" y="314524"/>
            <a:ext cx="5539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状态寄存器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PSW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：存放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SUB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指令产生的状态位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97039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 animBg="1"/>
      <p:bldP spid="15" grpId="1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A86756-4554-4E84-8FBD-DC5039A2CDCE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7E1799-C419-413A-A7A7-74D9A1A3F76F}" type="slidenum">
              <a:rPr lang="en-US" altLang="zh-CN" smtClean="0"/>
              <a:pPr>
                <a:defRPr/>
              </a:pPr>
              <a:t>5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076" y="1116279"/>
            <a:ext cx="2188679" cy="122500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398" y="1195792"/>
            <a:ext cx="2041678" cy="122500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090" y="258417"/>
            <a:ext cx="2078665" cy="85786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67061" y="2907816"/>
            <a:ext cx="73867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SM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指示当前时钟周期是取指周期还是执行周期。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SM=0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，取指周期；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SM=1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，执行周期。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8295" y="4043689"/>
            <a:ext cx="85078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指令译码器：执行指令时根据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IR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提供的 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位指令编码，解析是哪条指令。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8295" y="4893653"/>
            <a:ext cx="81227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控制信号产生逻辑：根据指令译码器解析的指令，产生该指令执行所需的控制信号。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04013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17442" y="195303"/>
            <a:ext cx="85476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、假设寄存器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R3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存储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0x07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R0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存储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0x01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，外部输入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0x01</a:t>
            </a:r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。指令序列如下，试分析每条指令的执行结果。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FF096A7-B21F-4AAF-22CD-E5DB39193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1149410"/>
            <a:ext cx="6186487" cy="5373093"/>
          </a:xfrm>
          <a:prstGeom prst="rect">
            <a:avLst/>
          </a:prstGeom>
        </p:spPr>
      </p:pic>
    </p:spTree>
  </p:cSld>
  <p:clrMapOvr>
    <a:masterClrMapping/>
  </p:clrMapOvr>
  <p:transition spd="med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6713" y="225120"/>
            <a:ext cx="83687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讲解模型机读取指令，跳转类指令的执行过程，各种信息流动的情况，并给出执行时控制信号的取值。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347" y="1454329"/>
            <a:ext cx="4800600" cy="479107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383315" y="1993508"/>
            <a:ext cx="433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2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33" name="肘形连接符 32"/>
          <p:cNvCxnSpPr/>
          <p:nvPr/>
        </p:nvCxnSpPr>
        <p:spPr bwMode="auto">
          <a:xfrm rot="5400000" flipH="1" flipV="1">
            <a:off x="2245289" y="4448777"/>
            <a:ext cx="1178615" cy="272122"/>
          </a:xfrm>
          <a:prstGeom prst="bentConnector3">
            <a:avLst/>
          </a:prstGeom>
          <a:noFill/>
          <a:ln w="317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/>
          <p:cNvCxnSpPr/>
          <p:nvPr/>
        </p:nvCxnSpPr>
        <p:spPr bwMode="auto">
          <a:xfrm flipV="1">
            <a:off x="2991677" y="3160643"/>
            <a:ext cx="0" cy="41744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/>
          <p:cNvCxnSpPr/>
          <p:nvPr/>
        </p:nvCxnSpPr>
        <p:spPr bwMode="auto">
          <a:xfrm flipV="1">
            <a:off x="2991677" y="3170583"/>
            <a:ext cx="1126164" cy="29818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箭头连接符 40"/>
          <p:cNvCxnSpPr/>
          <p:nvPr/>
        </p:nvCxnSpPr>
        <p:spPr bwMode="auto">
          <a:xfrm flipV="1">
            <a:off x="4108510" y="2753139"/>
            <a:ext cx="0" cy="41744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本框 41"/>
          <p:cNvSpPr txBox="1"/>
          <p:nvPr/>
        </p:nvSpPr>
        <p:spPr>
          <a:xfrm>
            <a:off x="4979505" y="1155271"/>
            <a:ext cx="4045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Sm=0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进行取指操作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911937" y="1777645"/>
            <a:ext cx="31566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取指结束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PC+1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81655" y="1254425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取指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85934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73" y="1036885"/>
            <a:ext cx="4800600" cy="479107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172199" y="860097"/>
            <a:ext cx="24748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JG&amp;(~G)</a:t>
            </a:r>
            <a:endParaRPr lang="zh-CN" altLang="en-US" dirty="0"/>
          </a:p>
        </p:txBody>
      </p:sp>
      <p:cxnSp>
        <p:nvCxnSpPr>
          <p:cNvPr id="20" name="直接连接符 19"/>
          <p:cNvCxnSpPr/>
          <p:nvPr/>
        </p:nvCxnSpPr>
        <p:spPr bwMode="auto">
          <a:xfrm flipH="1" flipV="1">
            <a:off x="4701209" y="4363278"/>
            <a:ext cx="159026" cy="40750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5"/>
          <p:cNvCxnSpPr/>
          <p:nvPr/>
        </p:nvCxnSpPr>
        <p:spPr bwMode="auto">
          <a:xfrm flipH="1">
            <a:off x="3677478" y="4363278"/>
            <a:ext cx="19878" cy="824948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接连接符 27"/>
          <p:cNvCxnSpPr/>
          <p:nvPr/>
        </p:nvCxnSpPr>
        <p:spPr bwMode="auto">
          <a:xfrm flipH="1">
            <a:off x="2902226" y="5188226"/>
            <a:ext cx="795130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箭头连接符 29"/>
          <p:cNvCxnSpPr/>
          <p:nvPr/>
        </p:nvCxnSpPr>
        <p:spPr bwMode="auto">
          <a:xfrm flipV="1">
            <a:off x="2891679" y="4780114"/>
            <a:ext cx="9939" cy="417443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/>
          <p:cNvCxnSpPr/>
          <p:nvPr/>
        </p:nvCxnSpPr>
        <p:spPr bwMode="auto">
          <a:xfrm flipH="1">
            <a:off x="3677478" y="4363278"/>
            <a:ext cx="1023731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文本框 33"/>
          <p:cNvSpPr txBox="1"/>
          <p:nvPr/>
        </p:nvSpPr>
        <p:spPr>
          <a:xfrm>
            <a:off x="178905" y="1351722"/>
            <a:ext cx="1620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R3</a:t>
            </a:r>
            <a:r>
              <a:rPr lang="en-US" altLang="zh-CN" dirty="0">
                <a:sym typeface="Wingdings" panose="05000000000000000000" pitchFamily="2" charset="2"/>
              </a:rPr>
              <a:t>PC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359458" y="543844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跳转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1464365" y="598487"/>
            <a:ext cx="24748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JMP|(JG&amp;G)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491049" y="1484989"/>
            <a:ext cx="544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4915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4" grpId="0"/>
      <p:bldP spid="36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8478" y="82778"/>
            <a:ext cx="8825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、讲解模型机传输类指令的执行过程，各种信息流动的情况，并给出执行时控制信号的取值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73" y="1752500"/>
            <a:ext cx="4800600" cy="479107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491049" y="2220795"/>
            <a:ext cx="27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29640" y="1060001"/>
            <a:ext cx="11432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MOVA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 flipV="1">
            <a:off x="4711148" y="5138528"/>
            <a:ext cx="99391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/>
          <p:cNvCxnSpPr/>
          <p:nvPr/>
        </p:nvCxnSpPr>
        <p:spPr bwMode="auto">
          <a:xfrm flipH="1" flipV="1">
            <a:off x="4701209" y="4013859"/>
            <a:ext cx="19878" cy="111473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/>
          <p:nvPr/>
        </p:nvCxnSpPr>
        <p:spPr bwMode="auto">
          <a:xfrm flipV="1">
            <a:off x="4701209" y="3707293"/>
            <a:ext cx="168966" cy="34424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直接连接符 35"/>
          <p:cNvCxnSpPr/>
          <p:nvPr/>
        </p:nvCxnSpPr>
        <p:spPr bwMode="auto">
          <a:xfrm flipV="1">
            <a:off x="4870175" y="3438937"/>
            <a:ext cx="19877" cy="26835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/>
          <p:cNvCxnSpPr/>
          <p:nvPr/>
        </p:nvCxnSpPr>
        <p:spPr bwMode="auto">
          <a:xfrm>
            <a:off x="4870175" y="3458816"/>
            <a:ext cx="974034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连接符 40"/>
          <p:cNvCxnSpPr/>
          <p:nvPr/>
        </p:nvCxnSpPr>
        <p:spPr bwMode="auto">
          <a:xfrm>
            <a:off x="5844209" y="3438937"/>
            <a:ext cx="0" cy="297180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 flipH="1" flipV="1">
            <a:off x="5029200" y="6430615"/>
            <a:ext cx="815009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连接符 45"/>
          <p:cNvCxnSpPr/>
          <p:nvPr/>
        </p:nvCxnSpPr>
        <p:spPr bwMode="auto">
          <a:xfrm flipH="1" flipV="1">
            <a:off x="5009322" y="6112563"/>
            <a:ext cx="9939" cy="29817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 flipH="1" flipV="1">
            <a:off x="4850297" y="6003232"/>
            <a:ext cx="159025" cy="11926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/>
          <p:cNvCxnSpPr/>
          <p:nvPr/>
        </p:nvCxnSpPr>
        <p:spPr bwMode="auto">
          <a:xfrm flipV="1">
            <a:off x="4850297" y="5605667"/>
            <a:ext cx="0" cy="39756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文本框 50"/>
          <p:cNvSpPr txBox="1"/>
          <p:nvPr/>
        </p:nvSpPr>
        <p:spPr>
          <a:xfrm>
            <a:off x="0" y="1484109"/>
            <a:ext cx="3299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源寄存器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目的寄存器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37440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643" y="1484144"/>
            <a:ext cx="4800600" cy="4791075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>
          <a:xfrm>
            <a:off x="419093" y="244992"/>
            <a:ext cx="1119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MOVB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85" name="直接连接符 84"/>
          <p:cNvCxnSpPr/>
          <p:nvPr/>
        </p:nvCxnSpPr>
        <p:spPr bwMode="auto">
          <a:xfrm flipH="1" flipV="1">
            <a:off x="4830418" y="4870172"/>
            <a:ext cx="99391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直接连接符 85"/>
          <p:cNvCxnSpPr/>
          <p:nvPr/>
        </p:nvCxnSpPr>
        <p:spPr bwMode="auto">
          <a:xfrm flipH="1" flipV="1">
            <a:off x="4820479" y="3745503"/>
            <a:ext cx="19878" cy="111473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直接连接符 86"/>
          <p:cNvCxnSpPr/>
          <p:nvPr/>
        </p:nvCxnSpPr>
        <p:spPr bwMode="auto">
          <a:xfrm flipV="1">
            <a:off x="4820479" y="3438937"/>
            <a:ext cx="168966" cy="34424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直接连接符 87"/>
          <p:cNvCxnSpPr/>
          <p:nvPr/>
        </p:nvCxnSpPr>
        <p:spPr bwMode="auto">
          <a:xfrm flipV="1">
            <a:off x="4989445" y="3170581"/>
            <a:ext cx="19877" cy="26835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文本框 88"/>
          <p:cNvSpPr txBox="1"/>
          <p:nvPr/>
        </p:nvSpPr>
        <p:spPr>
          <a:xfrm>
            <a:off x="149087" y="706657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源寄存器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RAM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中的目的单元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92" name="直接连接符 91"/>
          <p:cNvCxnSpPr/>
          <p:nvPr/>
        </p:nvCxnSpPr>
        <p:spPr bwMode="auto">
          <a:xfrm flipH="1">
            <a:off x="3250096" y="3170581"/>
            <a:ext cx="1749287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直接箭头连接符 93"/>
          <p:cNvCxnSpPr/>
          <p:nvPr/>
        </p:nvCxnSpPr>
        <p:spPr bwMode="auto">
          <a:xfrm>
            <a:off x="3250096" y="3170581"/>
            <a:ext cx="0" cy="440476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6" name="直接连接符 95"/>
          <p:cNvCxnSpPr/>
          <p:nvPr/>
        </p:nvCxnSpPr>
        <p:spPr bwMode="auto">
          <a:xfrm flipV="1">
            <a:off x="4999383" y="4870172"/>
            <a:ext cx="168965" cy="427385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直接连接符 97"/>
          <p:cNvCxnSpPr/>
          <p:nvPr/>
        </p:nvCxnSpPr>
        <p:spPr bwMode="auto">
          <a:xfrm flipV="1">
            <a:off x="5168348" y="4651513"/>
            <a:ext cx="0" cy="20872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连接符 99"/>
          <p:cNvCxnSpPr/>
          <p:nvPr/>
        </p:nvCxnSpPr>
        <p:spPr bwMode="auto">
          <a:xfrm flipH="1" flipV="1">
            <a:off x="3448877" y="4641574"/>
            <a:ext cx="1719471" cy="9939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直接连接符 101"/>
          <p:cNvCxnSpPr/>
          <p:nvPr/>
        </p:nvCxnSpPr>
        <p:spPr bwMode="auto">
          <a:xfrm flipV="1">
            <a:off x="3448877" y="4411633"/>
            <a:ext cx="0" cy="23988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连接符 103"/>
          <p:cNvCxnSpPr/>
          <p:nvPr/>
        </p:nvCxnSpPr>
        <p:spPr bwMode="auto">
          <a:xfrm flipH="1" flipV="1">
            <a:off x="3250096" y="4302868"/>
            <a:ext cx="198781" cy="129984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箭头连接符 107"/>
          <p:cNvCxnSpPr/>
          <p:nvPr/>
        </p:nvCxnSpPr>
        <p:spPr bwMode="auto">
          <a:xfrm flipV="1">
            <a:off x="3250096" y="4065104"/>
            <a:ext cx="0" cy="237764"/>
          </a:xfrm>
          <a:prstGeom prst="straightConnector1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9" name="文本框 108"/>
          <p:cNvSpPr txBox="1"/>
          <p:nvPr/>
        </p:nvSpPr>
        <p:spPr>
          <a:xfrm>
            <a:off x="7026965" y="1262270"/>
            <a:ext cx="1719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7026965" y="800605"/>
            <a:ext cx="1719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地址</a:t>
            </a:r>
          </a:p>
        </p:txBody>
      </p:sp>
      <p:cxnSp>
        <p:nvCxnSpPr>
          <p:cNvPr id="112" name="直接连接符 111"/>
          <p:cNvCxnSpPr/>
          <p:nvPr/>
        </p:nvCxnSpPr>
        <p:spPr bwMode="auto">
          <a:xfrm>
            <a:off x="6152321" y="1031437"/>
            <a:ext cx="815008" cy="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7" name="直接连接符 116"/>
          <p:cNvCxnSpPr/>
          <p:nvPr/>
        </p:nvCxnSpPr>
        <p:spPr bwMode="auto">
          <a:xfrm>
            <a:off x="6211957" y="1494182"/>
            <a:ext cx="815008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8" name="文本框 117"/>
          <p:cNvSpPr txBox="1"/>
          <p:nvPr/>
        </p:nvSpPr>
        <p:spPr>
          <a:xfrm>
            <a:off x="3610319" y="1928008"/>
            <a:ext cx="385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39833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09" grpId="0"/>
      <p:bldP spid="110" grpId="0"/>
      <p:bldP spid="1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643" y="1484144"/>
            <a:ext cx="4800600" cy="479107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19093" y="244992"/>
            <a:ext cx="11400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MOVC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49087" y="706657"/>
            <a:ext cx="41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RAM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中的单元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目的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寄存器</a:t>
            </a:r>
          </a:p>
        </p:txBody>
      </p:sp>
      <p:cxnSp>
        <p:nvCxnSpPr>
          <p:cNvPr id="41" name="直接连接符 40"/>
          <p:cNvCxnSpPr/>
          <p:nvPr/>
        </p:nvCxnSpPr>
        <p:spPr bwMode="auto">
          <a:xfrm flipH="1">
            <a:off x="3250097" y="3170581"/>
            <a:ext cx="2723320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H="1" flipV="1">
            <a:off x="4775752" y="4764391"/>
            <a:ext cx="212783" cy="50832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/>
          <p:cNvCxnSpPr/>
          <p:nvPr/>
        </p:nvCxnSpPr>
        <p:spPr bwMode="auto">
          <a:xfrm flipH="1" flipV="1">
            <a:off x="3250096" y="4761515"/>
            <a:ext cx="1525656" cy="10896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连接符 45"/>
          <p:cNvCxnSpPr/>
          <p:nvPr/>
        </p:nvCxnSpPr>
        <p:spPr bwMode="auto">
          <a:xfrm flipV="1">
            <a:off x="3250096" y="4521635"/>
            <a:ext cx="0" cy="23988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直接连接符 46"/>
          <p:cNvCxnSpPr/>
          <p:nvPr/>
        </p:nvCxnSpPr>
        <p:spPr bwMode="auto">
          <a:xfrm flipV="1">
            <a:off x="3250096" y="4302868"/>
            <a:ext cx="0" cy="169378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接箭头连接符 47"/>
          <p:cNvCxnSpPr/>
          <p:nvPr/>
        </p:nvCxnSpPr>
        <p:spPr bwMode="auto">
          <a:xfrm flipV="1">
            <a:off x="3250096" y="4065104"/>
            <a:ext cx="0" cy="237764"/>
          </a:xfrm>
          <a:prstGeom prst="straightConnector1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文本框 48"/>
          <p:cNvSpPr txBox="1"/>
          <p:nvPr/>
        </p:nvSpPr>
        <p:spPr>
          <a:xfrm>
            <a:off x="7026965" y="1262270"/>
            <a:ext cx="1719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026965" y="800605"/>
            <a:ext cx="1719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地址</a:t>
            </a:r>
          </a:p>
        </p:txBody>
      </p:sp>
      <p:cxnSp>
        <p:nvCxnSpPr>
          <p:cNvPr id="51" name="直接连接符 50"/>
          <p:cNvCxnSpPr/>
          <p:nvPr/>
        </p:nvCxnSpPr>
        <p:spPr bwMode="auto">
          <a:xfrm>
            <a:off x="6152321" y="1031437"/>
            <a:ext cx="815008" cy="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连接符 51"/>
          <p:cNvCxnSpPr/>
          <p:nvPr/>
        </p:nvCxnSpPr>
        <p:spPr bwMode="auto">
          <a:xfrm>
            <a:off x="6211957" y="1494182"/>
            <a:ext cx="815008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/>
          <p:nvPr/>
        </p:nvCxnSpPr>
        <p:spPr bwMode="auto">
          <a:xfrm flipV="1">
            <a:off x="3250096" y="3170581"/>
            <a:ext cx="0" cy="44047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连接符 8"/>
          <p:cNvCxnSpPr/>
          <p:nvPr/>
        </p:nvCxnSpPr>
        <p:spPr bwMode="auto">
          <a:xfrm flipH="1">
            <a:off x="5963478" y="3170581"/>
            <a:ext cx="19879" cy="298174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连接符 52"/>
          <p:cNvCxnSpPr/>
          <p:nvPr/>
        </p:nvCxnSpPr>
        <p:spPr bwMode="auto">
          <a:xfrm flipH="1" flipV="1">
            <a:off x="5158407" y="6162257"/>
            <a:ext cx="815009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连接符 53"/>
          <p:cNvCxnSpPr/>
          <p:nvPr/>
        </p:nvCxnSpPr>
        <p:spPr bwMode="auto">
          <a:xfrm flipH="1" flipV="1">
            <a:off x="5138529" y="5844205"/>
            <a:ext cx="9939" cy="29817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54"/>
          <p:cNvCxnSpPr/>
          <p:nvPr/>
        </p:nvCxnSpPr>
        <p:spPr bwMode="auto">
          <a:xfrm flipH="1" flipV="1">
            <a:off x="4979504" y="5734874"/>
            <a:ext cx="159025" cy="11926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直接连接符 55"/>
          <p:cNvCxnSpPr/>
          <p:nvPr/>
        </p:nvCxnSpPr>
        <p:spPr bwMode="auto">
          <a:xfrm flipV="1">
            <a:off x="4979504" y="5337309"/>
            <a:ext cx="0" cy="39756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文本框 56"/>
          <p:cNvSpPr txBox="1"/>
          <p:nvPr/>
        </p:nvSpPr>
        <p:spPr>
          <a:xfrm>
            <a:off x="3600380" y="1966694"/>
            <a:ext cx="544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69194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9" grpId="0"/>
      <p:bldP spid="50" grpId="0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643" y="1484144"/>
            <a:ext cx="4800600" cy="47910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19093" y="244992"/>
            <a:ext cx="1162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MOVD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6895" y="796109"/>
            <a:ext cx="1432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PCR3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 flipH="1" flipV="1">
            <a:off x="3041373" y="4899991"/>
            <a:ext cx="9940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/>
          <p:cNvCxnSpPr/>
          <p:nvPr/>
        </p:nvCxnSpPr>
        <p:spPr bwMode="auto">
          <a:xfrm>
            <a:off x="3031435" y="4899991"/>
            <a:ext cx="1162878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/>
          <p:cNvCxnSpPr/>
          <p:nvPr/>
        </p:nvCxnSpPr>
        <p:spPr bwMode="auto">
          <a:xfrm>
            <a:off x="4184374" y="4899991"/>
            <a:ext cx="19877" cy="127220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4204251" y="6152322"/>
            <a:ext cx="646045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 flipH="1" flipV="1">
            <a:off x="4850296" y="5874026"/>
            <a:ext cx="1" cy="29320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4850296" y="5675243"/>
            <a:ext cx="139147" cy="198783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箭头连接符 44"/>
          <p:cNvCxnSpPr/>
          <p:nvPr/>
        </p:nvCxnSpPr>
        <p:spPr bwMode="auto">
          <a:xfrm flipV="1">
            <a:off x="4969565" y="5277678"/>
            <a:ext cx="9939" cy="387626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文本框 45"/>
          <p:cNvSpPr txBox="1"/>
          <p:nvPr/>
        </p:nvSpPr>
        <p:spPr>
          <a:xfrm>
            <a:off x="3650075" y="1965686"/>
            <a:ext cx="544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51282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643" y="1484144"/>
            <a:ext cx="4800600" cy="479107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419093" y="244992"/>
            <a:ext cx="1029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MOVI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49087" y="706657"/>
            <a:ext cx="41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RAM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中的单元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目的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寄存器</a:t>
            </a:r>
          </a:p>
        </p:txBody>
      </p:sp>
      <p:cxnSp>
        <p:nvCxnSpPr>
          <p:cNvPr id="19" name="直接连接符 18"/>
          <p:cNvCxnSpPr/>
          <p:nvPr/>
        </p:nvCxnSpPr>
        <p:spPr bwMode="auto">
          <a:xfrm flipH="1">
            <a:off x="3250097" y="3170581"/>
            <a:ext cx="2723320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文本框 25"/>
          <p:cNvSpPr txBox="1"/>
          <p:nvPr/>
        </p:nvSpPr>
        <p:spPr>
          <a:xfrm>
            <a:off x="7026965" y="1262270"/>
            <a:ext cx="1719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026965" y="800605"/>
            <a:ext cx="1719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地址</a:t>
            </a:r>
          </a:p>
        </p:txBody>
      </p:sp>
      <p:cxnSp>
        <p:nvCxnSpPr>
          <p:cNvPr id="28" name="直接连接符 27"/>
          <p:cNvCxnSpPr/>
          <p:nvPr/>
        </p:nvCxnSpPr>
        <p:spPr bwMode="auto">
          <a:xfrm>
            <a:off x="6152321" y="1031437"/>
            <a:ext cx="815008" cy="0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连接符 28"/>
          <p:cNvCxnSpPr/>
          <p:nvPr/>
        </p:nvCxnSpPr>
        <p:spPr bwMode="auto">
          <a:xfrm>
            <a:off x="6211957" y="1494182"/>
            <a:ext cx="815008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连接符 29"/>
          <p:cNvCxnSpPr/>
          <p:nvPr/>
        </p:nvCxnSpPr>
        <p:spPr bwMode="auto">
          <a:xfrm flipV="1">
            <a:off x="3250096" y="3170581"/>
            <a:ext cx="0" cy="44047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连接符 30"/>
          <p:cNvCxnSpPr/>
          <p:nvPr/>
        </p:nvCxnSpPr>
        <p:spPr bwMode="auto">
          <a:xfrm flipH="1">
            <a:off x="5963478" y="3170581"/>
            <a:ext cx="19879" cy="298174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/>
          <p:cNvCxnSpPr/>
          <p:nvPr/>
        </p:nvCxnSpPr>
        <p:spPr bwMode="auto">
          <a:xfrm flipH="1" flipV="1">
            <a:off x="5158407" y="6162257"/>
            <a:ext cx="815009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/>
          <p:cNvCxnSpPr/>
          <p:nvPr/>
        </p:nvCxnSpPr>
        <p:spPr bwMode="auto">
          <a:xfrm flipH="1" flipV="1">
            <a:off x="5138529" y="5844205"/>
            <a:ext cx="9939" cy="29817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/>
          <p:nvPr/>
        </p:nvCxnSpPr>
        <p:spPr bwMode="auto">
          <a:xfrm flipH="1" flipV="1">
            <a:off x="4979504" y="5734874"/>
            <a:ext cx="159025" cy="11926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/>
          <p:cNvCxnSpPr/>
          <p:nvPr/>
        </p:nvCxnSpPr>
        <p:spPr bwMode="auto">
          <a:xfrm flipV="1">
            <a:off x="4979504" y="5337309"/>
            <a:ext cx="0" cy="39756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连接符 4"/>
          <p:cNvCxnSpPr/>
          <p:nvPr/>
        </p:nvCxnSpPr>
        <p:spPr bwMode="auto">
          <a:xfrm flipV="1">
            <a:off x="2991678" y="4442791"/>
            <a:ext cx="29818" cy="815009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直接连接符 36"/>
          <p:cNvCxnSpPr/>
          <p:nvPr/>
        </p:nvCxnSpPr>
        <p:spPr bwMode="auto">
          <a:xfrm flipV="1">
            <a:off x="3001617" y="4273826"/>
            <a:ext cx="248479" cy="159026"/>
          </a:xfrm>
          <a:prstGeom prst="line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箭头连接符 38"/>
          <p:cNvCxnSpPr/>
          <p:nvPr/>
        </p:nvCxnSpPr>
        <p:spPr bwMode="auto">
          <a:xfrm flipV="1">
            <a:off x="3250096" y="4084983"/>
            <a:ext cx="0" cy="188843"/>
          </a:xfrm>
          <a:prstGeom prst="straightConnector1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文本框 40"/>
          <p:cNvSpPr txBox="1"/>
          <p:nvPr/>
        </p:nvSpPr>
        <p:spPr>
          <a:xfrm>
            <a:off x="3640136" y="1966694"/>
            <a:ext cx="544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677250" y="2029758"/>
            <a:ext cx="31566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执行结束时，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PC+1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4869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27" grpId="0"/>
      <p:bldP spid="41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7505" y="238277"/>
            <a:ext cx="85476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KaiTi" panose="02010609060101010101" pitchFamily="49" charset="-122"/>
              </a:rPr>
              <a:t>5</a:t>
            </a:r>
            <a:r>
              <a:rPr lang="zh-CN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、讲解模型机算术类指令、输入输出指令、停机指令的执行过程，各种信息流动的情况，并给出执行时控制信号的取值。</a:t>
            </a:r>
            <a:endParaRPr lang="zh-CN" altLang="zh-CN" sz="2400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KaiTi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73" y="1752500"/>
            <a:ext cx="4800600" cy="47910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491049" y="2220795"/>
            <a:ext cx="27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9640" y="1060001"/>
            <a:ext cx="8386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ADD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 flipH="1" flipV="1">
            <a:off x="4711148" y="5138528"/>
            <a:ext cx="99391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连接符 13"/>
          <p:cNvCxnSpPr/>
          <p:nvPr/>
        </p:nvCxnSpPr>
        <p:spPr bwMode="auto">
          <a:xfrm flipH="1" flipV="1">
            <a:off x="4701209" y="4134679"/>
            <a:ext cx="9939" cy="99391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连接符 15"/>
          <p:cNvCxnSpPr/>
          <p:nvPr/>
        </p:nvCxnSpPr>
        <p:spPr bwMode="auto">
          <a:xfrm flipV="1">
            <a:off x="4850297" y="3438937"/>
            <a:ext cx="39755" cy="45720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连接符 16"/>
          <p:cNvCxnSpPr/>
          <p:nvPr/>
        </p:nvCxnSpPr>
        <p:spPr bwMode="auto">
          <a:xfrm>
            <a:off x="4870175" y="3458816"/>
            <a:ext cx="974034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17"/>
          <p:cNvCxnSpPr/>
          <p:nvPr/>
        </p:nvCxnSpPr>
        <p:spPr bwMode="auto">
          <a:xfrm>
            <a:off x="5844209" y="3438937"/>
            <a:ext cx="0" cy="297180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/>
          <p:nvPr/>
        </p:nvCxnSpPr>
        <p:spPr bwMode="auto">
          <a:xfrm flipH="1" flipV="1">
            <a:off x="5029200" y="6430615"/>
            <a:ext cx="815009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 flipH="1" flipV="1">
            <a:off x="5009322" y="6112563"/>
            <a:ext cx="9939" cy="29817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0"/>
          <p:cNvCxnSpPr/>
          <p:nvPr/>
        </p:nvCxnSpPr>
        <p:spPr bwMode="auto">
          <a:xfrm flipH="1" flipV="1">
            <a:off x="4850297" y="6003232"/>
            <a:ext cx="159025" cy="11926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连接符 21"/>
          <p:cNvCxnSpPr/>
          <p:nvPr/>
        </p:nvCxnSpPr>
        <p:spPr bwMode="auto">
          <a:xfrm flipV="1">
            <a:off x="4850297" y="5605667"/>
            <a:ext cx="0" cy="39756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文本框 22"/>
          <p:cNvSpPr txBox="1"/>
          <p:nvPr/>
        </p:nvSpPr>
        <p:spPr>
          <a:xfrm>
            <a:off x="0" y="1484109"/>
            <a:ext cx="3637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DREG+SREGDREG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25" name="直接连接符 24"/>
          <p:cNvCxnSpPr/>
          <p:nvPr/>
        </p:nvCxnSpPr>
        <p:spPr bwMode="auto">
          <a:xfrm flipV="1">
            <a:off x="4989446" y="5138528"/>
            <a:ext cx="39754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直接连接符 27"/>
          <p:cNvCxnSpPr/>
          <p:nvPr/>
        </p:nvCxnSpPr>
        <p:spPr bwMode="auto">
          <a:xfrm flipV="1">
            <a:off x="5029200" y="4051533"/>
            <a:ext cx="0" cy="10770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文本框 31"/>
          <p:cNvSpPr txBox="1"/>
          <p:nvPr/>
        </p:nvSpPr>
        <p:spPr>
          <a:xfrm>
            <a:off x="4671391" y="3753800"/>
            <a:ext cx="39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+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0030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73" y="1484145"/>
            <a:ext cx="4800600" cy="47910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491049" y="1952440"/>
            <a:ext cx="27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09763" y="384140"/>
            <a:ext cx="731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SUB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 bwMode="auto">
          <a:xfrm flipH="1" flipV="1">
            <a:off x="4711148" y="4870173"/>
            <a:ext cx="99391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/>
          <p:nvPr/>
        </p:nvCxnSpPr>
        <p:spPr bwMode="auto">
          <a:xfrm flipH="1" flipV="1">
            <a:off x="4701209" y="3866324"/>
            <a:ext cx="9939" cy="99391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 flipV="1">
            <a:off x="4850297" y="3170582"/>
            <a:ext cx="39755" cy="45720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0"/>
          <p:cNvCxnSpPr/>
          <p:nvPr/>
        </p:nvCxnSpPr>
        <p:spPr bwMode="auto">
          <a:xfrm>
            <a:off x="4870175" y="3190461"/>
            <a:ext cx="974034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连接符 21"/>
          <p:cNvCxnSpPr/>
          <p:nvPr/>
        </p:nvCxnSpPr>
        <p:spPr bwMode="auto">
          <a:xfrm>
            <a:off x="5844209" y="3170582"/>
            <a:ext cx="0" cy="297180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直接连接符 22"/>
          <p:cNvCxnSpPr/>
          <p:nvPr/>
        </p:nvCxnSpPr>
        <p:spPr bwMode="auto">
          <a:xfrm flipH="1" flipV="1">
            <a:off x="5029200" y="6162260"/>
            <a:ext cx="815009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 flipV="1">
            <a:off x="5009322" y="5844208"/>
            <a:ext cx="9939" cy="29817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连接符 24"/>
          <p:cNvCxnSpPr/>
          <p:nvPr/>
        </p:nvCxnSpPr>
        <p:spPr bwMode="auto">
          <a:xfrm flipH="1" flipV="1">
            <a:off x="4850297" y="5734877"/>
            <a:ext cx="159025" cy="11926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5"/>
          <p:cNvCxnSpPr/>
          <p:nvPr/>
        </p:nvCxnSpPr>
        <p:spPr bwMode="auto">
          <a:xfrm flipV="1">
            <a:off x="4850297" y="5337312"/>
            <a:ext cx="0" cy="39756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文本框 26"/>
          <p:cNvSpPr txBox="1"/>
          <p:nvPr/>
        </p:nvSpPr>
        <p:spPr>
          <a:xfrm>
            <a:off x="2206487" y="260204"/>
            <a:ext cx="3637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DREG</a:t>
            </a:r>
            <a:r>
              <a:rPr lang="en-US" altLang="zh-C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—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SREGDREG</a:t>
            </a:r>
          </a:p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存储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G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28" name="直接连接符 27"/>
          <p:cNvCxnSpPr/>
          <p:nvPr/>
        </p:nvCxnSpPr>
        <p:spPr bwMode="auto">
          <a:xfrm flipV="1">
            <a:off x="4989446" y="4870173"/>
            <a:ext cx="39754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连接符 28"/>
          <p:cNvCxnSpPr/>
          <p:nvPr/>
        </p:nvCxnSpPr>
        <p:spPr bwMode="auto">
          <a:xfrm flipV="1">
            <a:off x="5029200" y="3783178"/>
            <a:ext cx="0" cy="10770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文本框 29"/>
          <p:cNvSpPr txBox="1"/>
          <p:nvPr/>
        </p:nvSpPr>
        <p:spPr>
          <a:xfrm>
            <a:off x="4621696" y="3445689"/>
            <a:ext cx="397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</a:t>
            </a:r>
            <a:endParaRPr lang="zh-CN" altLang="en-US" dirty="0">
              <a:solidFill>
                <a:srgbClr val="0000FF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>
            <a:off x="4144617" y="3717238"/>
            <a:ext cx="526774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728291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16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73" y="1484145"/>
            <a:ext cx="4800600" cy="4791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91049" y="1952440"/>
            <a:ext cx="27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9763" y="384140"/>
            <a:ext cx="5229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5844209" y="4581939"/>
            <a:ext cx="0" cy="1560443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11"/>
          <p:cNvCxnSpPr/>
          <p:nvPr/>
        </p:nvCxnSpPr>
        <p:spPr bwMode="auto">
          <a:xfrm flipH="1" flipV="1">
            <a:off x="5029200" y="6162260"/>
            <a:ext cx="815009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2"/>
          <p:cNvCxnSpPr/>
          <p:nvPr/>
        </p:nvCxnSpPr>
        <p:spPr bwMode="auto">
          <a:xfrm flipH="1" flipV="1">
            <a:off x="5009322" y="5844208"/>
            <a:ext cx="9939" cy="298174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连接符 13"/>
          <p:cNvCxnSpPr/>
          <p:nvPr/>
        </p:nvCxnSpPr>
        <p:spPr bwMode="auto">
          <a:xfrm flipH="1" flipV="1">
            <a:off x="4850297" y="5734877"/>
            <a:ext cx="159025" cy="11926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连接符 14"/>
          <p:cNvCxnSpPr/>
          <p:nvPr/>
        </p:nvCxnSpPr>
        <p:spPr bwMode="auto">
          <a:xfrm flipV="1">
            <a:off x="4850297" y="5337312"/>
            <a:ext cx="0" cy="39756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15"/>
          <p:cNvSpPr txBox="1"/>
          <p:nvPr/>
        </p:nvSpPr>
        <p:spPr>
          <a:xfrm>
            <a:off x="2206487" y="260204"/>
            <a:ext cx="3637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外部数据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DREG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  <a:sym typeface="Wingdings" panose="05000000000000000000" pitchFamily="2" charset="2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 flipH="1" flipV="1">
            <a:off x="5844209" y="4581939"/>
            <a:ext cx="536714" cy="993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496017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09763" y="6272422"/>
            <a:ext cx="1905000" cy="457200"/>
          </a:xfrm>
        </p:spPr>
        <p:txBody>
          <a:bodyPr/>
          <a:lstStyle/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17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233" y="1172613"/>
            <a:ext cx="4800600" cy="4791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91049" y="1684084"/>
            <a:ext cx="27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9763" y="384140"/>
            <a:ext cx="6399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out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 flipH="1" flipV="1">
            <a:off x="4711148" y="4601817"/>
            <a:ext cx="99391" cy="268357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/>
          <p:cNvCxnSpPr/>
          <p:nvPr/>
        </p:nvCxnSpPr>
        <p:spPr bwMode="auto">
          <a:xfrm flipH="1" flipV="1">
            <a:off x="4701209" y="3597968"/>
            <a:ext cx="9939" cy="99391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连接符 8"/>
          <p:cNvCxnSpPr/>
          <p:nvPr/>
        </p:nvCxnSpPr>
        <p:spPr bwMode="auto">
          <a:xfrm flipV="1">
            <a:off x="4850297" y="2902226"/>
            <a:ext cx="39755" cy="45720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/>
          <p:cNvCxnSpPr/>
          <p:nvPr/>
        </p:nvCxnSpPr>
        <p:spPr bwMode="auto">
          <a:xfrm>
            <a:off x="4870175" y="2892288"/>
            <a:ext cx="974034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5844209" y="2902226"/>
            <a:ext cx="0" cy="824949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15"/>
          <p:cNvSpPr txBox="1"/>
          <p:nvPr/>
        </p:nvSpPr>
        <p:spPr>
          <a:xfrm>
            <a:off x="2206487" y="260204"/>
            <a:ext cx="3637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SREG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外部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  <a:sym typeface="Wingdings" panose="05000000000000000000" pitchFamily="2" charset="2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 flipV="1">
            <a:off x="4701209" y="3359428"/>
            <a:ext cx="149088" cy="23854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/>
          <p:nvPr/>
        </p:nvCxnSpPr>
        <p:spPr bwMode="auto">
          <a:xfrm>
            <a:off x="5844209" y="3727175"/>
            <a:ext cx="616226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943480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18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233" y="1172613"/>
            <a:ext cx="4800600" cy="47910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09763" y="384140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HALT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46853" y="402423"/>
            <a:ext cx="969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停机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91049" y="1684084"/>
            <a:ext cx="27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58289" y="1453251"/>
            <a:ext cx="3637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27948" y="729227"/>
            <a:ext cx="20674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执行停机指令后，不再取值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75164" y="1653534"/>
            <a:ext cx="363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85313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CEFEAF-B860-27CD-4CF7-74C8B0AB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43EB82-4E7B-F7BB-4258-6F0B2973B6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19</a:t>
            </a:fld>
            <a:endParaRPr lang="en-US" altLang="zh-CN">
              <a:solidFill>
                <a:schemeClr val="bg2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E52336-FFC3-1E32-6E7B-83D645BCA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862156"/>
              </p:ext>
            </p:extLst>
          </p:nvPr>
        </p:nvGraphicFramePr>
        <p:xfrm>
          <a:off x="359532" y="1192540"/>
          <a:ext cx="8424936" cy="4541520"/>
        </p:xfrm>
        <a:graphic>
          <a:graphicData uri="http://schemas.openxmlformats.org/drawingml/2006/table">
            <a:tbl>
              <a:tblPr firstRow="1" firstCol="1" bandRow="1"/>
              <a:tblGrid>
                <a:gridCol w="730111">
                  <a:extLst>
                    <a:ext uri="{9D8B030D-6E8A-4147-A177-3AD203B41FA5}">
                      <a16:colId xmlns:a16="http://schemas.microsoft.com/office/drawing/2014/main" val="1619237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5434853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7491524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76832268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79546116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24600492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788166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3240287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9273989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07016944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6421547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89697743"/>
                    </a:ext>
                  </a:extLst>
                </a:gridCol>
                <a:gridCol w="518482">
                  <a:extLst>
                    <a:ext uri="{9D8B030D-6E8A-4147-A177-3AD203B41FA5}">
                      <a16:colId xmlns:a16="http://schemas.microsoft.com/office/drawing/2014/main" val="605426352"/>
                    </a:ext>
                  </a:extLst>
                </a:gridCol>
                <a:gridCol w="515603">
                  <a:extLst>
                    <a:ext uri="{9D8B030D-6E8A-4147-A177-3AD203B41FA5}">
                      <a16:colId xmlns:a16="http://schemas.microsoft.com/office/drawing/2014/main" val="3280519212"/>
                    </a:ext>
                  </a:extLst>
                </a:gridCol>
                <a:gridCol w="348493">
                  <a:extLst>
                    <a:ext uri="{9D8B030D-6E8A-4147-A177-3AD203B41FA5}">
                      <a16:colId xmlns:a16="http://schemas.microsoft.com/office/drawing/2014/main" val="298325676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37038846"/>
                    </a:ext>
                  </a:extLst>
                </a:gridCol>
                <a:gridCol w="767631">
                  <a:extLst>
                    <a:ext uri="{9D8B030D-6E8A-4147-A177-3AD203B41FA5}">
                      <a16:colId xmlns:a16="http://schemas.microsoft.com/office/drawing/2014/main" val="324736256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sz="1600" kern="100">
                          <a:effectLst/>
                        </a:rPr>
                        <a:t>控制</a:t>
                      </a:r>
                    </a:p>
                    <a:p>
                      <a:pPr algn="ctr">
                        <a:buNone/>
                      </a:pPr>
                      <a:r>
                        <a:rPr lang="zh-CN" sz="1600" kern="100">
                          <a:effectLst/>
                        </a:rPr>
                        <a:t>信号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LD_</a:t>
                      </a:r>
                      <a:endParaRPr lang="zh-CN" sz="16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PC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IN_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PC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S2</a:t>
                      </a:r>
                      <a:r>
                        <a:rPr lang="zh-CN" sz="1600" kern="100">
                          <a:effectLst/>
                        </a:rPr>
                        <a:t>、</a:t>
                      </a:r>
                      <a:r>
                        <a:rPr lang="en-US" sz="1600" kern="100">
                          <a:effectLst/>
                        </a:rPr>
                        <a:t>S1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WR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RE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LD_</a:t>
                      </a:r>
                      <a:endParaRPr lang="zh-CN" sz="16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IR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SM_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EN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S0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SR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DR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WE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AU_</a:t>
                      </a:r>
                      <a:endParaRPr lang="zh-CN" sz="16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EN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AC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G_</a:t>
                      </a:r>
                      <a:endParaRPr lang="zh-CN" sz="16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EN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OUT</a:t>
                      </a:r>
                      <a:endParaRPr lang="zh-CN" sz="1600" kern="1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_EN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altLang="zh-CN" sz="1800" kern="100">
                          <a:effectLst/>
                        </a:rPr>
                        <a:t>IN_EN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616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sz="1600" kern="100">
                          <a:effectLst/>
                        </a:rPr>
                        <a:t>取指</a:t>
                      </a:r>
                    </a:p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(SM=0)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6497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MOVA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08497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MOVB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1400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MOVC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36867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MOVD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17395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ADD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Rs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Rd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1000 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 dirty="0">
                          <a:effectLst/>
                        </a:rPr>
                        <a:t>01 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16408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SUB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41788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JMP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7545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JG (T)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169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JG (F)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264228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IN1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9216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OUT1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0595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MOVI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>
                          <a:effectLst/>
                        </a:rPr>
                        <a:t> 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31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HALT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25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1997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6965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3B5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813625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3BCCA1FE-F585-43D4-68EA-675E3F47BAA3}"/>
              </a:ext>
            </a:extLst>
          </p:cNvPr>
          <p:cNvSpPr/>
          <p:nvPr/>
        </p:nvSpPr>
        <p:spPr>
          <a:xfrm>
            <a:off x="359980" y="3253754"/>
            <a:ext cx="8424488" cy="272778"/>
          </a:xfrm>
          <a:prstGeom prst="roundRect">
            <a:avLst/>
          </a:prstGeom>
          <a:noFill/>
          <a:ln w="25400" cap="flat" cmpd="sng" algn="ctr">
            <a:solidFill>
              <a:srgbClr val="9D21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5F3FD3-037B-484E-54DB-2893A9418C14}"/>
              </a:ext>
            </a:extLst>
          </p:cNvPr>
          <p:cNvSpPr/>
          <p:nvPr/>
        </p:nvSpPr>
        <p:spPr>
          <a:xfrm>
            <a:off x="6059001" y="1184928"/>
            <a:ext cx="515597" cy="4549132"/>
          </a:xfrm>
          <a:prstGeom prst="roundRect">
            <a:avLst/>
          </a:prstGeom>
          <a:noFill/>
          <a:ln w="25400" cap="flat" cmpd="sng" algn="ctr">
            <a:solidFill>
              <a:srgbClr val="9D21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0FC897-236E-1101-0188-813736912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60" y="401465"/>
            <a:ext cx="4291698" cy="608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3200" b="0" dirty="0">
                <a:solidFill>
                  <a:srgbClr val="0000FF"/>
                </a:solidFill>
                <a:ea typeface="华文新魏" panose="02010800040101010101" pitchFamily="2" charset="-122"/>
              </a:rPr>
              <a:t>控制信号产生逻辑示例</a:t>
            </a:r>
            <a:endParaRPr lang="en-US" altLang="zh-CN" b="0" dirty="0">
              <a:solidFill>
                <a:srgbClr val="0000FF"/>
              </a:solidFill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3B88B7D-4700-2228-AE4E-074AECC0D696}"/>
                  </a:ext>
                </a:extLst>
              </p:cNvPr>
              <p:cNvSpPr txBox="1"/>
              <p:nvPr/>
            </p:nvSpPr>
            <p:spPr>
              <a:xfrm>
                <a:off x="1957560" y="5803081"/>
                <a:ext cx="58338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ea typeface="Cambria Math" panose="02040503050406030204" pitchFamily="18" charset="0"/>
                  </a:rPr>
                  <a:t>AU_EN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𝑀𝑂𝑉𝐴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𝑀𝑂𝑉𝐵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𝑂𝑈𝑇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𝑆𝑈𝐵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𝐴𝐷𝐷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3B88B7D-4700-2228-AE4E-074AECC0D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560" y="5803081"/>
                <a:ext cx="5833890" cy="400110"/>
              </a:xfrm>
              <a:prstGeom prst="rect">
                <a:avLst/>
              </a:prstGeom>
              <a:blipFill>
                <a:blip r:embed="rId2"/>
                <a:stretch>
                  <a:fillRect l="-1045" t="-9091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0537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9C02B1-BE64-BE09-053C-059D7A12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A68611D-9177-4416-2D9F-2E5B60EC21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20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68A62D6-8A64-D241-1FDC-CF0C03FBF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60" y="401465"/>
            <a:ext cx="4291698" cy="608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3200" b="0" dirty="0">
                <a:solidFill>
                  <a:srgbClr val="0000FF"/>
                </a:solidFill>
                <a:ea typeface="华文新魏" panose="02010800040101010101" pitchFamily="2" charset="-122"/>
              </a:rPr>
              <a:t>控制信号产生逻辑示例</a:t>
            </a:r>
            <a:endParaRPr lang="en-US" altLang="zh-CN" b="0" dirty="0">
              <a:solidFill>
                <a:srgbClr val="0000FF"/>
              </a:solidFill>
              <a:ea typeface="华文新魏" panose="020108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16BB9E-DC7E-AC98-4650-1BAAAACCC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60" y="1402261"/>
            <a:ext cx="1624505" cy="346630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A664075-9324-F307-9DAE-0208DC931F2B}"/>
              </a:ext>
            </a:extLst>
          </p:cNvPr>
          <p:cNvSpPr txBox="1"/>
          <p:nvPr/>
        </p:nvSpPr>
        <p:spPr>
          <a:xfrm>
            <a:off x="4262610" y="1500194"/>
            <a:ext cx="4553678" cy="14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AU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算术单元的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AU_EN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在执行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ADD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SUB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MOVA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MOVB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OUT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指令时有为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AU_EN</a:t>
            </a:r>
            <a:r>
              <a:rPr lang="zh-CN" altLang="en-US" sz="2000" dirty="0">
                <a:ea typeface="华文新魏" panose="02010800040101010101" pitchFamily="2" charset="-122"/>
                <a:cs typeface="Times New Roman" panose="02020603050405020304" pitchFamily="18" charset="0"/>
              </a:rPr>
              <a:t>的控制逻辑为：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E108C4-B7F2-C6E8-C46C-1DE320A6A2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997" y="1500194"/>
            <a:ext cx="1687708" cy="36215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9CA759-CE95-5B71-D545-3FB7D779081A}"/>
                  </a:ext>
                </a:extLst>
              </p:cNvPr>
              <p:cNvSpPr txBox="1"/>
              <p:nvPr/>
            </p:nvSpPr>
            <p:spPr>
              <a:xfrm>
                <a:off x="2014710" y="5296863"/>
                <a:ext cx="58338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ea typeface="Cambria Math" panose="02040503050406030204" pitchFamily="18" charset="0"/>
                  </a:rPr>
                  <a:t>AU_EN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𝑀𝑂𝑉𝐴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𝑀𝑂𝑉𝐵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𝑂𝑈𝑇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𝑆𝑈𝐵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𝐴𝐷𝐷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9CA759-CE95-5B71-D545-3FB7D7790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710" y="5296863"/>
                <a:ext cx="5833890" cy="400110"/>
              </a:xfrm>
              <a:prstGeom prst="rect">
                <a:avLst/>
              </a:prstGeom>
              <a:blipFill>
                <a:blip r:embed="rId4"/>
                <a:stretch>
                  <a:fillRect l="-1044" t="-9091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2820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21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5450" y="22740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zh-CN" sz="2400" kern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、搭建“读取指令”数据通路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5" y="746369"/>
            <a:ext cx="8298589" cy="353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66" y="4691063"/>
            <a:ext cx="3028950" cy="1581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541" y="4340065"/>
            <a:ext cx="36385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57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F15163-D9F7-49F6-9541-1EA7598A3AAB}" type="datetime1">
              <a:rPr lang="zh-CN" altLang="en-US" smtClean="0"/>
              <a:t>2025/12/12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A2FA0-6270-4B8B-8717-CBA49AB2A51A}" type="slidenum">
              <a:rPr lang="en-US" altLang="zh-CN" smtClean="0"/>
              <a:pPr>
                <a:defRPr/>
              </a:pPr>
              <a:t>22</a:t>
            </a:fld>
            <a:endParaRPr lang="en-US" altLang="zh-CN">
              <a:solidFill>
                <a:schemeClr val="bg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696" y="1530220"/>
            <a:ext cx="9202383" cy="328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1464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9729</TotalTime>
  <Words>936</Words>
  <Application>Microsoft Office PowerPoint</Application>
  <PresentationFormat>全屏显示(4:3)</PresentationFormat>
  <Paragraphs>359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华文新魏</vt:lpstr>
      <vt:lpstr>Arial</vt:lpstr>
      <vt:lpstr>Calibri</vt:lpstr>
      <vt:lpstr>Cambria Math</vt:lpstr>
      <vt:lpstr>Times New Roman</vt:lpstr>
      <vt:lpstr>Wingdings</vt:lpstr>
      <vt:lpstr>默认设计模板</vt:lpstr>
      <vt:lpstr>BMP 图象</vt:lpstr>
      <vt:lpstr>第四次 小班讨论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湖南大学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引言1</dc:title>
  <dc:subject>教案</dc:subject>
  <dc:creator>邝继顺</dc:creator>
  <cp:lastModifiedBy>c c</cp:lastModifiedBy>
  <cp:revision>959</cp:revision>
  <cp:lastPrinted>1999-02-28T23:50:56Z</cp:lastPrinted>
  <dcterms:created xsi:type="dcterms:W3CDTF">1999-09-13T01:56:29Z</dcterms:created>
  <dcterms:modified xsi:type="dcterms:W3CDTF">2025-12-12T07:27:43Z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jshkuang@sina.com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D:\course\数字逻辑</vt:lpwstr>
  </property>
</Properties>
</file>