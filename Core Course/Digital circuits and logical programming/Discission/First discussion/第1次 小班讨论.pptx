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661" r:id="rId2"/>
    <p:sldId id="714" r:id="rId3"/>
    <p:sldId id="621" r:id="rId4"/>
    <p:sldId id="652" r:id="rId5"/>
    <p:sldId id="258" r:id="rId6"/>
    <p:sldId id="267" r:id="rId7"/>
    <p:sldId id="712" r:id="rId8"/>
    <p:sldId id="675" r:id="rId9"/>
    <p:sldId id="667" r:id="rId10"/>
    <p:sldId id="668" r:id="rId11"/>
    <p:sldId id="678" r:id="rId12"/>
    <p:sldId id="674" r:id="rId13"/>
    <p:sldId id="713" r:id="rId14"/>
  </p:sldIdLst>
  <p:sldSz cx="9144000" cy="6858000" type="screen4x3"/>
  <p:notesSz cx="7102475" cy="102314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q ling" initials="cl" lastIdx="1" clrIdx="0">
    <p:extLst>
      <p:ext uri="{19B8F6BF-5375-455C-9EA6-DF929625EA0E}">
        <p15:presenceInfo xmlns:p15="http://schemas.microsoft.com/office/powerpoint/2012/main" userId="727596e247d382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B0F0"/>
    <a:srgbClr val="FF0000"/>
    <a:srgbClr val="33FF33"/>
    <a:srgbClr val="FF3300"/>
    <a:srgbClr val="FF00FF"/>
    <a:srgbClr val="FFCC66"/>
    <a:srgbClr val="99CCFF"/>
    <a:srgbClr val="6B0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E697C5E-0D50-4B74-BA8C-2CA034AE73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8114E96-2351-4512-8842-31E778652B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3C3F5C4C-EE8F-4A26-B6FC-11F34AD6EF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67760228-D4CD-4337-A212-FDF5D7CDE1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C4075BE2-DFA6-40E3-8F08-75819412F0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484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2EBB650-189E-430B-B390-46AC957C0F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9263B8-6953-4F4A-924B-4B42B21EBE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427668-63C4-4DD2-A945-4A6E66468E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97A80AF-0D71-4DE1-B5EC-CCE101AB32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9338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5E54ECA-D06D-44AD-8C7D-241DDD316B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CFF48BA-F851-4AFB-AD0A-8DC4C0EC6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F43DF362-07B2-48E3-AFB3-0F3D81F19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414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F1FE091-A851-4964-95D7-AD52CC7E74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46E83C-131A-45AA-BE55-3B59ADD04E59}" type="slidenum">
              <a:rPr lang="en-US" altLang="zh-CN" sz="1300" smtClean="0"/>
              <a:pPr>
                <a:spcBef>
                  <a:spcPct val="0"/>
                </a:spcBef>
              </a:pPr>
              <a:t>4</a:t>
            </a:fld>
            <a:endParaRPr lang="en-US" altLang="zh-CN" sz="13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C074B6F-DAB6-4535-BF66-1DE82A028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4925" cy="3836987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322D014-FFE9-4EAD-8FBA-0C4440271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9678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03274C-7775-4050-89BB-5B251D83D0EC}" type="slidenum">
              <a:rPr kumimoji="1" lang="en-US" altLang="zh-CN" sz="13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01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E9169C2-F5CB-4737-B86B-9114F64089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BD29E-629F-4541-AA26-D33205972C65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294466-D776-4909-A623-DF6F74F64D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F94B5-8154-41DD-8A2D-701C60F106E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603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7A1808B-B0B3-4214-BF2C-4FAE3FDCD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CEF9D-44DB-4C8E-96D2-7C7C94BA3FE8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39A281D-8D56-44E5-9D51-4C4A4C28ED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1799-C419-413A-A7A7-74D9A1A3F76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9199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5578493-4355-44D0-B020-6247EDB8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3D5DC-76FE-4C01-8F00-7B16A589D4EC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71BAD6-9796-4EC6-9BA2-C21725F6E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3398B-0BD2-4A5D-93B4-46189001F7F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066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1B09D8-D657-4FDE-B98F-C63AB1C8D0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38A4-F592-4419-B152-385B6875979E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9416DC7-880C-4D9F-8E21-171802BAEA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F956A-2847-48CA-AE65-4CB1792ECDD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59233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26A960B-CA94-4533-A759-973AD6643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9AD57-8414-42C5-A5DC-0D340BE9D19B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EA961AC-2479-400E-9DFB-7A2FCBDFCA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F29FC-8280-463B-9EF7-557DF61CFAD4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1809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4888B6D-8867-409D-BDB5-46FC29B8C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656F5-B3A1-4BC8-9B0D-76B6159C459A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2753492-BD4E-469B-9FDA-045C3C9D6F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41BC0-0B8A-4FE2-9EC7-CC040C50523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9000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5A61748-F746-448A-9FCE-F8B7108408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8C1C-D31C-4858-9E86-8940F805140A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29C824F-F0F7-46D0-B6CD-71E52A8B60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A2FA0-6270-4B8B-8717-CBA49AB2A51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1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B2A20C-0A82-4378-A376-3F8D09114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74E84-C5FC-4D9F-8753-0915D03EB6D5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708EAE-9508-4FA7-A96E-1FB11D6668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92346-5E03-4040-9B82-692992C715B3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703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A58033-8A78-4A99-B8C8-0D1F81584D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A93E-3EAA-456D-84B4-1D6C810EBC0D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7D54F0A-949D-4325-B373-024150FA50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F12C9-1401-4B08-965E-4854B74C34C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4637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541385F-E50A-472C-905A-FA8FFA0383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3B5E4-FA87-4EC5-8B64-A1AB7AFD9E0B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BDC6CDB-7775-403C-B00A-07B5513A9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4741B-D4F7-4B9D-B28C-371470E845A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1429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06DAB86-BD1C-451C-80EF-1260E064F1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DADA5-A8C0-48CA-AD35-DFCC387024FC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977437-2205-4EA6-A798-C9B8BD470C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A686E-1575-4CE7-B830-124735DDD98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740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D9CAB14C-E507-4C7F-A67A-F8F86C5737F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D9CAB14C-E507-4C7F-A67A-F8F86C573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2">
            <a:extLst>
              <a:ext uri="{FF2B5EF4-FFF2-40B4-BE49-F238E27FC236}">
                <a16:creationId xmlns:a16="http://schemas.microsoft.com/office/drawing/2014/main" id="{67753B18-590F-439D-B7E5-01D5C06BDD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charset="0"/>
              </a:defRPr>
            </a:lvl1pPr>
          </a:lstStyle>
          <a:p>
            <a:pPr>
              <a:defRPr/>
            </a:pPr>
            <a:fld id="{962AD747-7D7A-4C63-846B-325074CA8156}" type="datetime1">
              <a:rPr lang="zh-CN" altLang="en-US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0EE4D5A-66EC-4CD0-AFCF-3CC7B2B4C9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85A0D7-4B3D-4E8C-AB18-6D9FE61F43A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29" name="Rectangle 16">
            <a:extLst>
              <a:ext uri="{FF2B5EF4-FFF2-40B4-BE49-F238E27FC236}">
                <a16:creationId xmlns:a16="http://schemas.microsoft.com/office/drawing/2014/main" id="{591B208F-F4A7-4742-8326-704959DBB7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73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2.png"/><Relationship Id="rId12" Type="http://schemas.openxmlformats.org/officeDocument/2006/relationships/image" Target="../media/image1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81.png"/><Relationship Id="rId11" Type="http://schemas.openxmlformats.org/officeDocument/2006/relationships/image" Target="../media/image15.png"/><Relationship Id="rId5" Type="http://schemas.openxmlformats.org/officeDocument/2006/relationships/image" Target="../media/image70.png"/><Relationship Id="rId10" Type="http://schemas.openxmlformats.org/officeDocument/2006/relationships/image" Target="../media/image90.png"/><Relationship Id="rId4" Type="http://schemas.openxmlformats.org/officeDocument/2006/relationships/image" Target="../media/image14.png"/><Relationship Id="rId9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0.png"/><Relationship Id="rId7" Type="http://schemas.openxmlformats.org/officeDocument/2006/relationships/image" Target="../media/image56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3E83A-5A7D-4FD7-818F-B1E5E579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07910"/>
            <a:ext cx="7772400" cy="1470025"/>
          </a:xfrm>
        </p:spPr>
        <p:txBody>
          <a:bodyPr/>
          <a:lstStyle/>
          <a:p>
            <a:r>
              <a:rPr lang="zh-CN" altLang="en-US" sz="8800" b="1" kern="12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第一次</a:t>
            </a:r>
            <a:br>
              <a:rPr lang="en-US" altLang="zh-CN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br>
            <a:r>
              <a:rPr lang="zh-CN" altLang="en-US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小班讨论</a:t>
            </a:r>
          </a:p>
        </p:txBody>
      </p:sp>
    </p:spTree>
    <p:extLst>
      <p:ext uri="{BB962C8B-B14F-4D97-AF65-F5344CB8AC3E}">
        <p14:creationId xmlns:p14="http://schemas.microsoft.com/office/powerpoint/2010/main" val="4919043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0604B-9491-E442-EDEB-6C8F1170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0FC0C9-CB72-D0FE-FBA5-03F5FE03F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8668D7-EC43-52B3-EE2F-D5A400CA1ECE}"/>
              </a:ext>
            </a:extLst>
          </p:cNvPr>
          <p:cNvSpPr txBox="1"/>
          <p:nvPr/>
        </p:nvSpPr>
        <p:spPr>
          <a:xfrm>
            <a:off x="541655" y="521365"/>
            <a:ext cx="80606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>
                <a:ea typeface="华文新魏" pitchFamily="2" charset="-122"/>
              </a:rPr>
              <a:t>2</a:t>
            </a:r>
            <a:r>
              <a:rPr lang="zh-CN" altLang="zh-CN" sz="2400" b="0">
                <a:ea typeface="华文新魏" pitchFamily="2" charset="-122"/>
              </a:rPr>
              <a:t>、搭建一个电压源、电阻及压控电阻串联的电路，构造控制电压与压控电阻不同的连接方式（使电阻增加或减少），调节控制电压的大小，测试电路中电流的变化。</a:t>
            </a:r>
            <a:endParaRPr lang="zh-CN" altLang="en-US" sz="2400" b="0">
              <a:ea typeface="华文新魏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2417C0-AD24-BBE3-326D-371D67A0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5" y="3235960"/>
            <a:ext cx="3589744" cy="23471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48FDA81-1903-6672-8CD1-9311CA1D061C}"/>
              </a:ext>
            </a:extLst>
          </p:cNvPr>
          <p:cNvSpPr txBox="1"/>
          <p:nvPr/>
        </p:nvSpPr>
        <p:spPr>
          <a:xfrm>
            <a:off x="220818" y="2021349"/>
            <a:ext cx="35897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0087" lvl="1" indent="-342900" eaLnBrk="1" hangingPunct="1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控制电压与压控电阻控制端正接，电路总电阻增加</a:t>
            </a:r>
            <a:endParaRPr kumimoji="0" lang="zh-CN" altLang="en-US" sz="2200" b="0" baseline="-25000" dirty="0">
              <a:solidFill>
                <a:srgbClr val="000000"/>
              </a:solidFill>
              <a:ea typeface="华文新魏" panose="0201080004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D521DA9-9118-33C8-0C02-06C67B583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245" y="3235959"/>
            <a:ext cx="3589745" cy="236657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B836F2F-ACCF-574F-A15B-F6C10DA6F81D}"/>
              </a:ext>
            </a:extLst>
          </p:cNvPr>
          <p:cNvSpPr txBox="1"/>
          <p:nvPr/>
        </p:nvSpPr>
        <p:spPr>
          <a:xfrm>
            <a:off x="4244178" y="2021349"/>
            <a:ext cx="35897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0087" lvl="1" indent="-342900" eaLnBrk="1" hangingPunct="1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控制电压与压控电阻控制端反接，电路总电阻减少</a:t>
            </a:r>
            <a:endParaRPr kumimoji="0" lang="zh-CN" altLang="en-US" sz="2200" b="0" baseline="-25000" dirty="0">
              <a:solidFill>
                <a:srgbClr val="000000"/>
              </a:solidFill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1AFBA-80D4-4985-A288-0ECCF96041A1}" type="datetime1">
              <a:rPr lang="zh-CN" altLang="en-US" smtClean="0"/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968D8F-862E-4E9C-9A63-D0A84FED6CF8}" type="slidenum">
              <a:rPr lang="en-US" altLang="zh-CN"/>
              <a:t>3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52450" y="63992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algn="l" defTabSz="914400" rtl="0" eaLnBrk="1" latinLnBrk="0" hangingPunct="1">
              <a:spcBef>
                <a:spcPct val="50000"/>
              </a:spcBef>
              <a:defRPr sz="1400" b="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A1AFBA-80D4-4985-A288-0ECCF96041A1}" type="datetime1">
              <a:rPr lang="zh-CN" altLang="en-US" smtClean="0"/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51650" y="63992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algn="r" defTabSz="914400" rtl="0" eaLnBrk="1" latinLnBrk="0" hangingPunct="1">
              <a:spcBef>
                <a:spcPct val="50000"/>
              </a:spcBef>
              <a:defRPr sz="1400" b="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0968D8F-862E-4E9C-9A63-D0A84FED6CF8}" type="slidenum">
              <a:rPr lang="en-US" altLang="zh-CN" smtClean="0"/>
              <a:t>3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3250" y="365240"/>
            <a:ext cx="77711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>
                <a:ea typeface="华文新魏" pitchFamily="2" charset="-122"/>
              </a:rPr>
              <a:t>3</a:t>
            </a:r>
            <a:r>
              <a:rPr lang="zh-CN" altLang="en-US" sz="2400" b="0">
                <a:ea typeface="华文新魏" pitchFamily="2" charset="-122"/>
              </a:rPr>
              <a:t>、</a:t>
            </a:r>
            <a:r>
              <a:rPr lang="en-US" altLang="zh-CN" sz="2400" b="0">
                <a:ea typeface="华文新魏" pitchFamily="2" charset="-122"/>
              </a:rPr>
              <a:t>MOSFET</a:t>
            </a:r>
            <a:r>
              <a:rPr lang="zh-CN" altLang="en-US" sz="2400" b="0">
                <a:ea typeface="华文新魏" pitchFamily="2" charset="-122"/>
              </a:rPr>
              <a:t>特性</a:t>
            </a:r>
            <a:endParaRPr lang="zh-CN" altLang="en-US" sz="2400" b="0" dirty="0">
              <a:ea typeface="华文新魏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33" y="1255729"/>
            <a:ext cx="2538033" cy="17740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50" y="4039182"/>
            <a:ext cx="3923773" cy="2088061"/>
          </a:xfrm>
          <a:prstGeom prst="rect">
            <a:avLst/>
          </a:prstGeom>
        </p:spPr>
      </p:pic>
      <p:sp>
        <p:nvSpPr>
          <p:cNvPr id="16" name="Text Box 1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98403" y="907967"/>
            <a:ext cx="450322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8775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200" b="0" dirty="0"/>
              <a:t> 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V1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从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变到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10V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，电流</a:t>
            </a:r>
            <a:r>
              <a:rPr kumimoji="0" lang="en-US" altLang="zh-CN" sz="2200" b="0" dirty="0" err="1">
                <a:ea typeface="华文新魏" panose="02010800040101010101" pitchFamily="2" charset="-122"/>
              </a:rPr>
              <a:t>i</a:t>
            </a:r>
            <a:r>
              <a:rPr kumimoji="0" lang="en-US" altLang="zh-CN" sz="2200" b="0" baseline="-25000" dirty="0" err="1">
                <a:ea typeface="华文新魏" panose="02010800040101010101" pitchFamily="2" charset="-122"/>
              </a:rPr>
              <a:t>gs</a:t>
            </a:r>
            <a:endParaRPr kumimoji="0" lang="en-US" altLang="zh-CN" sz="2200" b="0" dirty="0">
              <a:ea typeface="华文新魏" panose="02010800040101010101" pitchFamily="2" charset="-122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047" y="3414061"/>
            <a:ext cx="450322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8775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200" b="0" dirty="0"/>
              <a:t> 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V2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从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变到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10V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，电流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i</a:t>
            </a:r>
            <a:r>
              <a:rPr kumimoji="0" lang="en-US" altLang="zh-CN" sz="2200" b="0" baseline="-25000" dirty="0">
                <a:ea typeface="华文新魏" panose="02010800040101010101" pitchFamily="2" charset="-122"/>
              </a:rPr>
              <a:t>ds</a:t>
            </a:r>
            <a:endParaRPr kumimoji="0" lang="en-US" altLang="zh-CN" sz="2200" b="0" dirty="0">
              <a:ea typeface="华文新魏" panose="02010800040101010101" pitchFamily="2" charset="-122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233915" y="3337000"/>
            <a:ext cx="465646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8775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200" b="0" dirty="0"/>
              <a:t> 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V1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从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变到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6V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，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V2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从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变</a:t>
            </a:r>
            <a:endParaRPr kumimoji="0" lang="en-US" altLang="zh-CN" sz="2200" b="0" dirty="0">
              <a:ea typeface="华文新魏" panose="02010800040101010101" pitchFamily="2" charset="-122"/>
            </a:endParaRPr>
          </a:p>
          <a:p>
            <a:pPr lvl="1" eaLnBrk="1" hangingPunct="1">
              <a:spcBef>
                <a:spcPts val="0"/>
              </a:spcBef>
              <a:buClr>
                <a:srgbClr val="0000FF"/>
              </a:buClr>
            </a:pPr>
            <a:r>
              <a:rPr kumimoji="0" lang="zh-CN" altLang="en-US" sz="2200" b="0" dirty="0">
                <a:ea typeface="华文新魏" panose="02010800040101010101" pitchFamily="2" charset="-122"/>
              </a:rPr>
              <a:t>到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10V</a:t>
            </a:r>
            <a:r>
              <a:rPr kumimoji="0" lang="zh-CN" altLang="en-US" sz="2200" b="0" dirty="0">
                <a:ea typeface="华文新魏" panose="02010800040101010101" pitchFamily="2" charset="-122"/>
              </a:rPr>
              <a:t>，电流</a:t>
            </a:r>
            <a:r>
              <a:rPr kumimoji="0" lang="en-US" altLang="zh-CN" sz="2200" b="0" dirty="0">
                <a:ea typeface="华文新魏" panose="02010800040101010101" pitchFamily="2" charset="-122"/>
              </a:rPr>
              <a:t>i</a:t>
            </a:r>
            <a:r>
              <a:rPr kumimoji="0" lang="en-US" altLang="zh-CN" sz="2200" b="0" baseline="-25000" dirty="0">
                <a:ea typeface="华文新魏" panose="02010800040101010101" pitchFamily="2" charset="-122"/>
              </a:rPr>
              <a:t>ds</a:t>
            </a:r>
            <a:endParaRPr kumimoji="0" lang="en-US" altLang="zh-CN" sz="2200" b="0" dirty="0">
              <a:ea typeface="华文新魏" panose="0201080004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328" y="4089340"/>
            <a:ext cx="4376377" cy="23770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6DE111D-8843-346F-657E-3F32126C32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0275" y="1311789"/>
            <a:ext cx="3830567" cy="2038772"/>
          </a:xfrm>
          <a:prstGeom prst="rect">
            <a:avLst/>
          </a:prstGeom>
        </p:spPr>
      </p:pic>
    </p:spTree>
  </p:cSld>
  <p:clrMapOvr>
    <a:masterClrMapping/>
  </p:clrMapOvr>
  <p:transition spd="med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1C39FE5-AC4C-AF61-0BFF-72FC2135FC5A}"/>
              </a:ext>
            </a:extLst>
          </p:cNvPr>
          <p:cNvSpPr/>
          <p:nvPr/>
        </p:nvSpPr>
        <p:spPr bwMode="auto">
          <a:xfrm>
            <a:off x="499621" y="3619893"/>
            <a:ext cx="3516198" cy="2422688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962" name="日期占位符 1">
            <a:extLst>
              <a:ext uri="{FF2B5EF4-FFF2-40B4-BE49-F238E27FC236}">
                <a16:creationId xmlns:a16="http://schemas.microsoft.com/office/drawing/2014/main" id="{C53C64DC-D0BC-4E21-B5F8-68B16DAC85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0A13D53-F279-474A-BE26-1D66CEE7CC4F}" type="datetime1">
              <a:rPr lang="zh-CN" altLang="en-US" sz="1400" b="0" smtClean="0">
                <a:solidFill>
                  <a:srgbClr val="FF0000"/>
                </a:solidFill>
                <a:latin typeface="Arial" panose="020B0604020202020204" pitchFamily="34" charset="0"/>
              </a:rPr>
              <a:pPr/>
              <a:t>2025/10/25</a:t>
            </a:fld>
            <a:endParaRPr lang="en-US" altLang="zh-CN" sz="14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0963" name="灯片编号占位符 2">
            <a:extLst>
              <a:ext uri="{FF2B5EF4-FFF2-40B4-BE49-F238E27FC236}">
                <a16:creationId xmlns:a16="http://schemas.microsoft.com/office/drawing/2014/main" id="{757064D3-D2EF-4771-8C48-60FF3FD4D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216F81-E41B-4CF2-AD23-B8E86D669F41}" type="slidenum">
              <a:rPr lang="en-US" altLang="zh-CN" sz="1400" b="0" smtClean="0">
                <a:solidFill>
                  <a:srgbClr val="FF0000"/>
                </a:solidFill>
                <a:latin typeface="Arial" panose="020B0604020202020204" pitchFamily="34" charset="0"/>
              </a:rPr>
              <a:pPr/>
              <a:t>4</a:t>
            </a:fld>
            <a:r>
              <a:rPr lang="en-US" altLang="zh-CN" sz="1400" b="0" dirty="0">
                <a:solidFill>
                  <a:srgbClr val="FF0000"/>
                </a:solidFill>
                <a:latin typeface="Arial" panose="020B0604020202020204" pitchFamily="34" charset="0"/>
              </a:rPr>
              <a:t>/40</a:t>
            </a:r>
            <a:endParaRPr lang="en-US" altLang="zh-CN" sz="1400" b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DCA7A-E59D-D9F9-907F-BBA5BB9EF43F}"/>
              </a:ext>
            </a:extLst>
          </p:cNvPr>
          <p:cNvSpPr txBox="1"/>
          <p:nvPr/>
        </p:nvSpPr>
        <p:spPr>
          <a:xfrm>
            <a:off x="425450" y="263561"/>
            <a:ext cx="84411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>
                <a:ea typeface="华文新魏" pitchFamily="2" charset="-122"/>
              </a:rPr>
              <a:t>4</a:t>
            </a:r>
            <a:r>
              <a:rPr lang="zh-CN" altLang="en-US" sz="2400" b="0">
                <a:ea typeface="华文新魏" pitchFamily="2" charset="-122"/>
              </a:rPr>
              <a:t>、</a:t>
            </a:r>
            <a:r>
              <a:rPr lang="zh-CN" altLang="zh-CN" sz="2400" b="0">
                <a:ea typeface="华文新魏" pitchFamily="2" charset="-122"/>
              </a:rPr>
              <a:t>电子秤的电桥电路可以分别用</a:t>
            </a:r>
            <a:r>
              <a:rPr lang="en-US" altLang="zh-CN" sz="2400" b="0">
                <a:ea typeface="华文新魏" pitchFamily="2" charset="-122"/>
              </a:rPr>
              <a:t>1</a:t>
            </a:r>
            <a:r>
              <a:rPr lang="zh-CN" altLang="zh-CN" sz="2400" b="0">
                <a:ea typeface="华文新魏" pitchFamily="2" charset="-122"/>
              </a:rPr>
              <a:t>个压控电阻、</a:t>
            </a:r>
            <a:r>
              <a:rPr lang="en-US" altLang="zh-CN" sz="2400" b="0">
                <a:ea typeface="华文新魏" pitchFamily="2" charset="-122"/>
              </a:rPr>
              <a:t>2</a:t>
            </a:r>
            <a:r>
              <a:rPr lang="zh-CN" altLang="zh-CN" sz="2400" b="0">
                <a:ea typeface="华文新魏" pitchFamily="2" charset="-122"/>
              </a:rPr>
              <a:t>个压控电阻、</a:t>
            </a:r>
            <a:r>
              <a:rPr lang="en-US" altLang="zh-CN" sz="2400" b="0">
                <a:ea typeface="华文新魏" pitchFamily="2" charset="-122"/>
              </a:rPr>
              <a:t>3</a:t>
            </a:r>
            <a:r>
              <a:rPr lang="zh-CN" altLang="zh-CN" sz="2400" b="0">
                <a:ea typeface="华文新魏" pitchFamily="2" charset="-122"/>
              </a:rPr>
              <a:t>个压控电阻、</a:t>
            </a:r>
            <a:r>
              <a:rPr lang="en-US" altLang="zh-CN" sz="2400" b="0">
                <a:ea typeface="华文新魏" pitchFamily="2" charset="-122"/>
              </a:rPr>
              <a:t>4</a:t>
            </a:r>
            <a:r>
              <a:rPr lang="zh-CN" altLang="zh-CN" sz="2400" b="0">
                <a:ea typeface="华文新魏" pitchFamily="2" charset="-122"/>
              </a:rPr>
              <a:t>个压控电阻实现吗？试写出每种实现的输出表达式，并分析哪种实现电桥电压的灵敏度（</a:t>
            </a:r>
            <a:r>
              <a:rPr lang="en-US" altLang="zh-CN" sz="2400" b="0">
                <a:ea typeface="华文新魏" pitchFamily="2" charset="-122"/>
              </a:rPr>
              <a:t>S=V/△R</a:t>
            </a:r>
            <a:r>
              <a:rPr lang="zh-CN" altLang="zh-CN" sz="2400" b="0">
                <a:ea typeface="华文新魏" pitchFamily="2" charset="-122"/>
              </a:rPr>
              <a:t>）高。（注：压力为</a:t>
            </a:r>
            <a:r>
              <a:rPr lang="en-US" altLang="zh-CN" sz="2400" b="0">
                <a:ea typeface="华文新魏" pitchFamily="2" charset="-122"/>
              </a:rPr>
              <a:t>0</a:t>
            </a:r>
            <a:r>
              <a:rPr lang="zh-CN" altLang="zh-CN" sz="2400" b="0">
                <a:ea typeface="华文新魏" pitchFamily="2" charset="-122"/>
              </a:rPr>
              <a:t>时，四个电阻</a:t>
            </a:r>
            <a:r>
              <a:rPr lang="en-US" altLang="zh-CN" sz="2400" b="0">
                <a:ea typeface="华文新魏" pitchFamily="2" charset="-122"/>
              </a:rPr>
              <a:t>R1</a:t>
            </a:r>
            <a:r>
              <a:rPr lang="zh-CN" altLang="zh-CN" sz="2400" b="0">
                <a:ea typeface="华文新魏" pitchFamily="2" charset="-122"/>
              </a:rPr>
              <a:t>、</a:t>
            </a:r>
            <a:r>
              <a:rPr lang="en-US" altLang="zh-CN" sz="2400" b="0">
                <a:ea typeface="华文新魏" pitchFamily="2" charset="-122"/>
              </a:rPr>
              <a:t>R2</a:t>
            </a:r>
            <a:r>
              <a:rPr lang="zh-CN" altLang="zh-CN" sz="2400" b="0">
                <a:ea typeface="华文新魏" pitchFamily="2" charset="-122"/>
              </a:rPr>
              <a:t>、</a:t>
            </a:r>
            <a:r>
              <a:rPr lang="en-US" altLang="zh-CN" sz="2400" b="0">
                <a:ea typeface="华文新魏" pitchFamily="2" charset="-122"/>
              </a:rPr>
              <a:t>R3</a:t>
            </a:r>
            <a:r>
              <a:rPr lang="zh-CN" altLang="zh-CN" sz="2400" b="0">
                <a:ea typeface="华文新魏" pitchFamily="2" charset="-122"/>
              </a:rPr>
              <a:t>、</a:t>
            </a:r>
            <a:r>
              <a:rPr lang="en-US" altLang="zh-CN" sz="2400" b="0">
                <a:ea typeface="华文新魏" pitchFamily="2" charset="-122"/>
              </a:rPr>
              <a:t>R4</a:t>
            </a:r>
            <a:r>
              <a:rPr lang="zh-CN" altLang="zh-CN" sz="2400" b="0">
                <a:ea typeface="华文新魏" pitchFamily="2" charset="-122"/>
              </a:rPr>
              <a:t>阻值相等）</a:t>
            </a:r>
            <a:endParaRPr lang="zh-CN" altLang="en-US" sz="2400" b="0">
              <a:ea typeface="华文新魏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72D756-3DDA-B041-5C7B-140FA733E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57" y="1833221"/>
            <a:ext cx="3277057" cy="20291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EFDF2B7-E85E-CD3F-485F-31EB0148E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093" y="1833221"/>
            <a:ext cx="5220429" cy="44583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2384F9-C50B-1C49-18E2-BBD7B23E6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48" y="4371849"/>
            <a:ext cx="232442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324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C2003C7-FB7E-6F8A-6AFB-C2C21FEA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69"/>
            <a:ext cx="9144000" cy="68841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CCB48F0-4761-894A-4B7E-D8B493657533}"/>
              </a:ext>
            </a:extLst>
          </p:cNvPr>
          <p:cNvSpPr txBox="1"/>
          <p:nvPr/>
        </p:nvSpPr>
        <p:spPr>
          <a:xfrm>
            <a:off x="404368" y="591312"/>
            <a:ext cx="64633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0">
                <a:ea typeface="华文新魏" pitchFamily="2" charset="-122"/>
              </a:rPr>
              <a:t>5</a:t>
            </a:r>
            <a:r>
              <a:rPr lang="zh-CN" altLang="en-US" sz="2400" b="0">
                <a:ea typeface="华文新魏" pitchFamily="2" charset="-122"/>
              </a:rPr>
              <a:t>、</a:t>
            </a:r>
          </a:p>
        </p:txBody>
      </p:sp>
    </p:spTree>
    <p:extLst>
      <p:ext uri="{BB962C8B-B14F-4D97-AF65-F5344CB8AC3E}">
        <p14:creationId xmlns:p14="http://schemas.microsoft.com/office/powerpoint/2010/main" val="39009492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D6F6C2-7264-4A38-7277-C72E4209D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2"/>
            <a:ext cx="9142663" cy="68590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E2565C8-D7D5-05A8-2D96-5858A9C59B93}"/>
                  </a:ext>
                </a:extLst>
              </p:cNvPr>
              <p:cNvSpPr txBox="1"/>
              <p:nvPr/>
            </p:nvSpPr>
            <p:spPr>
              <a:xfrm>
                <a:off x="1423448" y="4920792"/>
                <a:ext cx="642908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/>
                <a:r>
                  <a:rPr lang="zh-CN" altLang="en-US" sz="2400" b="0" dirty="0">
                    <a:solidFill>
                      <a:srgbClr val="0000FF"/>
                    </a:solidFill>
                    <a:ea typeface="华文新魏" pitchFamily="2" charset="-122"/>
                  </a:rPr>
                  <a:t>由此可见，如果直接放大，运放的电阻会影响电桥的输出，使得输出与</a:t>
                </a:r>
                <a14:m>
                  <m:oMath xmlns:m="http://schemas.openxmlformats.org/officeDocument/2006/math">
                    <m:r>
                      <a:rPr lang="en-US" altLang="zh-CN" sz="2400" b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∆</m:t>
                    </m:r>
                    <m:r>
                      <a:rPr lang="en-US" altLang="zh-CN" sz="2400" b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𝑹</m:t>
                    </m:r>
                    <m:r>
                      <a:rPr lang="zh-CN" altLang="en-US" sz="2400" b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、</m:t>
                    </m:r>
                  </m:oMath>
                </a14:m>
                <a:r>
                  <a:rPr lang="zh-CN" altLang="en-US" sz="2400" b="0" dirty="0">
                    <a:solidFill>
                      <a:srgbClr val="0000FF"/>
                    </a:solidFill>
                    <a:ea typeface="华文新魏" pitchFamily="2" charset="-122"/>
                  </a:rPr>
                  <a:t>控制电压</a:t>
                </a:r>
                <a:r>
                  <a:rPr lang="zh-CN" altLang="en-US" sz="2400" b="0">
                    <a:solidFill>
                      <a:srgbClr val="0000FF"/>
                    </a:solidFill>
                    <a:ea typeface="华文新魏" pitchFamily="2" charset="-122"/>
                  </a:rPr>
                  <a:t>间不再维持正比例</a:t>
                </a:r>
                <a:r>
                  <a:rPr lang="zh-CN" altLang="en-US" sz="2400" b="0" dirty="0">
                    <a:solidFill>
                      <a:srgbClr val="0000FF"/>
                    </a:solidFill>
                    <a:ea typeface="华文新魏" pitchFamily="2" charset="-122"/>
                  </a:rPr>
                  <a:t>关系。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E2565C8-D7D5-05A8-2D96-5858A9C59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448" y="4920792"/>
                <a:ext cx="6429080" cy="1200329"/>
              </a:xfrm>
              <a:prstGeom prst="rect">
                <a:avLst/>
              </a:prstGeom>
              <a:blipFill>
                <a:blip r:embed="rId3"/>
                <a:stretch>
                  <a:fillRect l="-1518" t="-4061" r="-569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59343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496522-8538-F41D-4622-10AB67570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3" y="1427764"/>
            <a:ext cx="1041526" cy="421747"/>
          </a:xfrm>
          <a:prstGeom prst="rect">
            <a:avLst/>
          </a:prstGeom>
        </p:spPr>
      </p:pic>
      <p:sp>
        <p:nvSpPr>
          <p:cNvPr id="34818" name="日期占位符 1">
            <a:extLst>
              <a:ext uri="{FF2B5EF4-FFF2-40B4-BE49-F238E27FC236}">
                <a16:creationId xmlns:a16="http://schemas.microsoft.com/office/drawing/2014/main" id="{688930BC-742C-4A6A-8AB7-99DACD253AB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22B29F-6DE7-4028-A33C-F7BFC9C6F55F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2025/10/25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灯片编号占位符 2">
            <a:extLst>
              <a:ext uri="{FF2B5EF4-FFF2-40B4-BE49-F238E27FC236}">
                <a16:creationId xmlns:a16="http://schemas.microsoft.com/office/drawing/2014/main" id="{DBB0AB9A-925F-4D9B-B58C-38AC9F042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2FEDFA-00C8-42B2-B638-6CF3D596BA72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/23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/>
              <p:cNvSpPr txBox="1"/>
              <p:nvPr/>
            </p:nvSpPr>
            <p:spPr>
              <a:xfrm>
                <a:off x="3546206" y="1060892"/>
                <a:ext cx="4888724" cy="724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𝑑𝑡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𝑜𝑚</m:t>
                          </m:r>
                        </m:sub>
                      </m:sSub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06" y="1060892"/>
                <a:ext cx="4888724" cy="7246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/>
              <p:cNvSpPr/>
              <p:nvPr/>
            </p:nvSpPr>
            <p:spPr>
              <a:xfrm>
                <a:off x="2881212" y="1819730"/>
                <a:ext cx="6378828" cy="816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𝑜𝑚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𝑟𝑒𝑓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𝑑𝑡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𝑜𝑚</m:t>
                          </m:r>
                        </m:sub>
                      </m:sSub>
                      <m:r>
                        <a:rPr lang="en-US" altLang="zh-CN" sz="2000" b="0" i="1" noProof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𝑟𝑒𝑓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212" y="1819730"/>
                <a:ext cx="6378828" cy="8169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/>
              <p:cNvSpPr/>
              <p:nvPr/>
            </p:nvSpPr>
            <p:spPr>
              <a:xfrm>
                <a:off x="3521075" y="2746575"/>
                <a:ext cx="4070725" cy="7208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𝑟𝑒𝑓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075" y="2746575"/>
                <a:ext cx="4070725" cy="7208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/>
              <p:cNvSpPr/>
              <p:nvPr/>
            </p:nvSpPr>
            <p:spPr>
              <a:xfrm>
                <a:off x="4345563" y="3664518"/>
                <a:ext cx="2262222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0" name="矩形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563" y="3664518"/>
                <a:ext cx="2262222" cy="4247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B60C6DB-2480-D9B0-E19F-8452EC330265}"/>
              </a:ext>
            </a:extLst>
          </p:cNvPr>
          <p:cNvSpPr txBox="1"/>
          <p:nvPr/>
        </p:nvSpPr>
        <p:spPr>
          <a:xfrm>
            <a:off x="382799" y="4230927"/>
            <a:ext cx="81496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7187" lvl="1" eaLnBrk="1" hangingPunct="1">
              <a:spcBef>
                <a:spcPts val="600"/>
              </a:spcBef>
              <a:buClr>
                <a:srgbClr val="0000FF"/>
              </a:buClr>
            </a:pP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用周期</a:t>
            </a:r>
            <a:r>
              <a:rPr kumimoji="0" lang="zh-CN" altLang="en-US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为</a:t>
            </a:r>
            <a:r>
              <a:rPr kumimoji="0" lang="en-US" altLang="zh-CN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T</a:t>
            </a: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的时钟信号对</a:t>
            </a:r>
            <a:r>
              <a:rPr kumimoji="0" lang="en-US" altLang="zh-CN" sz="2200" b="0">
                <a:solidFill>
                  <a:srgbClr val="000000"/>
                </a:solidFill>
                <a:ea typeface="华文新魏" panose="02010800040101010101" pitchFamily="2" charset="-122"/>
              </a:rPr>
              <a:t>T1</a:t>
            </a: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、</a:t>
            </a:r>
            <a:r>
              <a:rPr kumimoji="0" lang="en-US" altLang="zh-CN" sz="2200" b="0">
                <a:solidFill>
                  <a:srgbClr val="000000"/>
                </a:solidFill>
                <a:ea typeface="华文新魏" panose="02010800040101010101" pitchFamily="2" charset="-122"/>
              </a:rPr>
              <a:t>T2</a:t>
            </a:r>
            <a:r>
              <a:rPr kumimoji="0" lang="zh-CN" altLang="en-US" sz="2200" b="0">
                <a:solidFill>
                  <a:srgbClr val="000000"/>
                </a:solidFill>
                <a:ea typeface="华文新魏" panose="02010800040101010101" pitchFamily="2" charset="-122"/>
              </a:rPr>
              <a:t>计数，</a:t>
            </a:r>
            <a:r>
              <a:rPr kumimoji="0" lang="zh-CN" altLang="en-US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计数值分别为</a:t>
            </a:r>
            <a:r>
              <a:rPr kumimoji="0" lang="en-US" altLang="zh-CN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N</a:t>
            </a:r>
            <a:r>
              <a:rPr kumimoji="0" lang="en-US" altLang="zh-CN" sz="2200" b="0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1</a:t>
            </a:r>
            <a:r>
              <a:rPr kumimoji="0" lang="zh-CN" altLang="en-US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、</a:t>
            </a:r>
            <a:r>
              <a:rPr kumimoji="0" lang="en-US" altLang="zh-CN" sz="2200" b="0" dirty="0">
                <a:solidFill>
                  <a:srgbClr val="000000"/>
                </a:solidFill>
                <a:ea typeface="华文新魏" panose="02010800040101010101" pitchFamily="2" charset="-122"/>
              </a:rPr>
              <a:t>N</a:t>
            </a:r>
            <a:r>
              <a:rPr kumimoji="0" lang="en-US" altLang="zh-CN" sz="2200" b="0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2</a:t>
            </a:r>
            <a:endParaRPr kumimoji="0" lang="zh-CN" altLang="en-US" sz="2200" b="0" baseline="-25000" dirty="0">
              <a:solidFill>
                <a:srgbClr val="000000"/>
              </a:solidFill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148077-FE8B-3D66-CE79-CACC1A2A57CB}"/>
                  </a:ext>
                </a:extLst>
              </p:cNvPr>
              <p:cNvSpPr txBox="1"/>
              <p:nvPr/>
            </p:nvSpPr>
            <p:spPr>
              <a:xfrm>
                <a:off x="2194888" y="4802175"/>
                <a:ext cx="10752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000" b="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148077-FE8B-3D66-CE79-CACC1A2A5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88" y="4802175"/>
                <a:ext cx="1075230" cy="307777"/>
              </a:xfrm>
              <a:prstGeom prst="rect">
                <a:avLst/>
              </a:prstGeom>
              <a:blipFill>
                <a:blip r:embed="rId9"/>
                <a:stretch>
                  <a:fillRect l="-4545" r="-5114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441AB71-A4ED-60AA-AF4B-58298D9B1B7C}"/>
                  </a:ext>
                </a:extLst>
              </p:cNvPr>
              <p:cNvSpPr txBox="1"/>
              <p:nvPr/>
            </p:nvSpPr>
            <p:spPr>
              <a:xfrm>
                <a:off x="3477961" y="4792377"/>
                <a:ext cx="10871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000" b="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441AB71-A4ED-60AA-AF4B-58298D9B1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961" y="4792377"/>
                <a:ext cx="1087156" cy="307777"/>
              </a:xfrm>
              <a:prstGeom prst="rect">
                <a:avLst/>
              </a:prstGeom>
              <a:blipFill>
                <a:blip r:embed="rId10"/>
                <a:stretch>
                  <a:fillRect l="-5056" r="-4494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346D6A2-3533-324D-A8EC-6ACDE1EDF93B}"/>
                  </a:ext>
                </a:extLst>
              </p:cNvPr>
              <p:cNvSpPr txBox="1"/>
              <p:nvPr/>
            </p:nvSpPr>
            <p:spPr>
              <a:xfrm>
                <a:off x="1414921" y="5627706"/>
                <a:ext cx="6521529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57187" lvl="1" eaLnBrk="1" hangingPunct="1">
                  <a:spcBef>
                    <a:spcPts val="600"/>
                  </a:spcBef>
                  <a:buClr>
                    <a:srgbClr val="0000FF"/>
                  </a:buClr>
                </a:pPr>
                <a:r>
                  <a:rPr lang="zh-CN" altLang="en-US" sz="2200" dirty="0">
                    <a:solidFill>
                      <a:schemeClr val="tx1"/>
                    </a:solidFill>
                  </a:rPr>
                  <a:t> </a:t>
                </a:r>
                <a:r>
                  <a:rPr kumimoji="0" lang="en-US" altLang="zh-CN" sz="2200" b="0" dirty="0" err="1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V</a:t>
                </a:r>
                <a:r>
                  <a:rPr kumimoji="0" lang="en-US" altLang="zh-CN" sz="2200" b="0" baseline="-25000" dirty="0" err="1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ref</a:t>
                </a:r>
                <a:r>
                  <a:rPr kumimoji="0" lang="zh-CN" altLang="en-US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、</a:t>
                </a:r>
                <a:r>
                  <a:rPr kumimoji="0" lang="en-US" altLang="zh-CN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N</a:t>
                </a:r>
                <a:r>
                  <a:rPr kumimoji="0" lang="en-US" altLang="zh-CN" sz="2200" b="0" baseline="-2500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1</a:t>
                </a:r>
                <a:r>
                  <a:rPr kumimoji="0" lang="zh-CN" altLang="en-US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是定值，</a:t>
                </a:r>
                <a:r>
                  <a:rPr kumimoji="0" lang="en-US" altLang="zh-CN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 N</a:t>
                </a:r>
                <a:r>
                  <a:rPr kumimoji="0" lang="en-US" altLang="zh-CN" sz="2200" b="0" baseline="-2500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2</a:t>
                </a:r>
                <a:r>
                  <a:rPr kumimoji="0" lang="zh-CN" altLang="en-US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是模拟量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2200" b="0" dirty="0">
                    <a:solidFill>
                      <a:schemeClr val="tx1"/>
                    </a:solidFill>
                    <a:ea typeface="华文新魏" panose="02010800040101010101" pitchFamily="2" charset="-122"/>
                  </a:rPr>
                  <a:t>转换后的数字量</a:t>
                </a:r>
                <a:endParaRPr kumimoji="0" lang="zh-CN" altLang="en-US" sz="2200" b="0" baseline="-25000" dirty="0">
                  <a:solidFill>
                    <a:schemeClr val="tx1"/>
                  </a:solidFill>
                  <a:ea typeface="华文新魏" panose="02010800040101010101" pitchFamily="2" charset="-122"/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346D6A2-3533-324D-A8EC-6ACDE1EDF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921" y="5627706"/>
                <a:ext cx="6521529" cy="453137"/>
              </a:xfrm>
              <a:prstGeom prst="rect">
                <a:avLst/>
              </a:prstGeom>
              <a:blipFill>
                <a:blip r:embed="rId11"/>
                <a:stretch>
                  <a:fillRect t="-6667" r="-56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组合 84">
            <a:extLst>
              <a:ext uri="{FF2B5EF4-FFF2-40B4-BE49-F238E27FC236}">
                <a16:creationId xmlns:a16="http://schemas.microsoft.com/office/drawing/2014/main" id="{B3B6D876-041D-114B-9CE8-9B6B8086BB73}"/>
              </a:ext>
            </a:extLst>
          </p:cNvPr>
          <p:cNvGrpSpPr/>
          <p:nvPr/>
        </p:nvGrpSpPr>
        <p:grpSpPr>
          <a:xfrm>
            <a:off x="582722" y="1292111"/>
            <a:ext cx="2298490" cy="1791989"/>
            <a:chOff x="6526924" y="5070481"/>
            <a:chExt cx="2298490" cy="1791989"/>
          </a:xfrm>
        </p:grpSpPr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E1DC1AD8-CA22-51CC-5A5A-8EE23B2CA2BA}"/>
                </a:ext>
              </a:extLst>
            </p:cNvPr>
            <p:cNvCxnSpPr/>
            <p:nvPr/>
          </p:nvCxnSpPr>
          <p:spPr bwMode="auto">
            <a:xfrm>
              <a:off x="6526924" y="5654566"/>
              <a:ext cx="209747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776969A6-48E9-9B98-6215-38B69B9A22B9}"/>
                </a:ext>
              </a:extLst>
            </p:cNvPr>
            <p:cNvCxnSpPr/>
            <p:nvPr/>
          </p:nvCxnSpPr>
          <p:spPr bwMode="auto">
            <a:xfrm flipH="1" flipV="1">
              <a:off x="6713764" y="5230284"/>
              <a:ext cx="12160" cy="163218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8B0D54CB-C1AD-79AD-D340-220F7C37EF87}"/>
                </a:ext>
              </a:extLst>
            </p:cNvPr>
            <p:cNvSpPr txBox="1"/>
            <p:nvPr/>
          </p:nvSpPr>
          <p:spPr>
            <a:xfrm>
              <a:off x="8597466" y="5517933"/>
              <a:ext cx="2279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zh-CN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D03F9AC-0159-AB1B-AF74-2D7EEE71A5C1}"/>
                </a:ext>
              </a:extLst>
            </p:cNvPr>
            <p:cNvSpPr txBox="1"/>
            <p:nvPr/>
          </p:nvSpPr>
          <p:spPr>
            <a:xfrm>
              <a:off x="6549638" y="5070481"/>
              <a:ext cx="66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输出</a:t>
              </a:r>
            </a:p>
          </p:txBody>
        </p:sp>
      </p:grp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88A1F083-EC64-A8F4-B5AC-C4735168F07F}"/>
              </a:ext>
            </a:extLst>
          </p:cNvPr>
          <p:cNvCxnSpPr/>
          <p:nvPr/>
        </p:nvCxnSpPr>
        <p:spPr bwMode="auto">
          <a:xfrm>
            <a:off x="964378" y="1899827"/>
            <a:ext cx="450543" cy="55098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65439072-EDDB-87F3-4864-C6CE022515F5}"/>
              </a:ext>
            </a:extLst>
          </p:cNvPr>
          <p:cNvCxnSpPr/>
          <p:nvPr/>
        </p:nvCxnSpPr>
        <p:spPr bwMode="auto">
          <a:xfrm>
            <a:off x="957172" y="1885569"/>
            <a:ext cx="466375" cy="10675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CB579D07-7B8B-167E-FDAC-F70B151EABD1}"/>
              </a:ext>
            </a:extLst>
          </p:cNvPr>
          <p:cNvCxnSpPr>
            <a:endCxn id="108" idx="3"/>
          </p:cNvCxnSpPr>
          <p:nvPr/>
        </p:nvCxnSpPr>
        <p:spPr bwMode="auto">
          <a:xfrm flipV="1">
            <a:off x="1414921" y="1884690"/>
            <a:ext cx="354510" cy="56612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7F554AAB-43B4-50D8-7399-E9C60294C8C2}"/>
              </a:ext>
            </a:extLst>
          </p:cNvPr>
          <p:cNvCxnSpPr/>
          <p:nvPr/>
        </p:nvCxnSpPr>
        <p:spPr bwMode="auto">
          <a:xfrm flipV="1">
            <a:off x="1414921" y="1885451"/>
            <a:ext cx="666835" cy="106768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2E9F2D7D-98B9-1E66-9707-74D19C1B9C12}"/>
              </a:ext>
            </a:extLst>
          </p:cNvPr>
          <p:cNvGrpSpPr/>
          <p:nvPr/>
        </p:nvGrpSpPr>
        <p:grpSpPr>
          <a:xfrm>
            <a:off x="645784" y="1875821"/>
            <a:ext cx="311388" cy="273643"/>
            <a:chOff x="6589986" y="5654191"/>
            <a:chExt cx="311388" cy="273643"/>
          </a:xfrm>
        </p:grpSpPr>
        <p:sp>
          <p:nvSpPr>
            <p:cNvPr id="95" name="任意多边形 51">
              <a:extLst>
                <a:ext uri="{FF2B5EF4-FFF2-40B4-BE49-F238E27FC236}">
                  <a16:creationId xmlns:a16="http://schemas.microsoft.com/office/drawing/2014/main" id="{164829BF-5186-EC52-615B-B78C0AD82DF7}"/>
                </a:ext>
              </a:extLst>
            </p:cNvPr>
            <p:cNvSpPr/>
            <p:nvPr/>
          </p:nvSpPr>
          <p:spPr bwMode="auto">
            <a:xfrm>
              <a:off x="6589986" y="5696607"/>
              <a:ext cx="231228" cy="231227"/>
            </a:xfrm>
            <a:custGeom>
              <a:avLst/>
              <a:gdLst>
                <a:gd name="connsiteX0" fmla="*/ 0 w 231228"/>
                <a:gd name="connsiteY0" fmla="*/ 231227 h 231227"/>
                <a:gd name="connsiteX1" fmla="*/ 178676 w 231228"/>
                <a:gd name="connsiteY1" fmla="*/ 168165 h 231227"/>
                <a:gd name="connsiteX2" fmla="*/ 231228 w 231228"/>
                <a:gd name="connsiteY2" fmla="*/ 0 h 2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228" h="231227">
                  <a:moveTo>
                    <a:pt x="0" y="231227"/>
                  </a:moveTo>
                  <a:cubicBezTo>
                    <a:pt x="70069" y="218965"/>
                    <a:pt x="140138" y="206703"/>
                    <a:pt x="178676" y="168165"/>
                  </a:cubicBezTo>
                  <a:cubicBezTo>
                    <a:pt x="217214" y="129627"/>
                    <a:pt x="224221" y="64813"/>
                    <a:pt x="231228" y="0"/>
                  </a:cubicBezTo>
                </a:path>
              </a:pathLst>
            </a:custGeom>
            <a:noFill/>
            <a:ln w="127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5C34FA19-FA0D-3FFB-641A-92BEBFC57120}"/>
                </a:ext>
              </a:extLst>
            </p:cNvPr>
            <p:cNvSpPr/>
            <p:nvPr/>
          </p:nvSpPr>
          <p:spPr bwMode="auto">
            <a:xfrm>
              <a:off x="6724650" y="5654191"/>
              <a:ext cx="176724" cy="54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4B3931B-20EF-B1D4-EB78-1C0E55B26756}"/>
              </a:ext>
            </a:extLst>
          </p:cNvPr>
          <p:cNvGrpSpPr/>
          <p:nvPr/>
        </p:nvGrpSpPr>
        <p:grpSpPr>
          <a:xfrm>
            <a:off x="656295" y="1881453"/>
            <a:ext cx="776083" cy="379513"/>
            <a:chOff x="6600497" y="5638051"/>
            <a:chExt cx="776083" cy="379513"/>
          </a:xfrm>
        </p:grpSpPr>
        <p:sp>
          <p:nvSpPr>
            <p:cNvPr id="98" name="任意多边形 56">
              <a:extLst>
                <a:ext uri="{FF2B5EF4-FFF2-40B4-BE49-F238E27FC236}">
                  <a16:creationId xmlns:a16="http://schemas.microsoft.com/office/drawing/2014/main" id="{EDDAF07D-00DD-A339-E16D-49C081380884}"/>
                </a:ext>
              </a:extLst>
            </p:cNvPr>
            <p:cNvSpPr/>
            <p:nvPr/>
          </p:nvSpPr>
          <p:spPr bwMode="auto">
            <a:xfrm>
              <a:off x="6600497" y="5707117"/>
              <a:ext cx="546537" cy="310447"/>
            </a:xfrm>
            <a:custGeom>
              <a:avLst/>
              <a:gdLst>
                <a:gd name="connsiteX0" fmla="*/ 0 w 546537"/>
                <a:gd name="connsiteY0" fmla="*/ 304800 h 310447"/>
                <a:gd name="connsiteX1" fmla="*/ 336331 w 546537"/>
                <a:gd name="connsiteY1" fmla="*/ 294290 h 310447"/>
                <a:gd name="connsiteX2" fmla="*/ 462455 w 546537"/>
                <a:gd name="connsiteY2" fmla="*/ 168166 h 310447"/>
                <a:gd name="connsiteX3" fmla="*/ 546537 w 546537"/>
                <a:gd name="connsiteY3" fmla="*/ 0 h 31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537" h="310447">
                  <a:moveTo>
                    <a:pt x="0" y="304800"/>
                  </a:moveTo>
                  <a:cubicBezTo>
                    <a:pt x="129627" y="310931"/>
                    <a:pt x="259255" y="317062"/>
                    <a:pt x="336331" y="294290"/>
                  </a:cubicBezTo>
                  <a:cubicBezTo>
                    <a:pt x="413407" y="271518"/>
                    <a:pt x="427421" y="217214"/>
                    <a:pt x="462455" y="168166"/>
                  </a:cubicBezTo>
                  <a:cubicBezTo>
                    <a:pt x="497489" y="119118"/>
                    <a:pt x="522013" y="59559"/>
                    <a:pt x="546537" y="0"/>
                  </a:cubicBezTo>
                </a:path>
              </a:pathLst>
            </a:cu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A738CA4-8486-88C1-264C-8C1F0872B8EC}"/>
                </a:ext>
              </a:extLst>
            </p:cNvPr>
            <p:cNvSpPr/>
            <p:nvPr/>
          </p:nvSpPr>
          <p:spPr bwMode="auto">
            <a:xfrm>
              <a:off x="6908580" y="5638051"/>
              <a:ext cx="468000" cy="5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9BC9BEE-CCCB-186C-2C67-770DF83F8DE4}"/>
              </a:ext>
            </a:extLst>
          </p:cNvPr>
          <p:cNvGrpSpPr/>
          <p:nvPr/>
        </p:nvGrpSpPr>
        <p:grpSpPr>
          <a:xfrm>
            <a:off x="1433756" y="1332069"/>
            <a:ext cx="1135085" cy="597634"/>
            <a:chOff x="7408575" y="5071964"/>
            <a:chExt cx="1135085" cy="597634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EF5ADB1-506E-64F6-8D97-C721DC422C35}"/>
                </a:ext>
              </a:extLst>
            </p:cNvPr>
            <p:cNvSpPr txBox="1"/>
            <p:nvPr/>
          </p:nvSpPr>
          <p:spPr>
            <a:xfrm>
              <a:off x="7744906" y="5071964"/>
              <a:ext cx="798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时间不同</a:t>
              </a:r>
            </a:p>
          </p:txBody>
        </p:sp>
        <p:sp>
          <p:nvSpPr>
            <p:cNvPr id="102" name="任意多边形 57">
              <a:extLst>
                <a:ext uri="{FF2B5EF4-FFF2-40B4-BE49-F238E27FC236}">
                  <a16:creationId xmlns:a16="http://schemas.microsoft.com/office/drawing/2014/main" id="{7C844223-A8F7-5509-5797-40E3E09D2936}"/>
                </a:ext>
              </a:extLst>
            </p:cNvPr>
            <p:cNvSpPr/>
            <p:nvPr/>
          </p:nvSpPr>
          <p:spPr bwMode="auto">
            <a:xfrm flipV="1">
              <a:off x="7577521" y="5210613"/>
              <a:ext cx="242858" cy="386851"/>
            </a:xfrm>
            <a:custGeom>
              <a:avLst/>
              <a:gdLst>
                <a:gd name="connsiteX0" fmla="*/ 241738 w 241738"/>
                <a:gd name="connsiteY0" fmla="*/ 273269 h 273269"/>
                <a:gd name="connsiteX1" fmla="*/ 73572 w 241738"/>
                <a:gd name="connsiteY1" fmla="*/ 199696 h 273269"/>
                <a:gd name="connsiteX2" fmla="*/ 0 w 241738"/>
                <a:gd name="connsiteY2" fmla="*/ 0 h 27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38" h="273269">
                  <a:moveTo>
                    <a:pt x="241738" y="273269"/>
                  </a:moveTo>
                  <a:cubicBezTo>
                    <a:pt x="177800" y="259255"/>
                    <a:pt x="113862" y="245241"/>
                    <a:pt x="73572" y="199696"/>
                  </a:cubicBezTo>
                  <a:cubicBezTo>
                    <a:pt x="33282" y="154151"/>
                    <a:pt x="16641" y="77075"/>
                    <a:pt x="0" y="0"/>
                  </a:cubicBezTo>
                </a:path>
              </a:pathLst>
            </a:cu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74DB0BA-8F7D-2DCF-F7D1-6A3EB664A12E}"/>
                </a:ext>
              </a:extLst>
            </p:cNvPr>
            <p:cNvSpPr/>
            <p:nvPr/>
          </p:nvSpPr>
          <p:spPr bwMode="auto">
            <a:xfrm>
              <a:off x="7408575" y="5615598"/>
              <a:ext cx="648000" cy="54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7912793-CD34-E831-C7D8-3B74F32152E5}"/>
              </a:ext>
            </a:extLst>
          </p:cNvPr>
          <p:cNvGrpSpPr/>
          <p:nvPr/>
        </p:nvGrpSpPr>
        <p:grpSpPr>
          <a:xfrm>
            <a:off x="1602702" y="2203031"/>
            <a:ext cx="1161999" cy="834317"/>
            <a:chOff x="7226924" y="3579143"/>
            <a:chExt cx="1161999" cy="834317"/>
          </a:xfrm>
        </p:grpSpPr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3ECC231E-5722-24EB-E988-4D59609D92FA}"/>
                </a:ext>
              </a:extLst>
            </p:cNvPr>
            <p:cNvCxnSpPr/>
            <p:nvPr/>
          </p:nvCxnSpPr>
          <p:spPr bwMode="auto">
            <a:xfrm flipH="1" flipV="1">
              <a:off x="7226924" y="3579143"/>
              <a:ext cx="493028" cy="60801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F6ECFE34-30A3-032D-72AB-E3413A0D5DC5}"/>
                </a:ext>
              </a:extLst>
            </p:cNvPr>
            <p:cNvCxnSpPr/>
            <p:nvPr/>
          </p:nvCxnSpPr>
          <p:spPr bwMode="auto">
            <a:xfrm flipH="1" flipV="1">
              <a:off x="7516509" y="3595198"/>
              <a:ext cx="442447" cy="55098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13777D4-225E-1D6E-A2AB-2ACFF90F28E7}"/>
                </a:ext>
              </a:extLst>
            </p:cNvPr>
            <p:cNvSpPr txBox="1"/>
            <p:nvPr/>
          </p:nvSpPr>
          <p:spPr>
            <a:xfrm>
              <a:off x="7590169" y="4136461"/>
              <a:ext cx="798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斜率相同</a:t>
              </a:r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A490E734-1B4D-1F70-284F-593265D84FB7}"/>
              </a:ext>
            </a:extLst>
          </p:cNvPr>
          <p:cNvSpPr/>
          <p:nvPr/>
        </p:nvSpPr>
        <p:spPr bwMode="auto">
          <a:xfrm>
            <a:off x="1435974" y="1841232"/>
            <a:ext cx="333457" cy="86916"/>
          </a:xfrm>
          <a:prstGeom prst="rect">
            <a:avLst/>
          </a:prstGeom>
          <a:solidFill>
            <a:srgbClr val="0000FF"/>
          </a:solidFill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B17CD88-9FE3-B9DA-B83F-E2D5A2899689}"/>
              </a:ext>
            </a:extLst>
          </p:cNvPr>
          <p:cNvSpPr txBox="1"/>
          <p:nvPr/>
        </p:nvSpPr>
        <p:spPr>
          <a:xfrm>
            <a:off x="-34447" y="2043246"/>
            <a:ext cx="7987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时间固定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322F4E9-99DA-098E-8800-EC7BC1A2D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199" y="228345"/>
            <a:ext cx="8432800" cy="1015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0" dirty="0">
                <a:ea typeface="华文新魏" pitchFamily="2" charset="-122"/>
              </a:rPr>
              <a:t>6</a:t>
            </a:r>
            <a:r>
              <a:rPr lang="zh-CN" altLang="en-US" sz="2400" b="0">
                <a:ea typeface="华文新魏" pitchFamily="2" charset="-122"/>
              </a:rPr>
              <a:t>、</a:t>
            </a:r>
            <a:r>
              <a:rPr lang="zh-CN" altLang="en-US" sz="2400" b="0" dirty="0">
                <a:ea typeface="华文新魏" pitchFamily="2" charset="-122"/>
              </a:rPr>
              <a:t>探讨</a:t>
            </a:r>
            <a:r>
              <a:rPr lang="en-US" altLang="zh-CN" sz="2400" b="0" dirty="0">
                <a:ea typeface="华文新魏" pitchFamily="2" charset="-122"/>
              </a:rPr>
              <a:t>A/D</a:t>
            </a:r>
            <a:r>
              <a:rPr lang="zh-CN" altLang="en-US" sz="2400" b="0" dirty="0">
                <a:ea typeface="华文新魏" pitchFamily="2" charset="-122"/>
              </a:rPr>
              <a:t>转换的工作原理</a:t>
            </a:r>
            <a:r>
              <a:rPr lang="zh-CN" altLang="zh-CN" sz="2400" b="0" dirty="0">
                <a:ea typeface="华文新魏" pitchFamily="2" charset="-122"/>
              </a:rPr>
              <a:t>。</a:t>
            </a:r>
            <a:r>
              <a:rPr lang="zh-CN" altLang="en-US" sz="2400" b="0" dirty="0">
                <a:ea typeface="华文新魏" pitchFamily="2" charset="-122"/>
              </a:rPr>
              <a:t>试用</a:t>
            </a:r>
            <a:r>
              <a:rPr lang="en-US" altLang="zh-CN" sz="2400" b="0" dirty="0">
                <a:ea typeface="华文新魏" pitchFamily="2" charset="-122"/>
              </a:rPr>
              <a:t>Mixed</a:t>
            </a:r>
            <a:r>
              <a:rPr lang="zh-CN" altLang="en-US" sz="2400" b="0" dirty="0">
                <a:ea typeface="华文新魏" pitchFamily="2" charset="-122"/>
              </a:rPr>
              <a:t>库下</a:t>
            </a:r>
            <a:r>
              <a:rPr lang="en-US" altLang="zh-CN" sz="2400" b="0" dirty="0">
                <a:ea typeface="华文新魏" pitchFamily="2" charset="-122"/>
              </a:rPr>
              <a:t>ADC-DAC</a:t>
            </a:r>
            <a:r>
              <a:rPr lang="zh-CN" altLang="en-US" sz="2400" b="0" dirty="0">
                <a:ea typeface="华文新魏" pitchFamily="2" charset="-122"/>
              </a:rPr>
              <a:t>中的</a:t>
            </a:r>
            <a:r>
              <a:rPr lang="en-US" altLang="zh-CN" sz="2400" b="0" dirty="0">
                <a:ea typeface="华文新魏" pitchFamily="2" charset="-122"/>
              </a:rPr>
              <a:t>8</a:t>
            </a:r>
            <a:r>
              <a:rPr lang="zh-CN" altLang="en-US" sz="2400" b="0" dirty="0">
                <a:ea typeface="华文新魏" pitchFamily="2" charset="-122"/>
              </a:rPr>
              <a:t>位</a:t>
            </a:r>
            <a:r>
              <a:rPr lang="en-US" altLang="zh-CN" sz="2400" b="0" dirty="0">
                <a:ea typeface="华文新魏" pitchFamily="2" charset="-122"/>
              </a:rPr>
              <a:t>ADC</a:t>
            </a:r>
            <a:r>
              <a:rPr lang="zh-CN" altLang="en-US" sz="2400" b="0" dirty="0">
                <a:ea typeface="华文新魏" pitchFamily="2" charset="-122"/>
              </a:rPr>
              <a:t>实现模数转换。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BE8CB7D-7C84-5303-7B82-F8044613054B}"/>
                  </a:ext>
                </a:extLst>
              </p:cNvPr>
              <p:cNvSpPr txBox="1"/>
              <p:nvPr/>
            </p:nvSpPr>
            <p:spPr>
              <a:xfrm>
                <a:off x="1538169" y="3660599"/>
                <a:ext cx="2686085" cy="480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22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2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2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与</m:t>
                      </m:r>
                      <m:sSub>
                        <m:sSubPr>
                          <m:ctrlPr>
                            <a:rPr kumimoji="0" lang="en-US" altLang="zh-CN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22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2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𝑟𝑒𝑓</m:t>
                          </m:r>
                        </m:sub>
                      </m:sSub>
                      <m:r>
                        <a:rPr kumimoji="0" lang="zh-CN" altLang="en-US" sz="22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极性相反</m:t>
                      </m:r>
                    </m:oMath>
                  </m:oMathPara>
                </a14:m>
                <a:endParaRPr kumimoji="0" lang="zh-CN" altLang="en-US" sz="2200" b="0" dirty="0">
                  <a:solidFill>
                    <a:srgbClr val="000000"/>
                  </a:solidFill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BE8CB7D-7C84-5303-7B82-F80446130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169" y="3660599"/>
                <a:ext cx="2686085" cy="480581"/>
              </a:xfrm>
              <a:prstGeom prst="rect">
                <a:avLst/>
              </a:prstGeom>
              <a:blipFill>
                <a:blip r:embed="rId12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9F8AD7D-8B29-B129-3E33-9AC7F5559692}"/>
                  </a:ext>
                </a:extLst>
              </p:cNvPr>
              <p:cNvSpPr/>
              <p:nvPr/>
            </p:nvSpPr>
            <p:spPr>
              <a:xfrm>
                <a:off x="3426696" y="5185417"/>
                <a:ext cx="2276842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9F8AD7D-8B29-B129-3E33-9AC7F5559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696" y="5185417"/>
                <a:ext cx="2276842" cy="424732"/>
              </a:xfrm>
              <a:prstGeom prst="rect">
                <a:avLst/>
              </a:prstGeom>
              <a:blipFill>
                <a:blip r:embed="rId13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D2A846A-26E2-3DDA-8000-E9C28A4C6FCD}"/>
              </a:ext>
            </a:extLst>
          </p:cNvPr>
          <p:cNvSpPr txBox="1"/>
          <p:nvPr/>
        </p:nvSpPr>
        <p:spPr>
          <a:xfrm>
            <a:off x="-34447" y="6075844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>
                <a:solidFill>
                  <a:srgbClr val="FF0000"/>
                </a:solidFill>
                <a:ea typeface="华文新魏" panose="02010800040101010101" pitchFamily="2" charset="-122"/>
              </a:rPr>
              <a:t>两次积分将模拟电压值线性映射为时间宽度信号，用时钟脉冲计数生成数字输出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237661"/>
      </p:ext>
    </p:extLst>
  </p:cSld>
  <p:clrMapOvr>
    <a:masterClrMapping/>
  </p:clrMapOvr>
  <p:transition spd="med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26" grpId="0"/>
      <p:bldP spid="30" grpId="0"/>
      <p:bldP spid="108" grpId="0" animBg="1"/>
      <p:bldP spid="109" grpId="0"/>
      <p:bldP spid="5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99803A-D698-C66A-32D5-E838DF77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D8C1C-D31C-4858-9E86-8940F805140A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D8ED3A-BC7E-CAC5-549C-C9899FC47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8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853222-345D-041E-11DA-820F33221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39" y="1140643"/>
            <a:ext cx="5911134" cy="3544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BFA1C3C-B5E4-A036-6820-78E186BA962C}"/>
                  </a:ext>
                </a:extLst>
              </p:cNvPr>
              <p:cNvSpPr txBox="1"/>
              <p:nvPr/>
            </p:nvSpPr>
            <p:spPr>
              <a:xfrm>
                <a:off x="1533672" y="5142902"/>
                <a:ext cx="6076655" cy="671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→10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en-US" altLang="zh-CN" sz="24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sz="2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b="0" dirty="0">
                    <a:solidFill>
                      <a:srgbClr val="0000FF"/>
                    </a:solidFill>
                  </a:rPr>
                  <a:t>1</a:t>
                </a:r>
                <a:r>
                  <a:rPr lang="zh-CN" altLang="en-US" sz="2400" b="0" dirty="0">
                    <a:solidFill>
                      <a:srgbClr val="0000FF"/>
                    </a:solidFill>
                  </a:rPr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BFA1C3C-B5E4-A036-6820-78E186BA9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2" y="5142902"/>
                <a:ext cx="6076655" cy="671530"/>
              </a:xfrm>
              <a:prstGeom prst="rect">
                <a:avLst/>
              </a:prstGeom>
              <a:blipFill>
                <a:blip r:embed="rId3"/>
                <a:stretch>
                  <a:fillRect t="-4545" r="-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8151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2E9C3E-E26B-4D35-937A-A20A3EE40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D8C1C-D31C-4858-9E86-8940F805140A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CA350B-0EBE-47E2-8CDB-6FC608C5D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9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56A882-AFF4-4A46-BCC7-510CDF06B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1" y="552450"/>
            <a:ext cx="7639050" cy="3238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DB2890-7A51-46AE-8A1E-264891117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35" y="4188619"/>
            <a:ext cx="3989799" cy="1685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956E04-C807-4B69-AA86-3F06B70D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034" y="4146266"/>
            <a:ext cx="4834634" cy="180396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089DB92-07BD-47F4-80E4-60D8030E43AE}"/>
              </a:ext>
            </a:extLst>
          </p:cNvPr>
          <p:cNvSpPr txBox="1"/>
          <p:nvPr/>
        </p:nvSpPr>
        <p:spPr>
          <a:xfrm>
            <a:off x="323301" y="321617"/>
            <a:ext cx="265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/>
              <a:t>7</a:t>
            </a:r>
            <a:endParaRPr lang="zh-CN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186559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50FE84-9B71-4C43-A987-F1757E31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D8C1C-D31C-4858-9E86-8940F805140A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0A8D8FC-4A57-4448-8272-3895AC03F2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10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D5FADF-63D0-1AA6-BA94-A7D6CDBEA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78" y="743035"/>
            <a:ext cx="3752040" cy="527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1A8CAE5-806E-9DE7-B706-D0420CCAC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974" y="373883"/>
            <a:ext cx="3498083" cy="244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5219B5B-7BEE-A438-9A57-3F443534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982" y="2819697"/>
            <a:ext cx="3494761" cy="329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2292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3070A-BD33-35BB-A63A-C807694C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B92167-76B3-B524-AA16-318477DB5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11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399E58-1626-E2F1-3EAE-889022128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967" y="726141"/>
            <a:ext cx="4240347" cy="14469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D360AC-EF85-322C-2F3F-F6689304510E}"/>
              </a:ext>
            </a:extLst>
          </p:cNvPr>
          <p:cNvSpPr txBox="1"/>
          <p:nvPr/>
        </p:nvSpPr>
        <p:spPr>
          <a:xfrm>
            <a:off x="246902" y="254921"/>
            <a:ext cx="877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0">
                <a:ea typeface="华文新魏" pitchFamily="2" charset="-122"/>
              </a:rPr>
              <a:t>8</a:t>
            </a:r>
            <a:r>
              <a:rPr lang="zh-CN" altLang="en-US" sz="2000" b="0">
                <a:ea typeface="华文新魏" pitchFamily="2" charset="-122"/>
              </a:rPr>
              <a:t>、</a:t>
            </a:r>
            <a:r>
              <a:rPr lang="zh-CN" altLang="en-US" sz="2000" b="0" dirty="0">
                <a:ea typeface="华文新魏" pitchFamily="2" charset="-122"/>
              </a:rPr>
              <a:t>求以下电路的传递函数，幅频特性和截止频率，并画出其幅频特性曲线。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EE55FCD-9559-E836-B39C-3A3A4DC33E36}"/>
              </a:ext>
            </a:extLst>
          </p:cNvPr>
          <p:cNvGrpSpPr/>
          <p:nvPr/>
        </p:nvGrpSpPr>
        <p:grpSpPr>
          <a:xfrm>
            <a:off x="2688805" y="4945502"/>
            <a:ext cx="4149436" cy="773341"/>
            <a:chOff x="4775568" y="2590544"/>
            <a:chExt cx="4149436" cy="77334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CA52D65B-15BC-2BCD-74C7-EE49AE96A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5130800" y="2590544"/>
              <a:ext cx="3794204" cy="773341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858CE50-25D5-E07C-A814-72B1102B0DA1}"/>
                </a:ext>
              </a:extLst>
            </p:cNvPr>
            <p:cNvSpPr txBox="1"/>
            <p:nvPr/>
          </p:nvSpPr>
          <p:spPr>
            <a:xfrm>
              <a:off x="4775568" y="2590544"/>
              <a:ext cx="3898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=</a:t>
              </a:r>
              <a:endParaRPr lang="zh-CN" altLang="en-US" dirty="0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285AE9F4-2460-04C8-C8B9-25DB3930C8F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548549" y="2522157"/>
            <a:ext cx="49911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80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C2FE5-F966-A7F1-EE5D-CC7367C3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7064C4-F2EC-921B-5A6B-65B1525819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12</a:t>
            </a:fld>
            <a:endParaRPr lang="en-US" altLang="zh-CN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2">
                <a:extLst>
                  <a:ext uri="{FF2B5EF4-FFF2-40B4-BE49-F238E27FC236}">
                    <a16:creationId xmlns:a16="http://schemas.microsoft.com/office/drawing/2014/main" id="{9B5484F3-BBD7-A296-9154-BD6EC9C7D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4686" y="2343675"/>
                <a:ext cx="5686021" cy="1719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较小时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𝐶</m:t>
                        </m:r>
                      </m:e>
                      <m:sub>
                        <m:r>
                          <a:rPr kumimoji="0"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较</m:t>
                    </m:r>
                    <m:r>
                      <a:rPr kumimoji="0" lang="zh-CN" altLang="en-US" sz="20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大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时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kumimoji="0" lang="zh-CN" altLang="en-US" sz="2000" b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幅值渐近线</m:t>
                    </m:r>
                    <m:r>
                      <a:rPr kumimoji="0" lang="zh-CN" altLang="en-US" sz="2000" b="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为</m:t>
                    </m:r>
                    <m:f>
                      <m:fPr>
                        <m:ctrlPr>
                          <a:rPr kumimoji="0" lang="en-US" altLang="zh-CN" sz="20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0"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num>
                      <m:den>
                        <m:r>
                          <a:rPr kumimoji="0" lang="zh-CN" altLang="en-US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𝜔</m:t>
                        </m:r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000" b="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zh-CN" sz="20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  <a:p>
                <a:pPr marL="363538" lvl="1" indent="0" eaLnBrk="1" hangingPunct="1">
                  <a:spcBef>
                    <a:spcPts val="6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∞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时，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|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H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)|</m:t>
                    </m:r>
                    <m:r>
                      <m:rPr>
                        <m:nor/>
                      </m:rPr>
                      <a:rPr kumimoji="0" lang="zh-CN" altLang="en-US" sz="2000" b="0" dirty="0">
                        <a:ea typeface="华文新魏" panose="02010800040101010101" pitchFamily="2" charset="-122"/>
                      </a:rPr>
                      <m:t>→</m:t>
                    </m:r>
                    <m:r>
                      <m:rPr>
                        <m:nor/>
                      </m:rPr>
                      <a:rPr kumimoji="0" lang="en-US" altLang="zh-CN" sz="2000" b="0" dirty="0">
                        <a:ea typeface="华文新魏" panose="02010800040101010101" pitchFamily="2" charset="-122"/>
                      </a:rPr>
                      <m:t>0</m:t>
                    </m:r>
                  </m:oMath>
                </a14:m>
                <a:endParaRPr kumimoji="0" lang="en-US" altLang="zh-CN" sz="2000" b="0" dirty="0"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7" name="Text Box 2">
                <a:extLst>
                  <a:ext uri="{FF2B5EF4-FFF2-40B4-BE49-F238E27FC236}">
                    <a16:creationId xmlns:a16="http://schemas.microsoft.com/office/drawing/2014/main" id="{9B5484F3-BBD7-A296-9154-BD6EC9C7D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4686" y="2343675"/>
                <a:ext cx="5686021" cy="1719317"/>
              </a:xfrm>
              <a:prstGeom prst="rect">
                <a:avLst/>
              </a:prstGeom>
              <a:blipFill>
                <a:blip r:embed="rId2"/>
                <a:stretch>
                  <a:fillRect t="-707" b="-45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F23E5CC-663E-7808-7ECD-19D47DA09068}"/>
                  </a:ext>
                </a:extLst>
              </p:cNvPr>
              <p:cNvSpPr txBox="1"/>
              <p:nvPr/>
            </p:nvSpPr>
            <p:spPr>
              <a:xfrm>
                <a:off x="1124686" y="1523056"/>
                <a:ext cx="7200834" cy="605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4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d>
                                  <m:d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zh-CN" altLang="en-US" sz="2400" b="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F23E5CC-663E-7808-7ECD-19D47DA09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1523056"/>
                <a:ext cx="7200834" cy="605487"/>
              </a:xfrm>
              <a:prstGeom prst="rect">
                <a:avLst/>
              </a:prstGeom>
              <a:blipFill>
                <a:blip r:embed="rId3"/>
                <a:stretch>
                  <a:fillRect t="-4040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75009029-D3DC-C7BD-A53D-C2FE98EF9C8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5286707" y="4123217"/>
            <a:ext cx="3048000" cy="17526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A01DA9D-04F2-2A03-AFB7-8517A9596CAE}"/>
              </a:ext>
            </a:extLst>
          </p:cNvPr>
          <p:cNvSpPr txBox="1"/>
          <p:nvPr/>
        </p:nvSpPr>
        <p:spPr>
          <a:xfrm>
            <a:off x="1527175" y="420876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截止频率：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EBB496-16A0-3226-3386-42A9532D9CED}"/>
                  </a:ext>
                </a:extLst>
              </p:cNvPr>
              <p:cNvSpPr txBox="1"/>
              <p:nvPr/>
            </p:nvSpPr>
            <p:spPr>
              <a:xfrm>
                <a:off x="1527175" y="4650349"/>
                <a:ext cx="28057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EBB496-16A0-3226-3386-42A9532D9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175" y="4650349"/>
                <a:ext cx="2805768" cy="307777"/>
              </a:xfrm>
              <a:prstGeom prst="rect">
                <a:avLst/>
              </a:prstGeom>
              <a:blipFill>
                <a:blip r:embed="rId5"/>
                <a:stretch>
                  <a:fillRect l="-2391" t="-26000" r="-478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D3CDEFC-400B-BB95-336F-6F522E194B96}"/>
                  </a:ext>
                </a:extLst>
              </p:cNvPr>
              <p:cNvSpPr txBox="1"/>
              <p:nvPr/>
            </p:nvSpPr>
            <p:spPr>
              <a:xfrm>
                <a:off x="1527175" y="5058532"/>
                <a:ext cx="3257110" cy="311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D3CDEFC-400B-BB95-336F-6F522E194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175" y="5058532"/>
                <a:ext cx="3257110" cy="311304"/>
              </a:xfrm>
              <a:prstGeom prst="rect">
                <a:avLst/>
              </a:prstGeom>
              <a:blipFill>
                <a:blip r:embed="rId6"/>
                <a:stretch>
                  <a:fillRect l="-2060" t="-23529" r="-3933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5805DAC0-E757-82D7-3931-D0BCAD0F2D4C}"/>
              </a:ext>
            </a:extLst>
          </p:cNvPr>
          <p:cNvSpPr txBox="1"/>
          <p:nvPr/>
        </p:nvSpPr>
        <p:spPr>
          <a:xfrm>
            <a:off x="1038553" y="86861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幅频特性：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D3310F-3969-2C75-39C6-48234E8B89B3}"/>
              </a:ext>
            </a:extLst>
          </p:cNvPr>
          <p:cNvSpPr txBox="1"/>
          <p:nvPr/>
        </p:nvSpPr>
        <p:spPr>
          <a:xfrm>
            <a:off x="878464" y="536825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ea typeface="华文新魏" pitchFamily="2" charset="-122"/>
              </a:rPr>
              <a:t>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34B39A-0229-A9A6-8988-68C9D05A3C62}"/>
                  </a:ext>
                </a:extLst>
              </p:cNvPr>
              <p:cNvSpPr txBox="1"/>
              <p:nvPr/>
            </p:nvSpPr>
            <p:spPr>
              <a:xfrm>
                <a:off x="1498707" y="5536276"/>
                <a:ext cx="3711850" cy="435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=0.91∗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34B39A-0229-A9A6-8988-68C9D05A3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707" y="5536276"/>
                <a:ext cx="3711850" cy="435247"/>
              </a:xfrm>
              <a:prstGeom prst="rect">
                <a:avLst/>
              </a:prstGeom>
              <a:blipFill>
                <a:blip r:embed="rId7"/>
                <a:stretch>
                  <a:fillRect l="-1806" t="-4167" r="-3284"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0CF336-2A62-41BE-9DE3-540B1E5EE4E9}"/>
                  </a:ext>
                </a:extLst>
              </p:cNvPr>
              <p:cNvSpPr txBox="1"/>
              <p:nvPr/>
            </p:nvSpPr>
            <p:spPr>
              <a:xfrm>
                <a:off x="1518803" y="6034891"/>
                <a:ext cx="3648243" cy="311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b="0" dirty="0"/>
                  <a:t>ad/s</a:t>
                </a:r>
                <a:endParaRPr lang="zh-CN" altLang="en-US" sz="2000" b="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0CF336-2A62-41BE-9DE3-540B1E5E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803" y="6034891"/>
                <a:ext cx="3648243" cy="311304"/>
              </a:xfrm>
              <a:prstGeom prst="rect">
                <a:avLst/>
              </a:prstGeom>
              <a:blipFill>
                <a:blip r:embed="rId8"/>
                <a:stretch>
                  <a:fillRect l="-1669" t="-23529" r="-3506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908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bldLvl="2"/>
      <p:bldP spid="20" grpId="0"/>
      <p:bldP spid="21" grpId="0"/>
      <p:bldP spid="22" grpId="0"/>
      <p:bldP spid="2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BEA48-B268-42CF-9217-F19BE416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2025/10/25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DCA0CF-9E3D-74EE-B7E0-AA0934BD04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13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DBC535-7514-482E-9CA7-30885AA4E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19" y="247657"/>
            <a:ext cx="8432561" cy="96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0">
                <a:latin typeface="Times New Roman" panose="02020603050405020304" pitchFamily="18" charset="0"/>
                <a:ea typeface="华文新魏" pitchFamily="2" charset="-122"/>
              </a:rPr>
              <a:t>9</a:t>
            </a:r>
            <a:r>
              <a:rPr lang="zh-CN" altLang="en-US" sz="2000" b="0">
                <a:latin typeface="Times New Roman" panose="02020603050405020304" pitchFamily="18" charset="0"/>
                <a:ea typeface="华文新魏" pitchFamily="2" charset="-122"/>
              </a:rPr>
              <a:t>、</a:t>
            </a:r>
            <a:r>
              <a:rPr lang="zh-CN" altLang="zh-CN" sz="2000" b="0">
                <a:latin typeface="Times New Roman" panose="02020603050405020304" pitchFamily="18" charset="0"/>
                <a:ea typeface="华文新魏" pitchFamily="2" charset="-122"/>
              </a:rPr>
              <a:t>已知下图所示电路中， ，请求出该电路的幅频响应，并判断该电路是什么类型的滤波器。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70C067-8BD5-6CC6-F8C2-6EEBBB6D4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901" y="341686"/>
            <a:ext cx="15811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D4E6A04-B59A-F8F9-5230-DCE0632D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790" y="732212"/>
            <a:ext cx="4860417" cy="19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BDF17B7-E656-70E6-362B-0C6155626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901" y="2475274"/>
            <a:ext cx="5401298" cy="438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2591FDB-DBC8-4980-BABF-B8BE4B768082}"/>
              </a:ext>
            </a:extLst>
          </p:cNvPr>
          <p:cNvSpPr txBox="1"/>
          <p:nvPr/>
        </p:nvSpPr>
        <p:spPr>
          <a:xfrm>
            <a:off x="7449312" y="587210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>
                <a:ea typeface="华文新魏" pitchFamily="2" charset="-122"/>
              </a:rPr>
              <a:t>带通滤波器</a:t>
            </a:r>
          </a:p>
        </p:txBody>
      </p:sp>
    </p:spTree>
    <p:extLst>
      <p:ext uri="{BB962C8B-B14F-4D97-AF65-F5344CB8AC3E}">
        <p14:creationId xmlns:p14="http://schemas.microsoft.com/office/powerpoint/2010/main" val="16736587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3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9051</TotalTime>
  <Words>588</Words>
  <Application>Microsoft Office PowerPoint</Application>
  <PresentationFormat>全屏显示(4:3)</PresentationFormat>
  <Paragraphs>71</Paragraphs>
  <Slides>13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华文新魏</vt:lpstr>
      <vt:lpstr>Arial</vt:lpstr>
      <vt:lpstr>Cambria Math</vt:lpstr>
      <vt:lpstr>Times New Roman</vt:lpstr>
      <vt:lpstr>Wingdings</vt:lpstr>
      <vt:lpstr>默认设计模板</vt:lpstr>
      <vt:lpstr>BMP 图象</vt:lpstr>
      <vt:lpstr>第一次 小班讨论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湖南大学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引言1</dc:title>
  <dc:subject>教案</dc:subject>
  <dc:creator>邝继顺</dc:creator>
  <cp:lastModifiedBy>c c</cp:lastModifiedBy>
  <cp:revision>904</cp:revision>
  <cp:lastPrinted>1999-02-28T23:50:56Z</cp:lastPrinted>
  <dcterms:created xsi:type="dcterms:W3CDTF">1999-09-13T01:56:29Z</dcterms:created>
  <dcterms:modified xsi:type="dcterms:W3CDTF">2025-10-25T13:38:14Z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jshkuang@sina.com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D:\course\数字逻辑</vt:lpwstr>
  </property>
</Properties>
</file>