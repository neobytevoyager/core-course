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75" r:id="rId7"/>
    <p:sldId id="257" r:id="rId9"/>
    <p:sldId id="258" r:id="rId10"/>
    <p:sldId id="259" r:id="rId11"/>
    <p:sldId id="260" r:id="rId12"/>
    <p:sldId id="261" r:id="rId13"/>
    <p:sldId id="262" r:id="rId14"/>
    <p:sldId id="272" r:id="rId15"/>
    <p:sldId id="273" r:id="rId16"/>
    <p:sldId id="263" r:id="rId17"/>
    <p:sldId id="274" r:id="rId18"/>
    <p:sldId id="27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92" userDrawn="1">
          <p15:clr>
            <a:srgbClr val="747775"/>
          </p15:clr>
        </p15:guide>
        <p15:guide id="2" pos="288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42" autoAdjust="0"/>
  </p:normalViewPr>
  <p:slideViewPr>
    <p:cSldViewPr snapToGrid="0" showGuides="1">
      <p:cViewPr varScale="1">
        <p:scale>
          <a:sx n="58" d="100"/>
          <a:sy n="58" d="100"/>
        </p:scale>
        <p:origin x="897" y="33"/>
      </p:cViewPr>
      <p:guideLst>
        <p:guide orient="horz" pos="1692"/>
        <p:guide pos="2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  <a:endParaRPr kumimoji="0" lang="cs-CZ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  <a:endParaRPr kumimoji="0" lang="cs-CZ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温度越高，模型越天马行空。</a:t>
            </a:r>
            <a:endParaRPr lang="zh-CN" altLang="en-US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我们拿出一个全新的题目（模型没见过的）。</a:t>
            </a:r>
            <a:endParaRPr lang="zh-CN" altLang="en-US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让 </a:t>
            </a:r>
            <a:r>
              <a:rPr lang="en-US" altLang="zh-CN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DPO </a:t>
            </a: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训练完的模型 写一个回答。</a:t>
            </a:r>
            <a:endParaRPr lang="zh-CN" altLang="en-US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让 没训练过的初始模型 也写一个回答。</a:t>
            </a:r>
            <a:endParaRPr lang="zh-CN" altLang="en-US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把这两个回答隐去名字，打包送给独立的第三方裁判（在论文中是 </a:t>
            </a:r>
            <a:r>
              <a:rPr lang="en-US" altLang="zh-CN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GPT-4 </a:t>
            </a: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或者人类专家）进行双盲盲测，让裁判选谁写得好。</a:t>
            </a:r>
            <a:endParaRPr lang="zh-CN" altLang="en-US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DPO </a:t>
            </a: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模型的回答被第三方裁判选中的次数越多，它的胜率（</a:t>
            </a:r>
            <a:r>
              <a:rPr lang="en-US" altLang="zh-CN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Win Rate）</a:t>
            </a:r>
            <a:r>
              <a:rPr lang="zh-CN" altLang="en-US" sz="1200" dirty="0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就越高。</a:t>
            </a:r>
            <a:endParaRPr lang="zh-CN" altLang="en-US" sz="1200" b="0" i="0" u="none" strike="noStrike" dirty="0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7.xml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2" Type="http://schemas.openxmlformats.org/officeDocument/2006/relationships/notesSlide" Target="../notesSlides/notesSlide8.xml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.jpeg"/><Relationship Id="rId12" Type="http://schemas.openxmlformats.org/officeDocument/2006/relationships/notesSlide" Target="../notesSlides/notesSlide9.xml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27.png"/><Relationship Id="rId3" Type="http://schemas.openxmlformats.org/officeDocument/2006/relationships/image" Target="../media/image3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8500" b="13353"/>
          <a:stretch>
            <a:fillRect/>
          </a:stretch>
        </p:blipFill>
        <p:spPr>
          <a:xfrm>
            <a:off x="0" y="0"/>
            <a:ext cx="4686300" cy="370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2893"/>
          <a:stretch>
            <a:fillRect/>
          </a:stretch>
        </p:blipFill>
        <p:spPr>
          <a:xfrm>
            <a:off x="8674100" y="4584700"/>
            <a:ext cx="3517900" cy="2273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3683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14700" y="1917700"/>
            <a:ext cx="8877300" cy="499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222500" y="1308100"/>
            <a:ext cx="5168900" cy="255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86230" y="1463675"/>
            <a:ext cx="9232900" cy="1829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润圆-65简"/>
                <a:sym typeface="汉仪润圆-65简"/>
              </a:rPr>
              <a:t> </a:t>
            </a:r>
            <a:r>
              <a:rPr kumimoji="0" lang="en-US" altLang="zh-CN" sz="4000" b="1" i="0" u="none" strike="noStrike" kern="0" cap="none" spc="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润圆-65简"/>
                <a:sym typeface="汉仪润圆-65简"/>
              </a:rPr>
              <a:t>Direct Preference Optimization:</a:t>
            </a:r>
            <a:endParaRPr kumimoji="0" lang="en-US" altLang="zh-CN" sz="4000" b="1" i="0" u="none" strike="noStrike" kern="0" cap="none" spc="10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润圆-65简"/>
              <a:sym typeface="汉仪润圆-65简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4000" b="1" i="0" u="none" strike="noStrike" kern="0" cap="none" spc="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润圆-65简"/>
                <a:sym typeface="汉仪润圆-65简"/>
              </a:rPr>
              <a:t>Your Language Model is Secretly a Reward Model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222500" y="3538220"/>
            <a:ext cx="762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0" i="0" u="none" strike="noStrike" kern="0" cap="none" spc="100" normalizeH="0" baseline="0" noProof="0">
                <a:ln>
                  <a:noFill/>
                </a:ln>
                <a:solidFill>
                  <a:srgbClr val="25201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润圆-65简"/>
                <a:sym typeface="汉仪润圆-65简"/>
              </a:rPr>
              <a:t>直接偏好优化</a:t>
            </a:r>
            <a:r>
              <a:rPr kumimoji="0" lang="en-US" sz="1800" b="0" i="0" u="none" strike="noStrike" kern="0" cap="none" spc="100" normalizeH="0" baseline="0" noProof="0">
                <a:ln>
                  <a:noFill/>
                </a:ln>
                <a:solidFill>
                  <a:srgbClr val="25201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润圆-65简"/>
                <a:sym typeface="汉仪润圆-65简"/>
              </a:rPr>
              <a:t>：你的大模型本身就是奖励模型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60900" y="4927600"/>
            <a:ext cx="1435100" cy="419100"/>
          </a:xfrm>
          <a:prstGeom prst="roundRect">
            <a:avLst>
              <a:gd name="adj" fmla="val 4848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159500" y="4914900"/>
            <a:ext cx="1295400" cy="419100"/>
          </a:xfrm>
          <a:prstGeom prst="roundRect">
            <a:avLst>
              <a:gd name="adj" fmla="val 48484"/>
            </a:avLst>
          </a:prstGeom>
          <a:noFill/>
          <a:ln w="12700" cap="flat" cmpd="sng">
            <a:solidFill>
              <a:schemeClr val="accent1">
                <a:alpha val="100000"/>
              </a:scheme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838700" y="4965700"/>
            <a:ext cx="107950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润圆-65简"/>
                <a:ea typeface="汉仪润圆-65简"/>
                <a:cs typeface="汉仪润圆-65简"/>
                <a:sym typeface="汉仪润圆-65简"/>
              </a:rPr>
              <a:t>小组成员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159500" y="5435600"/>
            <a:ext cx="1295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38100" tIns="50800" rIns="38100" bIns="508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张一龙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159500" y="5905500"/>
            <a:ext cx="1295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38100" tIns="50800" rIns="38100" bIns="508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王云超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59500" y="6400800"/>
            <a:ext cx="12954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38100" tIns="50800" rIns="38100" bIns="508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毕佳涛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59500" y="5384800"/>
            <a:ext cx="1295400" cy="419100"/>
          </a:xfrm>
          <a:prstGeom prst="roundRect">
            <a:avLst>
              <a:gd name="adj" fmla="val 48484"/>
            </a:avLst>
          </a:prstGeom>
          <a:noFill/>
          <a:ln w="12700" cap="flat" cmpd="sng">
            <a:solidFill>
              <a:schemeClr val="accent1">
                <a:alpha val="100000"/>
              </a:scheme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59500" y="5854700"/>
            <a:ext cx="1295400" cy="419100"/>
          </a:xfrm>
          <a:prstGeom prst="roundRect">
            <a:avLst>
              <a:gd name="adj" fmla="val 48484"/>
            </a:avLst>
          </a:prstGeom>
          <a:noFill/>
          <a:ln w="12700" cap="flat" cmpd="sng">
            <a:solidFill>
              <a:schemeClr val="accent1">
                <a:alpha val="100000"/>
              </a:scheme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159500" y="6362700"/>
            <a:ext cx="1295400" cy="419100"/>
          </a:xfrm>
          <a:prstGeom prst="roundRect">
            <a:avLst>
              <a:gd name="adj" fmla="val 48484"/>
            </a:avLst>
          </a:prstGeom>
          <a:noFill/>
          <a:ln w="12700" cap="flat" cmpd="sng">
            <a:solidFill>
              <a:schemeClr val="accent1">
                <a:alpha val="100000"/>
              </a:scheme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264910" y="4912360"/>
            <a:ext cx="1084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周雨健</a:t>
            </a: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03490" y="5001895"/>
            <a:ext cx="22390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研究背景和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RLHF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痛点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03490" y="5462951"/>
            <a:ext cx="1847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DPO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数学推导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03490" y="5924007"/>
            <a:ext cx="1860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理解和汇报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PPT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603490" y="6385062"/>
            <a:ext cx="1735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Q&amp;A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40900" b="33531"/>
          <a:stretch>
            <a:fillRect/>
          </a:stretch>
        </p:blipFill>
        <p:spPr>
          <a:xfrm>
            <a:off x="0" y="0"/>
            <a:ext cx="4503420" cy="284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663700" y="2014220"/>
            <a:ext cx="177800" cy="1778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943100" y="188722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01 研究背景：为什么要对齐大模型？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endParaRPr lang="en-US" sz="13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663700" y="2912110"/>
            <a:ext cx="177800" cy="1778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943100" y="278511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02 传统方案：RLHF的痛点与瓶颈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endParaRPr lang="en-US" sz="13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663700" y="3810000"/>
            <a:ext cx="177800" cy="1778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943100" y="3683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03 DPO核心：极简对齐的算法革新</a:t>
            </a:r>
            <a:endParaRPr lang="en-US" sz="1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endParaRPr lang="en-US" sz="13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663700" y="4572000"/>
            <a:ext cx="177800" cy="1778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943100" y="4445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04 实验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结果</a:t>
            </a: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：PPO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和</a:t>
            </a:r>
            <a:r>
              <a:rPr lang="en-US" altLang="zh-CN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DPO</a:t>
            </a:r>
            <a:r>
              <a:rPr lang="zh-CN" alt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对比</a:t>
            </a:r>
            <a:endParaRPr lang="zh-CN" alt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润圆-65简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79165">
            <a:off x="5810240" y="3422660"/>
            <a:ext cx="419101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DA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089900" y="2095500"/>
            <a:ext cx="36195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9600" b="1" i="0" u="none" strike="noStrike">
                <a:solidFill>
                  <a:schemeClr val="tx1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目录</a:t>
            </a:r>
            <a:endParaRPr lang="en-US" sz="9600" b="1" i="0" u="none" strike="noStrike">
              <a:solidFill>
                <a:schemeClr val="tx1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91500" y="3746500"/>
            <a:ext cx="330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CONTENT</a:t>
            </a:r>
            <a:endParaRPr lang="en-US" sz="1600" b="1" i="0" u="none" strike="noStrike">
              <a:solidFill>
                <a:schemeClr val="tx1"/>
              </a:solidFill>
              <a:latin typeface="汉仪润圆-65简"/>
              <a:ea typeface="汉仪润圆-65简"/>
              <a:cs typeface="汉仪润圆-65简"/>
              <a:sym typeface="汉仪润圆-65简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943100" y="521843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05 Q&amp;A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en-US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450" y="5276850"/>
            <a:ext cx="3003550" cy="1581150"/>
          </a:xfrm>
          <a:prstGeom prst="rect">
            <a:avLst/>
          </a:prstGeom>
        </p:spPr>
      </p:pic>
      <p:sp>
        <p:nvSpPr>
          <p:cNvPr id="28" name="AutoShape 10"/>
          <p:cNvSpPr/>
          <p:nvPr/>
        </p:nvSpPr>
        <p:spPr>
          <a:xfrm>
            <a:off x="1663700" y="5354955"/>
            <a:ext cx="177800" cy="177800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41667" b="34777"/>
          <a:stretch>
            <a:fillRect/>
          </a:stretch>
        </p:blipFill>
        <p:spPr>
          <a:xfrm>
            <a:off x="0" y="0"/>
            <a:ext cx="4445000" cy="27914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232785" y="635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algn="ctr">
              <a:lnSpc>
                <a:spcPct val="100000"/>
              </a:lnSpc>
              <a:buSzTx/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研究背景：大模型的“胡言乱语”问题</a:t>
            </a:r>
            <a:endParaRPr 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10700367">
            <a:off x="280152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10700367">
            <a:off x="8841013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544195" y="188722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7F8F7">
              <a:alpha val="100000"/>
            </a:srgbClr>
          </a:solidFill>
          <a:ln w="12700" cap="flat" cmpd="sng">
            <a:solidFill>
              <a:srgbClr val="9AA59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671195" y="201422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胡说八道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模型可能编造虚假事实、引用不存在的文献来源，这种“一本正经的说谎”在医疗、法律等严肃场景中极具风险。</a:t>
            </a:r>
            <a:endParaRPr lang="en-US" sz="13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4354195" y="188722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7F8F7">
              <a:alpha val="100000"/>
            </a:srgbClr>
          </a:solidFill>
          <a:ln w="12700" cap="flat" cmpd="sng">
            <a:solidFill>
              <a:srgbClr val="9AA59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4481195" y="201422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输出有害内容风险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易生成歧视性、暴力或违背公序良俗的文本，若被滥用将引发社会伦理问题，带来不可控的安全隐患。</a:t>
            </a:r>
            <a:endParaRPr lang="en-US" sz="13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8164195" y="188722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7F8F7">
              <a:alpha val="100000"/>
            </a:srgbClr>
          </a:solidFill>
          <a:ln w="12700" cap="flat" cmpd="sng">
            <a:solidFill>
              <a:srgbClr val="9AA59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8291195" y="201422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答非所问，偏离意图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忽略用户真实诉求，长篇大论却无核心重点，或过度发散主题，导致交互效率低下，无法满足实际使用需求。</a:t>
            </a:r>
            <a:endParaRPr lang="en-US" sz="1300" b="0" i="0" u="none" strike="noStrike">
              <a:solidFill>
                <a:srgbClr val="646A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3906">
            <a:off x="417199" y="575564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08000" y="5666740"/>
            <a:ext cx="762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为解决上述问题，我们需要让大模型行为更“听话”，符合人类价值观与习惯——这一关键技术过程被称为</a:t>
            </a:r>
            <a:r>
              <a:rPr lang="en-US" sz="1600" b="1" i="0" u="none" strike="noStrike">
                <a:solidFill>
                  <a:srgbClr val="0070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模型对齐 (Alignment)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，如同训练智能体理解“规则”与“边界”。</a:t>
            </a:r>
            <a:endParaRPr lang="en-US" sz="11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8450" y="5276850"/>
            <a:ext cx="3003550" cy="15811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205" y="3399155"/>
            <a:ext cx="2887980" cy="22675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030" y="3399155"/>
            <a:ext cx="2663190" cy="229044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1105" y="3399155"/>
            <a:ext cx="2221865" cy="2315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450" y="5276850"/>
            <a:ext cx="3003550" cy="158115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46000" b="52300"/>
          <a:stretch>
            <a:fillRect/>
          </a:stretch>
        </p:blipFill>
        <p:spPr>
          <a:xfrm>
            <a:off x="0" y="0"/>
            <a:ext cx="4114800" cy="20415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203700" y="736600"/>
            <a:ext cx="3975100" cy="495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RLHF：人类反馈强化学习</a:t>
            </a:r>
            <a:endParaRPr lang="en-US" sz="24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润圆-65简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41730"/>
            <a:ext cx="10858500" cy="5716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41163" b="27546"/>
          <a:stretch>
            <a:fillRect/>
          </a:stretch>
        </p:blipFill>
        <p:spPr>
          <a:xfrm>
            <a:off x="0" y="0"/>
            <a:ext cx="4518025" cy="31248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25676" t="30587"/>
          <a:stretch>
            <a:fillRect/>
          </a:stretch>
        </p:blipFill>
        <p:spPr>
          <a:xfrm>
            <a:off x="9190355" y="5280025"/>
            <a:ext cx="3001645" cy="15779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114800" y="622300"/>
            <a:ext cx="39878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RLHF 的三大“致命”短板</a:t>
            </a:r>
            <a:endParaRPr 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854200" y="1853565"/>
            <a:ext cx="84836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28600" indent="-228600" algn="l">
              <a:lnSpc>
                <a:spcPct val="108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润圆-65简"/>
              </a:rPr>
              <a:t>01. 链路繁琐，算力与资金成本极高</a:t>
            </a:r>
            <a:endParaRPr 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04800"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需依次训练SFT监督微调、RM奖励模型、PPO强化学习三个阶段，全程伴随大量数据采样，对硬件算力要求苛刻，高昂的成本让中小团队难以负担，成为技术落地的主要门槛。</a:t>
            </a:r>
            <a:endParaRPr lang="en-US" sz="1600" b="0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endParaRPr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润圆-65简"/>
              </a:rPr>
              <a:t>02. 训练过程极不稳定，易出现“奖励黑客”</a:t>
            </a:r>
            <a:endParaRPr lang="en-US" sz="20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汉仪润圆-65简"/>
            </a:endParaRPr>
          </a:p>
          <a:p>
            <a:pPr marL="304800"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PPO环节对超参数调整极度敏感，参数稍有偏差就会导致训练崩溃；同时模型可能学会利用规则漏洞获取高分却生成低质内容（即“奖励黑客”），背离对齐的初衷。</a:t>
            </a:r>
            <a:endParaRPr lang="en-US" sz="1600" b="0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endParaRPr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润圆-65简"/>
              </a:rPr>
              <a:t>03. 误差不断累积，对齐效果大打折扣</a:t>
            </a:r>
            <a:endParaRPr lang="en-US" sz="20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汉仪润圆-65简"/>
            </a:endParaRPr>
          </a:p>
          <a:p>
            <a:pPr marL="304800"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奖励模型本身对人类偏好的捕捉就存在固有误差，而这一误差会在PPO的迭代优化中被持续放大，最终导致模型生成的内容与人类真实预期的一致性严重偏离。</a:t>
            </a:r>
            <a:endParaRPr lang="en-US" sz="1600" b="0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pPr marL="304800" indent="0" algn="l">
              <a:lnSpc>
                <a:spcPct val="100000"/>
              </a:lnSpc>
            </a:pPr>
            <a:endParaRPr lang="en-US" sz="1600" b="0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核心启示：</a:t>
            </a:r>
            <a:r>
              <a:rPr lang="en-US" sz="1600" b="0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这些痛点促使学术界和工业界不断探索更轻量化、更稳定的对齐新范式（如DPO等）。</a:t>
            </a:r>
            <a:endParaRPr lang="en-US" sz="1600" b="0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8858" b="31498"/>
          <a:stretch>
            <a:fillRect/>
          </a:stretch>
        </p:blipFill>
        <p:spPr>
          <a:xfrm>
            <a:off x="0" y="0"/>
            <a:ext cx="4658995" cy="29317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203700" y="736600"/>
            <a:ext cx="3975100" cy="495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核心范式重构</a:t>
            </a:r>
            <a:endParaRPr 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698624" y="1231899"/>
            <a:ext cx="8497661" cy="9652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润圆-65简"/>
              </a:rPr>
              <a:t>思考：</a:t>
            </a:r>
            <a:r>
              <a:rPr lang="en-US" sz="1800" b="1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在偏好对齐中，我们真的需要一个显式的“中间奖励模型”作为媒介吗</a:t>
            </a:r>
            <a:r>
              <a:rPr 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？</a:t>
            </a:r>
            <a:endParaRPr lang="en-US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1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457200" algn="l">
              <a:lnSpc>
                <a:spcPct val="100000"/>
              </a:lnSpc>
            </a:pPr>
            <a:r>
              <a:rPr lang="en-US" sz="1600" b="0" i="0" u="none" strike="noStrike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DPO </a:t>
            </a:r>
            <a:r>
              <a:rPr lang="en-US" sz="1600" b="0" i="0" u="none" strike="noStrike" dirty="0" err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给出的答案是</a:t>
            </a:r>
            <a:r>
              <a:rPr lang="zh-CN" altLang="en-US" sz="1600" b="0" i="0" u="none" strike="noStrike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：我们不需要显式的奖励模型！</a:t>
            </a:r>
            <a:endParaRPr lang="zh-CN" altLang="en-US" sz="1600" b="0" i="0" u="none" strike="noStrike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pic>
        <p:nvPicPr>
          <p:cNvPr id="13" name="Picture 3"/>
          <p:cNvPicPr>
            <a:picLocks noChangeAspect="1"/>
          </p:cNvPicPr>
          <p:nvPr/>
        </p:nvPicPr>
        <p:blipFill>
          <a:blip r:embed="rId2"/>
          <a:srcRect l="25676" t="30587"/>
          <a:stretch>
            <a:fillRect/>
          </a:stretch>
        </p:blipFill>
        <p:spPr>
          <a:xfrm>
            <a:off x="9190355" y="5280025"/>
            <a:ext cx="3001645" cy="15779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2703830"/>
            <a:ext cx="6826885" cy="21659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685" y="2703830"/>
            <a:ext cx="4251325" cy="217614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16000" y="5148262"/>
            <a:ext cx="5080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/>
            <a:r>
              <a:rPr lang="zh-CN" altLang="en-US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必须先训练一个独立的奖励模型（</a:t>
            </a:r>
            <a:r>
              <a:rPr lang="en-US" altLang="zh-CN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RM</a:t>
            </a:r>
            <a:r>
              <a:rPr lang="zh-CN" altLang="en-US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）来模拟人类的裁判标准。</a:t>
            </a:r>
            <a:endParaRPr lang="zh-CN" altLang="en-US" sz="1800" b="1" i="0">
              <a:solidFill>
                <a:srgbClr val="1F1F1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95565" y="5147945"/>
            <a:ext cx="41402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彻底省去显式裁判（</a:t>
            </a:r>
            <a:r>
              <a:rPr lang="en-US" altLang="zh-CN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RM</a:t>
            </a:r>
            <a:r>
              <a:rPr lang="zh-CN" altLang="en-US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）的训练，也完全不需要 </a:t>
            </a:r>
            <a:r>
              <a:rPr lang="en-US" altLang="zh-CN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PPO </a:t>
            </a:r>
            <a:r>
              <a:rPr lang="zh-CN" altLang="en-US" sz="1800" b="1" i="0">
                <a:solidFill>
                  <a:srgbClr val="1F1F1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强化学习。</a:t>
            </a:r>
            <a:endParaRPr lang="zh-CN" altLang="en-US" sz="1800" b="1" i="0">
              <a:solidFill>
                <a:srgbClr val="1F1F1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44833" b="28472"/>
          <a:stretch>
            <a:fillRect/>
          </a:stretch>
        </p:blipFill>
        <p:spPr>
          <a:xfrm>
            <a:off x="0" y="0"/>
            <a:ext cx="4203700" cy="30613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203700" y="698500"/>
            <a:ext cx="37592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DPO 数学原理</a:t>
            </a:r>
            <a:endParaRPr lang="en-US" sz="3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润圆-65简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" name="文本框 2"/>
          <p:cNvSpPr txBox="1"/>
          <p:nvPr/>
        </p:nvSpPr>
        <p:spPr>
          <a:xfrm>
            <a:off x="611505" y="149415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第一步：传统 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RLHF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阶段的最优策略闭式解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970" y="1831340"/>
            <a:ext cx="4411345" cy="957580"/>
          </a:xfrm>
          <a:prstGeom prst="rect">
            <a:avLst/>
          </a:prstGeom>
        </p:spPr>
      </p:pic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611505" y="2890520"/>
            <a:ext cx="10330180" cy="737235"/>
            <a:chOff x="963" y="4552"/>
            <a:chExt cx="16268" cy="1161"/>
          </a:xfrm>
        </p:grpSpPr>
        <p:grpSp>
          <p:nvGrpSpPr>
            <p:cNvPr id="10" name="组合 9"/>
            <p:cNvGrpSpPr/>
            <p:nvPr/>
          </p:nvGrpSpPr>
          <p:grpSpPr>
            <a:xfrm>
              <a:off x="963" y="4552"/>
              <a:ext cx="16268" cy="1161"/>
              <a:chOff x="963" y="4560"/>
              <a:chExt cx="16268" cy="1161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963" y="4560"/>
                <a:ext cx="16268" cy="116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数学解释：</a:t>
                </a:r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完美策略由三部分组成：初始模型的常识底子</a:t>
                </a:r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    ，</a:t>
                </a:r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奖励分数的指数膨胀 </a:t>
                </a:r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        ，</a:t>
                </a:r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以及归一化分母 </a:t>
                </a:r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    。</a:t>
                </a:r>
                <a:endParaRPr lang="en-US" altLang="zh-CN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  <a:p>
                <a:endParaRPr lang="en-US" altLang="zh-CN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  <a:p>
                <a:r>
                  <a:rPr lang="zh-CN" altLang="en-US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致命痛点：</a:t>
                </a:r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分母 </a:t>
                </a:r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    </a:t>
                </a:r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无法计算！ 它代表模型生成所有可能句子的概率总和，由于空间无限，工程上根本算不出来。</a:t>
                </a:r>
                <a:endParaRPr lang="zh-CN" altLang="en-US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71" y="4639"/>
                <a:ext cx="627" cy="402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99" y="4560"/>
                <a:ext cx="1197" cy="481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04" y="4560"/>
                <a:ext cx="724" cy="457"/>
              </a:xfrm>
              <a:prstGeom prst="rect">
                <a:avLst/>
              </a:prstGeom>
            </p:spPr>
          </p:pic>
        </p:grp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32" y="5297"/>
              <a:ext cx="660" cy="416"/>
            </a:xfrm>
            <a:prstGeom prst="rect">
              <a:avLst/>
            </a:prstGeom>
          </p:spPr>
        </p:pic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165" y="4202430"/>
            <a:ext cx="5210810" cy="214249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11505" y="3832860"/>
            <a:ext cx="2065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直接计算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loss:</a:t>
            </a:r>
            <a:endParaRPr lang="en-US" altLang="zh-CN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038850" y="4026535"/>
            <a:ext cx="5589270" cy="2612390"/>
            <a:chOff x="9510" y="6618"/>
            <a:chExt cx="8802" cy="4114"/>
          </a:xfrm>
        </p:grpSpPr>
        <p:sp>
          <p:nvSpPr>
            <p:cNvPr id="19" name="文本框 18"/>
            <p:cNvSpPr txBox="1"/>
            <p:nvPr/>
          </p:nvSpPr>
          <p:spPr>
            <a:xfrm>
              <a:off x="9510" y="6618"/>
              <a:ext cx="8802" cy="4114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pPr indent="0" eaLnBrk="1" fontAlgn="auto" latinLnBrk="0" hangingPunct="1">
                <a:lnSpc>
                  <a:spcPct val="120000"/>
                </a:lnSpc>
              </a:pPr>
              <a:r>
                <a:rPr lang="en-US" altLang="zh-CN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</a:t>
              </a: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是大模型对当前问题 </a:t>
              </a:r>
              <a:r>
                <a:rPr lang="en-US" altLang="zh-CN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x </a:t>
              </a: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可能吐出的全宇宙所有回答的概率得分总和。因为大模型能说的话是无穷无尽的，要想算出这个分母，计算机得算到宇宙毁灭。</a:t>
              </a:r>
              <a:endPara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0" eaLnBrk="1" fontAlgn="auto" latinLnBrk="0" hangingPunct="1">
                <a:lnSpc>
                  <a:spcPct val="120000"/>
                </a:lnSpc>
              </a:pP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所以理论上的闭式最优策略不能直接作为训练目标。</a:t>
              </a:r>
              <a:endPara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0" eaLnBrk="1" fontAlgn="auto" latinLnBrk="0" hangingPunct="1">
                <a:lnSpc>
                  <a:spcPct val="120000"/>
                </a:lnSpc>
              </a:pP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</a:rPr>
                <a:t>传统 </a:t>
              </a:r>
              <a:r>
                <a:rPr lang="en-US" altLang="zh-CN" sz="1600" dirty="0">
                  <a:latin typeface="黑体" panose="02010609060101010101" charset="-122"/>
                  <a:ea typeface="黑体" panose="02010609060101010101" charset="-122"/>
                </a:rPr>
                <a:t>RLHF </a:t>
              </a: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</a:rPr>
                <a:t>通常转而</a:t>
              </a: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使用</a:t>
              </a:r>
              <a:r>
                <a:rPr lang="en-US" altLang="zh-CN" sz="16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PPO</a:t>
              </a:r>
              <a:r>
                <a:rPr lang="zh-CN" altLang="en-US" sz="16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策略</a:t>
              </a: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</a:rPr>
                <a:t>：模型</a:t>
              </a: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现场随机生成几个句子，奖励模型打分，模型感觉一下哪个方向得分高，就往那边挪一小步。</a:t>
              </a:r>
              <a:endPara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0" eaLnBrk="1" fontAlgn="auto" latinLnBrk="0" hangingPunct="1">
                <a:lnSpc>
                  <a:spcPct val="120000"/>
                </a:lnSpc>
              </a:pPr>
              <a:r>
                <a:rPr lang="zh-CN" altLang="en-US" sz="1600" dirty="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但调参极其痛苦，训练动辄崩溃。</a:t>
              </a:r>
              <a:endPara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10" y="6785"/>
              <a:ext cx="774" cy="5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44833" b="28472"/>
          <a:stretch>
            <a:fillRect/>
          </a:stretch>
        </p:blipFill>
        <p:spPr>
          <a:xfrm>
            <a:off x="0" y="0"/>
            <a:ext cx="4203700" cy="30613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203700" y="698500"/>
            <a:ext cx="37592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DPO 数学原理</a:t>
            </a:r>
            <a:endParaRPr lang="en-US" sz="3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润圆-65简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782320" y="222789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第二步：逆向工程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两边取对数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715" y="2686685"/>
            <a:ext cx="5265420" cy="10153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450" y="1270635"/>
            <a:ext cx="4411345" cy="95758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82320" y="378999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第三步：移项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——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完美替代式诞生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715" y="4417695"/>
            <a:ext cx="5057775" cy="112331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782320" y="5755640"/>
            <a:ext cx="9507220" cy="781050"/>
            <a:chOff x="1232" y="9064"/>
            <a:chExt cx="14972" cy="1230"/>
          </a:xfrm>
        </p:grpSpPr>
        <p:sp>
          <p:nvSpPr>
            <p:cNvPr id="26" name="文本框 25"/>
            <p:cNvSpPr txBox="1"/>
            <p:nvPr/>
          </p:nvSpPr>
          <p:spPr>
            <a:xfrm>
              <a:off x="1232" y="9064"/>
              <a:ext cx="14973" cy="1231"/>
            </a:xfrm>
            <a:prstGeom prst="rect">
              <a:avLst/>
            </a:prstGeom>
          </p:spPr>
          <p:txBody>
            <a:bodyPr>
              <a:noAutofit/>
            </a:bodyPr>
            <a:lstStyle/>
            <a:p>
              <a:r>
                <a:rPr lang="zh-CN" altLang="en-US" sz="16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潜在的奖励分数</a:t>
              </a:r>
              <a:r>
                <a:rPr lang="en-US" altLang="zh-CN" sz="16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</a:t>
              </a:r>
              <a:r>
                <a:rPr lang="zh-CN" altLang="en-US" sz="16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，完全可以用“现在的模型”与“初始模型”说话概率的对数比来表达！</a:t>
              </a:r>
              <a:endPara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11" y="9183"/>
              <a:ext cx="1092" cy="416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68935"/>
            <a:ext cx="12192000" cy="6027420"/>
          </a:xfrm>
          <a:prstGeom prst="rect">
            <a:avLst/>
          </a:prstGeom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9"/>
          <a:srcRect l="26336" t="11732"/>
          <a:stretch>
            <a:fillRect/>
          </a:stretch>
        </p:blipFill>
        <p:spPr>
          <a:xfrm>
            <a:off x="9217025" y="4851400"/>
            <a:ext cx="2974975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"/>
          <p:cNvPicPr>
            <a:picLocks noChangeAspect="1"/>
          </p:cNvPicPr>
          <p:nvPr/>
        </p:nvPicPr>
        <p:blipFill>
          <a:blip r:embed="rId1"/>
          <a:srcRect l="12893"/>
          <a:stretch>
            <a:fillRect/>
          </a:stretch>
        </p:blipFill>
        <p:spPr>
          <a:xfrm>
            <a:off x="8674100" y="4584700"/>
            <a:ext cx="3517900" cy="2273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44833" b="28472"/>
          <a:stretch>
            <a:fillRect/>
          </a:stretch>
        </p:blipFill>
        <p:spPr>
          <a:xfrm>
            <a:off x="0" y="0"/>
            <a:ext cx="4203700" cy="30613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203700" y="698500"/>
            <a:ext cx="37592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DPO 数学原理</a:t>
            </a:r>
            <a:endParaRPr lang="en-US" sz="3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润圆-65简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861695" y="134588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起点：经典的 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Bradley-Terry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人类偏好模型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010" y="1683385"/>
            <a:ext cx="4603115" cy="70040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61695" y="23333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带入：用上一页推导出的“隐式奖励”代替 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r:</a:t>
            </a:r>
            <a:endParaRPr lang="en-US" altLang="zh-CN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010" y="2670810"/>
            <a:ext cx="3809365" cy="98552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61695" y="353663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消去：作差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8010" y="3865880"/>
            <a:ext cx="7770495" cy="98996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861695" y="4740275"/>
            <a:ext cx="946213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DPO 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令人惊叹的、不需要任何强化学习的终极损失函数：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0675" y="5077460"/>
            <a:ext cx="7713345" cy="105219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0850" y="6129655"/>
            <a:ext cx="507873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48167" b="31335"/>
          <a:stretch>
            <a:fillRect/>
          </a:stretch>
        </p:blipFill>
        <p:spPr>
          <a:xfrm>
            <a:off x="0" y="0"/>
            <a:ext cx="3949700" cy="29387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203700" y="622300"/>
            <a:ext cx="39878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DPO vs. PPO：对比</a:t>
            </a:r>
            <a:endParaRPr lang="en-US" sz="24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润圆-65简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b="24420"/>
          <a:stretch>
            <a:fillRect/>
          </a:stretch>
        </p:blipFill>
        <p:spPr>
          <a:xfrm>
            <a:off x="439420" y="1415415"/>
            <a:ext cx="11494770" cy="413575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29310" y="5620068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横轴：模型改变原有性格、压抑天性的程度。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  <a:p>
            <a:pPr indent="0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纵轴：模型考了多少分（对齐人类偏好的程度）。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34785" y="5674042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横轴：采样温度，控制模型说话的创造力。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eaLnBrk="1" fontAlgn="auto" latinLnBrk="0" hangingPunct="1">
              <a:lnSpc>
                <a:spcPct val="150000"/>
              </a:lnSpc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纵轴</a:t>
            </a:r>
            <a:r>
              <a:rPr lang="en-US" altLang="zh-CN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 </a:t>
            </a:r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相对初始模型的胜率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44833" b="28472"/>
          <a:stretch>
            <a:fillRect/>
          </a:stretch>
        </p:blipFill>
        <p:spPr>
          <a:xfrm>
            <a:off x="0" y="0"/>
            <a:ext cx="4203700" cy="306133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4203700" y="698500"/>
            <a:ext cx="37592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润圆-65简"/>
              </a:rPr>
              <a:t>Q&amp;A</a:t>
            </a:r>
            <a:endParaRPr lang="en-US" sz="3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润圆-65简"/>
            </a:endParaRPr>
          </a:p>
        </p:txBody>
      </p:sp>
      <p:cxnSp>
        <p:nvCxnSpPr>
          <p:cNvPr id="5" name="Connector 5"/>
          <p:cNvCxnSpPr/>
          <p:nvPr/>
        </p:nvCxnSpPr>
        <p:spPr>
          <a:xfrm rot="10700367">
            <a:off x="30733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10700367">
            <a:off x="8267608" y="977901"/>
            <a:ext cx="87639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AA59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04925" y="1428750"/>
            <a:ext cx="894524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既然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DPO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不需要“奖励模型（裁判）”，那图中的“胜率”是跟谁比出来的？又是谁来当裁判的？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2525" y="1894205"/>
            <a:ext cx="5080000" cy="446660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eaLnBrk="1" fontAlgn="auto" latinLnBrk="0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在训练时（隐式裁判）：</a:t>
            </a:r>
            <a:endParaRPr lang="zh-CN" altLang="en-US" sz="16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eaLnBrk="1" fontAlgn="auto" latinLnBrk="0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DPO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确实没有“活着的、需要训练的裁判网络”。它的裁判是</a:t>
            </a:r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静态的历史偏好数据集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eaLnBrk="1" fontAlgn="auto" latinLnBrk="0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公式中的 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yw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（人类喜欢的回答）和 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yl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（人类讨厌的回答）就是人类提前留下的“偏好答案”。模型通过拉高 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yw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的概率、压低 </a:t>
            </a:r>
            <a:r>
              <a:rPr lang="en-US" altLang="zh-CN" sz="1600" dirty="0" err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yl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的概率，来实现自我对齐。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eaLnBrk="1" fontAlgn="auto" latinLnBrk="0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在测试</a:t>
            </a:r>
            <a:r>
              <a:rPr lang="en-US" altLang="zh-CN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画出图二右图时（外部裁判）：</a:t>
            </a:r>
            <a:endParaRPr lang="zh-CN" altLang="en-US" sz="16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 eaLnBrk="1" fontAlgn="auto" latinLnBrk="0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图二右图纵轴的 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Win rate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，是训练完成后需要评估时，为了检验效果而进行的“课后盲测”</a:t>
            </a:r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 研究人员让对齐后的 </a:t>
            </a:r>
            <a:r>
              <a:rPr lang="en-US" altLang="zh-CN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DPO </a:t>
            </a:r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模型和测试集里的参考摘要进行比较，打包送给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第三方裁判（在论文中是 </a:t>
            </a:r>
            <a:r>
              <a:rPr lang="en-US" altLang="zh-CN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GPT-4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</a:t>
            </a:r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人类专家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）进行双盲评估，从而算出了这个相对胜率。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265" y="2191385"/>
            <a:ext cx="5601335" cy="4239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0"/>
      <p:bldP spid="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8500" b="13353"/>
          <a:stretch>
            <a:fillRect/>
          </a:stretch>
        </p:blipFill>
        <p:spPr>
          <a:xfrm>
            <a:off x="0" y="0"/>
            <a:ext cx="4686300" cy="370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20267" t="10894"/>
          <a:stretch>
            <a:fillRect/>
          </a:stretch>
        </p:blipFill>
        <p:spPr>
          <a:xfrm>
            <a:off x="8971915" y="4832350"/>
            <a:ext cx="3220085" cy="20256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2273300" y="2540000"/>
            <a:ext cx="7797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8000" b="1" i="0" u="none" strike="noStrike">
                <a:solidFill>
                  <a:srgbClr val="000000"/>
                </a:solidFill>
                <a:latin typeface="汉仪润圆-65简"/>
                <a:ea typeface="汉仪润圆-65简"/>
                <a:cs typeface="汉仪润圆-65简"/>
                <a:sym typeface="汉仪润圆-65简"/>
              </a:rPr>
              <a:t>谢谢观看！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0,&quot;left&quot;:42.85,&quot;top&quot;:148.6,&quot;width&quot;:880}"/>
</p:tagLst>
</file>

<file path=ppt/tags/tag2.xml><?xml version="1.0" encoding="utf-8"?>
<p:tagLst xmlns:p="http://schemas.openxmlformats.org/presentationml/2006/main">
  <p:tag name="KSO_WM_DIAGRAM_VIRTUALLY_FRAME" val="{&quot;height&quot;:110,&quot;left&quot;:42.85,&quot;top&quot;:148.6,&quot;width&quot;:880}"/>
</p:tagLst>
</file>

<file path=ppt/tags/tag3.xml><?xml version="1.0" encoding="utf-8"?>
<p:tagLst xmlns:p="http://schemas.openxmlformats.org/presentationml/2006/main">
  <p:tag name="KSO_WM_DIAGRAM_VIRTUALLY_FRAME" val="{&quot;height&quot;:110,&quot;left&quot;:42.85,&quot;top&quot;:148.6,&quot;width&quot;:880}"/>
</p:tagLst>
</file>

<file path=ppt/tags/tag4.xml><?xml version="1.0" encoding="utf-8"?>
<p:tagLst xmlns:p="http://schemas.openxmlformats.org/presentationml/2006/main">
  <p:tag name="KSO_WM_DIAGRAM_VIRTUALLY_FRAME" val="{&quot;height&quot;:110,&quot;left&quot;:42.85,&quot;top&quot;:148.6,&quot;width&quot;:880}"/>
</p:tagLst>
</file>

<file path=ppt/tags/tag5.xml><?xml version="1.0" encoding="utf-8"?>
<p:tagLst xmlns:p="http://schemas.openxmlformats.org/presentationml/2006/main">
  <p:tag name="KSO_WM_DIAGRAM_VIRTUALLY_FRAME" val="{&quot;height&quot;:110,&quot;left&quot;:42.85,&quot;top&quot;:148.6,&quot;width&quot;:880}"/>
</p:tagLst>
</file>

<file path=ppt/tags/tag6.xml><?xml version="1.0" encoding="utf-8"?>
<p:tagLst xmlns:p="http://schemas.openxmlformats.org/presentationml/2006/main">
  <p:tag name="KSO_WM_DIAGRAM_VIRTUALLY_FRAME" val="{&quot;height&quot;:110,&quot;left&quot;:42.85,&quot;top&quot;:148.6,&quot;width&quot;:8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1907</Words>
  <Application>WPS 演示</Application>
  <PresentationFormat>宽屏</PresentationFormat>
  <Paragraphs>132</Paragraphs>
  <Slides>12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汉仪润圆-65简</vt:lpstr>
      <vt:lpstr>Segoe Print</vt:lpstr>
      <vt:lpstr>黑体</vt:lpstr>
      <vt:lpstr>Noto Sans SC</vt:lpstr>
      <vt:lpstr>Arial Unicode MS</vt:lpstr>
      <vt:lpstr>汉仪润圆-65简</vt:lpstr>
      <vt:lpstr>Office 主题​​</vt:lpstr>
      <vt:lpstr>默认主题</vt:lpstr>
      <vt:lpstr>1_默认主题</vt:lpstr>
      <vt:lpstr>2_默认主题</vt:lpstr>
      <vt:lpstr>3_默认主题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zyl</dc:creator>
  <cp:lastModifiedBy>王云超0110</cp:lastModifiedBy>
  <cp:revision>18</cp:revision>
  <dcterms:created xsi:type="dcterms:W3CDTF">2026-06-06T04:14:00Z</dcterms:created>
  <dcterms:modified xsi:type="dcterms:W3CDTF">2026-06-07T14:26:50Z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{"Label":"1","ContentProducer":"001191110102MACQD9K64010000","ProduceID":"7648130242188708830","ReservedCode1":"","ContentPropagator":"","PropagateID":"","ReservedCode2":""}</vt:lpwstr>
  </property>
  <property fmtid="{D5CDD505-2E9C-101B-9397-08002B2CF9AE}" pid="3" name="ICV">
    <vt:lpwstr>FB36F43D931C4D1F9B482F8319AE067E_13</vt:lpwstr>
  </property>
  <property fmtid="{D5CDD505-2E9C-101B-9397-08002B2CF9AE}" pid="4" name="KSOProductBuildVer">
    <vt:lpwstr>2052-12.1.0.26375</vt:lpwstr>
  </property>
</Properties>
</file>