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307" r:id="rId3"/>
    <p:sldId id="309" r:id="rId5"/>
    <p:sldId id="308" r:id="rId6"/>
    <p:sldId id="333" r:id="rId7"/>
    <p:sldId id="335" r:id="rId8"/>
    <p:sldId id="334" r:id="rId9"/>
    <p:sldId id="310" r:id="rId10"/>
    <p:sldId id="311" r:id="rId11"/>
    <p:sldId id="312" r:id="rId12"/>
    <p:sldId id="325" r:id="rId13"/>
    <p:sldId id="326" r:id="rId14"/>
    <p:sldId id="331" r:id="rId15"/>
    <p:sldId id="332" r:id="rId16"/>
    <p:sldId id="328" r:id="rId17"/>
    <p:sldId id="330" r:id="rId18"/>
    <p:sldId id="327" r:id="rId19"/>
  </p:sldIdLst>
  <p:sldSz cx="12192000" cy="6858000"/>
  <p:notesSz cx="6858000" cy="9144000"/>
  <p:embeddedFontLst>
    <p:embeddedFont>
      <p:font typeface="汉仪润圆-65简" panose="00020600040101010101" pitchFamily="18" charset="-122"/>
      <p:regular r:id="rId24"/>
    </p:embeddedFont>
    <p:embeddedFont>
      <p:font typeface="黑体" panose="02010609060101010101" charset="-122"/>
      <p:regular r:id="rId25"/>
    </p:embeddedFont>
    <p:embeddedFont>
      <p:font typeface="汉仪颜楷简" panose="00020600040101010101" charset="-122"/>
      <p:regular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0" userDrawn="1">
          <p15:clr>
            <a:srgbClr val="A4A3A4"/>
          </p15:clr>
        </p15:guide>
        <p15:guide id="2" pos="3793" userDrawn="1">
          <p15:clr>
            <a:srgbClr val="A4A3A4"/>
          </p15:clr>
        </p15:guide>
        <p15:guide id="3" pos="410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27" userDrawn="1">
          <p15:clr>
            <a:srgbClr val="A4A3A4"/>
          </p15:clr>
        </p15:guide>
        <p15:guide id="6" orient="horz" pos="773" userDrawn="1">
          <p15:clr>
            <a:srgbClr val="A4A3A4"/>
          </p15:clr>
        </p15:guide>
        <p15:guide id="7" orient="horz" pos="3907" userDrawn="1">
          <p15:clr>
            <a:srgbClr val="A4A3A4"/>
          </p15:clr>
        </p15:guide>
        <p15:guide id="8" orient="horz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A2E1"/>
    <a:srgbClr val="095BE2"/>
    <a:srgbClr val="181818"/>
    <a:srgbClr val="79A55B"/>
    <a:srgbClr val="B4CDA4"/>
    <a:srgbClr val="9DBD87"/>
    <a:srgbClr val="00F5D9"/>
    <a:srgbClr val="41D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26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66" y="324"/>
      </p:cViewPr>
      <p:guideLst>
        <p:guide orient="horz" pos="2310"/>
        <p:guide pos="3793"/>
        <p:guide pos="410"/>
        <p:guide pos="7256"/>
        <p:guide orient="horz" pos="627"/>
        <p:guide orient="horz" pos="773"/>
        <p:guide orient="horz" pos="3907"/>
        <p:guide orient="horz" pos="38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5.xml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汉仪润圆-65简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润圆-65简" panose="00020600040101010101" pitchFamily="18" charset="-122"/>
              </a:rPr>
            </a:fld>
            <a:endParaRPr lang="zh-CN" altLang="en-US">
              <a:cs typeface="汉仪润圆-65简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汉仪润圆-65简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润圆-65简" panose="00020600040101010101" pitchFamily="18" charset="-122"/>
              </a:rPr>
            </a:fld>
            <a:endParaRPr lang="zh-CN" altLang="en-US">
              <a:cs typeface="汉仪润圆-65简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283CE2B5-C7CF-4FCB-A687-2965513C89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BDD7CB-7B5F-4BF0-AEC3-F52025458A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3" y="3"/>
            <a:ext cx="12191997" cy="6857997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53490" y="2070101"/>
            <a:ext cx="4238409" cy="248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2"/>
          <p:cNvSpPr>
            <a:spLocks noGrp="1"/>
          </p:cNvSpPr>
          <p:nvPr>
            <p:ph type="pic" sz="quarter" idx="36"/>
          </p:nvPr>
        </p:nvSpPr>
        <p:spPr>
          <a:xfrm>
            <a:off x="5906501" y="2056660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87" name="Picture Placeholder 2"/>
          <p:cNvSpPr>
            <a:spLocks noGrp="1"/>
          </p:cNvSpPr>
          <p:nvPr>
            <p:ph type="pic" sz="quarter" idx="37"/>
          </p:nvPr>
        </p:nvSpPr>
        <p:spPr>
          <a:xfrm>
            <a:off x="5904012" y="4180981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64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850285" y="2056660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847796" y="4179394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64" grpId="0"/>
      <p:bldP spid="26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>
              <a:cs typeface="汉仪润圆-65简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jpeg"/><Relationship Id="rId7" Type="http://schemas.openxmlformats.org/officeDocument/2006/relationships/image" Target="../media/image1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B6D21B80-9413-4EE8-A058-97DF2E8B8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0C2F1850-6661-42FC-9D6D-89140B9F6166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28" b="13467"/>
          <a:stretch>
            <a:fillRect/>
          </a:stretch>
        </p:blipFill>
        <p:spPr>
          <a:xfrm>
            <a:off x="5" y="3"/>
            <a:ext cx="4684183" cy="3709005"/>
          </a:xfrm>
          <a:custGeom>
            <a:avLst/>
            <a:gdLst>
              <a:gd name="connsiteX0" fmla="*/ 0 w 4684183"/>
              <a:gd name="connsiteY0" fmla="*/ 0 h 3709005"/>
              <a:gd name="connsiteX1" fmla="*/ 4684183 w 4684183"/>
              <a:gd name="connsiteY1" fmla="*/ 0 h 3709005"/>
              <a:gd name="connsiteX2" fmla="*/ 4683208 w 4684183"/>
              <a:gd name="connsiteY2" fmla="*/ 592 h 3709005"/>
              <a:gd name="connsiteX3" fmla="*/ 99120 w 4684183"/>
              <a:gd name="connsiteY3" fmla="*/ 3602761 h 3709005"/>
              <a:gd name="connsiteX4" fmla="*/ 0 w 4684183"/>
              <a:gd name="connsiteY4" fmla="*/ 3709005 h 370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183" h="3709005">
                <a:moveTo>
                  <a:pt x="0" y="0"/>
                </a:moveTo>
                <a:lnTo>
                  <a:pt x="4684183" y="0"/>
                </a:lnTo>
                <a:lnTo>
                  <a:pt x="4683208" y="592"/>
                </a:lnTo>
                <a:cubicBezTo>
                  <a:pt x="3252874" y="885165"/>
                  <a:pt x="1090596" y="2566879"/>
                  <a:pt x="99120" y="3602761"/>
                </a:cubicBezTo>
                <a:lnTo>
                  <a:pt x="0" y="3709005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8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9"/>
          <a:stretch>
            <a:fillRect/>
          </a:stretch>
        </p:blipFill>
        <p:spPr>
          <a:xfrm>
            <a:off x="8679172" y="4586288"/>
            <a:ext cx="3512829" cy="2271712"/>
          </a:xfrm>
          <a:custGeom>
            <a:avLst/>
            <a:gdLst>
              <a:gd name="connsiteX0" fmla="*/ 1758613 w 3512829"/>
              <a:gd name="connsiteY0" fmla="*/ 0 h 2271712"/>
              <a:gd name="connsiteX1" fmla="*/ 3512829 w 3512829"/>
              <a:gd name="connsiteY1" fmla="*/ 0 h 2271712"/>
              <a:gd name="connsiteX2" fmla="*/ 3512829 w 3512829"/>
              <a:gd name="connsiteY2" fmla="*/ 2271712 h 2271712"/>
              <a:gd name="connsiteX3" fmla="*/ 0 w 3512829"/>
              <a:gd name="connsiteY3" fmla="*/ 2271712 h 2271712"/>
              <a:gd name="connsiteX4" fmla="*/ 75495 w 3512829"/>
              <a:gd name="connsiteY4" fmla="*/ 2197894 h 2271712"/>
              <a:gd name="connsiteX5" fmla="*/ 579129 w 3512829"/>
              <a:gd name="connsiteY5" fmla="*/ 1643062 h 2271712"/>
              <a:gd name="connsiteX6" fmla="*/ 1531629 w 3512829"/>
              <a:gd name="connsiteY6" fmla="*/ 557212 h 2271712"/>
              <a:gd name="connsiteX7" fmla="*/ 1748620 w 3512829"/>
              <a:gd name="connsiteY7" fmla="*/ 43755 h 227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2829" h="2271712">
                <a:moveTo>
                  <a:pt x="1758613" y="0"/>
                </a:moveTo>
                <a:lnTo>
                  <a:pt x="3512829" y="0"/>
                </a:lnTo>
                <a:lnTo>
                  <a:pt x="3512829" y="2271712"/>
                </a:lnTo>
                <a:lnTo>
                  <a:pt x="0" y="2271712"/>
                </a:lnTo>
                <a:lnTo>
                  <a:pt x="75495" y="2197894"/>
                </a:lnTo>
                <a:cubicBezTo>
                  <a:pt x="248135" y="2018506"/>
                  <a:pt x="410854" y="1812925"/>
                  <a:pt x="579129" y="1643062"/>
                </a:cubicBezTo>
                <a:cubicBezTo>
                  <a:pt x="915679" y="1303337"/>
                  <a:pt x="1331604" y="846137"/>
                  <a:pt x="1531629" y="557212"/>
                </a:cubicBezTo>
                <a:cubicBezTo>
                  <a:pt x="1681648" y="340519"/>
                  <a:pt x="1719152" y="182761"/>
                  <a:pt x="1748620" y="43755"/>
                </a:cubicBezTo>
                <a:close/>
              </a:path>
            </a:pathLst>
          </a:cu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5" name="图片占位符 2"/>
          <p:cNvPicPr>
            <a:picLocks noChangeAspect="1"/>
          </p:cNvPicPr>
          <p:nvPr/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9257" y="1918608"/>
            <a:ext cx="8882743" cy="4996542"/>
          </a:xfrm>
          <a:prstGeom prst="rect">
            <a:avLst/>
          </a:prstGeom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2220686" y="1306286"/>
            <a:ext cx="5167085" cy="2547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01913" y="3007125"/>
            <a:ext cx="923865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sz="80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人工智能</a:t>
            </a:r>
            <a:r>
              <a:rPr lang="zh-CN" altLang="en-US" sz="80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小班</a:t>
            </a:r>
            <a:endParaRPr lang="zh-CN" altLang="en-US" sz="8000" b="1" spc="300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75946" y="1447278"/>
            <a:ext cx="44401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b="1" spc="300" dirty="0" smtClean="0">
                <a:solidFill>
                  <a:srgbClr val="79A55B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REPORT</a:t>
            </a:r>
            <a:endParaRPr lang="en-US" altLang="zh-CN" sz="5400" b="1" spc="300" dirty="0">
              <a:solidFill>
                <a:srgbClr val="79A55B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8" name="矩形 259"/>
          <p:cNvSpPr>
            <a:spLocks noChangeArrowheads="1"/>
          </p:cNvSpPr>
          <p:nvPr/>
        </p:nvSpPr>
        <p:spPr bwMode="auto">
          <a:xfrm>
            <a:off x="4126148" y="4364223"/>
            <a:ext cx="4014552" cy="27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914400">
              <a:buNone/>
            </a:pPr>
            <a:r>
              <a:rPr lang="zh-CN" altLang="en-US" sz="1800" cap="all" spc="300" dirty="0">
                <a:solidFill>
                  <a:srgbClr val="25201A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第四题</a:t>
            </a:r>
            <a:endParaRPr lang="zh-CN" altLang="en-US" sz="1800" cap="all" spc="300" dirty="0">
              <a:solidFill>
                <a:srgbClr val="25201A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4665282" y="4927365"/>
            <a:ext cx="1441306" cy="417575"/>
          </a:xfrm>
          <a:prstGeom prst="roundRect">
            <a:avLst>
              <a:gd name="adj" fmla="val 50000"/>
            </a:avLst>
          </a:prstGeom>
          <a:solidFill>
            <a:srgbClr val="79A55B"/>
          </a:solidFill>
          <a:ln>
            <a:solidFill>
              <a:srgbClr val="40A6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56325" y="4919345"/>
            <a:ext cx="1299210" cy="417830"/>
          </a:xfrm>
          <a:prstGeom prst="roundRect">
            <a:avLst>
              <a:gd name="adj" fmla="val 50000"/>
            </a:avLst>
          </a:prstGeom>
          <a:noFill/>
          <a:ln>
            <a:solidFill>
              <a:srgbClr val="79A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2" name="PA_矩形 32"/>
          <p:cNvSpPr/>
          <p:nvPr>
            <p:custDataLst>
              <p:tags r:id="rId2"/>
            </p:custDataLst>
          </p:nvPr>
        </p:nvSpPr>
        <p:spPr>
          <a:xfrm>
            <a:off x="4840331" y="4964788"/>
            <a:ext cx="1073795" cy="33718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prstClr val="white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小组</a:t>
            </a:r>
            <a:r>
              <a:rPr lang="zh-CN" altLang="en-US" sz="1600" dirty="0">
                <a:solidFill>
                  <a:prstClr val="white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成员</a:t>
            </a:r>
            <a:endParaRPr lang="zh-CN" altLang="en-US" sz="1600" dirty="0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58230" y="4942205"/>
            <a:ext cx="1229360" cy="3683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周雨健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59173" y="5434919"/>
            <a:ext cx="1295125" cy="3683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王云超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59808" y="5901009"/>
            <a:ext cx="1295125" cy="3683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张一龙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59808" y="6403294"/>
            <a:ext cx="1295125" cy="3683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毕佳涛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156325" y="5387340"/>
            <a:ext cx="1299210" cy="417830"/>
          </a:xfrm>
          <a:prstGeom prst="roundRect">
            <a:avLst>
              <a:gd name="adj" fmla="val 50000"/>
            </a:avLst>
          </a:prstGeom>
          <a:noFill/>
          <a:ln>
            <a:solidFill>
              <a:srgbClr val="79A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156325" y="5855335"/>
            <a:ext cx="1299210" cy="417830"/>
          </a:xfrm>
          <a:prstGeom prst="roundRect">
            <a:avLst>
              <a:gd name="adj" fmla="val 50000"/>
            </a:avLst>
          </a:prstGeom>
          <a:noFill/>
          <a:ln>
            <a:solidFill>
              <a:srgbClr val="79A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56325" y="6365240"/>
            <a:ext cx="1299210" cy="417830"/>
          </a:xfrm>
          <a:prstGeom prst="roundRect">
            <a:avLst>
              <a:gd name="adj" fmla="val 50000"/>
            </a:avLst>
          </a:prstGeom>
          <a:noFill/>
          <a:ln>
            <a:solidFill>
              <a:srgbClr val="79A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00035" y="491807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收集题目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900035" y="5420360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整合和</a:t>
            </a:r>
            <a:r>
              <a:rPr lang="en-US" altLang="zh-CN"/>
              <a:t>PPT</a:t>
            </a:r>
            <a:r>
              <a:rPr lang="zh-CN" altLang="en-US"/>
              <a:t>制作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900035" y="5922645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理解和</a:t>
            </a:r>
            <a:r>
              <a:rPr lang="en-US" altLang="zh-CN"/>
              <a:t>PPT</a:t>
            </a:r>
            <a:r>
              <a:rPr lang="zh-CN" altLang="en-US"/>
              <a:t>讲解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00035" y="6365240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PPT</a:t>
            </a:r>
            <a:r>
              <a:rPr lang="zh-CN" altLang="en-US"/>
              <a:t>润</a:t>
            </a:r>
            <a:r>
              <a:rPr lang="zh-CN" altLang="en-US"/>
              <a:t>色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>
            <p:custDataLst>
              <p:tags r:id="rId1"/>
            </p:custDataLst>
          </p:nvPr>
        </p:nvSpPr>
        <p:spPr>
          <a:xfrm>
            <a:off x="1553845" y="1637160"/>
            <a:ext cx="178703" cy="178703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38" name="Text Placeholder 33"/>
          <p:cNvSpPr txBox="1"/>
          <p:nvPr>
            <p:custDataLst>
              <p:tags r:id="rId2"/>
            </p:custDataLst>
          </p:nvPr>
        </p:nvSpPr>
        <p:spPr>
          <a:xfrm>
            <a:off x="1838325" y="1513840"/>
            <a:ext cx="4504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Introduction to the problem</a:t>
            </a:r>
            <a:endParaRPr lang="en-US" altLang="zh-CN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8" name="椭圆 47"/>
          <p:cNvSpPr/>
          <p:nvPr>
            <p:custDataLst>
              <p:tags r:id="rId3"/>
            </p:custDataLst>
          </p:nvPr>
        </p:nvSpPr>
        <p:spPr>
          <a:xfrm>
            <a:off x="1553210" y="3940248"/>
            <a:ext cx="178703" cy="178703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9" name="Text Placeholder 33"/>
          <p:cNvSpPr txBox="1"/>
          <p:nvPr>
            <p:custDataLst>
              <p:tags r:id="rId4"/>
            </p:custDataLst>
          </p:nvPr>
        </p:nvSpPr>
        <p:spPr>
          <a:xfrm>
            <a:off x="1837690" y="3816985"/>
            <a:ext cx="461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Consistent =&gt; Admissible</a:t>
            </a:r>
            <a:endParaRPr lang="en-US" altLang="zh-CN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60" name="椭圆 59"/>
          <p:cNvSpPr/>
          <p:nvPr>
            <p:custDataLst>
              <p:tags r:id="rId5"/>
            </p:custDataLst>
          </p:nvPr>
        </p:nvSpPr>
        <p:spPr>
          <a:xfrm>
            <a:off x="1553210" y="4826017"/>
            <a:ext cx="178703" cy="178703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61" name="Text Placeholder 33"/>
          <p:cNvSpPr txBox="1"/>
          <p:nvPr>
            <p:custDataLst>
              <p:tags r:id="rId6"/>
            </p:custDataLst>
          </p:nvPr>
        </p:nvSpPr>
        <p:spPr>
          <a:xfrm>
            <a:off x="1837690" y="4702810"/>
            <a:ext cx="4152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en-AU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Admissible≠&gt;Consistent</a:t>
            </a:r>
            <a:endParaRPr lang="en-US" altLang="en-AU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819646" y="3669310"/>
            <a:ext cx="2154668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8565">
              <a:defRPr/>
            </a:pPr>
            <a:r>
              <a:rPr lang="en-US" altLang="zh-CN" sz="1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CONTENT</a:t>
            </a:r>
            <a:endParaRPr lang="en-US" altLang="zh-CN" sz="1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084562" y="2099650"/>
            <a:ext cx="36248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9600" b="1" dirty="0" smtClean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目录</a:t>
            </a:r>
            <a:endParaRPr lang="zh-CN" altLang="en-US" sz="96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7894320" y="1333500"/>
            <a:ext cx="0" cy="4191000"/>
          </a:xfrm>
          <a:prstGeom prst="line">
            <a:avLst/>
          </a:prstGeom>
          <a:ln>
            <a:solidFill>
              <a:srgbClr val="B4CD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>
            <p:custDataLst>
              <p:tags r:id="rId7"/>
            </p:custDataLst>
          </p:nvPr>
        </p:nvSpPr>
        <p:spPr>
          <a:xfrm>
            <a:off x="1553210" y="5762698"/>
            <a:ext cx="178703" cy="178703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6" name="Text Placeholder 33"/>
          <p:cNvSpPr txBox="1"/>
          <p:nvPr>
            <p:custDataLst>
              <p:tags r:id="rId8"/>
            </p:custDataLst>
          </p:nvPr>
        </p:nvSpPr>
        <p:spPr>
          <a:xfrm>
            <a:off x="1837690" y="5639435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Summary</a:t>
            </a:r>
            <a:endParaRPr lang="en-US" altLang="zh-CN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9"/>
            </p:custDataLst>
          </p:nvPr>
        </p:nvSpPr>
        <p:spPr>
          <a:xfrm>
            <a:off x="1553210" y="2345763"/>
            <a:ext cx="178703" cy="178703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0" name="Text Placeholder 33"/>
          <p:cNvSpPr txBox="1"/>
          <p:nvPr>
            <p:custDataLst>
              <p:tags r:id="rId10"/>
            </p:custDataLst>
          </p:nvPr>
        </p:nvSpPr>
        <p:spPr>
          <a:xfrm>
            <a:off x="1837690" y="2222500"/>
            <a:ext cx="461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A* S</a:t>
            </a: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earch</a:t>
            </a:r>
            <a:endParaRPr lang="en-US" altLang="zh-CN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1" name="椭圆 10"/>
          <p:cNvSpPr/>
          <p:nvPr>
            <p:custDataLst>
              <p:tags r:id="rId11"/>
            </p:custDataLst>
          </p:nvPr>
        </p:nvSpPr>
        <p:spPr>
          <a:xfrm>
            <a:off x="1553210" y="3231532"/>
            <a:ext cx="178703" cy="178703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2" name="Text Placeholder 33"/>
          <p:cNvSpPr txBox="1"/>
          <p:nvPr>
            <p:custDataLst>
              <p:tags r:id="rId12"/>
            </p:custDataLst>
          </p:nvPr>
        </p:nvSpPr>
        <p:spPr>
          <a:xfrm>
            <a:off x="1837690" y="3108325"/>
            <a:ext cx="4152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en-AU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Prove Admissible</a:t>
            </a:r>
            <a:endParaRPr lang="en-US" altLang="en-AU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780" y="763270"/>
            <a:ext cx="3996690" cy="46482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0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Introduction to the problem</a:t>
            </a:r>
            <a:endParaRPr lang="en-US" altLang="zh-CN" sz="20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510" y="1228090"/>
            <a:ext cx="7571105" cy="2156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155" y="3266440"/>
            <a:ext cx="5123815" cy="34245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21537"/>
          <a:stretch>
            <a:fillRect/>
          </a:stretch>
        </p:blipFill>
        <p:spPr>
          <a:xfrm>
            <a:off x="0" y="1787525"/>
            <a:ext cx="6370320" cy="399034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9424670" y="215709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Fagraras(f=16)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533130" y="290893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Siblu(f=192)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0416540" y="290893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Bucharest(f=371)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160260" y="366077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Rimnicu Vilcea(f=212)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827770" y="372300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Oradea(f=470)</a:t>
            </a:r>
            <a:endParaRPr lang="en-US" altLang="zh-CN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579100" y="372300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A</a:t>
            </a:r>
            <a:r>
              <a:rPr lang="en-US" altLang="zh-CN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rad(f=453)</a:t>
            </a:r>
            <a:endParaRPr lang="en-US" altLang="zh-CN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70955" y="442912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Craiova(f=325)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051800" y="4412615"/>
            <a:ext cx="1372870" cy="4413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</a:t>
            </a:r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itesti(f=426)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9219565" y="2598420"/>
            <a:ext cx="891540" cy="31051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8261350" y="3337560"/>
            <a:ext cx="891540" cy="31051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7020560" y="4110355"/>
            <a:ext cx="891540" cy="31051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5" idx="2"/>
            <a:endCxn id="7" idx="0"/>
          </p:cNvCxnSpPr>
          <p:nvPr/>
        </p:nvCxnSpPr>
        <p:spPr>
          <a:xfrm>
            <a:off x="10111105" y="2598420"/>
            <a:ext cx="991870" cy="31051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9152890" y="3347085"/>
            <a:ext cx="408305" cy="375920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3" idx="0"/>
          </p:cNvCxnSpPr>
          <p:nvPr/>
        </p:nvCxnSpPr>
        <p:spPr>
          <a:xfrm>
            <a:off x="7873365" y="4114800"/>
            <a:ext cx="864870" cy="29781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9152890" y="3350260"/>
            <a:ext cx="2045970" cy="372745"/>
          </a:xfrm>
          <a:prstGeom prst="straightConnector1">
            <a:avLst/>
          </a:prstGeom>
          <a:ln>
            <a:solidFill>
              <a:srgbClr val="9DBD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096895" y="6203315"/>
            <a:ext cx="659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最优路径：</a:t>
            </a:r>
            <a:r>
              <a:rPr lang="en-US" altLang="zh-CN"/>
              <a:t>Fagaras </a:t>
            </a:r>
            <a:r>
              <a:rPr lang="en-US" altLang="en-US"/>
              <a:t>→</a:t>
            </a:r>
            <a:r>
              <a:rPr lang="en-US" altLang="zh-CN"/>
              <a:t> Sibiu </a:t>
            </a:r>
            <a:r>
              <a:rPr lang="en-US" altLang="en-US"/>
              <a:t>→</a:t>
            </a:r>
            <a:r>
              <a:rPr lang="en-US" altLang="zh-CN"/>
              <a:t> Rimnicu Vilcea </a:t>
            </a:r>
            <a:r>
              <a:rPr lang="en-US" altLang="en-US"/>
              <a:t>→</a:t>
            </a:r>
            <a:r>
              <a:rPr lang="en-US" altLang="zh-CN"/>
              <a:t> Craiova</a:t>
            </a:r>
            <a:endParaRPr lang="en-US" altLang="zh-CN"/>
          </a:p>
        </p:txBody>
      </p:sp>
      <p:grpSp>
        <p:nvGrpSpPr>
          <p:cNvPr id="28" name="组合 27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29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4208780" y="763270"/>
            <a:ext cx="3996690" cy="46482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0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A* Search</a:t>
            </a:r>
            <a:endParaRPr lang="en-US" altLang="zh-CN" sz="20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6" grpId="1" animBg="1"/>
      <p:bldP spid="7" grpId="1" animBg="1"/>
      <p:bldP spid="8" grpId="0" animBg="1"/>
      <p:bldP spid="9" grpId="0" animBg="1"/>
      <p:bldP spid="11" grpId="0" animBg="1"/>
      <p:bldP spid="8" grpId="1" animBg="1"/>
      <p:bldP spid="9" grpId="1" animBg="1"/>
      <p:bldP spid="11" grpId="1" animBg="1"/>
      <p:bldP spid="12" grpId="0" animBg="1"/>
      <p:bldP spid="13" grpId="0" animBg="1"/>
      <p:bldP spid="12" grpId="1" animBg="1"/>
      <p:bldP spid="13" grpId="1" animBg="1"/>
      <p:bldP spid="27" grpId="0"/>
      <p:bldP spid="2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29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4208780" y="763270"/>
            <a:ext cx="3996690" cy="46482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0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Prove Admissible</a:t>
            </a:r>
            <a:endParaRPr lang="en-US" altLang="zh-CN" sz="20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5060" y="1344295"/>
            <a:ext cx="9535160" cy="551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第一步：直线距离是下界</a:t>
            </a:r>
            <a:endParaRPr lang="zh-CN" altLang="en-US" sz="1600"/>
          </a:p>
          <a:p>
            <a:r>
              <a:rPr lang="zh-CN" altLang="en-US" sz="1600"/>
              <a:t>连接两点的所有路径中，直线距离是最短的</a:t>
            </a:r>
            <a:r>
              <a:rPr lang="en-US" altLang="zh-CN" sz="1600"/>
              <a:t>,</a:t>
            </a:r>
            <a:r>
              <a:rPr lang="zh-CN" altLang="en-US" sz="1600"/>
              <a:t>因此，从城市</a:t>
            </a:r>
            <a:r>
              <a:rPr lang="en-US" altLang="zh-CN" sz="1600"/>
              <a:t>n</a:t>
            </a:r>
            <a:r>
              <a:rPr lang="zh-CN" altLang="en-US" sz="1600"/>
              <a:t>到目标城市</a:t>
            </a:r>
            <a:r>
              <a:rPr lang="en-US" altLang="zh-CN" sz="1600"/>
              <a:t>G</a:t>
            </a:r>
            <a:r>
              <a:rPr lang="zh-CN" altLang="en-US" sz="1600"/>
              <a:t>的实际道路代价</a:t>
            </a:r>
            <a:r>
              <a:rPr lang="en-US" altLang="zh-CN" sz="1600"/>
              <a:t>h*(n)</a:t>
            </a:r>
            <a:r>
              <a:rPr lang="zh-CN" altLang="en-US" sz="1600"/>
              <a:t>，一定大于或等于它们之间的理想直线距离</a:t>
            </a:r>
            <a:r>
              <a:rPr lang="en-US" altLang="zh-CN" sz="1600"/>
              <a:t>h</a:t>
            </a:r>
            <a:r>
              <a:rPr lang="en-US" altLang="zh-CN" sz="1600" baseline="-25000"/>
              <a:t>SLD</a:t>
            </a:r>
            <a:r>
              <a:rPr lang="en-US" altLang="zh-CN" sz="1600"/>
              <a:t>(n, G)</a:t>
            </a:r>
            <a:r>
              <a:rPr lang="zh-CN" altLang="en-US" sz="1600"/>
              <a:t>。</a:t>
            </a:r>
            <a:endParaRPr lang="en-US" altLang="zh-CN" sz="1600"/>
          </a:p>
          <a:p>
            <a:r>
              <a:rPr lang="zh-CN" altLang="en-US" sz="1600"/>
              <a:t>我们可以表示为：</a:t>
            </a:r>
            <a:endParaRPr lang="zh-CN" altLang="en-US" sz="1600"/>
          </a:p>
          <a:p>
            <a:pPr lvl="1"/>
            <a:r>
              <a:rPr lang="en-US" altLang="zh-CN" sz="1600"/>
              <a:t>h*(n) &gt;= h</a:t>
            </a:r>
            <a:r>
              <a:rPr lang="en-US" altLang="zh-CN" sz="1600" baseline="-25000"/>
              <a:t>SLD</a:t>
            </a:r>
            <a:r>
              <a:rPr lang="en-US" altLang="zh-CN" sz="1600"/>
              <a:t>(n, G)</a:t>
            </a:r>
            <a:endParaRPr lang="en-US" altLang="zh-CN" sz="1600"/>
          </a:p>
          <a:p>
            <a:r>
              <a:rPr lang="zh-CN" altLang="en-US" sz="1600"/>
              <a:t>第二步：应用三角不等式</a:t>
            </a:r>
            <a:endParaRPr lang="zh-CN" altLang="en-US" sz="1600"/>
          </a:p>
          <a:p>
            <a:r>
              <a:rPr lang="zh-CN" altLang="en-US" sz="1600"/>
              <a:t>考虑由当前城市</a:t>
            </a:r>
            <a:r>
              <a:rPr lang="en-US" altLang="zh-CN" sz="1600"/>
              <a:t>n</a:t>
            </a:r>
            <a:r>
              <a:rPr lang="zh-CN" altLang="en-US" sz="1600"/>
              <a:t>、目标城市</a:t>
            </a:r>
            <a:r>
              <a:rPr lang="en-US" altLang="zh-CN" sz="1600"/>
              <a:t>G</a:t>
            </a:r>
            <a:r>
              <a:rPr lang="zh-CN" altLang="en-US" sz="1600"/>
              <a:t>和参考点</a:t>
            </a:r>
            <a:r>
              <a:rPr lang="en-US" altLang="zh-CN" sz="1600"/>
              <a:t>B</a:t>
            </a:r>
            <a:r>
              <a:rPr lang="zh-CN" altLang="en-US" sz="1600"/>
              <a:t>这三个城市在地图上构成的三角形（</a:t>
            </a:r>
            <a:r>
              <a:rPr lang="en-US" altLang="zh-CN" sz="1600"/>
              <a:t>n-G-B</a:t>
            </a:r>
            <a:r>
              <a:rPr lang="zh-CN" altLang="en-US" sz="1600"/>
              <a:t>）。</a:t>
            </a:r>
            <a:endParaRPr lang="en-US" altLang="zh-CN" sz="1600"/>
          </a:p>
          <a:p>
            <a:r>
              <a:rPr lang="zh-CN" altLang="en-US" sz="1600"/>
              <a:t>在一个三角形中，任意两边之差的绝对值，小于或等于第三边。</a:t>
            </a:r>
            <a:endParaRPr lang="en-US" altLang="zh-CN" sz="1600"/>
          </a:p>
          <a:p>
            <a:r>
              <a:rPr lang="zh-CN" altLang="en-US" sz="1600"/>
              <a:t>我们将两边之差选为（边</a:t>
            </a:r>
            <a:r>
              <a:rPr lang="en-US" altLang="zh-CN" sz="1600"/>
              <a:t>nB - </a:t>
            </a:r>
            <a:r>
              <a:rPr lang="zh-CN" altLang="en-US" sz="1600"/>
              <a:t>边</a:t>
            </a:r>
            <a:r>
              <a:rPr lang="en-US" altLang="zh-CN" sz="1600"/>
              <a:t>GB</a:t>
            </a:r>
            <a:r>
              <a:rPr lang="zh-CN" altLang="en-US" sz="1600"/>
              <a:t>），第三边选为</a:t>
            </a:r>
            <a:r>
              <a:rPr lang="en-US" altLang="zh-CN" sz="1600"/>
              <a:t>nG</a:t>
            </a:r>
            <a:r>
              <a:rPr lang="zh-CN" altLang="en-US" sz="1600"/>
              <a:t>：</a:t>
            </a:r>
            <a:endParaRPr lang="zh-CN" altLang="en-US" sz="1600"/>
          </a:p>
          <a:p>
            <a:pPr lvl="1"/>
            <a:r>
              <a:rPr lang="en-US" altLang="zh-CN" sz="1600"/>
              <a:t>| </a:t>
            </a:r>
            <a:r>
              <a:rPr lang="zh-CN" altLang="en-US" sz="1600"/>
              <a:t>边</a:t>
            </a:r>
            <a:r>
              <a:rPr lang="en-US" altLang="zh-CN" sz="1600"/>
              <a:t>nB - </a:t>
            </a:r>
            <a:r>
              <a:rPr lang="zh-CN" altLang="en-US" sz="1600"/>
              <a:t>边</a:t>
            </a:r>
            <a:r>
              <a:rPr lang="en-US" altLang="zh-CN" sz="1600"/>
              <a:t>GB | &lt;= </a:t>
            </a:r>
            <a:r>
              <a:rPr lang="zh-CN" altLang="en-US" sz="1600"/>
              <a:t>边</a:t>
            </a:r>
            <a:r>
              <a:rPr lang="en-US" altLang="zh-CN" sz="1600"/>
              <a:t>nG</a:t>
            </a:r>
            <a:endParaRPr lang="en-US" altLang="zh-CN" sz="1600"/>
          </a:p>
          <a:p>
            <a:r>
              <a:rPr lang="zh-CN" altLang="en-US" sz="1600"/>
              <a:t>我们将</a:t>
            </a:r>
            <a:r>
              <a:rPr lang="en-US" altLang="zh-CN" sz="1600"/>
              <a:t>“</a:t>
            </a:r>
            <a:r>
              <a:rPr lang="zh-CN" altLang="en-US" sz="1600"/>
              <a:t>边长</a:t>
            </a:r>
            <a:r>
              <a:rPr lang="en-US" altLang="zh-CN" sz="1600"/>
              <a:t>”</a:t>
            </a:r>
            <a:r>
              <a:rPr lang="zh-CN" altLang="en-US" sz="1600"/>
              <a:t>替换为城市间的</a:t>
            </a:r>
            <a:r>
              <a:rPr lang="en-US" altLang="zh-CN" sz="1600"/>
              <a:t>“</a:t>
            </a:r>
            <a:r>
              <a:rPr lang="zh-CN" altLang="en-US" sz="1600"/>
              <a:t>直线距离</a:t>
            </a:r>
            <a:r>
              <a:rPr lang="en-US" altLang="zh-CN" sz="1600"/>
              <a:t>”</a:t>
            </a:r>
            <a:r>
              <a:rPr lang="zh-CN" altLang="en-US" sz="1600"/>
              <a:t>符号：</a:t>
            </a:r>
            <a:endParaRPr lang="zh-CN" altLang="en-US" sz="1600"/>
          </a:p>
          <a:p>
            <a:pPr lvl="1"/>
            <a:r>
              <a:rPr lang="en-US" altLang="zh-CN" sz="1600"/>
              <a:t>| h</a:t>
            </a:r>
            <a:r>
              <a:rPr lang="en-US" altLang="zh-CN" sz="1600" baseline="-25000"/>
              <a:t>SLD</a:t>
            </a:r>
            <a:r>
              <a:rPr lang="en-US" altLang="zh-CN" sz="1600"/>
              <a:t>(n, B) - h</a:t>
            </a:r>
            <a:r>
              <a:rPr lang="en-US" altLang="zh-CN" sz="1600" baseline="-25000"/>
              <a:t>SLD</a:t>
            </a:r>
            <a:r>
              <a:rPr lang="en-US" altLang="zh-CN" sz="1600"/>
              <a:t>(G, B) | &lt;= h</a:t>
            </a:r>
            <a:r>
              <a:rPr lang="en-US" altLang="zh-CN" sz="1600" baseline="-25000"/>
              <a:t>SLD</a:t>
            </a:r>
            <a:r>
              <a:rPr lang="en-US" altLang="zh-CN" sz="1600"/>
              <a:t>(n, G)</a:t>
            </a:r>
            <a:endParaRPr lang="en-US" altLang="zh-CN" sz="1600"/>
          </a:p>
          <a:p>
            <a:r>
              <a:rPr lang="zh-CN" altLang="en-US" sz="1600"/>
              <a:t>第三步：结合上述结论进行推导</a:t>
            </a:r>
            <a:endParaRPr lang="zh-CN" altLang="en-US" sz="1600"/>
          </a:p>
          <a:p>
            <a:r>
              <a:rPr lang="zh-CN" altLang="en-US" sz="1600"/>
              <a:t>由启发式函数：</a:t>
            </a:r>
            <a:endParaRPr lang="zh-CN" altLang="en-US" sz="1600"/>
          </a:p>
          <a:p>
            <a:pPr lvl="1"/>
            <a:r>
              <a:rPr lang="en-US" altLang="zh-CN" sz="1600"/>
              <a:t>h(n) = | h</a:t>
            </a:r>
            <a:r>
              <a:rPr lang="en-US" altLang="zh-CN" sz="1600" baseline="-25000"/>
              <a:t>SLD</a:t>
            </a:r>
            <a:r>
              <a:rPr lang="en-US" altLang="zh-CN" sz="1600"/>
              <a:t>(n, B) - h</a:t>
            </a:r>
            <a:r>
              <a:rPr lang="en-US" altLang="zh-CN" sz="1600" baseline="-25000"/>
              <a:t>SLD</a:t>
            </a:r>
            <a:r>
              <a:rPr lang="en-US" altLang="zh-CN" sz="1600"/>
              <a:t>(G, B) |</a:t>
            </a:r>
            <a:endParaRPr lang="en-US" altLang="zh-CN" sz="1600"/>
          </a:p>
          <a:p>
            <a:r>
              <a:rPr lang="zh-CN" altLang="en-US" sz="1600"/>
              <a:t>根据第二步的结论：我们将左边替换为</a:t>
            </a:r>
            <a:r>
              <a:rPr lang="en-US" altLang="zh-CN" sz="1600"/>
              <a:t>h(n)</a:t>
            </a:r>
            <a:r>
              <a:rPr lang="zh-CN" altLang="en-US" sz="1600"/>
              <a:t>。</a:t>
            </a:r>
            <a:endParaRPr lang="zh-CN" altLang="en-US" sz="1600"/>
          </a:p>
          <a:p>
            <a:pPr lvl="1"/>
            <a:r>
              <a:rPr lang="zh-CN" altLang="en-US" sz="1600"/>
              <a:t>得到：</a:t>
            </a:r>
            <a:r>
              <a:rPr lang="en-US" altLang="zh-CN" sz="1600"/>
              <a:t>h(n) &lt;= h</a:t>
            </a:r>
            <a:r>
              <a:rPr lang="en-US" altLang="zh-CN" sz="1600" baseline="-25000"/>
              <a:t>SLD</a:t>
            </a:r>
            <a:r>
              <a:rPr lang="en-US" altLang="zh-CN" sz="1600"/>
              <a:t>(n, G)</a:t>
            </a:r>
            <a:endParaRPr lang="en-US" altLang="zh-CN" sz="1600"/>
          </a:p>
          <a:p>
            <a:r>
              <a:rPr lang="zh-CN" altLang="en-US" sz="1600"/>
              <a:t>根据第一步的结论：我们知道</a:t>
            </a:r>
            <a:r>
              <a:rPr lang="en-US" altLang="zh-CN" sz="1600"/>
              <a:t>h_SLD(n, G)</a:t>
            </a:r>
            <a:r>
              <a:rPr lang="zh-CN" altLang="en-US" sz="1600"/>
              <a:t>是小于或等于真实代价</a:t>
            </a:r>
            <a:r>
              <a:rPr lang="en-US" altLang="zh-CN" sz="1600"/>
              <a:t>h*(n)</a:t>
            </a:r>
            <a:r>
              <a:rPr lang="zh-CN" altLang="en-US" sz="1600"/>
              <a:t>的。</a:t>
            </a:r>
            <a:endParaRPr lang="zh-CN" altLang="en-US" sz="1600"/>
          </a:p>
          <a:p>
            <a:pPr lvl="1"/>
            <a:r>
              <a:rPr lang="zh-CN" altLang="en-US" sz="1600"/>
              <a:t>即：</a:t>
            </a:r>
            <a:r>
              <a:rPr lang="en-US" altLang="zh-CN" sz="1600"/>
              <a:t>h</a:t>
            </a:r>
            <a:r>
              <a:rPr lang="en-US" altLang="zh-CN" sz="1600" baseline="-25000">
                <a:solidFill>
                  <a:schemeClr val="tx1"/>
                </a:solidFill>
              </a:rPr>
              <a:t>SLD</a:t>
            </a:r>
            <a:r>
              <a:rPr lang="en-US" altLang="zh-CN" sz="1600"/>
              <a:t>(n, G) &lt;= h(n)*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en-US" altLang="zh-CN" sz="1600"/>
          </a:p>
          <a:p>
            <a:endParaRPr lang="en-US" altLang="zh-CN" sz="1600"/>
          </a:p>
        </p:txBody>
      </p:sp>
      <p:sp>
        <p:nvSpPr>
          <p:cNvPr id="4" name="圆角矩形 3"/>
          <p:cNvSpPr/>
          <p:nvPr/>
        </p:nvSpPr>
        <p:spPr>
          <a:xfrm>
            <a:off x="9525000" y="3258185"/>
            <a:ext cx="589280" cy="3416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DBD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0766425" y="4049395"/>
            <a:ext cx="589280" cy="3416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DBD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052560" y="4646930"/>
            <a:ext cx="589280" cy="3416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DBD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G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1205" y="6419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G:Craivoa B:Bucharest</a:t>
            </a:r>
            <a:endParaRPr lang="en-US" altLang="zh-CN"/>
          </a:p>
        </p:txBody>
      </p:sp>
      <p:cxnSp>
        <p:nvCxnSpPr>
          <p:cNvPr id="20" name="直接连接符 19"/>
          <p:cNvCxnSpPr>
            <a:stCxn id="4" idx="2"/>
            <a:endCxn id="17" idx="0"/>
          </p:cNvCxnSpPr>
          <p:nvPr/>
        </p:nvCxnSpPr>
        <p:spPr>
          <a:xfrm flipH="1">
            <a:off x="9347200" y="3599815"/>
            <a:ext cx="472440" cy="1047115"/>
          </a:xfrm>
          <a:prstGeom prst="line">
            <a:avLst/>
          </a:prstGeom>
          <a:ln>
            <a:solidFill>
              <a:srgbClr val="9DBD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endCxn id="10" idx="2"/>
          </p:cNvCxnSpPr>
          <p:nvPr/>
        </p:nvCxnSpPr>
        <p:spPr>
          <a:xfrm flipV="1">
            <a:off x="9370060" y="4391025"/>
            <a:ext cx="1691005" cy="230505"/>
          </a:xfrm>
          <a:prstGeom prst="line">
            <a:avLst/>
          </a:prstGeom>
          <a:ln>
            <a:solidFill>
              <a:srgbClr val="9DBD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4" idx="2"/>
            <a:endCxn id="10" idx="0"/>
          </p:cNvCxnSpPr>
          <p:nvPr/>
        </p:nvCxnSpPr>
        <p:spPr>
          <a:xfrm>
            <a:off x="9819640" y="3599815"/>
            <a:ext cx="1241425" cy="449580"/>
          </a:xfrm>
          <a:prstGeom prst="line">
            <a:avLst/>
          </a:prstGeom>
          <a:ln>
            <a:solidFill>
              <a:srgbClr val="9DBD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4208780" y="734695"/>
            <a:ext cx="3979545" cy="49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Consistent =&gt; Admissible</a:t>
            </a:r>
            <a:endParaRPr lang="en-US" altLang="zh-CN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41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0" y="1340485"/>
            <a:ext cx="8972550" cy="762000"/>
          </a:xfrm>
          <a:prstGeom prst="rect">
            <a:avLst/>
          </a:prstGeom>
        </p:spPr>
      </p:pic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09420" y="2461895"/>
            <a:ext cx="8665845" cy="3683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ym typeface="+mn-ea"/>
              </a:rPr>
              <a:t>核心概念：</a:t>
            </a:r>
            <a:endParaRPr lang="zh-CN" altLang="en-US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可采纳性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：对于任意节点</a:t>
            </a:r>
            <a:r>
              <a:rPr lang="en-US" altLang="zh-CN" sz="2400">
                <a:sym typeface="+mn-ea"/>
              </a:rPr>
              <a:t> n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h(n) ≤ h*(n)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(h*(n) = </a:t>
            </a:r>
            <a:r>
              <a:rPr lang="zh-CN" altLang="en-US" sz="2400">
                <a:sym typeface="+mn-ea"/>
              </a:rPr>
              <a:t>是从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到目标的真实最短路径成本</a:t>
            </a:r>
            <a:r>
              <a:rPr sz="2400">
                <a:sym typeface="+mn-ea"/>
              </a:rPr>
              <a:t>)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sym typeface="+mn-ea"/>
              </a:rPr>
              <a:t>一致性：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>
                <a:sym typeface="+mn-ea"/>
              </a:rPr>
              <a:t>对于任意节点</a:t>
            </a:r>
            <a:r>
              <a:rPr lang="en-US" altLang="zh-CN" sz="2400">
                <a:sym typeface="+mn-ea"/>
              </a:rPr>
              <a:t> n </a:t>
            </a:r>
            <a:r>
              <a:rPr lang="zh-CN" altLang="en-US" sz="2400">
                <a:sym typeface="+mn-ea"/>
              </a:rPr>
              <a:t>和它的一步后继节点</a:t>
            </a:r>
            <a:r>
              <a:rPr lang="en-US" altLang="zh-CN" sz="2400">
                <a:sym typeface="+mn-ea"/>
              </a:rPr>
              <a:t> n'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h(n) ≤ c(n,n') + h(n')</a:t>
            </a:r>
            <a:r>
              <a:rPr lang="en-US" sz="2400">
                <a:sym typeface="+mn-ea"/>
              </a:rPr>
              <a:t>    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for every edge (n → n')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目标状态</a:t>
            </a:r>
            <a:r>
              <a:rPr sz="2400">
                <a:sym typeface="+mn-ea"/>
              </a:rPr>
              <a:t>: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h(G) = 0</a:t>
            </a:r>
            <a:endParaRPr lang="zh-CN" altLang="en-US" sz="2400"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064250" y="4534535"/>
            <a:ext cx="2461260" cy="723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395335" y="5202555"/>
            <a:ext cx="2707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汉仪颜楷简" panose="00020600040101010101" charset="-122"/>
                <a:ea typeface="汉仪颜楷简" panose="00020600040101010101" charset="-122"/>
              </a:rPr>
              <a:t>“</a:t>
            </a:r>
            <a:r>
              <a:rPr lang="zh-CN" altLang="en-US" sz="1400">
                <a:latin typeface="汉仪颜楷简" panose="00020600040101010101" charset="-122"/>
                <a:ea typeface="汉仪颜楷简" panose="00020600040101010101" charset="-122"/>
              </a:rPr>
              <a:t>俩边之和大于第三边</a:t>
            </a:r>
            <a:r>
              <a:rPr lang="en-US" altLang="zh-CN" sz="1400">
                <a:latin typeface="汉仪颜楷简" panose="00020600040101010101" charset="-122"/>
                <a:ea typeface="汉仪颜楷简" panose="00020600040101010101" charset="-122"/>
              </a:rPr>
              <a:t>”</a:t>
            </a:r>
            <a:endParaRPr lang="zh-CN" altLang="en-US" sz="1400"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10295" y="6396355"/>
            <a:ext cx="358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i="1">
                <a:solidFill>
                  <a:srgbClr val="08A2E1"/>
                </a:solidFill>
                <a:sym typeface="+mn-ea"/>
              </a:rPr>
              <a:t>注：</a:t>
            </a:r>
            <a:r>
              <a:rPr i="1">
                <a:solidFill>
                  <a:srgbClr val="08A2E1"/>
                </a:solidFill>
                <a:sym typeface="+mn-ea"/>
              </a:rPr>
              <a:t>c(n,n')</a:t>
            </a:r>
            <a:r>
              <a:rPr lang="zh-CN" i="1">
                <a:solidFill>
                  <a:srgbClr val="08A2E1"/>
                </a:solidFill>
                <a:sym typeface="+mn-ea"/>
              </a:rPr>
              <a:t>为</a:t>
            </a:r>
            <a:r>
              <a:rPr lang="en-US" altLang="zh-CN" i="1">
                <a:solidFill>
                  <a:srgbClr val="08A2E1"/>
                </a:solidFill>
                <a:sym typeface="+mn-ea"/>
              </a:rPr>
              <a:t>n</a:t>
            </a:r>
            <a:r>
              <a:rPr lang="zh-CN" altLang="en-US" i="1">
                <a:solidFill>
                  <a:srgbClr val="08A2E1"/>
                </a:solidFill>
                <a:sym typeface="+mn-ea"/>
              </a:rPr>
              <a:t>到</a:t>
            </a:r>
            <a:r>
              <a:rPr lang="en-US" altLang="zh-CN" i="1">
                <a:solidFill>
                  <a:srgbClr val="08A2E1"/>
                </a:solidFill>
                <a:sym typeface="+mn-ea"/>
              </a:rPr>
              <a:t>n</a:t>
            </a:r>
            <a:r>
              <a:rPr i="1">
                <a:solidFill>
                  <a:srgbClr val="08A2E1"/>
                </a:solidFill>
                <a:sym typeface="+mn-ea"/>
              </a:rPr>
              <a:t>'</a:t>
            </a:r>
            <a:r>
              <a:rPr lang="zh-CN" i="1">
                <a:solidFill>
                  <a:srgbClr val="08A2E1"/>
                </a:solidFill>
                <a:sym typeface="+mn-ea"/>
              </a:rPr>
              <a:t>的最小代价</a:t>
            </a:r>
            <a:endParaRPr lang="zh-CN" i="1">
              <a:solidFill>
                <a:srgbClr val="08A2E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4208780" y="734695"/>
            <a:ext cx="3979545" cy="49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Consistent =&gt; Admissible</a:t>
            </a:r>
            <a:endParaRPr lang="en-US" altLang="zh-CN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41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0" y="1340485"/>
            <a:ext cx="8972550" cy="762000"/>
          </a:xfrm>
          <a:prstGeom prst="rect">
            <a:avLst/>
          </a:prstGeom>
        </p:spPr>
      </p:pic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09420" y="2461895"/>
            <a:ext cx="8665845" cy="3683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ym typeface="+mn-ea"/>
              </a:rPr>
              <a:t>核心概念：</a:t>
            </a:r>
            <a:endParaRPr lang="zh-CN" altLang="en-US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可采纳性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：对于任意节点</a:t>
            </a:r>
            <a:r>
              <a:rPr lang="en-US" altLang="zh-CN" sz="2400">
                <a:sym typeface="+mn-ea"/>
              </a:rPr>
              <a:t> n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h(n) ≤ h*(n)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(h*(n) = </a:t>
            </a:r>
            <a:r>
              <a:rPr lang="zh-CN" altLang="en-US" sz="2400">
                <a:sym typeface="+mn-ea"/>
              </a:rPr>
              <a:t>是从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到目标的真实最短路径成本</a:t>
            </a:r>
            <a:r>
              <a:rPr sz="2400">
                <a:sym typeface="+mn-ea"/>
              </a:rPr>
              <a:t>)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sym typeface="+mn-ea"/>
              </a:rPr>
              <a:t>一致性：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>
                <a:sym typeface="+mn-ea"/>
              </a:rPr>
              <a:t>对于任意节点</a:t>
            </a:r>
            <a:r>
              <a:rPr lang="en-US" altLang="zh-CN" sz="2400">
                <a:sym typeface="+mn-ea"/>
              </a:rPr>
              <a:t> n </a:t>
            </a:r>
            <a:r>
              <a:rPr lang="zh-CN" altLang="en-US" sz="2400">
                <a:sym typeface="+mn-ea"/>
              </a:rPr>
              <a:t>和它的一步后继节点</a:t>
            </a:r>
            <a:r>
              <a:rPr lang="en-US" altLang="zh-CN" sz="2400">
                <a:sym typeface="+mn-ea"/>
              </a:rPr>
              <a:t> n'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h(n) ≤ c(n,n') + h(n')</a:t>
            </a:r>
            <a:r>
              <a:rPr lang="en-US" sz="2400">
                <a:sym typeface="+mn-ea"/>
              </a:rPr>
              <a:t>    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for every edge (n → n')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目标状态</a:t>
            </a:r>
            <a:r>
              <a:rPr sz="2400">
                <a:sym typeface="+mn-ea"/>
              </a:rPr>
              <a:t>:</a:t>
            </a:r>
            <a:endParaRPr sz="2400">
              <a:sym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h(G) = 0</a:t>
            </a:r>
            <a:endParaRPr lang="zh-CN" altLang="en-US" sz="2400"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064250" y="4534535"/>
            <a:ext cx="2461260" cy="723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395335" y="5202555"/>
            <a:ext cx="2707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汉仪颜楷简" panose="00020600040101010101" charset="-122"/>
                <a:ea typeface="汉仪颜楷简" panose="00020600040101010101" charset="-122"/>
              </a:rPr>
              <a:t>“</a:t>
            </a:r>
            <a:r>
              <a:rPr lang="zh-CN" altLang="en-US" sz="1400">
                <a:latin typeface="汉仪颜楷简" panose="00020600040101010101" charset="-122"/>
                <a:ea typeface="汉仪颜楷简" panose="00020600040101010101" charset="-122"/>
              </a:rPr>
              <a:t>俩边之和大于第三边</a:t>
            </a:r>
            <a:r>
              <a:rPr lang="en-US" altLang="zh-CN" sz="1400">
                <a:latin typeface="汉仪颜楷简" panose="00020600040101010101" charset="-122"/>
                <a:ea typeface="汉仪颜楷简" panose="00020600040101010101" charset="-122"/>
              </a:rPr>
              <a:t>”</a:t>
            </a:r>
            <a:endParaRPr lang="zh-CN" altLang="en-US" sz="1400"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10295" y="6396355"/>
            <a:ext cx="358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i="1">
                <a:solidFill>
                  <a:srgbClr val="08A2E1"/>
                </a:solidFill>
                <a:sym typeface="+mn-ea"/>
              </a:rPr>
              <a:t>注：</a:t>
            </a:r>
            <a:r>
              <a:rPr i="1">
                <a:solidFill>
                  <a:srgbClr val="08A2E1"/>
                </a:solidFill>
                <a:sym typeface="+mn-ea"/>
              </a:rPr>
              <a:t>c(n,n')</a:t>
            </a:r>
            <a:r>
              <a:rPr lang="zh-CN" i="1">
                <a:solidFill>
                  <a:srgbClr val="08A2E1"/>
                </a:solidFill>
                <a:sym typeface="+mn-ea"/>
              </a:rPr>
              <a:t>为</a:t>
            </a:r>
            <a:r>
              <a:rPr lang="en-US" altLang="zh-CN" i="1">
                <a:solidFill>
                  <a:srgbClr val="08A2E1"/>
                </a:solidFill>
                <a:sym typeface="+mn-ea"/>
              </a:rPr>
              <a:t>n</a:t>
            </a:r>
            <a:r>
              <a:rPr lang="zh-CN" altLang="en-US" i="1">
                <a:solidFill>
                  <a:srgbClr val="08A2E1"/>
                </a:solidFill>
                <a:sym typeface="+mn-ea"/>
              </a:rPr>
              <a:t>到</a:t>
            </a:r>
            <a:r>
              <a:rPr lang="en-US" altLang="zh-CN" i="1">
                <a:solidFill>
                  <a:srgbClr val="08A2E1"/>
                </a:solidFill>
                <a:sym typeface="+mn-ea"/>
              </a:rPr>
              <a:t>n</a:t>
            </a:r>
            <a:r>
              <a:rPr i="1">
                <a:solidFill>
                  <a:srgbClr val="08A2E1"/>
                </a:solidFill>
                <a:sym typeface="+mn-ea"/>
              </a:rPr>
              <a:t>'</a:t>
            </a:r>
            <a:r>
              <a:rPr lang="zh-CN" i="1">
                <a:solidFill>
                  <a:srgbClr val="08A2E1"/>
                </a:solidFill>
                <a:sym typeface="+mn-ea"/>
              </a:rPr>
              <a:t>的最小代价</a:t>
            </a:r>
            <a:endParaRPr lang="zh-CN" i="1">
              <a:solidFill>
                <a:srgbClr val="08A2E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4208689" y="698644"/>
            <a:ext cx="375868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P</a:t>
            </a:r>
            <a:r>
              <a:rPr lang="en-US" altLang="zh-CN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roof</a:t>
            </a:r>
            <a:endParaRPr lang="en-US" altLang="zh-CN" sz="3595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47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180975" y="1391920"/>
            <a:ext cx="8543925" cy="5187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假设从节点</a:t>
            </a:r>
            <a:r>
              <a:rPr lang="en-US" altLang="zh-CN" sz="2400">
                <a:sym typeface="+mn-ea"/>
              </a:rPr>
              <a:t> n </a:t>
            </a:r>
            <a:r>
              <a:rPr lang="zh-CN" altLang="en-US" sz="2400">
                <a:sym typeface="+mn-ea"/>
              </a:rPr>
              <a:t>到目标</a:t>
            </a:r>
            <a:r>
              <a:rPr lang="en-US" altLang="zh-CN" sz="2400">
                <a:sym typeface="+mn-ea"/>
              </a:rPr>
              <a:t> G </a:t>
            </a:r>
            <a:r>
              <a:rPr lang="zh-CN" altLang="en-US" sz="2400">
                <a:sym typeface="+mn-ea"/>
              </a:rPr>
              <a:t>的真实最优路径为：</a:t>
            </a:r>
            <a:r>
              <a:rPr sz="2400">
                <a:sym typeface="+mn-ea"/>
              </a:rPr>
              <a:t> 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n → n1 → n2 → ... → G</a:t>
            </a:r>
            <a:endParaRPr lang="en-US" altLang="zh-CN" sz="24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根据一致性的定义，我们对路径上的每一步进行展开：</a:t>
            </a:r>
            <a:endParaRPr lang="zh-CN" altLang="en-US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</a:t>
            </a:r>
            <a:r>
              <a:rPr lang="zh-CN" sz="2400">
                <a:sym typeface="+mn-ea"/>
              </a:rPr>
              <a:t>第一步：</a:t>
            </a:r>
            <a:r>
              <a:rPr sz="2400">
                <a:sym typeface="+mn-ea"/>
              </a:rPr>
              <a:t>h(n) ≤ c(n,n1) + h(n1)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</a:t>
            </a:r>
            <a:r>
              <a:rPr lang="zh-CN" sz="2400">
                <a:sym typeface="+mn-ea"/>
              </a:rPr>
              <a:t>第二步：</a:t>
            </a:r>
            <a:r>
              <a:rPr sz="2400">
                <a:sym typeface="+mn-ea"/>
              </a:rPr>
              <a:t>h(n1) ≤ c(n1,n2) + h(n2)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/>
              <a:t> </a:t>
            </a:r>
            <a:r>
              <a:rPr lang="zh-CN" altLang="en-US" sz="2400"/>
              <a:t>第</a:t>
            </a:r>
            <a:r>
              <a:rPr lang="en-US" altLang="zh-CN" sz="2400"/>
              <a:t>n</a:t>
            </a:r>
            <a:r>
              <a:rPr lang="zh-CN" altLang="en-US" sz="2400"/>
              <a:t>步：</a:t>
            </a:r>
            <a:r>
              <a:rPr lang="en-US" altLang="zh-CN" sz="2400"/>
              <a:t>...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将第二步代入第一步：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h(n) ≤ c(n,n1)+c(n1,n2)</a:t>
            </a:r>
            <a:r>
              <a:rPr lang="en-US" sz="2400">
                <a:sym typeface="+mn-ea"/>
              </a:rPr>
              <a:t>+h(n2)</a:t>
            </a:r>
            <a:endParaRPr lang="en-US" sz="24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以此类推，不断向后代入展开，直到目标节点</a:t>
            </a:r>
            <a:r>
              <a:rPr lang="en-US" altLang="zh-CN" sz="2400">
                <a:sym typeface="+mn-ea"/>
              </a:rPr>
              <a:t> G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h(n) ≤ c(n,n1)+c(n1,n2)+...+c(nk,G)+h(G)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且已知</a:t>
            </a:r>
            <a:r>
              <a:rPr lang="en-US" altLang="zh-CN" sz="2400">
                <a:sym typeface="+mn-ea"/>
              </a:rPr>
              <a:t> h(G) = 0</a:t>
            </a:r>
            <a:r>
              <a:rPr lang="zh-CN" altLang="en-US" sz="2400">
                <a:sym typeface="+mn-ea"/>
              </a:rPr>
              <a:t>：</a:t>
            </a:r>
            <a:endParaRPr lang="en-US" altLang="zh-CN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h(n) ≤ h*(n)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所以</a:t>
            </a:r>
            <a:r>
              <a:rPr sz="2400">
                <a:sym typeface="+mn-ea"/>
              </a:rPr>
              <a:t>:</a:t>
            </a:r>
            <a:endParaRPr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 Consistent ⇒ Admissible</a:t>
            </a:r>
            <a:endParaRPr lang="zh-CN" altLang="en-US" sz="2400">
              <a:sym typeface="+mn-ea"/>
            </a:endParaRPr>
          </a:p>
        </p:txBody>
      </p:sp>
      <p:grpSp>
        <p:nvGrpSpPr>
          <p:cNvPr id="2" name="组合 1" descr="7b0a202020202274657874626f78223a2022220a7d0a"/>
          <p:cNvGrpSpPr/>
          <p:nvPr>
            <p:custDataLst>
              <p:tags r:id="rId1"/>
            </p:custDataLst>
          </p:nvPr>
        </p:nvGrpSpPr>
        <p:grpSpPr>
          <a:xfrm>
            <a:off x="7500620" y="5013325"/>
            <a:ext cx="4436745" cy="1844675"/>
            <a:chOff x="3067050" y="2067877"/>
            <a:chExt cx="6201959" cy="2809874"/>
          </a:xfrm>
        </p:grpSpPr>
        <p:grpSp>
          <p:nvGrpSpPr>
            <p:cNvPr id="4" name="组合 3"/>
            <p:cNvGrpSpPr/>
            <p:nvPr/>
          </p:nvGrpSpPr>
          <p:grpSpPr>
            <a:xfrm>
              <a:off x="3067050" y="2067877"/>
              <a:ext cx="6057900" cy="2809874"/>
              <a:chOff x="3067050" y="2067877"/>
              <a:chExt cx="6057900" cy="2809874"/>
            </a:xfrm>
          </p:grpSpPr>
          <p:sp>
            <p:nvSpPr>
              <p:cNvPr id="5" name="任意多边形: 形状 4"/>
              <p:cNvSpPr/>
              <p:nvPr/>
            </p:nvSpPr>
            <p:spPr>
              <a:xfrm>
                <a:off x="4582160" y="2189797"/>
                <a:ext cx="4542790" cy="9525"/>
              </a:xfrm>
              <a:custGeom>
                <a:avLst/>
                <a:gdLst>
                  <a:gd name="connsiteX0" fmla="*/ 0 w 4543424"/>
                  <a:gd name="connsiteY0" fmla="*/ 0 h 9525"/>
                  <a:gd name="connsiteX1" fmla="*/ 4543425 w 454342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43424" h="9525">
                    <a:moveTo>
                      <a:pt x="0" y="0"/>
                    </a:moveTo>
                    <a:lnTo>
                      <a:pt x="4543425" y="0"/>
                    </a:lnTo>
                  </a:path>
                </a:pathLst>
              </a:custGeom>
              <a:ln w="19050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" name="任意多边形: 形状 5"/>
              <p:cNvSpPr/>
              <p:nvPr/>
            </p:nvSpPr>
            <p:spPr>
              <a:xfrm>
                <a:off x="3067050" y="4832032"/>
                <a:ext cx="6057900" cy="45719"/>
              </a:xfrm>
              <a:custGeom>
                <a:avLst/>
                <a:gdLst>
                  <a:gd name="connsiteX0" fmla="*/ 0 w 5274309"/>
                  <a:gd name="connsiteY0" fmla="*/ 0 h 8255"/>
                  <a:gd name="connsiteX1" fmla="*/ 5274310 w 5274309"/>
                  <a:gd name="connsiteY1" fmla="*/ 0 h 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74309" h="8255">
                    <a:moveTo>
                      <a:pt x="0" y="0"/>
                    </a:moveTo>
                    <a:lnTo>
                      <a:pt x="5274310" y="0"/>
                    </a:lnTo>
                  </a:path>
                </a:pathLst>
              </a:custGeom>
              <a:ln w="16564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7" name="任意多边形: 形状 6"/>
              <p:cNvSpPr/>
              <p:nvPr/>
            </p:nvSpPr>
            <p:spPr>
              <a:xfrm>
                <a:off x="3067050" y="2067877"/>
                <a:ext cx="1275080" cy="253365"/>
              </a:xfrm>
              <a:custGeom>
                <a:avLst/>
                <a:gdLst>
                  <a:gd name="connsiteX0" fmla="*/ 53340 w 1275587"/>
                  <a:gd name="connsiteY0" fmla="*/ 249631 h 253898"/>
                  <a:gd name="connsiteX1" fmla="*/ 0 w 1275587"/>
                  <a:gd name="connsiteY1" fmla="*/ 249631 h 253898"/>
                  <a:gd name="connsiteX2" fmla="*/ 0 w 1275587"/>
                  <a:gd name="connsiteY2" fmla="*/ 4267 h 253898"/>
                  <a:gd name="connsiteX3" fmla="*/ 49073 w 1275587"/>
                  <a:gd name="connsiteY3" fmla="*/ 4267 h 253898"/>
                  <a:gd name="connsiteX4" fmla="*/ 144475 w 1275587"/>
                  <a:gd name="connsiteY4" fmla="*/ 149047 h 253898"/>
                  <a:gd name="connsiteX5" fmla="*/ 146304 w 1275587"/>
                  <a:gd name="connsiteY5" fmla="*/ 149047 h 253898"/>
                  <a:gd name="connsiteX6" fmla="*/ 146304 w 1275587"/>
                  <a:gd name="connsiteY6" fmla="*/ 4267 h 253898"/>
                  <a:gd name="connsiteX7" fmla="*/ 199644 w 1275587"/>
                  <a:gd name="connsiteY7" fmla="*/ 4267 h 253898"/>
                  <a:gd name="connsiteX8" fmla="*/ 199644 w 1275587"/>
                  <a:gd name="connsiteY8" fmla="*/ 249631 h 253898"/>
                  <a:gd name="connsiteX9" fmla="*/ 153314 w 1275587"/>
                  <a:gd name="connsiteY9" fmla="*/ 249631 h 253898"/>
                  <a:gd name="connsiteX10" fmla="*/ 55169 w 1275587"/>
                  <a:gd name="connsiteY10" fmla="*/ 104851 h 253898"/>
                  <a:gd name="connsiteX11" fmla="*/ 53340 w 1275587"/>
                  <a:gd name="connsiteY11" fmla="*/ 104851 h 253898"/>
                  <a:gd name="connsiteX12" fmla="*/ 53340 w 1275587"/>
                  <a:gd name="connsiteY12" fmla="*/ 249631 h 253898"/>
                  <a:gd name="connsiteX13" fmla="*/ 397764 w 1275587"/>
                  <a:gd name="connsiteY13" fmla="*/ 253898 h 253898"/>
                  <a:gd name="connsiteX14" fmla="*/ 337871 w 1275587"/>
                  <a:gd name="connsiteY14" fmla="*/ 238354 h 253898"/>
                  <a:gd name="connsiteX15" fmla="*/ 298704 w 1275587"/>
                  <a:gd name="connsiteY15" fmla="*/ 194310 h 253898"/>
                  <a:gd name="connsiteX16" fmla="*/ 284988 w 1275587"/>
                  <a:gd name="connsiteY16" fmla="*/ 127102 h 253898"/>
                  <a:gd name="connsiteX17" fmla="*/ 298704 w 1275587"/>
                  <a:gd name="connsiteY17" fmla="*/ 59741 h 253898"/>
                  <a:gd name="connsiteX18" fmla="*/ 337871 w 1275587"/>
                  <a:gd name="connsiteY18" fmla="*/ 15545 h 253898"/>
                  <a:gd name="connsiteX19" fmla="*/ 397764 w 1275587"/>
                  <a:gd name="connsiteY19" fmla="*/ 0 h 253898"/>
                  <a:gd name="connsiteX20" fmla="*/ 457505 w 1275587"/>
                  <a:gd name="connsiteY20" fmla="*/ 15545 h 253898"/>
                  <a:gd name="connsiteX21" fmla="*/ 496519 w 1275587"/>
                  <a:gd name="connsiteY21" fmla="*/ 59741 h 253898"/>
                  <a:gd name="connsiteX22" fmla="*/ 510235 w 1275587"/>
                  <a:gd name="connsiteY22" fmla="*/ 127102 h 253898"/>
                  <a:gd name="connsiteX23" fmla="*/ 496519 w 1275587"/>
                  <a:gd name="connsiteY23" fmla="*/ 194310 h 253898"/>
                  <a:gd name="connsiteX24" fmla="*/ 457505 w 1275587"/>
                  <a:gd name="connsiteY24" fmla="*/ 238354 h 253898"/>
                  <a:gd name="connsiteX25" fmla="*/ 397764 w 1275587"/>
                  <a:gd name="connsiteY25" fmla="*/ 253898 h 253898"/>
                  <a:gd name="connsiteX26" fmla="*/ 397764 w 1275587"/>
                  <a:gd name="connsiteY26" fmla="*/ 203911 h 253898"/>
                  <a:gd name="connsiteX27" fmla="*/ 440131 w 1275587"/>
                  <a:gd name="connsiteY27" fmla="*/ 183185 h 253898"/>
                  <a:gd name="connsiteX28" fmla="*/ 455676 w 1275587"/>
                  <a:gd name="connsiteY28" fmla="*/ 127102 h 253898"/>
                  <a:gd name="connsiteX29" fmla="*/ 440131 w 1275587"/>
                  <a:gd name="connsiteY29" fmla="*/ 70866 h 253898"/>
                  <a:gd name="connsiteX30" fmla="*/ 397764 w 1275587"/>
                  <a:gd name="connsiteY30" fmla="*/ 49987 h 253898"/>
                  <a:gd name="connsiteX31" fmla="*/ 355244 w 1275587"/>
                  <a:gd name="connsiteY31" fmla="*/ 70866 h 253898"/>
                  <a:gd name="connsiteX32" fmla="*/ 339547 w 1275587"/>
                  <a:gd name="connsiteY32" fmla="*/ 127102 h 253898"/>
                  <a:gd name="connsiteX33" fmla="*/ 355244 w 1275587"/>
                  <a:gd name="connsiteY33" fmla="*/ 183185 h 253898"/>
                  <a:gd name="connsiteX34" fmla="*/ 397764 w 1275587"/>
                  <a:gd name="connsiteY34" fmla="*/ 203911 h 253898"/>
                  <a:gd name="connsiteX35" fmla="*/ 704088 w 1275587"/>
                  <a:gd name="connsiteY35" fmla="*/ 249631 h 253898"/>
                  <a:gd name="connsiteX36" fmla="*/ 650748 w 1275587"/>
                  <a:gd name="connsiteY36" fmla="*/ 249631 h 253898"/>
                  <a:gd name="connsiteX37" fmla="*/ 650748 w 1275587"/>
                  <a:gd name="connsiteY37" fmla="*/ 54254 h 253898"/>
                  <a:gd name="connsiteX38" fmla="*/ 583692 w 1275587"/>
                  <a:gd name="connsiteY38" fmla="*/ 54254 h 253898"/>
                  <a:gd name="connsiteX39" fmla="*/ 583692 w 1275587"/>
                  <a:gd name="connsiteY39" fmla="*/ 4267 h 253898"/>
                  <a:gd name="connsiteX40" fmla="*/ 770839 w 1275587"/>
                  <a:gd name="connsiteY40" fmla="*/ 4267 h 253898"/>
                  <a:gd name="connsiteX41" fmla="*/ 770839 w 1275587"/>
                  <a:gd name="connsiteY41" fmla="*/ 54254 h 253898"/>
                  <a:gd name="connsiteX42" fmla="*/ 704088 w 1275587"/>
                  <a:gd name="connsiteY42" fmla="*/ 54254 h 253898"/>
                  <a:gd name="connsiteX43" fmla="*/ 704088 w 1275587"/>
                  <a:gd name="connsiteY43" fmla="*/ 249631 h 253898"/>
                  <a:gd name="connsiteX44" fmla="*/ 904342 w 1275587"/>
                  <a:gd name="connsiteY44" fmla="*/ 149352 h 253898"/>
                  <a:gd name="connsiteX45" fmla="*/ 904342 w 1275587"/>
                  <a:gd name="connsiteY45" fmla="*/ 201168 h 253898"/>
                  <a:gd name="connsiteX46" fmla="*/ 1015594 w 1275587"/>
                  <a:gd name="connsiteY46" fmla="*/ 201168 h 253898"/>
                  <a:gd name="connsiteX47" fmla="*/ 1015594 w 1275587"/>
                  <a:gd name="connsiteY47" fmla="*/ 249631 h 253898"/>
                  <a:gd name="connsiteX48" fmla="*/ 851002 w 1275587"/>
                  <a:gd name="connsiteY48" fmla="*/ 249631 h 253898"/>
                  <a:gd name="connsiteX49" fmla="*/ 851002 w 1275587"/>
                  <a:gd name="connsiteY49" fmla="*/ 4267 h 253898"/>
                  <a:gd name="connsiteX50" fmla="*/ 1011936 w 1275587"/>
                  <a:gd name="connsiteY50" fmla="*/ 4267 h 253898"/>
                  <a:gd name="connsiteX51" fmla="*/ 1011936 w 1275587"/>
                  <a:gd name="connsiteY51" fmla="*/ 52730 h 253898"/>
                  <a:gd name="connsiteX52" fmla="*/ 904342 w 1275587"/>
                  <a:gd name="connsiteY52" fmla="*/ 52730 h 253898"/>
                  <a:gd name="connsiteX53" fmla="*/ 904342 w 1275587"/>
                  <a:gd name="connsiteY53" fmla="*/ 100889 h 253898"/>
                  <a:gd name="connsiteX54" fmla="*/ 1006145 w 1275587"/>
                  <a:gd name="connsiteY54" fmla="*/ 100889 h 253898"/>
                  <a:gd name="connsiteX55" fmla="*/ 1006145 w 1275587"/>
                  <a:gd name="connsiteY55" fmla="*/ 149352 h 253898"/>
                  <a:gd name="connsiteX56" fmla="*/ 904342 w 1275587"/>
                  <a:gd name="connsiteY56" fmla="*/ 149352 h 253898"/>
                  <a:gd name="connsiteX57" fmla="*/ 1180490 w 1275587"/>
                  <a:gd name="connsiteY57" fmla="*/ 253898 h 253898"/>
                  <a:gd name="connsiteX58" fmla="*/ 1121969 w 1275587"/>
                  <a:gd name="connsiteY58" fmla="*/ 237287 h 253898"/>
                  <a:gd name="connsiteX59" fmla="*/ 1084478 w 1275587"/>
                  <a:gd name="connsiteY59" fmla="*/ 193243 h 253898"/>
                  <a:gd name="connsiteX60" fmla="*/ 1130808 w 1275587"/>
                  <a:gd name="connsiteY60" fmla="*/ 171602 h 253898"/>
                  <a:gd name="connsiteX61" fmla="*/ 1150315 w 1275587"/>
                  <a:gd name="connsiteY61" fmla="*/ 196596 h 253898"/>
                  <a:gd name="connsiteX62" fmla="*/ 1180795 w 1275587"/>
                  <a:gd name="connsiteY62" fmla="*/ 205130 h 253898"/>
                  <a:gd name="connsiteX63" fmla="*/ 1209446 w 1275587"/>
                  <a:gd name="connsiteY63" fmla="*/ 198425 h 253898"/>
                  <a:gd name="connsiteX64" fmla="*/ 1220114 w 1275587"/>
                  <a:gd name="connsiteY64" fmla="*/ 181051 h 253898"/>
                  <a:gd name="connsiteX65" fmla="*/ 1216152 w 1275587"/>
                  <a:gd name="connsiteY65" fmla="*/ 168402 h 253898"/>
                  <a:gd name="connsiteX66" fmla="*/ 1202436 w 1275587"/>
                  <a:gd name="connsiteY66" fmla="*/ 159106 h 253898"/>
                  <a:gd name="connsiteX67" fmla="*/ 1174090 w 1275587"/>
                  <a:gd name="connsiteY67" fmla="*/ 149657 h 253898"/>
                  <a:gd name="connsiteX68" fmla="*/ 1133551 w 1275587"/>
                  <a:gd name="connsiteY68" fmla="*/ 135636 h 253898"/>
                  <a:gd name="connsiteX69" fmla="*/ 1105052 w 1275587"/>
                  <a:gd name="connsiteY69" fmla="*/ 113843 h 253898"/>
                  <a:gd name="connsiteX70" fmla="*/ 1092708 w 1275587"/>
                  <a:gd name="connsiteY70" fmla="*/ 74676 h 253898"/>
                  <a:gd name="connsiteX71" fmla="*/ 1104748 w 1275587"/>
                  <a:gd name="connsiteY71" fmla="*/ 36271 h 253898"/>
                  <a:gd name="connsiteX72" fmla="*/ 1137666 w 1275587"/>
                  <a:gd name="connsiteY72" fmla="*/ 9601 h 253898"/>
                  <a:gd name="connsiteX73" fmla="*/ 1183843 w 1275587"/>
                  <a:gd name="connsiteY73" fmla="*/ 0 h 253898"/>
                  <a:gd name="connsiteX74" fmla="*/ 1275588 w 1275587"/>
                  <a:gd name="connsiteY74" fmla="*/ 57912 h 253898"/>
                  <a:gd name="connsiteX75" fmla="*/ 1229868 w 1275587"/>
                  <a:gd name="connsiteY75" fmla="*/ 80162 h 253898"/>
                  <a:gd name="connsiteX76" fmla="*/ 1210513 w 1275587"/>
                  <a:gd name="connsiteY76" fmla="*/ 56236 h 253898"/>
                  <a:gd name="connsiteX77" fmla="*/ 1183234 w 1275587"/>
                  <a:gd name="connsiteY77" fmla="*/ 48768 h 253898"/>
                  <a:gd name="connsiteX78" fmla="*/ 1157630 w 1275587"/>
                  <a:gd name="connsiteY78" fmla="*/ 55474 h 253898"/>
                  <a:gd name="connsiteX79" fmla="*/ 1147267 w 1275587"/>
                  <a:gd name="connsiteY79" fmla="*/ 71933 h 253898"/>
                  <a:gd name="connsiteX80" fmla="*/ 1151534 w 1275587"/>
                  <a:gd name="connsiteY80" fmla="*/ 85192 h 253898"/>
                  <a:gd name="connsiteX81" fmla="*/ 1165403 w 1275587"/>
                  <a:gd name="connsiteY81" fmla="*/ 94336 h 253898"/>
                  <a:gd name="connsiteX82" fmla="*/ 1193902 w 1275587"/>
                  <a:gd name="connsiteY82" fmla="*/ 103632 h 253898"/>
                  <a:gd name="connsiteX83" fmla="*/ 1234135 w 1275587"/>
                  <a:gd name="connsiteY83" fmla="*/ 117196 h 253898"/>
                  <a:gd name="connsiteX84" fmla="*/ 1262482 w 1275587"/>
                  <a:gd name="connsiteY84" fmla="*/ 138836 h 253898"/>
                  <a:gd name="connsiteX85" fmla="*/ 1274674 w 1275587"/>
                  <a:gd name="connsiteY85" fmla="*/ 178003 h 253898"/>
                  <a:gd name="connsiteX86" fmla="*/ 1262634 w 1275587"/>
                  <a:gd name="connsiteY86" fmla="*/ 218084 h 253898"/>
                  <a:gd name="connsiteX87" fmla="*/ 1229258 w 1275587"/>
                  <a:gd name="connsiteY87" fmla="*/ 244602 h 253898"/>
                  <a:gd name="connsiteX88" fmla="*/ 1180490 w 1275587"/>
                  <a:gd name="connsiteY88" fmla="*/ 253898 h 253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275587" h="253898">
                    <a:moveTo>
                      <a:pt x="53340" y="249631"/>
                    </a:moveTo>
                    <a:lnTo>
                      <a:pt x="0" y="249631"/>
                    </a:lnTo>
                    <a:lnTo>
                      <a:pt x="0" y="4267"/>
                    </a:lnTo>
                    <a:lnTo>
                      <a:pt x="49073" y="4267"/>
                    </a:lnTo>
                    <a:lnTo>
                      <a:pt x="144475" y="149047"/>
                    </a:lnTo>
                    <a:lnTo>
                      <a:pt x="146304" y="149047"/>
                    </a:lnTo>
                    <a:lnTo>
                      <a:pt x="146304" y="4267"/>
                    </a:lnTo>
                    <a:lnTo>
                      <a:pt x="199644" y="4267"/>
                    </a:lnTo>
                    <a:lnTo>
                      <a:pt x="199644" y="249631"/>
                    </a:lnTo>
                    <a:lnTo>
                      <a:pt x="153314" y="249631"/>
                    </a:lnTo>
                    <a:lnTo>
                      <a:pt x="55169" y="104851"/>
                    </a:lnTo>
                    <a:lnTo>
                      <a:pt x="53340" y="104851"/>
                    </a:lnTo>
                    <a:lnTo>
                      <a:pt x="53340" y="249631"/>
                    </a:lnTo>
                    <a:close/>
                    <a:moveTo>
                      <a:pt x="397764" y="253898"/>
                    </a:moveTo>
                    <a:cubicBezTo>
                      <a:pt x="374802" y="253898"/>
                      <a:pt x="354838" y="248717"/>
                      <a:pt x="337871" y="238354"/>
                    </a:cubicBezTo>
                    <a:cubicBezTo>
                      <a:pt x="320904" y="227990"/>
                      <a:pt x="307848" y="213309"/>
                      <a:pt x="298704" y="194310"/>
                    </a:cubicBezTo>
                    <a:cubicBezTo>
                      <a:pt x="289560" y="175311"/>
                      <a:pt x="284988" y="152908"/>
                      <a:pt x="284988" y="127102"/>
                    </a:cubicBezTo>
                    <a:cubicBezTo>
                      <a:pt x="284988" y="101295"/>
                      <a:pt x="289560" y="78842"/>
                      <a:pt x="298704" y="59741"/>
                    </a:cubicBezTo>
                    <a:cubicBezTo>
                      <a:pt x="307848" y="40640"/>
                      <a:pt x="320904" y="25908"/>
                      <a:pt x="337871" y="15545"/>
                    </a:cubicBezTo>
                    <a:cubicBezTo>
                      <a:pt x="354838" y="5182"/>
                      <a:pt x="374802" y="0"/>
                      <a:pt x="397764" y="0"/>
                    </a:cubicBezTo>
                    <a:cubicBezTo>
                      <a:pt x="420726" y="0"/>
                      <a:pt x="440639" y="5182"/>
                      <a:pt x="457505" y="15545"/>
                    </a:cubicBezTo>
                    <a:cubicBezTo>
                      <a:pt x="474370" y="25908"/>
                      <a:pt x="487375" y="40640"/>
                      <a:pt x="496519" y="59741"/>
                    </a:cubicBezTo>
                    <a:cubicBezTo>
                      <a:pt x="505663" y="78842"/>
                      <a:pt x="510235" y="101295"/>
                      <a:pt x="510235" y="127102"/>
                    </a:cubicBezTo>
                    <a:cubicBezTo>
                      <a:pt x="510235" y="152908"/>
                      <a:pt x="505663" y="175311"/>
                      <a:pt x="496519" y="194310"/>
                    </a:cubicBezTo>
                    <a:cubicBezTo>
                      <a:pt x="487375" y="213309"/>
                      <a:pt x="474370" y="227990"/>
                      <a:pt x="457505" y="238354"/>
                    </a:cubicBezTo>
                    <a:cubicBezTo>
                      <a:pt x="440639" y="248717"/>
                      <a:pt x="420726" y="253898"/>
                      <a:pt x="397764" y="253898"/>
                    </a:cubicBezTo>
                    <a:close/>
                    <a:moveTo>
                      <a:pt x="397764" y="203911"/>
                    </a:moveTo>
                    <a:cubicBezTo>
                      <a:pt x="415646" y="203911"/>
                      <a:pt x="429768" y="197002"/>
                      <a:pt x="440131" y="183185"/>
                    </a:cubicBezTo>
                    <a:cubicBezTo>
                      <a:pt x="450494" y="169367"/>
                      <a:pt x="455676" y="150673"/>
                      <a:pt x="455676" y="127102"/>
                    </a:cubicBezTo>
                    <a:cubicBezTo>
                      <a:pt x="455676" y="103530"/>
                      <a:pt x="450494" y="84785"/>
                      <a:pt x="440131" y="70866"/>
                    </a:cubicBezTo>
                    <a:cubicBezTo>
                      <a:pt x="429768" y="56947"/>
                      <a:pt x="415646" y="49987"/>
                      <a:pt x="397764" y="49987"/>
                    </a:cubicBezTo>
                    <a:cubicBezTo>
                      <a:pt x="379882" y="49987"/>
                      <a:pt x="365709" y="56947"/>
                      <a:pt x="355244" y="70866"/>
                    </a:cubicBezTo>
                    <a:cubicBezTo>
                      <a:pt x="344780" y="84785"/>
                      <a:pt x="339547" y="103530"/>
                      <a:pt x="339547" y="127102"/>
                    </a:cubicBezTo>
                    <a:cubicBezTo>
                      <a:pt x="339547" y="150673"/>
                      <a:pt x="344780" y="169367"/>
                      <a:pt x="355244" y="183185"/>
                    </a:cubicBezTo>
                    <a:cubicBezTo>
                      <a:pt x="365709" y="197002"/>
                      <a:pt x="379882" y="203911"/>
                      <a:pt x="397764" y="203911"/>
                    </a:cubicBezTo>
                    <a:close/>
                    <a:moveTo>
                      <a:pt x="704088" y="249631"/>
                    </a:moveTo>
                    <a:lnTo>
                      <a:pt x="650748" y="249631"/>
                    </a:lnTo>
                    <a:lnTo>
                      <a:pt x="650748" y="54254"/>
                    </a:lnTo>
                    <a:lnTo>
                      <a:pt x="583692" y="54254"/>
                    </a:lnTo>
                    <a:lnTo>
                      <a:pt x="583692" y="4267"/>
                    </a:lnTo>
                    <a:lnTo>
                      <a:pt x="770839" y="4267"/>
                    </a:lnTo>
                    <a:lnTo>
                      <a:pt x="770839" y="54254"/>
                    </a:lnTo>
                    <a:lnTo>
                      <a:pt x="704088" y="54254"/>
                    </a:lnTo>
                    <a:lnTo>
                      <a:pt x="704088" y="249631"/>
                    </a:lnTo>
                    <a:close/>
                    <a:moveTo>
                      <a:pt x="904342" y="149352"/>
                    </a:moveTo>
                    <a:lnTo>
                      <a:pt x="904342" y="201168"/>
                    </a:lnTo>
                    <a:lnTo>
                      <a:pt x="1015594" y="201168"/>
                    </a:lnTo>
                    <a:lnTo>
                      <a:pt x="1015594" y="249631"/>
                    </a:lnTo>
                    <a:lnTo>
                      <a:pt x="851002" y="249631"/>
                    </a:lnTo>
                    <a:lnTo>
                      <a:pt x="851002" y="4267"/>
                    </a:lnTo>
                    <a:lnTo>
                      <a:pt x="1011936" y="4267"/>
                    </a:lnTo>
                    <a:lnTo>
                      <a:pt x="1011936" y="52730"/>
                    </a:lnTo>
                    <a:lnTo>
                      <a:pt x="904342" y="52730"/>
                    </a:lnTo>
                    <a:lnTo>
                      <a:pt x="904342" y="100889"/>
                    </a:lnTo>
                    <a:lnTo>
                      <a:pt x="1006145" y="100889"/>
                    </a:lnTo>
                    <a:lnTo>
                      <a:pt x="1006145" y="149352"/>
                    </a:lnTo>
                    <a:lnTo>
                      <a:pt x="904342" y="149352"/>
                    </a:lnTo>
                    <a:close/>
                    <a:moveTo>
                      <a:pt x="1180490" y="253898"/>
                    </a:moveTo>
                    <a:cubicBezTo>
                      <a:pt x="1158138" y="253898"/>
                      <a:pt x="1138631" y="248361"/>
                      <a:pt x="1121969" y="237287"/>
                    </a:cubicBezTo>
                    <a:cubicBezTo>
                      <a:pt x="1105306" y="226212"/>
                      <a:pt x="1092810" y="211531"/>
                      <a:pt x="1084478" y="193243"/>
                    </a:cubicBezTo>
                    <a:lnTo>
                      <a:pt x="1130808" y="171602"/>
                    </a:lnTo>
                    <a:cubicBezTo>
                      <a:pt x="1135075" y="182575"/>
                      <a:pt x="1141578" y="190906"/>
                      <a:pt x="1150315" y="196596"/>
                    </a:cubicBezTo>
                    <a:cubicBezTo>
                      <a:pt x="1159053" y="202286"/>
                      <a:pt x="1169213" y="205130"/>
                      <a:pt x="1180795" y="205130"/>
                    </a:cubicBezTo>
                    <a:cubicBezTo>
                      <a:pt x="1192784" y="205130"/>
                      <a:pt x="1202335" y="202895"/>
                      <a:pt x="1209446" y="198425"/>
                    </a:cubicBezTo>
                    <a:cubicBezTo>
                      <a:pt x="1216559" y="193954"/>
                      <a:pt x="1220114" y="188163"/>
                      <a:pt x="1220114" y="181051"/>
                    </a:cubicBezTo>
                    <a:cubicBezTo>
                      <a:pt x="1220114" y="175971"/>
                      <a:pt x="1218794" y="171755"/>
                      <a:pt x="1216152" y="168402"/>
                    </a:cubicBezTo>
                    <a:cubicBezTo>
                      <a:pt x="1213510" y="165049"/>
                      <a:pt x="1208938" y="161950"/>
                      <a:pt x="1202436" y="159106"/>
                    </a:cubicBezTo>
                    <a:cubicBezTo>
                      <a:pt x="1195934" y="156261"/>
                      <a:pt x="1186485" y="153111"/>
                      <a:pt x="1174090" y="149657"/>
                    </a:cubicBezTo>
                    <a:cubicBezTo>
                      <a:pt x="1157834" y="144983"/>
                      <a:pt x="1144321" y="140310"/>
                      <a:pt x="1133551" y="135636"/>
                    </a:cubicBezTo>
                    <a:cubicBezTo>
                      <a:pt x="1122782" y="130962"/>
                      <a:pt x="1113282" y="123698"/>
                      <a:pt x="1105052" y="113843"/>
                    </a:cubicBezTo>
                    <a:cubicBezTo>
                      <a:pt x="1096823" y="103988"/>
                      <a:pt x="1092708" y="90932"/>
                      <a:pt x="1092708" y="74676"/>
                    </a:cubicBezTo>
                    <a:cubicBezTo>
                      <a:pt x="1092708" y="60452"/>
                      <a:pt x="1096721" y="47650"/>
                      <a:pt x="1104748" y="36271"/>
                    </a:cubicBezTo>
                    <a:cubicBezTo>
                      <a:pt x="1112774" y="24892"/>
                      <a:pt x="1123747" y="16002"/>
                      <a:pt x="1137666" y="9601"/>
                    </a:cubicBezTo>
                    <a:cubicBezTo>
                      <a:pt x="1151585" y="3200"/>
                      <a:pt x="1166978" y="0"/>
                      <a:pt x="1183843" y="0"/>
                    </a:cubicBezTo>
                    <a:cubicBezTo>
                      <a:pt x="1226312" y="0"/>
                      <a:pt x="1256894" y="19304"/>
                      <a:pt x="1275588" y="57912"/>
                    </a:cubicBezTo>
                    <a:lnTo>
                      <a:pt x="1229868" y="80162"/>
                    </a:lnTo>
                    <a:cubicBezTo>
                      <a:pt x="1224585" y="69190"/>
                      <a:pt x="1218133" y="61214"/>
                      <a:pt x="1210513" y="56236"/>
                    </a:cubicBezTo>
                    <a:cubicBezTo>
                      <a:pt x="1202893" y="51257"/>
                      <a:pt x="1193800" y="48768"/>
                      <a:pt x="1183234" y="48768"/>
                    </a:cubicBezTo>
                    <a:cubicBezTo>
                      <a:pt x="1173074" y="48768"/>
                      <a:pt x="1164539" y="51003"/>
                      <a:pt x="1157630" y="55474"/>
                    </a:cubicBezTo>
                    <a:cubicBezTo>
                      <a:pt x="1150722" y="59944"/>
                      <a:pt x="1147267" y="65430"/>
                      <a:pt x="1147267" y="71933"/>
                    </a:cubicBezTo>
                    <a:cubicBezTo>
                      <a:pt x="1147267" y="77419"/>
                      <a:pt x="1148690" y="81839"/>
                      <a:pt x="1151534" y="85192"/>
                    </a:cubicBezTo>
                    <a:cubicBezTo>
                      <a:pt x="1154379" y="88544"/>
                      <a:pt x="1159002" y="91592"/>
                      <a:pt x="1165403" y="94336"/>
                    </a:cubicBezTo>
                    <a:cubicBezTo>
                      <a:pt x="1171804" y="97079"/>
                      <a:pt x="1181303" y="100178"/>
                      <a:pt x="1193902" y="103632"/>
                    </a:cubicBezTo>
                    <a:cubicBezTo>
                      <a:pt x="1209954" y="108102"/>
                      <a:pt x="1223366" y="112624"/>
                      <a:pt x="1234135" y="117196"/>
                    </a:cubicBezTo>
                    <a:cubicBezTo>
                      <a:pt x="1244905" y="121768"/>
                      <a:pt x="1254354" y="128981"/>
                      <a:pt x="1262482" y="138836"/>
                    </a:cubicBezTo>
                    <a:cubicBezTo>
                      <a:pt x="1270610" y="148692"/>
                      <a:pt x="1274674" y="161747"/>
                      <a:pt x="1274674" y="178003"/>
                    </a:cubicBezTo>
                    <a:cubicBezTo>
                      <a:pt x="1274674" y="193243"/>
                      <a:pt x="1270660" y="206604"/>
                      <a:pt x="1262634" y="218084"/>
                    </a:cubicBezTo>
                    <a:cubicBezTo>
                      <a:pt x="1254608" y="229565"/>
                      <a:pt x="1243482" y="238404"/>
                      <a:pt x="1229258" y="244602"/>
                    </a:cubicBezTo>
                    <a:cubicBezTo>
                      <a:pt x="1215034" y="250800"/>
                      <a:pt x="1198778" y="253898"/>
                      <a:pt x="1180490" y="253898"/>
                    </a:cubicBezTo>
                    <a:close/>
                  </a:path>
                </a:pathLst>
              </a:custGeom>
              <a:solidFill>
                <a:srgbClr val="3F8BE8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3067050" y="2559242"/>
              <a:ext cx="6201959" cy="210958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zh-CN" altLang="en-US" sz="1600">
                  <a:sym typeface="+mn-ea"/>
                </a:rPr>
                <a:t>当公式</a:t>
              </a:r>
              <a:r>
                <a:rPr lang="en-US" altLang="zh-CN" sz="1600">
                  <a:sym typeface="+mn-ea"/>
                </a:rPr>
                <a:t>h(n) - h(n')  ≤ c(n, n')</a:t>
              </a:r>
              <a:endParaRPr lang="en-US" altLang="zh-CN" sz="1600"/>
            </a:p>
            <a:p>
              <a:pPr algn="just">
                <a:lnSpc>
                  <a:spcPct val="170000"/>
                </a:lnSpc>
              </a:pPr>
              <a:r>
                <a:rPr lang="zh-CN" altLang="en-US" sz="1600">
                  <a:sym typeface="+mn-ea"/>
                </a:rPr>
                <a:t>严格成立时，它在</a:t>
              </a:r>
              <a:r>
                <a:rPr lang="zh-CN" altLang="en-US" sz="1600" u="sng">
                  <a:highlight>
                    <a:srgbClr val="FFFF00"/>
                  </a:highlight>
                  <a:sym typeface="+mn-ea"/>
                </a:rPr>
                <a:t>动态过程</a:t>
              </a:r>
              <a:r>
                <a:rPr lang="zh-CN" altLang="en-US" sz="1600">
                  <a:sym typeface="+mn-ea"/>
                </a:rPr>
                <a:t>中确立了一个铁律：您的预估代价，绝对不能超过您的真实付出。</a:t>
              </a:r>
              <a:endPara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208780" y="617855"/>
            <a:ext cx="3981450" cy="7264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en-AU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Admissible≠&gt;Consistent</a:t>
            </a:r>
            <a:endParaRPr lang="en-US" altLang="en-AU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35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95" y="1344295"/>
            <a:ext cx="8982075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22705" y="1725295"/>
            <a:ext cx="879094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/>
              <a:t>既然一致必定可采纳，那反过来成立吗？我们构造一个极简的 </a:t>
            </a:r>
            <a:r>
              <a:rPr lang="en-US" altLang="zh-CN"/>
              <a:t>3 </a:t>
            </a:r>
            <a:r>
              <a:rPr lang="zh-CN" altLang="en-US"/>
              <a:t>节点反例：</a:t>
            </a:r>
            <a:endParaRPr lang="zh-CN" altLang="en-US"/>
          </a:p>
          <a:p>
            <a:r>
              <a:rPr lang="zh-CN" altLang="en-US"/>
              <a:t>构造图与实际代价：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68095" y="3876040"/>
            <a:ext cx="4170045" cy="265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2000">
                <a:sym typeface="+mn-ea"/>
              </a:rPr>
              <a:t>真实代价</a:t>
            </a:r>
            <a:r>
              <a:rPr sz="2000">
                <a:sym typeface="+mn-ea"/>
              </a:rPr>
              <a:t>:</a:t>
            </a:r>
            <a:endParaRPr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h*(A)=2</a:t>
            </a:r>
            <a:endParaRPr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h*(B)=1</a:t>
            </a:r>
            <a:endParaRPr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2000">
                <a:sym typeface="+mn-ea"/>
              </a:rPr>
              <a:t>人为设定启发式函数</a:t>
            </a:r>
            <a:r>
              <a:rPr sz="2000">
                <a:sym typeface="+mn-ea"/>
              </a:rPr>
              <a:t>:</a:t>
            </a:r>
            <a:endParaRPr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h(A)=2</a:t>
            </a:r>
            <a:endParaRPr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h(B)=0</a:t>
            </a:r>
            <a:endParaRPr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h(G)=0</a:t>
            </a:r>
            <a:endParaRPr sz="200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000">
                <a:sym typeface="+mn-ea"/>
              </a:rPr>
              <a:t>（符合</a:t>
            </a:r>
            <a:r>
              <a:rPr lang="en-US" altLang="zh-CN" sz="2000">
                <a:sym typeface="+mn-ea"/>
              </a:rPr>
              <a:t>h(n)≤h*(n)</a:t>
            </a:r>
            <a:r>
              <a:rPr lang="zh-CN" altLang="en-US" sz="2000">
                <a:sym typeface="+mn-ea"/>
              </a:rPr>
              <a:t>，可采纳）</a:t>
            </a:r>
            <a:endParaRPr lang="zh-CN" altLang="en-US" sz="20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4370" y="4072890"/>
            <a:ext cx="44958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Admissible</a:t>
            </a:r>
            <a:r>
              <a:rPr lang="zh-CN">
                <a:sym typeface="+mn-ea"/>
              </a:rPr>
              <a:t>检验</a:t>
            </a:r>
            <a:r>
              <a:rPr>
                <a:sym typeface="+mn-ea"/>
              </a:rPr>
              <a:t>:</a:t>
            </a:r>
            <a:endParaRPr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 h(A)=2 ≤ 2, h(B)=0 ≤1 </a:t>
            </a:r>
            <a:r>
              <a:rPr>
                <a:solidFill>
                  <a:srgbClr val="FF0000"/>
                </a:solidFill>
                <a:sym typeface="+mn-ea"/>
              </a:rPr>
              <a:t>✓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Consistency </a:t>
            </a:r>
            <a:r>
              <a:rPr lang="zh-CN">
                <a:sym typeface="+mn-ea"/>
              </a:rPr>
              <a:t>检验</a:t>
            </a:r>
            <a:r>
              <a:rPr>
                <a:sym typeface="+mn-ea"/>
              </a:rPr>
              <a:t>:</a:t>
            </a:r>
            <a:endParaRPr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 h(A) ≤ 1 + 0 ?</a:t>
            </a:r>
            <a:endParaRPr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 2 ≤ 1</a:t>
            </a:r>
            <a:r>
              <a:rPr>
                <a:solidFill>
                  <a:srgbClr val="FF0000"/>
                </a:solidFill>
                <a:sym typeface="+mn-ea"/>
              </a:rPr>
              <a:t> 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>
                <a:sym typeface="+mn-ea"/>
              </a:rPr>
              <a:t>结论</a:t>
            </a:r>
            <a:r>
              <a:rPr>
                <a:sym typeface="+mn-ea"/>
              </a:rPr>
              <a:t>: 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admissible but not consist</a:t>
            </a:r>
            <a:r>
              <a:rPr lang="en-US">
                <a:sym typeface="+mn-ea"/>
              </a:rPr>
              <a:t>ency</a:t>
            </a:r>
            <a:endParaRPr lang="en-US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2550795"/>
            <a:ext cx="6378575" cy="1088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119880" y="617855"/>
            <a:ext cx="3981450" cy="7264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altLang="en-AU" sz="24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Summary</a:t>
            </a:r>
            <a:endParaRPr lang="en-US" altLang="en-AU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35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085" y="1534795"/>
            <a:ext cx="9115425" cy="6286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49730" y="2492375"/>
            <a:ext cx="8479790" cy="418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答案：绝对不可能</a:t>
            </a:r>
            <a:r>
              <a:rPr lang="en-US" altLang="zh-CN"/>
              <a:t> (Impossible)</a:t>
            </a:r>
            <a:r>
              <a:rPr lang="zh-CN" altLang="en-US"/>
              <a:t>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逻辑推演：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在问题</a:t>
            </a:r>
            <a:r>
              <a:rPr lang="en-US" altLang="zh-CN"/>
              <a:t> (a) </a:t>
            </a:r>
            <a:r>
              <a:rPr lang="zh-CN" altLang="en-US"/>
              <a:t>中，我们已经完成了严格的数学证明：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Consistent =&gt; Admissible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(</a:t>
            </a:r>
            <a:r>
              <a:rPr lang="zh-CN" altLang="en-US"/>
              <a:t>如果一个函数是一致的，那么它必定是可采纳的</a:t>
            </a:r>
            <a:r>
              <a:rPr lang="en-US" altLang="zh-CN"/>
              <a:t>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因此，这种启发式函数在数学上不存在。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208780" y="617855"/>
            <a:ext cx="3981450" cy="7264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altLang="en-AU" sz="24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Summary</a:t>
            </a:r>
            <a:endParaRPr lang="en-US" altLang="en-AU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35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770" y="1344295"/>
            <a:ext cx="9729470" cy="42494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4770" y="5907405"/>
            <a:ext cx="9472295" cy="751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一致性</a:t>
            </a:r>
            <a:r>
              <a:rPr lang="en-US" altLang="zh-CN" sz="2400"/>
              <a:t> (Consistent) </a:t>
            </a:r>
            <a:r>
              <a:rPr lang="zh-CN" altLang="en-US" sz="2400"/>
              <a:t>是</a:t>
            </a:r>
            <a:r>
              <a:rPr lang="en-US" altLang="zh-CN" sz="2400"/>
              <a:t> </a:t>
            </a:r>
            <a:r>
              <a:rPr lang="zh-CN" altLang="en-US" sz="2400"/>
              <a:t>可采纳性</a:t>
            </a:r>
            <a:r>
              <a:rPr lang="en-US" altLang="zh-CN" sz="2400"/>
              <a:t> (Admissible) </a:t>
            </a:r>
            <a:r>
              <a:rPr lang="zh-CN" altLang="en-US" sz="2400"/>
              <a:t>的充分不必要条件。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208780" y="617855"/>
            <a:ext cx="3981450" cy="7264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altLang="en-AU" sz="24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Question I</a:t>
            </a:r>
            <a:endParaRPr lang="en-US" altLang="en-AU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35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530860" y="1236345"/>
            <a:ext cx="9686290" cy="1621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思考：在第四题中，题目给定的启发式函数非常特殊，是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，也就是利用两地到布加勒斯特（</a:t>
            </a:r>
            <a:r>
              <a:rPr lang="en-US" altLang="zh-CN"/>
              <a:t>Bucharest</a:t>
            </a:r>
            <a:r>
              <a:rPr lang="zh-CN" altLang="en-US"/>
              <a:t>）的直线距离之差来作为评估</a:t>
            </a:r>
            <a:r>
              <a:rPr lang="en-US" altLang="zh-CN"/>
              <a:t> </a:t>
            </a:r>
            <a:r>
              <a:rPr lang="zh-CN" altLang="en-US"/>
              <a:t>。大家想一想，如果我们要去</a:t>
            </a:r>
            <a:r>
              <a:rPr lang="en-US" altLang="zh-CN"/>
              <a:t> Craiova</a:t>
            </a:r>
            <a:r>
              <a:rPr lang="zh-CN" altLang="en-US"/>
              <a:t>，为什么不直接使用到</a:t>
            </a:r>
            <a:r>
              <a:rPr lang="en-US" altLang="zh-CN"/>
              <a:t> Craiova </a:t>
            </a:r>
            <a:r>
              <a:rPr lang="zh-CN" altLang="en-US"/>
              <a:t>的直线距离，而是要绕个弯子，引入第三个城市</a:t>
            </a:r>
            <a:r>
              <a:rPr lang="en-US" altLang="zh-CN"/>
              <a:t> Bucharest </a:t>
            </a:r>
            <a:r>
              <a:rPr lang="zh-CN" altLang="en-US"/>
              <a:t>的数据来进行计算呢？这种设计在现实的地图导航工程中有什么实际价值？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550" y="1236345"/>
            <a:ext cx="3124200" cy="342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2425" y="3370580"/>
            <a:ext cx="10716895" cy="1664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/>
              <a:t>空间爆炸问题：假设一个真实的国家路网有</a:t>
            </a:r>
            <a:r>
              <a:rPr lang="en-US" altLang="zh-CN"/>
              <a:t> 10 </a:t>
            </a:r>
            <a:r>
              <a:rPr lang="zh-CN" altLang="en-US"/>
              <a:t>万个十字路口（节点）。如果我们想在任意两点间使用</a:t>
            </a:r>
            <a:r>
              <a:rPr lang="en-US" altLang="zh-CN"/>
              <a:t> A* </a:t>
            </a:r>
            <a:r>
              <a:rPr lang="zh-CN" altLang="en-US"/>
              <a:t>算法，并且每次都直接调用它们之间的直线距离，我们需要在内存中预先存储一个</a:t>
            </a:r>
            <a:r>
              <a:rPr lang="en-US" altLang="zh-CN"/>
              <a:t> 100000 </a:t>
            </a:r>
            <a:r>
              <a:rPr lang="zh-CN" altLang="en-US"/>
              <a:t>✖️</a:t>
            </a:r>
            <a:r>
              <a:rPr lang="en-US" altLang="zh-CN"/>
              <a:t>100000 </a:t>
            </a:r>
            <a:r>
              <a:rPr lang="zh-CN" altLang="en-US"/>
              <a:t>的庞大二维数组。这种</a:t>
            </a:r>
            <a:r>
              <a:rPr lang="en-US" altLang="zh-CN"/>
              <a:t> O(V^2) </a:t>
            </a:r>
            <a:r>
              <a:rPr lang="zh-CN" altLang="en-US"/>
              <a:t>的空间复杂度在工程上是极其昂贵甚至不可接受的。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73760" y="2458720"/>
            <a:ext cx="9229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8A2E1"/>
                </a:solidFill>
                <a:sym typeface="+mn-ea"/>
              </a:rPr>
              <a:t>在现实工程（如地图导航、游戏大地图寻路）中，这种做法被称为</a:t>
            </a:r>
            <a:r>
              <a:rPr lang="en-US" altLang="zh-CN">
                <a:solidFill>
                  <a:srgbClr val="08A2E1"/>
                </a:solidFill>
                <a:sym typeface="+mn-ea"/>
              </a:rPr>
              <a:t>“</a:t>
            </a:r>
            <a:r>
              <a:rPr lang="zh-CN" altLang="en-US">
                <a:solidFill>
                  <a:srgbClr val="08A2E1"/>
                </a:solidFill>
                <a:sym typeface="+mn-ea"/>
              </a:rPr>
              <a:t>地标差分启发式（</a:t>
            </a:r>
            <a:r>
              <a:rPr lang="en-US" altLang="zh-CN">
                <a:solidFill>
                  <a:srgbClr val="08A2E1"/>
                </a:solidFill>
                <a:sym typeface="+mn-ea"/>
              </a:rPr>
              <a:t>Landmark-based Heuristic</a:t>
            </a:r>
            <a:r>
              <a:rPr lang="zh-CN" altLang="en-US">
                <a:solidFill>
                  <a:srgbClr val="08A2E1"/>
                </a:solidFill>
                <a:sym typeface="+mn-ea"/>
              </a:rPr>
              <a:t>）</a:t>
            </a:r>
            <a:r>
              <a:rPr lang="en-US" altLang="zh-CN">
                <a:solidFill>
                  <a:srgbClr val="08A2E1"/>
                </a:solidFill>
                <a:sym typeface="+mn-ea"/>
              </a:rPr>
              <a:t>”</a:t>
            </a:r>
            <a:r>
              <a:rPr lang="zh-CN" altLang="en-US">
                <a:solidFill>
                  <a:srgbClr val="08A2E1"/>
                </a:solidFill>
                <a:sym typeface="+mn-ea"/>
              </a:rPr>
              <a:t>。它的核心价值在于极大地节省内存空间。</a:t>
            </a:r>
            <a:endParaRPr lang="zh-CN" altLang="en-US">
              <a:solidFill>
                <a:srgbClr val="08A2E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7100" y="132715"/>
            <a:ext cx="10721975" cy="1621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思考：在第四题中，题目给定的启发式函数非常特殊，是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，也就是利用两地到布加勒斯特（</a:t>
            </a:r>
            <a:r>
              <a:rPr lang="en-US" altLang="zh-CN"/>
              <a:t>Bucharest</a:t>
            </a:r>
            <a:r>
              <a:rPr lang="zh-CN" altLang="en-US"/>
              <a:t>）的直线距离之差来作为评估</a:t>
            </a:r>
            <a:r>
              <a:rPr lang="en-US" altLang="zh-CN"/>
              <a:t> </a:t>
            </a:r>
            <a:r>
              <a:rPr lang="zh-CN" altLang="en-US"/>
              <a:t>。大家想一想，如果我们要去</a:t>
            </a:r>
            <a:r>
              <a:rPr lang="en-US" altLang="zh-CN"/>
              <a:t> Craiova</a:t>
            </a:r>
            <a:r>
              <a:rPr lang="zh-CN" altLang="en-US"/>
              <a:t>，为什么不直接使用到</a:t>
            </a:r>
            <a:r>
              <a:rPr lang="en-US" altLang="zh-CN"/>
              <a:t> Craiova </a:t>
            </a:r>
            <a:r>
              <a:rPr lang="zh-CN" altLang="en-US"/>
              <a:t>的直线距离，而是要绕个弯子，引入第三个城市</a:t>
            </a:r>
            <a:r>
              <a:rPr lang="en-US" altLang="zh-CN"/>
              <a:t> Bucharest </a:t>
            </a:r>
            <a:r>
              <a:rPr lang="zh-CN" altLang="en-US"/>
              <a:t>的数据来进行计算呢？这种设计在现实的地图导航工程中有什么实际价值？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2715"/>
            <a:ext cx="3124200" cy="342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8150" y="1624965"/>
            <a:ext cx="10353040" cy="4537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地标降维打击：为了解决这个问题，工程师会挑选几个重要的枢纽节点作为</a:t>
            </a:r>
            <a:r>
              <a:rPr lang="en-US" altLang="zh-CN"/>
              <a:t>“</a:t>
            </a:r>
            <a:r>
              <a:rPr lang="zh-CN" altLang="en-US"/>
              <a:t>地标（</a:t>
            </a:r>
            <a:r>
              <a:rPr lang="en-US" altLang="zh-CN"/>
              <a:t>Landmarks</a:t>
            </a:r>
            <a:r>
              <a:rPr lang="zh-CN" altLang="en-US"/>
              <a:t>）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——</a:t>
            </a:r>
            <a:r>
              <a:rPr lang="zh-CN" altLang="en-US"/>
              <a:t>在这道题中，首都</a:t>
            </a:r>
            <a:r>
              <a:rPr lang="en-US" altLang="zh-CN"/>
              <a:t> Bucharest </a:t>
            </a:r>
            <a:r>
              <a:rPr lang="zh-CN" altLang="en-US"/>
              <a:t>就是这个地标。计算逻辑（利用三角形不等式）：系统只需要存储所有节点到这一个地标的距离，空间复杂度瞬间降为</a:t>
            </a:r>
            <a:r>
              <a:rPr lang="en-US" altLang="zh-CN"/>
              <a:t> O(V)</a:t>
            </a:r>
            <a:r>
              <a:rPr lang="zh-CN" altLang="en-US"/>
              <a:t>。当我们需要计算从节点</a:t>
            </a:r>
            <a:r>
              <a:rPr lang="en-US" altLang="zh-CN"/>
              <a:t> n </a:t>
            </a:r>
            <a:r>
              <a:rPr lang="zh-CN" altLang="en-US"/>
              <a:t>到目标节点</a:t>
            </a:r>
            <a:r>
              <a:rPr lang="en-US" altLang="zh-CN"/>
              <a:t> Goal </a:t>
            </a:r>
            <a:r>
              <a:rPr lang="zh-CN" altLang="en-US"/>
              <a:t>的距离时，根据三角形的两边之差必定小于或等于第三边：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套用题目公式就是：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结论：这个绝对值差值，不仅完美符合</a:t>
            </a:r>
            <a:r>
              <a:rPr lang="en-US" altLang="zh-CN"/>
              <a:t>“</a:t>
            </a:r>
            <a:r>
              <a:rPr lang="zh-CN" altLang="en-US"/>
              <a:t>永远不高估真实代价</a:t>
            </a:r>
            <a:r>
              <a:rPr lang="en-US" altLang="zh-CN"/>
              <a:t>”</a:t>
            </a:r>
            <a:r>
              <a:rPr lang="zh-CN" altLang="en-US"/>
              <a:t>的可采纳性（</a:t>
            </a:r>
            <a:r>
              <a:rPr lang="en-US" altLang="zh-CN"/>
              <a:t>Admissible</a:t>
            </a:r>
            <a:r>
              <a:rPr lang="zh-CN" altLang="en-US"/>
              <a:t>）原则，还以极低的内存代价解决了任意两点间的启发式估算问题。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45" y="2996565"/>
            <a:ext cx="4718050" cy="527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680" y="3987800"/>
            <a:ext cx="3289935" cy="3613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995" y="2996565"/>
            <a:ext cx="4342765" cy="2369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4208780" y="734695"/>
            <a:ext cx="3979545" cy="49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Question II </a:t>
            </a:r>
            <a:endParaRPr lang="en-US" altLang="zh-CN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41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0365" y="1843405"/>
            <a:ext cx="11635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8A2E1"/>
                </a:solidFill>
              </a:rPr>
              <a:t>“</a:t>
            </a:r>
            <a:r>
              <a:rPr lang="zh-CN" altLang="en-US">
                <a:solidFill>
                  <a:srgbClr val="08A2E1"/>
                </a:solidFill>
              </a:rPr>
              <a:t>一致性</a:t>
            </a:r>
            <a:r>
              <a:rPr lang="en-US" altLang="zh-CN">
                <a:solidFill>
                  <a:srgbClr val="08A2E1"/>
                </a:solidFill>
              </a:rPr>
              <a:t>”</a:t>
            </a:r>
            <a:r>
              <a:rPr lang="zh-CN" altLang="en-US">
                <a:solidFill>
                  <a:srgbClr val="08A2E1"/>
                </a:solidFill>
              </a:rPr>
              <a:t>（</a:t>
            </a:r>
            <a:r>
              <a:rPr lang="en-US" altLang="zh-CN">
                <a:solidFill>
                  <a:srgbClr val="08A2E1"/>
                </a:solidFill>
              </a:rPr>
              <a:t>Consistency</a:t>
            </a:r>
            <a:r>
              <a:rPr lang="zh-CN" altLang="en-US">
                <a:solidFill>
                  <a:srgbClr val="08A2E1"/>
                </a:solidFill>
              </a:rPr>
              <a:t>）这个词，在数学和逻辑学中，通常指的是</a:t>
            </a:r>
            <a:r>
              <a:rPr lang="en-US" altLang="zh-CN">
                <a:solidFill>
                  <a:srgbClr val="08A2E1"/>
                </a:solidFill>
              </a:rPr>
              <a:t>“</a:t>
            </a:r>
            <a:r>
              <a:rPr lang="zh-CN" altLang="en-US">
                <a:solidFill>
                  <a:srgbClr val="08A2E1"/>
                </a:solidFill>
              </a:rPr>
              <a:t>系统内部结构严密，且不自相矛盾</a:t>
            </a:r>
            <a:r>
              <a:rPr lang="en-US" altLang="zh-CN">
                <a:solidFill>
                  <a:srgbClr val="08A2E1"/>
                </a:solidFill>
              </a:rPr>
              <a:t>”</a:t>
            </a:r>
            <a:r>
              <a:rPr lang="zh-CN" altLang="en-US">
                <a:solidFill>
                  <a:srgbClr val="08A2E1"/>
                </a:solidFill>
              </a:rPr>
              <a:t>。</a:t>
            </a:r>
            <a:endParaRPr lang="zh-CN" altLang="en-US">
              <a:solidFill>
                <a:srgbClr val="08A2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7040" y="2553335"/>
            <a:ext cx="10006965" cy="175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“</a:t>
            </a:r>
            <a:r>
              <a:rPr lang="zh-CN" altLang="en-US"/>
              <a:t>不一致</a:t>
            </a:r>
            <a:r>
              <a:rPr lang="en-US" altLang="zh-CN"/>
              <a:t>”</a:t>
            </a:r>
            <a:r>
              <a:rPr lang="zh-CN" altLang="en-US"/>
              <a:t>导致的逻辑崩塌</a:t>
            </a:r>
            <a:r>
              <a:rPr lang="en-US" altLang="zh-CN"/>
              <a:t> : </a:t>
            </a:r>
            <a:endParaRPr lang="zh-CN" altLang="en-US"/>
          </a:p>
          <a:p>
            <a:r>
              <a:rPr lang="zh-CN" altLang="en-US"/>
              <a:t>假设您在</a:t>
            </a:r>
            <a:r>
              <a:rPr lang="en-US" altLang="zh-CN"/>
              <a:t> n </a:t>
            </a:r>
            <a:r>
              <a:rPr lang="zh-CN" altLang="en-US"/>
              <a:t>点，导航预估还有</a:t>
            </a:r>
            <a:r>
              <a:rPr lang="en-US" altLang="zh-CN"/>
              <a:t> 10 </a:t>
            </a:r>
            <a:r>
              <a:rPr lang="zh-CN" altLang="en-US"/>
              <a:t>公里到达终点。</a:t>
            </a:r>
            <a:endParaRPr lang="zh-CN" altLang="en-US"/>
          </a:p>
          <a:p>
            <a:r>
              <a:rPr lang="zh-CN" altLang="en-US"/>
              <a:t>您往前真实地走了</a:t>
            </a:r>
            <a:r>
              <a:rPr lang="en-US" altLang="zh-CN"/>
              <a:t> 1 </a:t>
            </a:r>
            <a:r>
              <a:rPr lang="zh-CN" altLang="en-US"/>
              <a:t>公里到达</a:t>
            </a:r>
            <a:r>
              <a:rPr lang="en-US" altLang="zh-CN"/>
              <a:t> n'</a:t>
            </a:r>
            <a:r>
              <a:rPr lang="zh-CN" altLang="en-US"/>
              <a:t>点。</a:t>
            </a:r>
            <a:endParaRPr lang="zh-CN" altLang="en-US"/>
          </a:p>
          <a:p>
            <a:r>
              <a:rPr lang="zh-CN" altLang="en-US"/>
              <a:t>此时，导航突然更新，告诉您距离终点只剩</a:t>
            </a:r>
            <a:r>
              <a:rPr lang="en-US" altLang="zh-CN"/>
              <a:t> 2 </a:t>
            </a:r>
            <a:r>
              <a:rPr lang="zh-CN" altLang="en-US"/>
              <a:t>公里了。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1510" y="4164965"/>
            <a:ext cx="7895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这在物理现实中是极其荒谬的：</a:t>
            </a:r>
            <a:endParaRPr lang="zh-CN" altLang="en-US"/>
          </a:p>
          <a:p>
            <a:r>
              <a:rPr lang="zh-CN" altLang="en-US"/>
              <a:t>您仅仅走了</a:t>
            </a:r>
            <a:r>
              <a:rPr lang="en-US" altLang="zh-CN"/>
              <a:t> 1 </a:t>
            </a:r>
            <a:r>
              <a:rPr lang="zh-CN" altLang="en-US"/>
              <a:t>公里的路，怎么可能凭空拉近了</a:t>
            </a:r>
            <a:r>
              <a:rPr lang="en-US" altLang="zh-CN"/>
              <a:t> 8 </a:t>
            </a:r>
            <a:r>
              <a:rPr lang="zh-CN" altLang="en-US"/>
              <a:t>公里的直线距离？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556000" y="276796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Bef>
                <a:spcPct val="0"/>
              </a:spcBef>
            </a:pPr>
            <a:r>
              <a:rPr lang="zh-CN" altLang="en-US" sz="1600" b="1">
                <a:latin typeface="Google Sans Text"/>
                <a:ea typeface="Google Sans Text"/>
              </a:rPr>
              <a:t>。</a:t>
            </a:r>
            <a:endParaRPr lang="zh-CN" altLang="en-US" sz="1600" b="1">
              <a:latin typeface="Google Sans Text"/>
              <a:ea typeface="Google Sans Tex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1510" y="1132205"/>
            <a:ext cx="8036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思考：既然导航具备可采纳性，能确保得到最短路径，那为什么还要看一致性</a:t>
            </a:r>
            <a:endParaRPr lang="en-US" altLang="zh-CN"/>
          </a:p>
          <a:p>
            <a:pPr indent="457200"/>
            <a:r>
              <a:rPr lang="en-US" altLang="zh-CN"/>
              <a:t>   </a:t>
            </a:r>
            <a:r>
              <a:rPr lang="zh-CN" altLang="en-US"/>
              <a:t>若不具备一致性，又会发生什么？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05" y="2445385"/>
            <a:ext cx="1737995" cy="1737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4208780" y="734695"/>
            <a:ext cx="3979545" cy="49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Understand Consistent </a:t>
            </a:r>
            <a:endParaRPr lang="en-US" altLang="zh-CN" sz="24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41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556000" y="276796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Bef>
                <a:spcPct val="0"/>
              </a:spcBef>
            </a:pPr>
            <a:r>
              <a:rPr lang="zh-CN" altLang="en-US" sz="1600" b="1">
                <a:latin typeface="Google Sans Text"/>
                <a:ea typeface="Google Sans Text"/>
              </a:rPr>
              <a:t>。</a:t>
            </a:r>
            <a:endParaRPr lang="zh-CN" altLang="en-US" sz="1600" b="1">
              <a:latin typeface="Google Sans Text"/>
              <a:ea typeface="Google Sans Tex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1510" y="1132205"/>
            <a:ext cx="7185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思考：既然导航具备可采纳性，能确保得到最短路径，那为什么</a:t>
            </a:r>
            <a:endParaRPr lang="en-US" altLang="zh-CN"/>
          </a:p>
          <a:p>
            <a:pPr indent="457200"/>
            <a:r>
              <a:rPr lang="en-US" altLang="zh-CN"/>
              <a:t>   </a:t>
            </a:r>
            <a:r>
              <a:rPr lang="zh-CN" altLang="en-US"/>
              <a:t>若不具备一致性，又会发生什么？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08025" y="1928495"/>
            <a:ext cx="10035540" cy="5158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在实际编写</a:t>
            </a:r>
            <a:r>
              <a:rPr lang="en-US" altLang="zh-CN"/>
              <a:t>A* </a:t>
            </a:r>
            <a:r>
              <a:rPr lang="zh-CN" altLang="en-US"/>
              <a:t>算法时，启发式函数如果</a:t>
            </a:r>
            <a:r>
              <a:rPr lang="en-US" altLang="zh-CN"/>
              <a:t>“</a:t>
            </a:r>
            <a:r>
              <a:rPr lang="zh-CN" altLang="en-US"/>
              <a:t>不一致（</a:t>
            </a:r>
            <a:r>
              <a:rPr lang="en-US" altLang="zh-CN"/>
              <a:t>Not Consistent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，会导致严重的性能灾难。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A* </a:t>
            </a:r>
            <a:r>
              <a:rPr lang="zh-CN" altLang="en-US"/>
              <a:t>算法的代码实现中，我们会维护一个</a:t>
            </a:r>
            <a:r>
              <a:rPr lang="en-US" altLang="zh-CN"/>
              <a:t>“</a:t>
            </a:r>
            <a:r>
              <a:rPr lang="zh-CN" altLang="en-US"/>
              <a:t>开启列表</a:t>
            </a:r>
            <a:r>
              <a:rPr lang="en-US" altLang="zh-CN"/>
              <a:t>”</a:t>
            </a:r>
            <a:r>
              <a:rPr lang="zh-CN" altLang="en-US"/>
              <a:t>（优先队列）和一个</a:t>
            </a:r>
            <a:r>
              <a:rPr lang="en-US" altLang="zh-CN"/>
              <a:t>“</a:t>
            </a:r>
            <a:r>
              <a:rPr lang="zh-CN" altLang="en-US"/>
              <a:t>关闭列表</a:t>
            </a:r>
            <a:r>
              <a:rPr lang="en-US" altLang="zh-CN"/>
              <a:t>”</a:t>
            </a:r>
            <a:r>
              <a:rPr lang="zh-CN" altLang="en-US"/>
              <a:t>（通常用哈希集合</a:t>
            </a:r>
            <a:r>
              <a:rPr lang="en-US" altLang="zh-CN"/>
              <a:t> std::unorderedset </a:t>
            </a:r>
            <a:r>
              <a:rPr lang="zh-CN" altLang="en-US"/>
              <a:t>实现）。当一个节点被评估并放入关闭列表后，算法通常认为已经找到了到达该节点的最短路径，不再对其进行处理。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如果启发式函数是一致的，上述假设绝对成立。每个节点最多只会被移入关闭列表一次。算法的时间复杂度得到严格控制，运行非常高效。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不一致带来的节点重扩展：如果启发式函数仅仅是可采纳但不一致，就会出现</a:t>
            </a:r>
            <a:r>
              <a:rPr lang="en-US" altLang="zh-CN"/>
              <a:t>“</a:t>
            </a:r>
            <a:r>
              <a:rPr lang="zh-CN" altLang="en-US"/>
              <a:t>时光倒流</a:t>
            </a:r>
            <a:r>
              <a:rPr lang="en-US" altLang="zh-CN"/>
              <a:t>”</a:t>
            </a:r>
            <a:r>
              <a:rPr lang="zh-CN" altLang="en-US"/>
              <a:t>的错觉。算法在后续探索中，可能会突然发现一条到达某个已经放入关闭列表的节点的更短路径。</a:t>
            </a:r>
            <a:endParaRPr lang="zh-CN" altLang="en-US"/>
          </a:p>
          <a:p>
            <a:r>
              <a:rPr lang="zh-CN" altLang="en-US"/>
              <a:t>此时，为了保证最终结果的最优性，代码别无选择，只能将该节点从关闭列表中强行踢出，重新放回开启队列中进行二次扩展。在最坏的情况下，这种</a:t>
            </a:r>
            <a:r>
              <a:rPr lang="en-US" altLang="zh-CN"/>
              <a:t>“</a:t>
            </a:r>
            <a:r>
              <a:rPr lang="zh-CN" altLang="en-US"/>
              <a:t>反复横跳</a:t>
            </a:r>
            <a:r>
              <a:rPr lang="en-US" altLang="zh-CN"/>
              <a:t>”</a:t>
            </a:r>
            <a:r>
              <a:rPr lang="zh-CN" altLang="en-US"/>
              <a:t>的重扩展会导致</a:t>
            </a:r>
            <a:r>
              <a:rPr lang="en-US" altLang="zh-CN"/>
              <a:t> A* </a:t>
            </a:r>
            <a:r>
              <a:rPr lang="zh-CN" altLang="en-US"/>
              <a:t>算法的时间复杂度退化为指数级别（</a:t>
            </a:r>
            <a:r>
              <a:rPr lang="en-US" altLang="zh-CN"/>
              <a:t>Exponential Time</a:t>
            </a:r>
            <a:r>
              <a:rPr lang="zh-CN" altLang="en-US"/>
              <a:t>），导致程序严重卡顿。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结论：在工程实现中，一致性能够确保每个节点只被扩展一次，从而极大地保证了算法的运行效率。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73300" y="2694305"/>
            <a:ext cx="77997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914400" lvl="2" indent="457200"/>
            <a:r>
              <a:rPr lang="zh-CN" altLang="en-US" sz="8000"/>
              <a:t>谢谢观看！</a:t>
            </a:r>
            <a:endParaRPr lang="zh-CN" altLang="en-US" sz="8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3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4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5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6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7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8.xml><?xml version="1.0" encoding="utf-8"?>
<p:tagLst xmlns:p="http://schemas.openxmlformats.org/presentationml/2006/main">
  <p:tag name="KSO_WM_DIAGRAM_VIRTUALLY_FRAME" val="{&quot;height&quot;:339.2540157480315,&quot;left&quot;:130.65,&quot;top&quot;:112.52826771653545,&quot;width&quot;:377.1}"/>
</p:tagLst>
</file>

<file path=ppt/tags/tag9.xml><?xml version="1.0" encoding="utf-8"?>
<p:tagLst xmlns:p="http://schemas.openxmlformats.org/presentationml/2006/main">
  <p:tag name="KSO_WM_DIAGRAM_VIRTUALLY_FRAME" val="{&quot;height&quot;:339.2540157480315,&quot;left&quot;:130.65,&quot;top&quot;:112.52826771653545,&quot;width&quot;:377.1}"/>
</p:tagLst>
</file>

<file path=ppt/tags/tag10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11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12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13.xml><?xml version="1.0" encoding="utf-8"?>
<p:tagLst xmlns:p="http://schemas.openxmlformats.org/presentationml/2006/main">
  <p:tag name="KSO_WM_DIAGRAM_VIRTUALLY_FRAME" val="{&quot;height&quot;:339.2540157480315,&quot;left&quot;:122.3,&quot;top&quot;:112.52826771653545,&quot;width&quot;:394.45}"/>
</p:tagLst>
</file>

<file path=ppt/tags/tag14.xml><?xml version="1.0" encoding="utf-8"?>
<p:tagLst xmlns:p="http://schemas.openxmlformats.org/presentationml/2006/main">
  <p:tag name="KSO_DOCER_RESOURCE_TRACE_INFO" val="{&quot;id&quot;:&quot;20348541&quot;,&quot;origin&quot;:0,&quot;type&quot;:&quot;textbox&quot;,&quot;user&quot;:&quot;371949792&quot;}"/>
</p:tagLst>
</file>

<file path=ppt/tags/tag15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NmU0ZmNjMjcyNjVhYWVmODFmMDA2NGIyZTQxOWE2NzQifQ=="/>
  <p:tag name="resource_record_key" val="{&quot;19&quot;:[20348541]}"/>
</p:tagLst>
</file>

<file path=ppt/theme/theme1.xml><?xml version="1.0" encoding="utf-8"?>
<a:theme xmlns:a="http://schemas.openxmlformats.org/drawingml/2006/main" name="pl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4wzbpal">
      <a:majorFont>
        <a:latin typeface="汉仪润圆-65简"/>
        <a:ea typeface="汉仪润圆-65简"/>
        <a:cs typeface=""/>
      </a:majorFont>
      <a:minorFont>
        <a:latin typeface="汉仪润圆-65简"/>
        <a:ea typeface="汉仪润圆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润圆-65简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汉仪润圆-65简"/>
        <a:font script="Hebr" typeface="汉仪润圆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润圆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润圆-65简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汉仪润圆-65简"/>
        <a:font script="Hebr" typeface="汉仪润圆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润圆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3711</Words>
  <Application>WPS 演示</Application>
  <PresentationFormat>宽屏</PresentationFormat>
  <Paragraphs>247</Paragraphs>
  <Slides>16</Slides>
  <Notes>16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汉仪润圆-65简</vt:lpstr>
      <vt:lpstr>方正清刻本悦宋简体</vt:lpstr>
      <vt:lpstr>微软雅黑</vt:lpstr>
      <vt:lpstr>Calibri</vt:lpstr>
      <vt:lpstr>黑体</vt:lpstr>
      <vt:lpstr>汉仪颜楷简</vt:lpstr>
      <vt:lpstr>Google Sans Text</vt:lpstr>
      <vt:lpstr>Segoe Print</vt:lpstr>
      <vt:lpstr>Arial Unicode MS</vt:lpstr>
      <vt:lpstr>Google Sans Text</vt:lpstr>
      <vt:lpstr>Saturday Sans Regular</vt:lpstr>
      <vt:lpstr>pl主题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顾念</cp:lastModifiedBy>
  <cp:revision>98</cp:revision>
  <dcterms:created xsi:type="dcterms:W3CDTF">2021-10-25T03:40:00Z</dcterms:created>
  <dcterms:modified xsi:type="dcterms:W3CDTF">2026-03-19T14:27:18Z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C3557A13F4B7403F9D696AA352113D6B_13</vt:lpwstr>
  </property>
  <property fmtid="{D5CDD505-2E9C-101B-9397-08002B2CF9AE}" pid="3" name="KSOProductBuildVer">
    <vt:lpwstr>2052-12.1.0.25225</vt:lpwstr>
  </property>
  <property fmtid="{D5CDD505-2E9C-101B-9397-08002B2CF9AE}" pid="4" name="KSOTemplateUUID">
    <vt:lpwstr>v1.0_mb_knLkZY1hxWbNhF5bqycolg==</vt:lpwstr>
  </property>
</Properties>
</file>