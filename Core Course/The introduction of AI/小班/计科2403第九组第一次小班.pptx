
<file path=[Content_Types].xml><?xml version="1.0" encoding="utf-8"?>
<Types xmlns="http://schemas.openxmlformats.org/package/2006/content-types">
  <Default Extension="jpeg" ContentType="image/jpeg"/>
  <Default Extension="JPG" ContentType="image/.jpg"/>
  <Default Extension="vml" ContentType="application/vnd.openxmlformats-officedocument.vmlDrawing"/>
  <Default Extension="bin" ContentType="application/vnd.openxmlformats-officedocument.oleObject"/>
  <Default Extension="png" ContentType="image/png"/>
  <Default Extension="wmf" ContentType="image/x-w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4"/>
  </p:notesMasterIdLst>
  <p:handoutMasterIdLst>
    <p:handoutMasterId r:id="rId20"/>
  </p:handoutMasterIdLst>
  <p:sldIdLst>
    <p:sldId id="307" r:id="rId3"/>
    <p:sldId id="309" r:id="rId5"/>
    <p:sldId id="308" r:id="rId6"/>
    <p:sldId id="333" r:id="rId7"/>
    <p:sldId id="335" r:id="rId8"/>
    <p:sldId id="334" r:id="rId9"/>
    <p:sldId id="310" r:id="rId10"/>
    <p:sldId id="311" r:id="rId11"/>
    <p:sldId id="312" r:id="rId12"/>
    <p:sldId id="325" r:id="rId13"/>
    <p:sldId id="326" r:id="rId14"/>
    <p:sldId id="331" r:id="rId15"/>
    <p:sldId id="332" r:id="rId16"/>
    <p:sldId id="328" r:id="rId17"/>
    <p:sldId id="330" r:id="rId18"/>
    <p:sldId id="327" r:id="rId19"/>
  </p:sldIdLst>
  <p:sldSz cx="12192000" cy="6858000"/>
  <p:notesSz cx="6858000" cy="9144000"/>
  <p:embeddedFontLst>
    <p:embeddedFont>
      <p:font typeface="汉仪润圆-65简" panose="00020600040101010101" pitchFamily="18" charset="-122"/>
      <p:regular r:id="rId24"/>
    </p:embeddedFont>
    <p:embeddedFont>
      <p:font typeface="黑体" panose="02010609060101010101" charset="-122"/>
      <p:regular r:id="rId25"/>
    </p:embeddedFont>
    <p:embeddedFont>
      <p:font typeface="汉仪颜楷简" panose="00020600040101010101" charset="-122"/>
      <p:regular r:id="rId26"/>
    </p:embeddedFont>
  </p:embeddedFontLst>
  <p:custDataLst>
    <p:tags r:id="rId2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10" userDrawn="1">
          <p15:clr>
            <a:srgbClr val="A4A3A4"/>
          </p15:clr>
        </p15:guide>
        <p15:guide id="2" pos="3793" userDrawn="1">
          <p15:clr>
            <a:srgbClr val="A4A3A4"/>
          </p15:clr>
        </p15:guide>
        <p15:guide id="3" pos="410" userDrawn="1">
          <p15:clr>
            <a:srgbClr val="A4A3A4"/>
          </p15:clr>
        </p15:guide>
        <p15:guide id="4" pos="7256" userDrawn="1">
          <p15:clr>
            <a:srgbClr val="A4A3A4"/>
          </p15:clr>
        </p15:guide>
        <p15:guide id="5" orient="horz" pos="627" userDrawn="1">
          <p15:clr>
            <a:srgbClr val="A4A3A4"/>
          </p15:clr>
        </p15:guide>
        <p15:guide id="6" orient="horz" pos="773" userDrawn="1">
          <p15:clr>
            <a:srgbClr val="A4A3A4"/>
          </p15:clr>
        </p15:guide>
        <p15:guide id="7" orient="horz" pos="3907" userDrawn="1">
          <p15:clr>
            <a:srgbClr val="A4A3A4"/>
          </p15:clr>
        </p15:guide>
        <p15:guide id="8" orient="horz" pos="384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A2E1"/>
    <a:srgbClr val="095BE2"/>
    <a:srgbClr val="181818"/>
    <a:srgbClr val="79A55B"/>
    <a:srgbClr val="B4CDA4"/>
    <a:srgbClr val="9DBD87"/>
    <a:srgbClr val="00F5D9"/>
    <a:srgbClr val="41D0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15026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66" y="324"/>
      </p:cViewPr>
      <p:guideLst>
        <p:guide orient="horz" pos="2310"/>
        <p:guide pos="3793"/>
        <p:guide pos="410"/>
        <p:guide pos="7256"/>
        <p:guide orient="horz" pos="627"/>
        <p:guide orient="horz" pos="773"/>
        <p:guide orient="horz" pos="3907"/>
        <p:guide orient="horz" pos="3847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7" Type="http://schemas.openxmlformats.org/officeDocument/2006/relationships/tags" Target="tags/tag15.xml"/><Relationship Id="rId26" Type="http://schemas.openxmlformats.org/officeDocument/2006/relationships/font" Target="fonts/font3.fntdata"/><Relationship Id="rId25" Type="http://schemas.openxmlformats.org/officeDocument/2006/relationships/font" Target="fonts/font2.fntdata"/><Relationship Id="rId24" Type="http://schemas.openxmlformats.org/officeDocument/2006/relationships/font" Target="fonts/font1.fntdata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handoutMaster" Target="handoutMasters/handoutMaster1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>
              <a:latin typeface="汉仪润圆-65简" panose="00020600040101010101" pitchFamily="18" charset="-122"/>
              <a:ea typeface="汉仪润圆-65简" panose="00020600040101010101" pitchFamily="18" charset="-122"/>
              <a:cs typeface="汉仪润圆-65简" panose="00020600040101010101" pitchFamily="18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>
                <a:cs typeface="汉仪润圆-65简" panose="00020600040101010101" pitchFamily="18" charset="-122"/>
              </a:rPr>
            </a:fld>
            <a:endParaRPr lang="zh-CN" altLang="en-US">
              <a:cs typeface="汉仪润圆-65简" panose="00020600040101010101" pitchFamily="18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>
              <a:latin typeface="汉仪润圆-65简" panose="00020600040101010101" pitchFamily="18" charset="-122"/>
              <a:ea typeface="汉仪润圆-65简" panose="00020600040101010101" pitchFamily="18" charset="-122"/>
              <a:cs typeface="汉仪润圆-65简" panose="00020600040101010101" pitchFamily="18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>
                <a:cs typeface="汉仪润圆-65简" panose="00020600040101010101" pitchFamily="18" charset="-122"/>
              </a:rPr>
            </a:fld>
            <a:endParaRPr lang="zh-CN" altLang="en-US">
              <a:cs typeface="汉仪润圆-65简" panose="00020600040101010101" pitchFamily="18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汉仪润圆-65简" panose="00020600040101010101" pitchFamily="18" charset="-122"/>
                <a:ea typeface="汉仪润圆-65简" panose="00020600040101010101" pitchFamily="18" charset="-122"/>
                <a:cs typeface="汉仪润圆-65简" panose="00020600040101010101" pitchFamily="18" charset="-122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汉仪润圆-65简" panose="00020600040101010101" pitchFamily="18" charset="-122"/>
                <a:ea typeface="汉仪润圆-65简" panose="00020600040101010101" pitchFamily="18" charset="-122"/>
                <a:cs typeface="汉仪润圆-65简" panose="00020600040101010101" pitchFamily="18" charset="-122"/>
              </a:defRPr>
            </a:lvl1pPr>
          </a:lstStyle>
          <a:p>
            <a:fld id="{283CE2B5-C7CF-4FCB-A687-2965513C8919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汉仪润圆-65简" panose="00020600040101010101" pitchFamily="18" charset="-122"/>
                <a:ea typeface="汉仪润圆-65简" panose="00020600040101010101" pitchFamily="18" charset="-122"/>
                <a:cs typeface="汉仪润圆-65简" panose="00020600040101010101" pitchFamily="18" charset="-122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汉仪润圆-65简" panose="00020600040101010101" pitchFamily="18" charset="-122"/>
                <a:ea typeface="汉仪润圆-65简" panose="00020600040101010101" pitchFamily="18" charset="-122"/>
                <a:cs typeface="汉仪润圆-65简" panose="00020600040101010101" pitchFamily="18" charset="-122"/>
              </a:defRPr>
            </a:lvl1pPr>
          </a:lstStyle>
          <a:p>
            <a:fld id="{9DAEF730-554A-4C31-AC8F-C3E8827AFB11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汉仪润圆-65简" panose="00020600040101010101" pitchFamily="18" charset="-122"/>
        <a:ea typeface="汉仪润圆-65简" panose="00020600040101010101" pitchFamily="18" charset="-122"/>
        <a:cs typeface="汉仪润圆-65简" panose="00020600040101010101" pitchFamily="18" charset="-122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汉仪润圆-65简" panose="00020600040101010101" pitchFamily="18" charset="-122"/>
        <a:ea typeface="汉仪润圆-65简" panose="00020600040101010101" pitchFamily="18" charset="-122"/>
        <a:cs typeface="汉仪润圆-65简" panose="00020600040101010101" pitchFamily="18" charset="-122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汉仪润圆-65简" panose="00020600040101010101" pitchFamily="18" charset="-122"/>
        <a:ea typeface="汉仪润圆-65简" panose="00020600040101010101" pitchFamily="18" charset="-122"/>
        <a:cs typeface="汉仪润圆-65简" panose="00020600040101010101" pitchFamily="18" charset="-122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汉仪润圆-65简" panose="00020600040101010101" pitchFamily="18" charset="-122"/>
        <a:ea typeface="汉仪润圆-65简" panose="00020600040101010101" pitchFamily="18" charset="-122"/>
        <a:cs typeface="汉仪润圆-65简" panose="00020600040101010101" pitchFamily="18" charset="-122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汉仪润圆-65简" panose="00020600040101010101" pitchFamily="18" charset="-122"/>
        <a:ea typeface="汉仪润圆-65简" panose="00020600040101010101" pitchFamily="18" charset="-122"/>
        <a:cs typeface="汉仪润圆-65简" panose="00020600040101010101" pitchFamily="18" charset="-122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EF730-554A-4C31-AC8F-C3E8827AFB1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EF730-554A-4C31-AC8F-C3E8827AFB1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EF730-554A-4C31-AC8F-C3E8827AFB1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EF730-554A-4C31-AC8F-C3E8827AFB1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EF730-554A-4C31-AC8F-C3E8827AFB1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EF730-554A-4C31-AC8F-C3E8827AFB1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EF730-554A-4C31-AC8F-C3E8827AFB1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EF730-554A-4C31-AC8F-C3E8827AFB1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7BDD7CB-7B5F-4BF0-AEC3-F52025458AB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7BDD7CB-7B5F-4BF0-AEC3-F52025458AB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7BDD7CB-7B5F-4BF0-AEC3-F52025458AB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7BDD7CB-7B5F-4BF0-AEC3-F52025458AB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7BDD7CB-7B5F-4BF0-AEC3-F52025458AB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EF730-554A-4C31-AC8F-C3E8827AFB1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EF730-554A-4C31-AC8F-C3E8827AFB1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7BDD7CB-7B5F-4BF0-AEC3-F52025458AB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/>
          <p:cNvSpPr>
            <a:spLocks noGrp="1"/>
          </p:cNvSpPr>
          <p:nvPr>
            <p:ph type="pic" sz="quarter" idx="10"/>
          </p:nvPr>
        </p:nvSpPr>
        <p:spPr>
          <a:xfrm>
            <a:off x="3" y="3"/>
            <a:ext cx="12191997" cy="6857997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</a:lstStyle>
          <a:p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图片占位符 3"/>
          <p:cNvSpPr>
            <a:spLocks noGrp="1"/>
          </p:cNvSpPr>
          <p:nvPr>
            <p:ph type="pic" sz="quarter" idx="10"/>
          </p:nvPr>
        </p:nvSpPr>
        <p:spPr>
          <a:xfrm>
            <a:off x="7153490" y="2070101"/>
            <a:ext cx="4238409" cy="24892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8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icture Placeholder 2"/>
          <p:cNvSpPr>
            <a:spLocks noGrp="1"/>
          </p:cNvSpPr>
          <p:nvPr>
            <p:ph type="pic" sz="quarter" idx="36"/>
          </p:nvPr>
        </p:nvSpPr>
        <p:spPr>
          <a:xfrm>
            <a:off x="5906501" y="2056660"/>
            <a:ext cx="1148347" cy="1148048"/>
          </a:xfrm>
          <a:prstGeom prst="ellipse">
            <a:avLst/>
          </a:prstGeom>
          <a:ln w="19050">
            <a:noFill/>
          </a:ln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>
                    <a:lumMod val="50000"/>
                  </a:schemeClr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</a:defRPr>
            </a:lvl1pPr>
          </a:lstStyle>
          <a:p>
            <a:endParaRPr lang="en-US" dirty="0"/>
          </a:p>
        </p:txBody>
      </p:sp>
      <p:sp>
        <p:nvSpPr>
          <p:cNvPr id="87" name="Picture Placeholder 2"/>
          <p:cNvSpPr>
            <a:spLocks noGrp="1"/>
          </p:cNvSpPr>
          <p:nvPr>
            <p:ph type="pic" sz="quarter" idx="37"/>
          </p:nvPr>
        </p:nvSpPr>
        <p:spPr>
          <a:xfrm>
            <a:off x="5904012" y="4180981"/>
            <a:ext cx="1148347" cy="1148048"/>
          </a:xfrm>
          <a:prstGeom prst="ellipse">
            <a:avLst/>
          </a:prstGeom>
          <a:ln w="19050">
            <a:noFill/>
          </a:ln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>
                    <a:lumMod val="50000"/>
                  </a:schemeClr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</a:defRPr>
            </a:lvl1pPr>
          </a:lstStyle>
          <a:p>
            <a:endParaRPr lang="en-US" dirty="0"/>
          </a:p>
        </p:txBody>
      </p:sp>
      <p:sp>
        <p:nvSpPr>
          <p:cNvPr id="64" name="Picture Placeholder 2"/>
          <p:cNvSpPr>
            <a:spLocks noGrp="1"/>
          </p:cNvSpPr>
          <p:nvPr>
            <p:ph type="pic" sz="quarter" idx="29"/>
          </p:nvPr>
        </p:nvSpPr>
        <p:spPr>
          <a:xfrm>
            <a:off x="850285" y="2056660"/>
            <a:ext cx="1148347" cy="1148048"/>
          </a:xfrm>
          <a:prstGeom prst="ellipse">
            <a:avLst/>
          </a:prstGeom>
          <a:ln w="19050">
            <a:noFill/>
          </a:ln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>
                    <a:lumMod val="50000"/>
                  </a:schemeClr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</a:defRPr>
            </a:lvl1pPr>
          </a:lstStyle>
          <a:p>
            <a:endParaRPr lang="en-US" dirty="0"/>
          </a:p>
        </p:txBody>
      </p:sp>
      <p:sp>
        <p:nvSpPr>
          <p:cNvPr id="26" name="Picture Placeholder 2"/>
          <p:cNvSpPr>
            <a:spLocks noGrp="1"/>
          </p:cNvSpPr>
          <p:nvPr>
            <p:ph type="pic" sz="quarter" idx="24"/>
          </p:nvPr>
        </p:nvSpPr>
        <p:spPr>
          <a:xfrm>
            <a:off x="847796" y="4179394"/>
            <a:ext cx="1148347" cy="1148048"/>
          </a:xfrm>
          <a:prstGeom prst="ellipse">
            <a:avLst/>
          </a:prstGeom>
          <a:ln w="19050">
            <a:noFill/>
          </a:ln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>
                    <a:lumMod val="50000"/>
                  </a:schemeClr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</a:defRPr>
            </a:lvl1pPr>
          </a:lstStyle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grpId="0" nodeType="after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53" presetClass="entr" presetSubtype="16" fill="hold" grpId="0" nodeType="after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53" presetClass="entr" presetSubtype="16" fill="hold" grpId="0" nodeType="after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6" grpId="0"/>
      <p:bldP spid="87" grpId="0"/>
      <p:bldP spid="64" grpId="0"/>
      <p:bldP spid="26" grpId="0"/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3000" dirty="0">
              <a:cs typeface="汉仪润圆-65简" panose="00020600040101010101" pitchFamily="18" charset="-122"/>
            </a:endParaRP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theme" Target="../theme/theme1.xml"/><Relationship Id="rId8" Type="http://schemas.openxmlformats.org/officeDocument/2006/relationships/image" Target="../media/image2.jpeg"/><Relationship Id="rId7" Type="http://schemas.openxmlformats.org/officeDocument/2006/relationships/image" Target="../media/image1.jpeg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汉仪润圆-65简" panose="00020600040101010101" pitchFamily="18" charset="-122"/>
              </a:defRPr>
            </a:lvl1pPr>
          </a:lstStyle>
          <a:p>
            <a:fld id="{B6D21B80-9413-4EE8-A058-97DF2E8B882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汉仪润圆-65简" panose="00020600040101010101" pitchFamily="18" charset="-122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汉仪润圆-65简" panose="00020600040101010101" pitchFamily="18" charset="-122"/>
              </a:defRPr>
            </a:lvl1pPr>
          </a:lstStyle>
          <a:p>
            <a:fld id="{0C2F1850-6661-42FC-9D6D-89140B9F6166}" type="slidenum">
              <a:rPr lang="zh-CN" altLang="en-US" smtClean="0"/>
            </a:fld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7" cstate="print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8528" b="13467"/>
          <a:stretch>
            <a:fillRect/>
          </a:stretch>
        </p:blipFill>
        <p:spPr>
          <a:xfrm>
            <a:off x="5" y="3"/>
            <a:ext cx="4684183" cy="3709005"/>
          </a:xfrm>
          <a:custGeom>
            <a:avLst/>
            <a:gdLst>
              <a:gd name="connsiteX0" fmla="*/ 0 w 4684183"/>
              <a:gd name="connsiteY0" fmla="*/ 0 h 3709005"/>
              <a:gd name="connsiteX1" fmla="*/ 4684183 w 4684183"/>
              <a:gd name="connsiteY1" fmla="*/ 0 h 3709005"/>
              <a:gd name="connsiteX2" fmla="*/ 4683208 w 4684183"/>
              <a:gd name="connsiteY2" fmla="*/ 592 h 3709005"/>
              <a:gd name="connsiteX3" fmla="*/ 99120 w 4684183"/>
              <a:gd name="connsiteY3" fmla="*/ 3602761 h 3709005"/>
              <a:gd name="connsiteX4" fmla="*/ 0 w 4684183"/>
              <a:gd name="connsiteY4" fmla="*/ 3709005 h 37090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684183" h="3709005">
                <a:moveTo>
                  <a:pt x="0" y="0"/>
                </a:moveTo>
                <a:lnTo>
                  <a:pt x="4684183" y="0"/>
                </a:lnTo>
                <a:lnTo>
                  <a:pt x="4683208" y="592"/>
                </a:lnTo>
                <a:cubicBezTo>
                  <a:pt x="3252874" y="885165"/>
                  <a:pt x="1090596" y="2566879"/>
                  <a:pt x="99120" y="3602761"/>
                </a:cubicBezTo>
                <a:lnTo>
                  <a:pt x="0" y="3709005"/>
                </a:lnTo>
                <a:close/>
              </a:path>
            </a:pathLst>
          </a:custGeom>
        </p:spPr>
      </p:pic>
      <p:pic>
        <p:nvPicPr>
          <p:cNvPr id="15" name="图片 14"/>
          <p:cNvPicPr>
            <a:picLocks noChangeAspect="1"/>
          </p:cNvPicPr>
          <p:nvPr userDrawn="1"/>
        </p:nvPicPr>
        <p:blipFill>
          <a:blip r:embed="rId8" cstate="print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19"/>
          <a:stretch>
            <a:fillRect/>
          </a:stretch>
        </p:blipFill>
        <p:spPr>
          <a:xfrm>
            <a:off x="8679172" y="4586288"/>
            <a:ext cx="3512829" cy="2271712"/>
          </a:xfrm>
          <a:custGeom>
            <a:avLst/>
            <a:gdLst>
              <a:gd name="connsiteX0" fmla="*/ 1758613 w 3512829"/>
              <a:gd name="connsiteY0" fmla="*/ 0 h 2271712"/>
              <a:gd name="connsiteX1" fmla="*/ 3512829 w 3512829"/>
              <a:gd name="connsiteY1" fmla="*/ 0 h 2271712"/>
              <a:gd name="connsiteX2" fmla="*/ 3512829 w 3512829"/>
              <a:gd name="connsiteY2" fmla="*/ 2271712 h 2271712"/>
              <a:gd name="connsiteX3" fmla="*/ 0 w 3512829"/>
              <a:gd name="connsiteY3" fmla="*/ 2271712 h 2271712"/>
              <a:gd name="connsiteX4" fmla="*/ 75495 w 3512829"/>
              <a:gd name="connsiteY4" fmla="*/ 2197894 h 2271712"/>
              <a:gd name="connsiteX5" fmla="*/ 579129 w 3512829"/>
              <a:gd name="connsiteY5" fmla="*/ 1643062 h 2271712"/>
              <a:gd name="connsiteX6" fmla="*/ 1531629 w 3512829"/>
              <a:gd name="connsiteY6" fmla="*/ 557212 h 2271712"/>
              <a:gd name="connsiteX7" fmla="*/ 1748620 w 3512829"/>
              <a:gd name="connsiteY7" fmla="*/ 43755 h 22717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512829" h="2271712">
                <a:moveTo>
                  <a:pt x="1758613" y="0"/>
                </a:moveTo>
                <a:lnTo>
                  <a:pt x="3512829" y="0"/>
                </a:lnTo>
                <a:lnTo>
                  <a:pt x="3512829" y="2271712"/>
                </a:lnTo>
                <a:lnTo>
                  <a:pt x="0" y="2271712"/>
                </a:lnTo>
                <a:lnTo>
                  <a:pt x="75495" y="2197894"/>
                </a:lnTo>
                <a:cubicBezTo>
                  <a:pt x="248135" y="2018506"/>
                  <a:pt x="410854" y="1812925"/>
                  <a:pt x="579129" y="1643062"/>
                </a:cubicBezTo>
                <a:cubicBezTo>
                  <a:pt x="915679" y="1303337"/>
                  <a:pt x="1331604" y="846137"/>
                  <a:pt x="1531629" y="557212"/>
                </a:cubicBezTo>
                <a:cubicBezTo>
                  <a:pt x="1681648" y="340519"/>
                  <a:pt x="1719152" y="182761"/>
                  <a:pt x="1748620" y="43755"/>
                </a:cubicBezTo>
                <a:close/>
              </a:path>
            </a:pathLst>
          </a:custGeom>
          <a:ln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汉仪润圆-65简" panose="00020600040101010101" pitchFamily="18" charset="-122"/>
          <a:ea typeface="汉仪润圆-65简" panose="00020600040101010101" pitchFamily="18" charset="-122"/>
          <a:cs typeface="汉仪润圆-65简" panose="00020600040101010101" pitchFamily="18" charset="-122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汉仪润圆-65简" panose="00020600040101010101" pitchFamily="18" charset="-122"/>
          <a:ea typeface="汉仪润圆-65简" panose="00020600040101010101" pitchFamily="18" charset="-122"/>
          <a:cs typeface="汉仪润圆-65简" panose="00020600040101010101" pitchFamily="18" charset="-122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汉仪润圆-65简" panose="00020600040101010101" pitchFamily="18" charset="-122"/>
          <a:ea typeface="汉仪润圆-65简" panose="00020600040101010101" pitchFamily="18" charset="-122"/>
          <a:cs typeface="汉仪润圆-65简" panose="00020600040101010101" pitchFamily="18" charset="-122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汉仪润圆-65简" panose="00020600040101010101" pitchFamily="18" charset="-122"/>
          <a:ea typeface="汉仪润圆-65简" panose="00020600040101010101" pitchFamily="18" charset="-122"/>
          <a:cs typeface="汉仪润圆-65简" panose="00020600040101010101" pitchFamily="18" charset="-122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汉仪润圆-65简" panose="00020600040101010101" pitchFamily="18" charset="-122"/>
          <a:ea typeface="汉仪润圆-65简" panose="00020600040101010101" pitchFamily="18" charset="-122"/>
          <a:cs typeface="汉仪润圆-65简" panose="00020600040101010101" pitchFamily="18" charset="-122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汉仪润圆-65简" panose="00020600040101010101" pitchFamily="18" charset="-122"/>
          <a:ea typeface="汉仪润圆-65简" panose="00020600040101010101" pitchFamily="18" charset="-122"/>
          <a:cs typeface="汉仪润圆-65简" panose="00020600040101010101" pitchFamily="18" charset="-122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10.xml"/><Relationship Id="rId8" Type="http://schemas.openxmlformats.org/officeDocument/2006/relationships/tags" Target="../tags/tag9.xml"/><Relationship Id="rId7" Type="http://schemas.openxmlformats.org/officeDocument/2006/relationships/tags" Target="../tags/tag8.xml"/><Relationship Id="rId6" Type="http://schemas.openxmlformats.org/officeDocument/2006/relationships/tags" Target="../tags/tag7.xml"/><Relationship Id="rId5" Type="http://schemas.openxmlformats.org/officeDocument/2006/relationships/tags" Target="../tags/tag6.xml"/><Relationship Id="rId4" Type="http://schemas.openxmlformats.org/officeDocument/2006/relationships/tags" Target="../tags/tag5.xml"/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4" Type="http://schemas.openxmlformats.org/officeDocument/2006/relationships/notesSlide" Target="../notesSlides/notesSlide2.xml"/><Relationship Id="rId13" Type="http://schemas.openxmlformats.org/officeDocument/2006/relationships/slideLayout" Target="../slideLayouts/slideLayout1.xml"/><Relationship Id="rId12" Type="http://schemas.openxmlformats.org/officeDocument/2006/relationships/tags" Target="../tags/tag13.xml"/><Relationship Id="rId11" Type="http://schemas.openxmlformats.org/officeDocument/2006/relationships/tags" Target="../tags/tag12.xml"/><Relationship Id="rId10" Type="http://schemas.openxmlformats.org/officeDocument/2006/relationships/tags" Target="../tags/tag11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6.xml"/><Relationship Id="rId5" Type="http://schemas.openxmlformats.org/officeDocument/2006/relationships/vmlDrawing" Target="../drawings/vmlDrawing1.v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7.wmf"/><Relationship Id="rId2" Type="http://schemas.openxmlformats.org/officeDocument/2006/relationships/oleObject" Target="../embeddings/oleObject1.bin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7.xml"/><Relationship Id="rId5" Type="http://schemas.openxmlformats.org/officeDocument/2006/relationships/vmlDrawing" Target="../drawings/vmlDrawing2.v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7.wmf"/><Relationship Id="rId2" Type="http://schemas.openxmlformats.org/officeDocument/2006/relationships/oleObject" Target="../embeddings/oleObject2.bin"/><Relationship Id="rId1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4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3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5.png"/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4.xml"/><Relationship Id="rId5" Type="http://schemas.openxmlformats.org/officeDocument/2006/relationships/vmlDrawing" Target="../drawings/vmlDrawing3.v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6.png"/><Relationship Id="rId2" Type="http://schemas.openxmlformats.org/officeDocument/2006/relationships/image" Target="../media/image7.wmf"/><Relationship Id="rId1" Type="http://schemas.openxmlformats.org/officeDocument/2006/relationships/oleObject" Target="../embeddings/oleObject3.bin"/></Relationships>
</file>

<file path=ppt/slides/_rels/slide1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5.xml"/><Relationship Id="rId4" Type="http://schemas.openxmlformats.org/officeDocument/2006/relationships/vmlDrawing" Target="../drawings/vmlDrawing4.v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7.wmf"/><Relationship Id="rId1" Type="http://schemas.openxmlformats.org/officeDocument/2006/relationships/oleObject" Target="../embeddings/oleObject4.bin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占位符 2"/>
          <p:cNvPicPr>
            <a:picLocks noGrp="1" noChangeAspect="1"/>
          </p:cNvPicPr>
          <p:nvPr>
            <p:ph type="pic" sz="quarter" idx="10"/>
          </p:nvPr>
        </p:nvPicPr>
        <p:blipFill>
          <a:blip r:embed="rId1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-320672" y="1351283"/>
            <a:ext cx="12191997" cy="6857997"/>
          </a:xfrm>
        </p:spPr>
      </p:pic>
      <p:pic>
        <p:nvPicPr>
          <p:cNvPr id="15" name="图片占位符 2"/>
          <p:cNvPicPr>
            <a:picLocks noChangeAspect="1"/>
          </p:cNvPicPr>
          <p:nvPr/>
        </p:nvPicPr>
        <p:blipFill>
          <a:blip r:embed="rId1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309257" y="1918608"/>
            <a:ext cx="8882743" cy="4996542"/>
          </a:xfrm>
          <a:prstGeom prst="rect">
            <a:avLst/>
          </a:prstGeom>
          <a:ln>
            <a:noFill/>
          </a:ln>
        </p:spPr>
      </p:pic>
      <p:sp>
        <p:nvSpPr>
          <p:cNvPr id="2" name="矩形 1"/>
          <p:cNvSpPr/>
          <p:nvPr/>
        </p:nvSpPr>
        <p:spPr>
          <a:xfrm>
            <a:off x="2220686" y="1306286"/>
            <a:ext cx="5167085" cy="25471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501913" y="3007125"/>
            <a:ext cx="9238658" cy="1322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6600">
                <a:solidFill>
                  <a:schemeClr val="bg1"/>
                </a:solidFill>
                <a:latin typeface="方正清刻本悦宋简体" panose="02000000000000000000" pitchFamily="2" charset="-122"/>
                <a:ea typeface="方正清刻本悦宋简体" panose="02000000000000000000" pitchFamily="2" charset="-122"/>
              </a:defRPr>
            </a:lvl1pPr>
          </a:lstStyle>
          <a:p>
            <a:r>
              <a:rPr lang="zh-CN" altLang="en-US" sz="8000" b="1" spc="300" dirty="0">
                <a:solidFill>
                  <a:schemeClr val="tx1">
                    <a:lumMod val="75000"/>
                    <a:lumOff val="25000"/>
                  </a:schemeClr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+mn-ea"/>
                <a:sym typeface="汉仪润圆-65简" panose="00020600040101010101" pitchFamily="18" charset="-122"/>
              </a:rPr>
              <a:t>人工智能</a:t>
            </a:r>
            <a:r>
              <a:rPr lang="zh-CN" altLang="en-US" sz="8000" b="1" spc="300" dirty="0">
                <a:solidFill>
                  <a:schemeClr val="tx1">
                    <a:lumMod val="75000"/>
                    <a:lumOff val="25000"/>
                  </a:schemeClr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+mn-ea"/>
                <a:sym typeface="汉仪润圆-65简" panose="00020600040101010101" pitchFamily="18" charset="-122"/>
              </a:rPr>
              <a:t>小班</a:t>
            </a:r>
            <a:endParaRPr lang="zh-CN" altLang="en-US" sz="8000" b="1" spc="300" dirty="0">
              <a:solidFill>
                <a:schemeClr val="tx1">
                  <a:lumMod val="75000"/>
                  <a:lumOff val="25000"/>
                </a:schemeClr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3875946" y="1447278"/>
            <a:ext cx="444010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5400" b="1" spc="300" dirty="0" smtClean="0">
                <a:solidFill>
                  <a:srgbClr val="79A55B"/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+mn-ea"/>
                <a:sym typeface="汉仪润圆-65简" panose="00020600040101010101" pitchFamily="18" charset="-122"/>
              </a:rPr>
              <a:t>REPORT</a:t>
            </a:r>
            <a:endParaRPr lang="en-US" altLang="zh-CN" sz="5400" b="1" spc="300" dirty="0">
              <a:solidFill>
                <a:srgbClr val="79A55B"/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sp>
        <p:nvSpPr>
          <p:cNvPr id="18" name="矩形 259"/>
          <p:cNvSpPr>
            <a:spLocks noChangeArrowheads="1"/>
          </p:cNvSpPr>
          <p:nvPr/>
        </p:nvSpPr>
        <p:spPr bwMode="auto">
          <a:xfrm>
            <a:off x="4126148" y="4364223"/>
            <a:ext cx="4014552" cy="2768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algn="ctr" defTabSz="914400">
              <a:buNone/>
            </a:pPr>
            <a:r>
              <a:rPr lang="zh-CN" altLang="en-US" sz="1800" cap="all" spc="300" dirty="0">
                <a:solidFill>
                  <a:srgbClr val="25201A"/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+mn-ea"/>
                <a:sym typeface="汉仪润圆-65简" panose="00020600040101010101" pitchFamily="18" charset="-122"/>
              </a:rPr>
              <a:t>第四题</a:t>
            </a:r>
            <a:endParaRPr lang="zh-CN" altLang="en-US" sz="1800" cap="all" spc="300" dirty="0">
              <a:solidFill>
                <a:srgbClr val="25201A"/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sp>
        <p:nvSpPr>
          <p:cNvPr id="20" name="圆角矩形 19"/>
          <p:cNvSpPr/>
          <p:nvPr/>
        </p:nvSpPr>
        <p:spPr bwMode="auto">
          <a:xfrm>
            <a:off x="4665282" y="4927365"/>
            <a:ext cx="1441306" cy="417575"/>
          </a:xfrm>
          <a:prstGeom prst="roundRect">
            <a:avLst>
              <a:gd name="adj" fmla="val 50000"/>
            </a:avLst>
          </a:prstGeom>
          <a:solidFill>
            <a:srgbClr val="79A55B"/>
          </a:solidFill>
          <a:ln>
            <a:solidFill>
              <a:srgbClr val="40A69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sp>
        <p:nvSpPr>
          <p:cNvPr id="21" name="圆角矩形 20"/>
          <p:cNvSpPr/>
          <p:nvPr/>
        </p:nvSpPr>
        <p:spPr>
          <a:xfrm>
            <a:off x="6156325" y="4919345"/>
            <a:ext cx="1299210" cy="417830"/>
          </a:xfrm>
          <a:prstGeom prst="roundRect">
            <a:avLst>
              <a:gd name="adj" fmla="val 50000"/>
            </a:avLst>
          </a:prstGeom>
          <a:noFill/>
          <a:ln>
            <a:solidFill>
              <a:srgbClr val="79A55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sp>
        <p:nvSpPr>
          <p:cNvPr id="22" name="PA_矩形 32"/>
          <p:cNvSpPr/>
          <p:nvPr>
            <p:custDataLst>
              <p:tags r:id="rId2"/>
            </p:custDataLst>
          </p:nvPr>
        </p:nvSpPr>
        <p:spPr>
          <a:xfrm>
            <a:off x="4840331" y="4964788"/>
            <a:ext cx="1073795" cy="337185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zh-CN" altLang="en-US" sz="1600" dirty="0">
                <a:solidFill>
                  <a:prstClr val="white"/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+mn-ea"/>
                <a:sym typeface="汉仪润圆-65简" panose="00020600040101010101" pitchFamily="18" charset="-122"/>
              </a:rPr>
              <a:t>小组</a:t>
            </a:r>
            <a:r>
              <a:rPr lang="zh-CN" altLang="en-US" sz="1600" dirty="0">
                <a:solidFill>
                  <a:prstClr val="white"/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+mn-ea"/>
                <a:sym typeface="汉仪润圆-65简" panose="00020600040101010101" pitchFamily="18" charset="-122"/>
              </a:rPr>
              <a:t>成员</a:t>
            </a:r>
            <a:endParaRPr lang="zh-CN" altLang="en-US" sz="1600" dirty="0">
              <a:solidFill>
                <a:prstClr val="white"/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6158230" y="4942205"/>
            <a:ext cx="1229360" cy="3683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algn="ctr"/>
            <a:r>
              <a:rPr lang="zh-CN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+mn-ea"/>
                <a:sym typeface="汉仪润圆-65简" panose="00020600040101010101" pitchFamily="18" charset="-122"/>
              </a:rPr>
              <a:t>周雨健</a:t>
            </a:r>
            <a:endParaRPr lang="zh-CN" altLang="en-US" dirty="0">
              <a:solidFill>
                <a:schemeClr val="tx1">
                  <a:lumMod val="75000"/>
                  <a:lumOff val="25000"/>
                </a:schemeClr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6159173" y="5434919"/>
            <a:ext cx="1295125" cy="3683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algn="ctr"/>
            <a:r>
              <a:rPr lang="zh-CN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+mn-ea"/>
                <a:sym typeface="汉仪润圆-65简" panose="00020600040101010101" pitchFamily="18" charset="-122"/>
              </a:rPr>
              <a:t>王云超</a:t>
            </a:r>
            <a:endParaRPr lang="zh-CN" altLang="en-US" dirty="0">
              <a:solidFill>
                <a:schemeClr val="tx1">
                  <a:lumMod val="75000"/>
                  <a:lumOff val="25000"/>
                </a:schemeClr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6159808" y="5901009"/>
            <a:ext cx="1295125" cy="3683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algn="ctr"/>
            <a:r>
              <a:rPr lang="zh-CN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+mn-ea"/>
                <a:sym typeface="汉仪润圆-65简" panose="00020600040101010101" pitchFamily="18" charset="-122"/>
              </a:rPr>
              <a:t>张一龙</a:t>
            </a:r>
            <a:endParaRPr lang="zh-CN" altLang="en-US" dirty="0">
              <a:solidFill>
                <a:schemeClr val="tx1">
                  <a:lumMod val="75000"/>
                  <a:lumOff val="25000"/>
                </a:schemeClr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6159808" y="6403294"/>
            <a:ext cx="1295125" cy="368300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 algn="ctr"/>
            <a:r>
              <a:rPr lang="zh-CN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+mn-ea"/>
                <a:sym typeface="汉仪润圆-65简" panose="00020600040101010101" pitchFamily="18" charset="-122"/>
              </a:rPr>
              <a:t>毕佳涛</a:t>
            </a:r>
            <a:endParaRPr lang="zh-CN" altLang="en-US" dirty="0">
              <a:solidFill>
                <a:schemeClr val="tx1">
                  <a:lumMod val="75000"/>
                  <a:lumOff val="25000"/>
                </a:schemeClr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sp>
        <p:nvSpPr>
          <p:cNvPr id="8" name="圆角矩形 7"/>
          <p:cNvSpPr/>
          <p:nvPr/>
        </p:nvSpPr>
        <p:spPr>
          <a:xfrm>
            <a:off x="6156325" y="5387340"/>
            <a:ext cx="1299210" cy="417830"/>
          </a:xfrm>
          <a:prstGeom prst="roundRect">
            <a:avLst>
              <a:gd name="adj" fmla="val 50000"/>
            </a:avLst>
          </a:prstGeom>
          <a:noFill/>
          <a:ln>
            <a:solidFill>
              <a:srgbClr val="79A55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6156325" y="5855335"/>
            <a:ext cx="1299210" cy="417830"/>
          </a:xfrm>
          <a:prstGeom prst="roundRect">
            <a:avLst>
              <a:gd name="adj" fmla="val 50000"/>
            </a:avLst>
          </a:prstGeom>
          <a:noFill/>
          <a:ln>
            <a:solidFill>
              <a:srgbClr val="79A55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sp>
        <p:nvSpPr>
          <p:cNvPr id="10" name="圆角矩形 9"/>
          <p:cNvSpPr/>
          <p:nvPr/>
        </p:nvSpPr>
        <p:spPr>
          <a:xfrm>
            <a:off x="6156325" y="6365240"/>
            <a:ext cx="1299210" cy="417830"/>
          </a:xfrm>
          <a:prstGeom prst="roundRect">
            <a:avLst>
              <a:gd name="adj" fmla="val 50000"/>
            </a:avLst>
          </a:prstGeom>
          <a:noFill/>
          <a:ln>
            <a:solidFill>
              <a:srgbClr val="79A55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7900035" y="4918075"/>
            <a:ext cx="27095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收集题目</a:t>
            </a:r>
            <a:r>
              <a:rPr lang="zh-CN" altLang="en-US"/>
              <a:t>信息</a:t>
            </a:r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7900035" y="5420360"/>
            <a:ext cx="21101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整合和</a:t>
            </a:r>
            <a:r>
              <a:rPr lang="en-US" altLang="zh-CN"/>
              <a:t>PPT</a:t>
            </a:r>
            <a:r>
              <a:rPr lang="zh-CN" altLang="en-US"/>
              <a:t>制作</a:t>
            </a:r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7900035" y="5922645"/>
            <a:ext cx="21101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理解和</a:t>
            </a:r>
            <a:r>
              <a:rPr lang="en-US" altLang="zh-CN"/>
              <a:t>PPT</a:t>
            </a:r>
            <a:r>
              <a:rPr lang="zh-CN" altLang="en-US"/>
              <a:t>讲解</a:t>
            </a:r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7900035" y="6365240"/>
            <a:ext cx="21101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PPT</a:t>
            </a:r>
            <a:r>
              <a:rPr lang="zh-CN" altLang="en-US"/>
              <a:t>润</a:t>
            </a:r>
            <a:r>
              <a:rPr lang="zh-CN" altLang="en-US"/>
              <a:t>色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椭圆 16"/>
          <p:cNvSpPr/>
          <p:nvPr>
            <p:custDataLst>
              <p:tags r:id="rId1"/>
            </p:custDataLst>
          </p:nvPr>
        </p:nvSpPr>
        <p:spPr>
          <a:xfrm>
            <a:off x="1553845" y="1637160"/>
            <a:ext cx="178703" cy="178703"/>
          </a:xfrm>
          <a:prstGeom prst="ellipse">
            <a:avLst/>
          </a:prstGeom>
          <a:solidFill>
            <a:srgbClr val="79A5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 dirty="0">
              <a:solidFill>
                <a:srgbClr val="FFFFFF"/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sp>
        <p:nvSpPr>
          <p:cNvPr id="38" name="Text Placeholder 33"/>
          <p:cNvSpPr txBox="1"/>
          <p:nvPr>
            <p:custDataLst>
              <p:tags r:id="rId2"/>
            </p:custDataLst>
          </p:nvPr>
        </p:nvSpPr>
        <p:spPr>
          <a:xfrm>
            <a:off x="1838325" y="1513840"/>
            <a:ext cx="450405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defTabSz="1219200">
              <a:lnSpc>
                <a:spcPct val="100000"/>
              </a:lnSpc>
              <a:spcBef>
                <a:spcPct val="20000"/>
              </a:spcBef>
              <a:defRPr sz="3000" b="1">
                <a:solidFill>
                  <a:srgbClr val="54578E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r>
              <a:rPr lang="en-US" altLang="zh-CN" sz="2400" dirty="0">
                <a:solidFill>
                  <a:srgbClr val="717C75"/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+mn-ea"/>
                <a:sym typeface="汉仪润圆-65简" panose="00020600040101010101" pitchFamily="18" charset="-122"/>
              </a:rPr>
              <a:t>Introduction to the problem</a:t>
            </a:r>
            <a:endParaRPr lang="en-US" altLang="zh-CN" sz="2400" dirty="0">
              <a:solidFill>
                <a:srgbClr val="717C75"/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sp>
        <p:nvSpPr>
          <p:cNvPr id="48" name="椭圆 47"/>
          <p:cNvSpPr/>
          <p:nvPr>
            <p:custDataLst>
              <p:tags r:id="rId3"/>
            </p:custDataLst>
          </p:nvPr>
        </p:nvSpPr>
        <p:spPr>
          <a:xfrm>
            <a:off x="1553210" y="3940248"/>
            <a:ext cx="178703" cy="178703"/>
          </a:xfrm>
          <a:prstGeom prst="ellipse">
            <a:avLst/>
          </a:prstGeom>
          <a:solidFill>
            <a:srgbClr val="B4CDA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 dirty="0">
              <a:solidFill>
                <a:srgbClr val="FFFFFF"/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sp>
        <p:nvSpPr>
          <p:cNvPr id="49" name="Text Placeholder 33"/>
          <p:cNvSpPr txBox="1"/>
          <p:nvPr>
            <p:custDataLst>
              <p:tags r:id="rId4"/>
            </p:custDataLst>
          </p:nvPr>
        </p:nvSpPr>
        <p:spPr>
          <a:xfrm>
            <a:off x="1837690" y="3816985"/>
            <a:ext cx="461899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defTabSz="1219200">
              <a:lnSpc>
                <a:spcPct val="100000"/>
              </a:lnSpc>
              <a:spcBef>
                <a:spcPct val="20000"/>
              </a:spcBef>
              <a:defRPr sz="3000" b="1">
                <a:solidFill>
                  <a:srgbClr val="54578E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r>
              <a:rPr lang="en-US" altLang="zh-CN" sz="2400" dirty="0">
                <a:solidFill>
                  <a:srgbClr val="717C75"/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+mn-ea"/>
                <a:sym typeface="汉仪润圆-65简" panose="00020600040101010101" pitchFamily="18" charset="-122"/>
              </a:rPr>
              <a:t>Consistent =&gt; Admissible</a:t>
            </a:r>
            <a:endParaRPr lang="en-US" altLang="zh-CN" sz="2400" dirty="0">
              <a:solidFill>
                <a:srgbClr val="717C75"/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sp>
        <p:nvSpPr>
          <p:cNvPr id="60" name="椭圆 59"/>
          <p:cNvSpPr/>
          <p:nvPr>
            <p:custDataLst>
              <p:tags r:id="rId5"/>
            </p:custDataLst>
          </p:nvPr>
        </p:nvSpPr>
        <p:spPr>
          <a:xfrm>
            <a:off x="1553210" y="4826017"/>
            <a:ext cx="178703" cy="178703"/>
          </a:xfrm>
          <a:prstGeom prst="ellipse">
            <a:avLst/>
          </a:prstGeom>
          <a:solidFill>
            <a:srgbClr val="79A5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 dirty="0">
              <a:solidFill>
                <a:srgbClr val="FFFFFF"/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sp>
        <p:nvSpPr>
          <p:cNvPr id="61" name="Text Placeholder 33"/>
          <p:cNvSpPr txBox="1"/>
          <p:nvPr>
            <p:custDataLst>
              <p:tags r:id="rId6"/>
            </p:custDataLst>
          </p:nvPr>
        </p:nvSpPr>
        <p:spPr>
          <a:xfrm>
            <a:off x="1837690" y="4702810"/>
            <a:ext cx="41529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defTabSz="1219200">
              <a:lnSpc>
                <a:spcPct val="100000"/>
              </a:lnSpc>
              <a:spcBef>
                <a:spcPct val="20000"/>
              </a:spcBef>
              <a:defRPr sz="3000" b="1">
                <a:solidFill>
                  <a:srgbClr val="54578E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pPr algn="l">
              <a:buClrTx/>
              <a:buSzTx/>
              <a:buFontTx/>
            </a:pPr>
            <a:r>
              <a:rPr lang="en-US" altLang="en-AU" sz="2400" dirty="0">
                <a:solidFill>
                  <a:srgbClr val="717C75"/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+mn-ea"/>
                <a:sym typeface="汉仪润圆-65简" panose="00020600040101010101" pitchFamily="18" charset="-122"/>
              </a:rPr>
              <a:t>Admissible≠&gt;Consistent</a:t>
            </a:r>
            <a:endParaRPr lang="en-US" altLang="en-AU" sz="2400" dirty="0">
              <a:solidFill>
                <a:srgbClr val="717C75"/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8819646" y="3669310"/>
            <a:ext cx="2154668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218565">
              <a:defRPr/>
            </a:pPr>
            <a:r>
              <a:rPr lang="en-US" altLang="zh-CN" sz="1400" dirty="0">
                <a:solidFill>
                  <a:srgbClr val="717C75"/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+mn-ea"/>
                <a:sym typeface="汉仪润圆-65简" panose="00020600040101010101" pitchFamily="18" charset="-122"/>
              </a:rPr>
              <a:t>CONTENT</a:t>
            </a:r>
            <a:endParaRPr lang="en-US" altLang="zh-CN" sz="1400" dirty="0">
              <a:solidFill>
                <a:srgbClr val="717C75"/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8084562" y="2099650"/>
            <a:ext cx="362483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algn="ctr">
              <a:lnSpc>
                <a:spcPct val="150000"/>
              </a:lnSpc>
              <a:defRPr sz="1400">
                <a:gradFill>
                  <a:gsLst>
                    <a:gs pos="0">
                      <a:srgbClr val="08AEEA"/>
                    </a:gs>
                    <a:gs pos="100000">
                      <a:srgbClr val="2AF598"/>
                    </a:gs>
                  </a:gsLst>
                  <a:lin ang="270000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1218565">
              <a:lnSpc>
                <a:spcPct val="100000"/>
              </a:lnSpc>
              <a:defRPr/>
            </a:pPr>
            <a:r>
              <a:rPr lang="zh-CN" altLang="en-US" sz="9600" b="1" dirty="0" smtClean="0">
                <a:solidFill>
                  <a:srgbClr val="717C75"/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+mn-ea"/>
                <a:sym typeface="汉仪润圆-65简" panose="00020600040101010101" pitchFamily="18" charset="-122"/>
              </a:rPr>
              <a:t>目录</a:t>
            </a:r>
            <a:endParaRPr lang="zh-CN" altLang="en-US" sz="9600" b="1" dirty="0">
              <a:solidFill>
                <a:srgbClr val="717C75"/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cxnSp>
        <p:nvCxnSpPr>
          <p:cNvPr id="2" name="直接连接符 1"/>
          <p:cNvCxnSpPr/>
          <p:nvPr/>
        </p:nvCxnSpPr>
        <p:spPr>
          <a:xfrm>
            <a:off x="7894320" y="1333500"/>
            <a:ext cx="0" cy="4191000"/>
          </a:xfrm>
          <a:prstGeom prst="line">
            <a:avLst/>
          </a:prstGeom>
          <a:ln>
            <a:solidFill>
              <a:srgbClr val="B4CDA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椭圆 4"/>
          <p:cNvSpPr/>
          <p:nvPr>
            <p:custDataLst>
              <p:tags r:id="rId7"/>
            </p:custDataLst>
          </p:nvPr>
        </p:nvSpPr>
        <p:spPr>
          <a:xfrm>
            <a:off x="1553210" y="5762698"/>
            <a:ext cx="178703" cy="178703"/>
          </a:xfrm>
          <a:prstGeom prst="ellipse">
            <a:avLst/>
          </a:prstGeom>
          <a:solidFill>
            <a:srgbClr val="B4CDA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 dirty="0">
              <a:solidFill>
                <a:srgbClr val="FFFFFF"/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sp>
        <p:nvSpPr>
          <p:cNvPr id="6" name="Text Placeholder 33"/>
          <p:cNvSpPr txBox="1"/>
          <p:nvPr>
            <p:custDataLst>
              <p:tags r:id="rId8"/>
            </p:custDataLst>
          </p:nvPr>
        </p:nvSpPr>
        <p:spPr>
          <a:xfrm>
            <a:off x="1837690" y="5639435"/>
            <a:ext cx="450469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defTabSz="1219200">
              <a:lnSpc>
                <a:spcPct val="100000"/>
              </a:lnSpc>
              <a:spcBef>
                <a:spcPct val="20000"/>
              </a:spcBef>
              <a:defRPr sz="3000" b="1">
                <a:solidFill>
                  <a:srgbClr val="54578E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r>
              <a:rPr lang="en-US" altLang="zh-CN" sz="2400" dirty="0">
                <a:solidFill>
                  <a:srgbClr val="717C75"/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+mn-ea"/>
                <a:sym typeface="汉仪润圆-65简" panose="00020600040101010101" pitchFamily="18" charset="-122"/>
              </a:rPr>
              <a:t>Summary</a:t>
            </a:r>
            <a:endParaRPr lang="en-US" altLang="zh-CN" sz="2400" dirty="0">
              <a:solidFill>
                <a:srgbClr val="717C75"/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sp>
        <p:nvSpPr>
          <p:cNvPr id="9" name="椭圆 8"/>
          <p:cNvSpPr/>
          <p:nvPr>
            <p:custDataLst>
              <p:tags r:id="rId9"/>
            </p:custDataLst>
          </p:nvPr>
        </p:nvSpPr>
        <p:spPr>
          <a:xfrm>
            <a:off x="1553210" y="2345763"/>
            <a:ext cx="178703" cy="178703"/>
          </a:xfrm>
          <a:prstGeom prst="ellipse">
            <a:avLst/>
          </a:prstGeom>
          <a:solidFill>
            <a:srgbClr val="B4CDA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 dirty="0">
              <a:solidFill>
                <a:srgbClr val="FFFFFF"/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sp>
        <p:nvSpPr>
          <p:cNvPr id="10" name="Text Placeholder 33"/>
          <p:cNvSpPr txBox="1"/>
          <p:nvPr>
            <p:custDataLst>
              <p:tags r:id="rId10"/>
            </p:custDataLst>
          </p:nvPr>
        </p:nvSpPr>
        <p:spPr>
          <a:xfrm>
            <a:off x="1837690" y="2222500"/>
            <a:ext cx="461899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defTabSz="1219200">
              <a:lnSpc>
                <a:spcPct val="100000"/>
              </a:lnSpc>
              <a:spcBef>
                <a:spcPct val="20000"/>
              </a:spcBef>
              <a:defRPr sz="3000" b="1">
                <a:solidFill>
                  <a:srgbClr val="54578E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r>
              <a:rPr lang="en-US" altLang="zh-CN" sz="2400" dirty="0">
                <a:solidFill>
                  <a:srgbClr val="717C75"/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+mn-ea"/>
                <a:sym typeface="汉仪润圆-65简" panose="00020600040101010101" pitchFamily="18" charset="-122"/>
              </a:rPr>
              <a:t>A* S</a:t>
            </a:r>
            <a:r>
              <a:rPr lang="en-US" altLang="zh-CN" sz="2400" dirty="0">
                <a:solidFill>
                  <a:srgbClr val="717C75"/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+mn-ea"/>
                <a:sym typeface="汉仪润圆-65简" panose="00020600040101010101" pitchFamily="18" charset="-122"/>
              </a:rPr>
              <a:t>earch</a:t>
            </a:r>
            <a:endParaRPr lang="en-US" altLang="zh-CN" sz="2400" dirty="0">
              <a:solidFill>
                <a:srgbClr val="717C75"/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sp>
        <p:nvSpPr>
          <p:cNvPr id="11" name="椭圆 10"/>
          <p:cNvSpPr/>
          <p:nvPr>
            <p:custDataLst>
              <p:tags r:id="rId11"/>
            </p:custDataLst>
          </p:nvPr>
        </p:nvSpPr>
        <p:spPr>
          <a:xfrm>
            <a:off x="1553210" y="3231532"/>
            <a:ext cx="178703" cy="178703"/>
          </a:xfrm>
          <a:prstGeom prst="ellipse">
            <a:avLst/>
          </a:prstGeom>
          <a:solidFill>
            <a:srgbClr val="79A5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 dirty="0">
              <a:solidFill>
                <a:srgbClr val="FFFFFF"/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sp>
        <p:nvSpPr>
          <p:cNvPr id="12" name="Text Placeholder 33"/>
          <p:cNvSpPr txBox="1"/>
          <p:nvPr>
            <p:custDataLst>
              <p:tags r:id="rId12"/>
            </p:custDataLst>
          </p:nvPr>
        </p:nvSpPr>
        <p:spPr>
          <a:xfrm>
            <a:off x="1837690" y="3108325"/>
            <a:ext cx="41529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defTabSz="1219200">
              <a:lnSpc>
                <a:spcPct val="100000"/>
              </a:lnSpc>
              <a:spcBef>
                <a:spcPct val="20000"/>
              </a:spcBef>
              <a:defRPr sz="3000" b="1">
                <a:solidFill>
                  <a:srgbClr val="54578E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pPr algn="l">
              <a:buClrTx/>
              <a:buSzTx/>
              <a:buFontTx/>
            </a:pPr>
            <a:r>
              <a:rPr lang="en-US" altLang="en-AU" sz="2400" dirty="0">
                <a:solidFill>
                  <a:srgbClr val="717C75"/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+mn-ea"/>
                <a:sym typeface="汉仪润圆-65简" panose="00020600040101010101" pitchFamily="18" charset="-122"/>
              </a:rPr>
              <a:t>Prove Admissible</a:t>
            </a:r>
            <a:endParaRPr lang="en-US" altLang="en-AU" sz="2400" dirty="0">
              <a:solidFill>
                <a:srgbClr val="717C75"/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switch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文本框 14"/>
          <p:cNvSpPr txBox="1"/>
          <p:nvPr/>
        </p:nvSpPr>
        <p:spPr>
          <a:xfrm>
            <a:off x="4208780" y="763270"/>
            <a:ext cx="3996690" cy="46482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defPPr>
              <a:defRPr lang="zh-CN"/>
            </a:defPPr>
            <a:lvl1pPr algn="ctr">
              <a:lnSpc>
                <a:spcPct val="150000"/>
              </a:lnSpc>
              <a:defRPr sz="1400">
                <a:gradFill>
                  <a:gsLst>
                    <a:gs pos="0">
                      <a:srgbClr val="08AEEA"/>
                    </a:gs>
                    <a:gs pos="100000">
                      <a:srgbClr val="2AF598"/>
                    </a:gs>
                  </a:gsLst>
                  <a:lin ang="270000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1218565">
              <a:lnSpc>
                <a:spcPct val="100000"/>
              </a:lnSpc>
              <a:defRPr/>
            </a:pPr>
            <a:r>
              <a:rPr lang="en-US" altLang="zh-CN" sz="2000" b="1" dirty="0">
                <a:solidFill>
                  <a:srgbClr val="717C75"/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+mn-ea"/>
                <a:sym typeface="汉仪润圆-65简" panose="00020600040101010101" pitchFamily="18" charset="-122"/>
              </a:rPr>
              <a:t>Introduction to the problem</a:t>
            </a:r>
            <a:endParaRPr lang="en-US" altLang="zh-CN" sz="2000" b="1" dirty="0">
              <a:solidFill>
                <a:srgbClr val="717C75"/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grpSp>
        <p:nvGrpSpPr>
          <p:cNvPr id="17" name="组合 16"/>
          <p:cNvGrpSpPr/>
          <p:nvPr/>
        </p:nvGrpSpPr>
        <p:grpSpPr>
          <a:xfrm>
            <a:off x="3076983" y="980763"/>
            <a:ext cx="6066607" cy="0"/>
            <a:chOff x="4615664" y="960506"/>
            <a:chExt cx="9102718" cy="0"/>
          </a:xfrm>
        </p:grpSpPr>
        <p:cxnSp>
          <p:nvCxnSpPr>
            <p:cNvPr id="18" name="77 21"/>
            <p:cNvCxnSpPr/>
            <p:nvPr/>
          </p:nvCxnSpPr>
          <p:spPr bwMode="auto">
            <a:xfrm flipH="1">
              <a:off x="4615664" y="960506"/>
              <a:ext cx="1314679" cy="0"/>
            </a:xfrm>
            <a:prstGeom prst="line">
              <a:avLst/>
            </a:prstGeom>
            <a:ln>
              <a:solidFill>
                <a:srgbClr val="9AA59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7722"/>
            <p:cNvCxnSpPr/>
            <p:nvPr/>
          </p:nvCxnSpPr>
          <p:spPr bwMode="auto">
            <a:xfrm flipH="1">
              <a:off x="12403703" y="960506"/>
              <a:ext cx="1314679" cy="0"/>
            </a:xfrm>
            <a:prstGeom prst="line">
              <a:avLst/>
            </a:prstGeom>
            <a:ln>
              <a:solidFill>
                <a:srgbClr val="9AA59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2510" y="1228090"/>
            <a:ext cx="7571105" cy="215646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155" y="3266440"/>
            <a:ext cx="5123815" cy="3424555"/>
          </a:xfrm>
          <a:prstGeom prst="rect">
            <a:avLst/>
          </a:prstGeo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rcRect r="21537"/>
          <a:stretch>
            <a:fillRect/>
          </a:stretch>
        </p:blipFill>
        <p:spPr>
          <a:xfrm>
            <a:off x="0" y="1787525"/>
            <a:ext cx="6370320" cy="3990340"/>
          </a:xfrm>
          <a:prstGeom prst="rect">
            <a:avLst/>
          </a:prstGeom>
        </p:spPr>
      </p:pic>
      <p:sp>
        <p:nvSpPr>
          <p:cNvPr id="5" name="圆角矩形 4"/>
          <p:cNvSpPr/>
          <p:nvPr/>
        </p:nvSpPr>
        <p:spPr>
          <a:xfrm>
            <a:off x="9424670" y="2157095"/>
            <a:ext cx="1372870" cy="44132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</a:rPr>
              <a:t>Fagraras(f=16)</a:t>
            </a:r>
            <a:endParaRPr lang="en-US" altLang="zh-CN" sz="120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6" name="圆角矩形 5"/>
          <p:cNvSpPr/>
          <p:nvPr/>
        </p:nvSpPr>
        <p:spPr>
          <a:xfrm>
            <a:off x="8533130" y="2908935"/>
            <a:ext cx="1372870" cy="44132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</a:rPr>
              <a:t>Siblu(f=192)</a:t>
            </a:r>
            <a:endParaRPr lang="en-US" altLang="zh-CN" sz="120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10416540" y="2908935"/>
            <a:ext cx="1372870" cy="44132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</a:rPr>
              <a:t>Bucharest(f=371)</a:t>
            </a:r>
            <a:endParaRPr lang="en-US" altLang="zh-CN" sz="120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8" name="圆角矩形 7"/>
          <p:cNvSpPr/>
          <p:nvPr/>
        </p:nvSpPr>
        <p:spPr>
          <a:xfrm>
            <a:off x="7160260" y="3660775"/>
            <a:ext cx="1372870" cy="44132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</a:rPr>
              <a:t>Rimnicu Vilcea(f=212)</a:t>
            </a:r>
            <a:endParaRPr lang="en-US" altLang="zh-CN" sz="120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8827770" y="3723005"/>
            <a:ext cx="1372870" cy="44132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</a:rPr>
              <a:t>Oradea(f=470)</a:t>
            </a:r>
            <a:endParaRPr lang="en-US" altLang="zh-CN" sz="140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10579100" y="3723005"/>
            <a:ext cx="1372870" cy="44132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</a:rPr>
              <a:t>A</a:t>
            </a:r>
            <a:r>
              <a:rPr lang="en-US" altLang="zh-CN" sz="140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</a:rPr>
              <a:t>rad(f=453)</a:t>
            </a:r>
            <a:endParaRPr lang="en-US" altLang="zh-CN" sz="140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2" name="圆角矩形 11"/>
          <p:cNvSpPr/>
          <p:nvPr/>
        </p:nvSpPr>
        <p:spPr>
          <a:xfrm>
            <a:off x="6370955" y="4429125"/>
            <a:ext cx="1372870" cy="44132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</a:rPr>
              <a:t>Craiova(f=325)</a:t>
            </a:r>
            <a:endParaRPr lang="en-US" altLang="zh-CN" sz="120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13" name="圆角矩形 12"/>
          <p:cNvSpPr/>
          <p:nvPr/>
        </p:nvSpPr>
        <p:spPr>
          <a:xfrm>
            <a:off x="8051800" y="4412615"/>
            <a:ext cx="1372870" cy="44132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</a:rPr>
              <a:t>P</a:t>
            </a:r>
            <a:r>
              <a:rPr lang="en-US" altLang="zh-CN" sz="120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</a:rPr>
              <a:t>itesti(f=426)</a:t>
            </a:r>
            <a:endParaRPr lang="en-US" altLang="zh-CN" sz="120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15" name="直接箭头连接符 14"/>
          <p:cNvCxnSpPr/>
          <p:nvPr/>
        </p:nvCxnSpPr>
        <p:spPr>
          <a:xfrm flipH="1">
            <a:off x="9219565" y="2598420"/>
            <a:ext cx="891540" cy="310515"/>
          </a:xfrm>
          <a:prstGeom prst="straightConnector1">
            <a:avLst/>
          </a:prstGeom>
          <a:ln>
            <a:solidFill>
              <a:srgbClr val="9DBD87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" name="直接箭头连接符 17"/>
          <p:cNvCxnSpPr/>
          <p:nvPr/>
        </p:nvCxnSpPr>
        <p:spPr>
          <a:xfrm flipH="1">
            <a:off x="8261350" y="3337560"/>
            <a:ext cx="891540" cy="310515"/>
          </a:xfrm>
          <a:prstGeom prst="straightConnector1">
            <a:avLst/>
          </a:prstGeom>
          <a:ln>
            <a:solidFill>
              <a:srgbClr val="9DBD87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1" name="直接箭头连接符 20"/>
          <p:cNvCxnSpPr/>
          <p:nvPr/>
        </p:nvCxnSpPr>
        <p:spPr>
          <a:xfrm flipH="1">
            <a:off x="7020560" y="4110355"/>
            <a:ext cx="891540" cy="310515"/>
          </a:xfrm>
          <a:prstGeom prst="straightConnector1">
            <a:avLst/>
          </a:prstGeom>
          <a:ln>
            <a:solidFill>
              <a:srgbClr val="9DBD87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2" name="直接箭头连接符 21"/>
          <p:cNvCxnSpPr>
            <a:stCxn id="5" idx="2"/>
            <a:endCxn id="7" idx="0"/>
          </p:cNvCxnSpPr>
          <p:nvPr/>
        </p:nvCxnSpPr>
        <p:spPr>
          <a:xfrm>
            <a:off x="10111105" y="2598420"/>
            <a:ext cx="991870" cy="310515"/>
          </a:xfrm>
          <a:prstGeom prst="straightConnector1">
            <a:avLst/>
          </a:prstGeom>
          <a:ln>
            <a:solidFill>
              <a:srgbClr val="9DBD87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" name="直接箭头连接符 22"/>
          <p:cNvCxnSpPr/>
          <p:nvPr/>
        </p:nvCxnSpPr>
        <p:spPr>
          <a:xfrm>
            <a:off x="9152890" y="3347085"/>
            <a:ext cx="408305" cy="375920"/>
          </a:xfrm>
          <a:prstGeom prst="straightConnector1">
            <a:avLst/>
          </a:prstGeom>
          <a:ln>
            <a:solidFill>
              <a:srgbClr val="9DBD87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" name="直接箭头连接符 23"/>
          <p:cNvCxnSpPr>
            <a:endCxn id="13" idx="0"/>
          </p:cNvCxnSpPr>
          <p:nvPr/>
        </p:nvCxnSpPr>
        <p:spPr>
          <a:xfrm>
            <a:off x="7873365" y="4114800"/>
            <a:ext cx="864870" cy="297815"/>
          </a:xfrm>
          <a:prstGeom prst="straightConnector1">
            <a:avLst/>
          </a:prstGeom>
          <a:ln>
            <a:solidFill>
              <a:srgbClr val="9DBD87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5" name="直接箭头连接符 24"/>
          <p:cNvCxnSpPr/>
          <p:nvPr/>
        </p:nvCxnSpPr>
        <p:spPr>
          <a:xfrm>
            <a:off x="9152890" y="3350260"/>
            <a:ext cx="2045970" cy="372745"/>
          </a:xfrm>
          <a:prstGeom prst="straightConnector1">
            <a:avLst/>
          </a:prstGeom>
          <a:ln>
            <a:solidFill>
              <a:srgbClr val="9DBD87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7" name="文本框 26"/>
          <p:cNvSpPr txBox="1"/>
          <p:nvPr/>
        </p:nvSpPr>
        <p:spPr>
          <a:xfrm>
            <a:off x="3096895" y="6203315"/>
            <a:ext cx="65913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最优路径：</a:t>
            </a:r>
            <a:r>
              <a:rPr lang="en-US" altLang="zh-CN"/>
              <a:t>Fagaras </a:t>
            </a:r>
            <a:r>
              <a:rPr lang="en-US" altLang="en-US"/>
              <a:t>→</a:t>
            </a:r>
            <a:r>
              <a:rPr lang="en-US" altLang="zh-CN"/>
              <a:t> Sibiu </a:t>
            </a:r>
            <a:r>
              <a:rPr lang="en-US" altLang="en-US"/>
              <a:t>→</a:t>
            </a:r>
            <a:r>
              <a:rPr lang="en-US" altLang="zh-CN"/>
              <a:t> Rimnicu Vilcea </a:t>
            </a:r>
            <a:r>
              <a:rPr lang="en-US" altLang="en-US"/>
              <a:t>→</a:t>
            </a:r>
            <a:r>
              <a:rPr lang="en-US" altLang="zh-CN"/>
              <a:t> Craiova</a:t>
            </a:r>
            <a:endParaRPr lang="en-US" altLang="zh-CN"/>
          </a:p>
        </p:txBody>
      </p:sp>
      <p:grpSp>
        <p:nvGrpSpPr>
          <p:cNvPr id="28" name="组合 27"/>
          <p:cNvGrpSpPr/>
          <p:nvPr/>
        </p:nvGrpSpPr>
        <p:grpSpPr>
          <a:xfrm>
            <a:off x="3076983" y="980763"/>
            <a:ext cx="6066607" cy="0"/>
            <a:chOff x="4615664" y="960506"/>
            <a:chExt cx="9102718" cy="0"/>
          </a:xfrm>
        </p:grpSpPr>
        <p:cxnSp>
          <p:nvCxnSpPr>
            <p:cNvPr id="29" name="77 21"/>
            <p:cNvCxnSpPr/>
            <p:nvPr/>
          </p:nvCxnSpPr>
          <p:spPr bwMode="auto">
            <a:xfrm flipH="1">
              <a:off x="4615664" y="960506"/>
              <a:ext cx="1314679" cy="0"/>
            </a:xfrm>
            <a:prstGeom prst="line">
              <a:avLst/>
            </a:prstGeom>
            <a:ln>
              <a:solidFill>
                <a:srgbClr val="9AA59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7722"/>
            <p:cNvCxnSpPr/>
            <p:nvPr/>
          </p:nvCxnSpPr>
          <p:spPr bwMode="auto">
            <a:xfrm flipH="1">
              <a:off x="12403703" y="960506"/>
              <a:ext cx="1314679" cy="0"/>
            </a:xfrm>
            <a:prstGeom prst="line">
              <a:avLst/>
            </a:prstGeom>
            <a:ln>
              <a:solidFill>
                <a:srgbClr val="9AA59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文本框 33"/>
          <p:cNvSpPr txBox="1"/>
          <p:nvPr/>
        </p:nvSpPr>
        <p:spPr>
          <a:xfrm>
            <a:off x="4208780" y="763270"/>
            <a:ext cx="3996690" cy="46482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defPPr>
              <a:defRPr lang="zh-CN"/>
            </a:defPPr>
            <a:lvl1pPr algn="ctr">
              <a:lnSpc>
                <a:spcPct val="150000"/>
              </a:lnSpc>
              <a:defRPr sz="1400">
                <a:gradFill>
                  <a:gsLst>
                    <a:gs pos="0">
                      <a:srgbClr val="08AEEA"/>
                    </a:gs>
                    <a:gs pos="100000">
                      <a:srgbClr val="2AF598"/>
                    </a:gs>
                  </a:gsLst>
                  <a:lin ang="270000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1218565">
              <a:lnSpc>
                <a:spcPct val="100000"/>
              </a:lnSpc>
              <a:defRPr/>
            </a:pPr>
            <a:r>
              <a:rPr lang="en-US" altLang="zh-CN" sz="2000" b="1" dirty="0">
                <a:solidFill>
                  <a:srgbClr val="717C75"/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+mn-ea"/>
                <a:sym typeface="汉仪润圆-65简" panose="00020600040101010101" pitchFamily="18" charset="-122"/>
              </a:rPr>
              <a:t>A* Search</a:t>
            </a:r>
            <a:endParaRPr lang="en-US" altLang="zh-CN" sz="2000" b="1" dirty="0">
              <a:solidFill>
                <a:srgbClr val="717C75"/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6" grpId="0" animBg="1"/>
      <p:bldP spid="7" grpId="0" animBg="1"/>
      <p:bldP spid="6" grpId="1" animBg="1"/>
      <p:bldP spid="7" grpId="1" animBg="1"/>
      <p:bldP spid="8" grpId="0" animBg="1"/>
      <p:bldP spid="9" grpId="0" animBg="1"/>
      <p:bldP spid="11" grpId="0" animBg="1"/>
      <p:bldP spid="8" grpId="1" animBg="1"/>
      <p:bldP spid="9" grpId="1" animBg="1"/>
      <p:bldP spid="11" grpId="1" animBg="1"/>
      <p:bldP spid="12" grpId="0" animBg="1"/>
      <p:bldP spid="13" grpId="0" animBg="1"/>
      <p:bldP spid="12" grpId="1" animBg="1"/>
      <p:bldP spid="13" grpId="1" animBg="1"/>
      <p:bldP spid="27" grpId="0"/>
      <p:bldP spid="27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组合 27"/>
          <p:cNvGrpSpPr/>
          <p:nvPr/>
        </p:nvGrpSpPr>
        <p:grpSpPr>
          <a:xfrm>
            <a:off x="3076983" y="980763"/>
            <a:ext cx="6066607" cy="0"/>
            <a:chOff x="4615664" y="960506"/>
            <a:chExt cx="9102718" cy="0"/>
          </a:xfrm>
        </p:grpSpPr>
        <p:cxnSp>
          <p:nvCxnSpPr>
            <p:cNvPr id="29" name="77 21"/>
            <p:cNvCxnSpPr/>
            <p:nvPr/>
          </p:nvCxnSpPr>
          <p:spPr bwMode="auto">
            <a:xfrm flipH="1">
              <a:off x="4615664" y="960506"/>
              <a:ext cx="1314679" cy="0"/>
            </a:xfrm>
            <a:prstGeom prst="line">
              <a:avLst/>
            </a:prstGeom>
            <a:ln>
              <a:solidFill>
                <a:srgbClr val="9AA59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7722"/>
            <p:cNvCxnSpPr/>
            <p:nvPr/>
          </p:nvCxnSpPr>
          <p:spPr bwMode="auto">
            <a:xfrm flipH="1">
              <a:off x="12403703" y="960506"/>
              <a:ext cx="1314679" cy="0"/>
            </a:xfrm>
            <a:prstGeom prst="line">
              <a:avLst/>
            </a:prstGeom>
            <a:ln>
              <a:solidFill>
                <a:srgbClr val="9AA59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文本框 33"/>
          <p:cNvSpPr txBox="1"/>
          <p:nvPr/>
        </p:nvSpPr>
        <p:spPr>
          <a:xfrm>
            <a:off x="4208780" y="763270"/>
            <a:ext cx="3996690" cy="46482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defPPr>
              <a:defRPr lang="zh-CN"/>
            </a:defPPr>
            <a:lvl1pPr algn="ctr">
              <a:lnSpc>
                <a:spcPct val="150000"/>
              </a:lnSpc>
              <a:defRPr sz="1400">
                <a:gradFill>
                  <a:gsLst>
                    <a:gs pos="0">
                      <a:srgbClr val="08AEEA"/>
                    </a:gs>
                    <a:gs pos="100000">
                      <a:srgbClr val="2AF598"/>
                    </a:gs>
                  </a:gsLst>
                  <a:lin ang="270000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1218565">
              <a:lnSpc>
                <a:spcPct val="100000"/>
              </a:lnSpc>
              <a:defRPr/>
            </a:pPr>
            <a:r>
              <a:rPr lang="en-US" altLang="zh-CN" sz="2000" b="1" dirty="0">
                <a:solidFill>
                  <a:srgbClr val="717C75"/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+mn-ea"/>
                <a:sym typeface="汉仪润圆-65简" panose="00020600040101010101" pitchFamily="18" charset="-122"/>
              </a:rPr>
              <a:t>Prove Admissible</a:t>
            </a:r>
            <a:endParaRPr lang="en-US" altLang="zh-CN" sz="2000" b="1" dirty="0">
              <a:solidFill>
                <a:srgbClr val="717C75"/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115060" y="1344295"/>
            <a:ext cx="9535160" cy="55137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600"/>
              <a:t>第一步：直线距离是下界</a:t>
            </a:r>
            <a:endParaRPr lang="zh-CN" altLang="en-US" sz="1600"/>
          </a:p>
          <a:p>
            <a:r>
              <a:rPr lang="zh-CN" altLang="en-US" sz="1600"/>
              <a:t>连接两点的所有路径中，直线距离是最短的</a:t>
            </a:r>
            <a:r>
              <a:rPr lang="en-US" altLang="zh-CN" sz="1600"/>
              <a:t>,</a:t>
            </a:r>
            <a:r>
              <a:rPr lang="zh-CN" altLang="en-US" sz="1600"/>
              <a:t>因此，从城市</a:t>
            </a:r>
            <a:r>
              <a:rPr lang="en-US" altLang="zh-CN" sz="1600"/>
              <a:t>n</a:t>
            </a:r>
            <a:r>
              <a:rPr lang="zh-CN" altLang="en-US" sz="1600"/>
              <a:t>到目标城市</a:t>
            </a:r>
            <a:r>
              <a:rPr lang="en-US" altLang="zh-CN" sz="1600"/>
              <a:t>G</a:t>
            </a:r>
            <a:r>
              <a:rPr lang="zh-CN" altLang="en-US" sz="1600"/>
              <a:t>的实际道路代价</a:t>
            </a:r>
            <a:r>
              <a:rPr lang="en-US" altLang="zh-CN" sz="1600"/>
              <a:t>h*(n)</a:t>
            </a:r>
            <a:r>
              <a:rPr lang="zh-CN" altLang="en-US" sz="1600"/>
              <a:t>，一定大于或等于它们之间的理想直线距离</a:t>
            </a:r>
            <a:r>
              <a:rPr lang="en-US" altLang="zh-CN" sz="1600"/>
              <a:t>h</a:t>
            </a:r>
            <a:r>
              <a:rPr lang="en-US" altLang="zh-CN" sz="1600" baseline="-25000"/>
              <a:t>SLD</a:t>
            </a:r>
            <a:r>
              <a:rPr lang="en-US" altLang="zh-CN" sz="1600"/>
              <a:t>(n, G)</a:t>
            </a:r>
            <a:r>
              <a:rPr lang="zh-CN" altLang="en-US" sz="1600"/>
              <a:t>。</a:t>
            </a:r>
            <a:endParaRPr lang="en-US" altLang="zh-CN" sz="1600"/>
          </a:p>
          <a:p>
            <a:r>
              <a:rPr lang="zh-CN" altLang="en-US" sz="1600"/>
              <a:t>我们可以表示为：</a:t>
            </a:r>
            <a:endParaRPr lang="zh-CN" altLang="en-US" sz="1600"/>
          </a:p>
          <a:p>
            <a:pPr lvl="1"/>
            <a:r>
              <a:rPr lang="en-US" altLang="zh-CN" sz="1600"/>
              <a:t>h*(n) &gt;= h</a:t>
            </a:r>
            <a:r>
              <a:rPr lang="en-US" altLang="zh-CN" sz="1600" baseline="-25000"/>
              <a:t>SLD</a:t>
            </a:r>
            <a:r>
              <a:rPr lang="en-US" altLang="zh-CN" sz="1600"/>
              <a:t>(n, G)</a:t>
            </a:r>
            <a:endParaRPr lang="en-US" altLang="zh-CN" sz="1600"/>
          </a:p>
          <a:p>
            <a:r>
              <a:rPr lang="zh-CN" altLang="en-US" sz="1600"/>
              <a:t>第二步：应用三角不等式</a:t>
            </a:r>
            <a:endParaRPr lang="zh-CN" altLang="en-US" sz="1600"/>
          </a:p>
          <a:p>
            <a:r>
              <a:rPr lang="zh-CN" altLang="en-US" sz="1600"/>
              <a:t>考虑由当前城市</a:t>
            </a:r>
            <a:r>
              <a:rPr lang="en-US" altLang="zh-CN" sz="1600"/>
              <a:t>n</a:t>
            </a:r>
            <a:r>
              <a:rPr lang="zh-CN" altLang="en-US" sz="1600"/>
              <a:t>、目标城市</a:t>
            </a:r>
            <a:r>
              <a:rPr lang="en-US" altLang="zh-CN" sz="1600"/>
              <a:t>G</a:t>
            </a:r>
            <a:r>
              <a:rPr lang="zh-CN" altLang="en-US" sz="1600"/>
              <a:t>和参考点</a:t>
            </a:r>
            <a:r>
              <a:rPr lang="en-US" altLang="zh-CN" sz="1600"/>
              <a:t>B</a:t>
            </a:r>
            <a:r>
              <a:rPr lang="zh-CN" altLang="en-US" sz="1600"/>
              <a:t>这三个城市在地图上构成的三角形（</a:t>
            </a:r>
            <a:r>
              <a:rPr lang="en-US" altLang="zh-CN" sz="1600"/>
              <a:t>n-G-B</a:t>
            </a:r>
            <a:r>
              <a:rPr lang="zh-CN" altLang="en-US" sz="1600"/>
              <a:t>）。</a:t>
            </a:r>
            <a:endParaRPr lang="en-US" altLang="zh-CN" sz="1600"/>
          </a:p>
          <a:p>
            <a:r>
              <a:rPr lang="zh-CN" altLang="en-US" sz="1600"/>
              <a:t>在一个三角形中，任意两边之差的绝对值，小于或等于第三边。</a:t>
            </a:r>
            <a:endParaRPr lang="en-US" altLang="zh-CN" sz="1600"/>
          </a:p>
          <a:p>
            <a:r>
              <a:rPr lang="zh-CN" altLang="en-US" sz="1600"/>
              <a:t>我们将两边之差选为（边</a:t>
            </a:r>
            <a:r>
              <a:rPr lang="en-US" altLang="zh-CN" sz="1600"/>
              <a:t>nB - </a:t>
            </a:r>
            <a:r>
              <a:rPr lang="zh-CN" altLang="en-US" sz="1600"/>
              <a:t>边</a:t>
            </a:r>
            <a:r>
              <a:rPr lang="en-US" altLang="zh-CN" sz="1600"/>
              <a:t>GB</a:t>
            </a:r>
            <a:r>
              <a:rPr lang="zh-CN" altLang="en-US" sz="1600"/>
              <a:t>），第三边选为</a:t>
            </a:r>
            <a:r>
              <a:rPr lang="en-US" altLang="zh-CN" sz="1600"/>
              <a:t>nG</a:t>
            </a:r>
            <a:r>
              <a:rPr lang="zh-CN" altLang="en-US" sz="1600"/>
              <a:t>：</a:t>
            </a:r>
            <a:endParaRPr lang="zh-CN" altLang="en-US" sz="1600"/>
          </a:p>
          <a:p>
            <a:pPr lvl="1"/>
            <a:r>
              <a:rPr lang="en-US" altLang="zh-CN" sz="1600"/>
              <a:t>| </a:t>
            </a:r>
            <a:r>
              <a:rPr lang="zh-CN" altLang="en-US" sz="1600"/>
              <a:t>边</a:t>
            </a:r>
            <a:r>
              <a:rPr lang="en-US" altLang="zh-CN" sz="1600"/>
              <a:t>nB - </a:t>
            </a:r>
            <a:r>
              <a:rPr lang="zh-CN" altLang="en-US" sz="1600"/>
              <a:t>边</a:t>
            </a:r>
            <a:r>
              <a:rPr lang="en-US" altLang="zh-CN" sz="1600"/>
              <a:t>GB | &lt;= </a:t>
            </a:r>
            <a:r>
              <a:rPr lang="zh-CN" altLang="en-US" sz="1600"/>
              <a:t>边</a:t>
            </a:r>
            <a:r>
              <a:rPr lang="en-US" altLang="zh-CN" sz="1600"/>
              <a:t>nG</a:t>
            </a:r>
            <a:endParaRPr lang="en-US" altLang="zh-CN" sz="1600"/>
          </a:p>
          <a:p>
            <a:r>
              <a:rPr lang="zh-CN" altLang="en-US" sz="1600"/>
              <a:t>我们将</a:t>
            </a:r>
            <a:r>
              <a:rPr lang="en-US" altLang="zh-CN" sz="1600"/>
              <a:t>“</a:t>
            </a:r>
            <a:r>
              <a:rPr lang="zh-CN" altLang="en-US" sz="1600"/>
              <a:t>边长</a:t>
            </a:r>
            <a:r>
              <a:rPr lang="en-US" altLang="zh-CN" sz="1600"/>
              <a:t>”</a:t>
            </a:r>
            <a:r>
              <a:rPr lang="zh-CN" altLang="en-US" sz="1600"/>
              <a:t>替换为城市间的</a:t>
            </a:r>
            <a:r>
              <a:rPr lang="en-US" altLang="zh-CN" sz="1600"/>
              <a:t>“</a:t>
            </a:r>
            <a:r>
              <a:rPr lang="zh-CN" altLang="en-US" sz="1600"/>
              <a:t>直线距离</a:t>
            </a:r>
            <a:r>
              <a:rPr lang="en-US" altLang="zh-CN" sz="1600"/>
              <a:t>”</a:t>
            </a:r>
            <a:r>
              <a:rPr lang="zh-CN" altLang="en-US" sz="1600"/>
              <a:t>符号：</a:t>
            </a:r>
            <a:endParaRPr lang="zh-CN" altLang="en-US" sz="1600"/>
          </a:p>
          <a:p>
            <a:pPr lvl="1"/>
            <a:r>
              <a:rPr lang="en-US" altLang="zh-CN" sz="1600"/>
              <a:t>| h</a:t>
            </a:r>
            <a:r>
              <a:rPr lang="en-US" altLang="zh-CN" sz="1600" baseline="-25000"/>
              <a:t>SLD</a:t>
            </a:r>
            <a:r>
              <a:rPr lang="en-US" altLang="zh-CN" sz="1600"/>
              <a:t>(n, B) - h</a:t>
            </a:r>
            <a:r>
              <a:rPr lang="en-US" altLang="zh-CN" sz="1600" baseline="-25000"/>
              <a:t>SLD</a:t>
            </a:r>
            <a:r>
              <a:rPr lang="en-US" altLang="zh-CN" sz="1600"/>
              <a:t>(G, B) | &lt;= h</a:t>
            </a:r>
            <a:r>
              <a:rPr lang="en-US" altLang="zh-CN" sz="1600" baseline="-25000"/>
              <a:t>SLD</a:t>
            </a:r>
            <a:r>
              <a:rPr lang="en-US" altLang="zh-CN" sz="1600"/>
              <a:t>(n, G)</a:t>
            </a:r>
            <a:endParaRPr lang="en-US" altLang="zh-CN" sz="1600"/>
          </a:p>
          <a:p>
            <a:r>
              <a:rPr lang="zh-CN" altLang="en-US" sz="1600"/>
              <a:t>第三步：结合上述结论进行推导</a:t>
            </a:r>
            <a:endParaRPr lang="zh-CN" altLang="en-US" sz="1600"/>
          </a:p>
          <a:p>
            <a:r>
              <a:rPr lang="zh-CN" altLang="en-US" sz="1600"/>
              <a:t>由启发式函数：</a:t>
            </a:r>
            <a:endParaRPr lang="zh-CN" altLang="en-US" sz="1600"/>
          </a:p>
          <a:p>
            <a:pPr lvl="1"/>
            <a:r>
              <a:rPr lang="en-US" altLang="zh-CN" sz="1600"/>
              <a:t>h(n) = | h</a:t>
            </a:r>
            <a:r>
              <a:rPr lang="en-US" altLang="zh-CN" sz="1600" baseline="-25000"/>
              <a:t>SLD</a:t>
            </a:r>
            <a:r>
              <a:rPr lang="en-US" altLang="zh-CN" sz="1600"/>
              <a:t>(n, B) - h</a:t>
            </a:r>
            <a:r>
              <a:rPr lang="en-US" altLang="zh-CN" sz="1600" baseline="-25000"/>
              <a:t>SLD</a:t>
            </a:r>
            <a:r>
              <a:rPr lang="en-US" altLang="zh-CN" sz="1600"/>
              <a:t>(G, B) |</a:t>
            </a:r>
            <a:endParaRPr lang="en-US" altLang="zh-CN" sz="1600"/>
          </a:p>
          <a:p>
            <a:r>
              <a:rPr lang="zh-CN" altLang="en-US" sz="1600"/>
              <a:t>根据第二步的结论：我们将左边替换为</a:t>
            </a:r>
            <a:r>
              <a:rPr lang="en-US" altLang="zh-CN" sz="1600"/>
              <a:t>h(n)</a:t>
            </a:r>
            <a:r>
              <a:rPr lang="zh-CN" altLang="en-US" sz="1600"/>
              <a:t>。</a:t>
            </a:r>
            <a:endParaRPr lang="zh-CN" altLang="en-US" sz="1600"/>
          </a:p>
          <a:p>
            <a:pPr lvl="1"/>
            <a:r>
              <a:rPr lang="zh-CN" altLang="en-US" sz="1600"/>
              <a:t>得到：</a:t>
            </a:r>
            <a:r>
              <a:rPr lang="en-US" altLang="zh-CN" sz="1600"/>
              <a:t>h(n) &lt;= h</a:t>
            </a:r>
            <a:r>
              <a:rPr lang="en-US" altLang="zh-CN" sz="1600" baseline="-25000"/>
              <a:t>SLD</a:t>
            </a:r>
            <a:r>
              <a:rPr lang="en-US" altLang="zh-CN" sz="1600"/>
              <a:t>(n, G)</a:t>
            </a:r>
            <a:endParaRPr lang="en-US" altLang="zh-CN" sz="1600"/>
          </a:p>
          <a:p>
            <a:r>
              <a:rPr lang="zh-CN" altLang="en-US" sz="1600"/>
              <a:t>根据第一步的结论：我们知道</a:t>
            </a:r>
            <a:r>
              <a:rPr lang="en-US" altLang="zh-CN" sz="1600"/>
              <a:t>h_SLD(n, G)</a:t>
            </a:r>
            <a:r>
              <a:rPr lang="zh-CN" altLang="en-US" sz="1600"/>
              <a:t>是小于或等于真实代价</a:t>
            </a:r>
            <a:r>
              <a:rPr lang="en-US" altLang="zh-CN" sz="1600"/>
              <a:t>h*(n)</a:t>
            </a:r>
            <a:r>
              <a:rPr lang="zh-CN" altLang="en-US" sz="1600"/>
              <a:t>的。</a:t>
            </a:r>
            <a:endParaRPr lang="zh-CN" altLang="en-US" sz="1600"/>
          </a:p>
          <a:p>
            <a:pPr lvl="1"/>
            <a:r>
              <a:rPr lang="zh-CN" altLang="en-US" sz="1600"/>
              <a:t>即：</a:t>
            </a:r>
            <a:r>
              <a:rPr lang="en-US" altLang="zh-CN" sz="1600"/>
              <a:t>h</a:t>
            </a:r>
            <a:r>
              <a:rPr lang="en-US" altLang="zh-CN" sz="1600" baseline="-25000">
                <a:solidFill>
                  <a:schemeClr val="tx1"/>
                </a:solidFill>
              </a:rPr>
              <a:t>SLD</a:t>
            </a:r>
            <a:r>
              <a:rPr lang="en-US" altLang="zh-CN" sz="1600"/>
              <a:t>(n, G) &lt;= h(n)*</a:t>
            </a:r>
            <a:r>
              <a:rPr lang="zh-CN" altLang="en-US" sz="1600"/>
              <a:t>。</a:t>
            </a:r>
            <a:endParaRPr lang="zh-CN" altLang="en-US" sz="1600"/>
          </a:p>
          <a:p>
            <a:endParaRPr lang="en-US" altLang="zh-CN" sz="1600"/>
          </a:p>
          <a:p>
            <a:endParaRPr lang="en-US" altLang="zh-CN" sz="1600"/>
          </a:p>
        </p:txBody>
      </p:sp>
      <p:sp>
        <p:nvSpPr>
          <p:cNvPr id="4" name="圆角矩形 3"/>
          <p:cNvSpPr/>
          <p:nvPr/>
        </p:nvSpPr>
        <p:spPr>
          <a:xfrm>
            <a:off x="9525000" y="3258185"/>
            <a:ext cx="589280" cy="34163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rgbClr val="9DBD8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tx1"/>
                </a:solidFill>
              </a:rPr>
              <a:t>n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10" name="圆角矩形 9"/>
          <p:cNvSpPr/>
          <p:nvPr/>
        </p:nvSpPr>
        <p:spPr>
          <a:xfrm>
            <a:off x="10766425" y="4049395"/>
            <a:ext cx="589280" cy="34163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rgbClr val="9DBD8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tx1"/>
                </a:solidFill>
              </a:rPr>
              <a:t>B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17" name="圆角矩形 16"/>
          <p:cNvSpPr/>
          <p:nvPr/>
        </p:nvSpPr>
        <p:spPr>
          <a:xfrm>
            <a:off x="9052560" y="4646930"/>
            <a:ext cx="589280" cy="34163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rgbClr val="9DBD87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b="1">
                <a:solidFill>
                  <a:schemeClr val="tx1"/>
                </a:solidFill>
              </a:rPr>
              <a:t>G</a:t>
            </a:r>
            <a:endParaRPr lang="en-US" altLang="zh-CN" b="1">
              <a:solidFill>
                <a:schemeClr val="tx1"/>
              </a:solidFill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751205" y="641985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G:Craivoa B:Bucharest</a:t>
            </a:r>
            <a:endParaRPr lang="en-US" altLang="zh-CN"/>
          </a:p>
        </p:txBody>
      </p:sp>
      <p:cxnSp>
        <p:nvCxnSpPr>
          <p:cNvPr id="20" name="直接连接符 19"/>
          <p:cNvCxnSpPr>
            <a:stCxn id="4" idx="2"/>
            <a:endCxn id="17" idx="0"/>
          </p:cNvCxnSpPr>
          <p:nvPr/>
        </p:nvCxnSpPr>
        <p:spPr>
          <a:xfrm flipH="1">
            <a:off x="9347200" y="3599815"/>
            <a:ext cx="472440" cy="1047115"/>
          </a:xfrm>
          <a:prstGeom prst="line">
            <a:avLst/>
          </a:prstGeom>
          <a:ln>
            <a:solidFill>
              <a:srgbClr val="9DBD87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连接符 25"/>
          <p:cNvCxnSpPr>
            <a:endCxn id="10" idx="2"/>
          </p:cNvCxnSpPr>
          <p:nvPr/>
        </p:nvCxnSpPr>
        <p:spPr>
          <a:xfrm flipV="1">
            <a:off x="9370060" y="4391025"/>
            <a:ext cx="1691005" cy="230505"/>
          </a:xfrm>
          <a:prstGeom prst="line">
            <a:avLst/>
          </a:prstGeom>
          <a:ln>
            <a:solidFill>
              <a:srgbClr val="9DBD87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" name="直接连接符 30"/>
          <p:cNvCxnSpPr>
            <a:stCxn id="4" idx="2"/>
            <a:endCxn id="10" idx="0"/>
          </p:cNvCxnSpPr>
          <p:nvPr/>
        </p:nvCxnSpPr>
        <p:spPr>
          <a:xfrm>
            <a:off x="9819640" y="3599815"/>
            <a:ext cx="1241425" cy="449580"/>
          </a:xfrm>
          <a:prstGeom prst="line">
            <a:avLst/>
          </a:prstGeom>
          <a:ln>
            <a:solidFill>
              <a:srgbClr val="9DBD87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4208780" y="734695"/>
            <a:ext cx="3979545" cy="49276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defPPr>
              <a:defRPr lang="zh-CN"/>
            </a:defPPr>
            <a:lvl1pPr algn="ctr">
              <a:lnSpc>
                <a:spcPct val="150000"/>
              </a:lnSpc>
              <a:defRPr sz="1400">
                <a:gradFill>
                  <a:gsLst>
                    <a:gs pos="0">
                      <a:srgbClr val="08AEEA"/>
                    </a:gs>
                    <a:gs pos="100000">
                      <a:srgbClr val="2AF598"/>
                    </a:gs>
                  </a:gsLst>
                  <a:lin ang="270000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1218565">
              <a:lnSpc>
                <a:spcPct val="100000"/>
              </a:lnSpc>
              <a:defRPr/>
            </a:pPr>
            <a:r>
              <a:rPr lang="en-US" altLang="zh-CN" sz="2400" dirty="0">
                <a:solidFill>
                  <a:srgbClr val="717C75"/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+mn-ea"/>
                <a:sym typeface="汉仪润圆-65简" panose="00020600040101010101" pitchFamily="18" charset="-122"/>
              </a:rPr>
              <a:t>Consistent =&gt; Admissible</a:t>
            </a:r>
            <a:endParaRPr lang="en-US" altLang="zh-CN" sz="2400" b="1" dirty="0">
              <a:solidFill>
                <a:srgbClr val="717C75"/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grpSp>
        <p:nvGrpSpPr>
          <p:cNvPr id="39" name="组合 38"/>
          <p:cNvGrpSpPr/>
          <p:nvPr/>
        </p:nvGrpSpPr>
        <p:grpSpPr>
          <a:xfrm>
            <a:off x="3076983" y="980763"/>
            <a:ext cx="6066607" cy="0"/>
            <a:chOff x="4615664" y="960506"/>
            <a:chExt cx="9102718" cy="0"/>
          </a:xfrm>
        </p:grpSpPr>
        <p:cxnSp>
          <p:nvCxnSpPr>
            <p:cNvPr id="41" name="77 21"/>
            <p:cNvCxnSpPr/>
            <p:nvPr/>
          </p:nvCxnSpPr>
          <p:spPr bwMode="auto">
            <a:xfrm flipH="1">
              <a:off x="4615664" y="960506"/>
              <a:ext cx="1314679" cy="0"/>
            </a:xfrm>
            <a:prstGeom prst="line">
              <a:avLst/>
            </a:prstGeom>
            <a:ln>
              <a:solidFill>
                <a:srgbClr val="9AA59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7722"/>
            <p:cNvCxnSpPr/>
            <p:nvPr/>
          </p:nvCxnSpPr>
          <p:spPr bwMode="auto">
            <a:xfrm flipH="1">
              <a:off x="12403703" y="960506"/>
              <a:ext cx="1314679" cy="0"/>
            </a:xfrm>
            <a:prstGeom prst="line">
              <a:avLst/>
            </a:prstGeom>
            <a:ln>
              <a:solidFill>
                <a:srgbClr val="9AA59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1300" y="1340485"/>
            <a:ext cx="8972550" cy="762000"/>
          </a:xfrm>
          <a:prstGeom prst="rect">
            <a:avLst/>
          </a:prstGeom>
        </p:spPr>
      </p:pic>
      <p:graphicFrame>
        <p:nvGraphicFramePr>
          <p:cNvPr id="4" name="对象 3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6038850" y="3321050"/>
          <a:ext cx="114300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r:id="rId2" imgW="114300" imgH="215900" progId="Equation.KSEE3">
                  <p:embed/>
                </p:oleObj>
              </mc:Choice>
              <mc:Fallback>
                <p:oleObj name="" r:id="rId2" imgW="114300" imgH="215900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6038850" y="3321050"/>
                        <a:ext cx="114300" cy="2159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文本框 5"/>
          <p:cNvSpPr txBox="1"/>
          <p:nvPr/>
        </p:nvSpPr>
        <p:spPr>
          <a:xfrm>
            <a:off x="1709420" y="2461895"/>
            <a:ext cx="8665845" cy="36830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 sz="2400">
                <a:sym typeface="+mn-ea"/>
              </a:rPr>
              <a:t>核心概念：</a:t>
            </a:r>
            <a:endParaRPr lang="zh-CN" altLang="en-US" sz="2400">
              <a:sym typeface="+mn-ea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zh-CN" sz="2400">
                <a:sym typeface="+mn-ea"/>
              </a:rPr>
              <a:t> </a:t>
            </a:r>
            <a:r>
              <a:rPr lang="zh-CN" altLang="en-US" sz="2400">
                <a:sym typeface="+mn-ea"/>
              </a:rPr>
              <a:t>可采纳性</a:t>
            </a:r>
            <a:r>
              <a:rPr lang="en-US" altLang="zh-CN" sz="2400">
                <a:sym typeface="+mn-ea"/>
              </a:rPr>
              <a:t> </a:t>
            </a:r>
            <a:r>
              <a:rPr lang="zh-CN" altLang="en-US" sz="2400">
                <a:sym typeface="+mn-ea"/>
              </a:rPr>
              <a:t>：对于任意节点</a:t>
            </a:r>
            <a:r>
              <a:rPr lang="en-US" altLang="zh-CN" sz="2400">
                <a:sym typeface="+mn-ea"/>
              </a:rPr>
              <a:t> n</a:t>
            </a:r>
            <a:r>
              <a:rPr lang="zh-CN" altLang="en-US" sz="2400">
                <a:sym typeface="+mn-ea"/>
              </a:rPr>
              <a:t>：</a:t>
            </a:r>
            <a:endParaRPr lang="zh-CN" altLang="en-US" sz="2400">
              <a:sym typeface="+mn-ea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sz="2400">
                <a:sym typeface="+mn-ea"/>
              </a:rPr>
              <a:t>h(n) ≤ h*(n)</a:t>
            </a:r>
            <a:endParaRPr sz="2400">
              <a:sym typeface="+mn-ea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sz="2400">
                <a:sym typeface="+mn-ea"/>
              </a:rPr>
              <a:t>(h*(n) = </a:t>
            </a:r>
            <a:r>
              <a:rPr lang="zh-CN" altLang="en-US" sz="2400">
                <a:sym typeface="+mn-ea"/>
              </a:rPr>
              <a:t>是从</a:t>
            </a:r>
            <a:r>
              <a:rPr lang="en-US" altLang="zh-CN" sz="2400">
                <a:sym typeface="+mn-ea"/>
              </a:rPr>
              <a:t>n</a:t>
            </a:r>
            <a:r>
              <a:rPr lang="zh-CN" altLang="en-US" sz="2400">
                <a:sym typeface="+mn-ea"/>
              </a:rPr>
              <a:t>到目标的真实最短路径成本</a:t>
            </a:r>
            <a:r>
              <a:rPr sz="2400">
                <a:sym typeface="+mn-ea"/>
              </a:rPr>
              <a:t>)</a:t>
            </a:r>
            <a:endParaRPr sz="2400">
              <a:sym typeface="+mn-ea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sz="2400" b="1">
                <a:sym typeface="+mn-ea"/>
              </a:rPr>
              <a:t>一致性：</a:t>
            </a:r>
            <a:r>
              <a:rPr lang="en-US" altLang="zh-CN" sz="2400" b="1">
                <a:sym typeface="+mn-ea"/>
              </a:rPr>
              <a:t> </a:t>
            </a:r>
            <a:r>
              <a:rPr lang="zh-CN" altLang="en-US" sz="2400">
                <a:sym typeface="+mn-ea"/>
              </a:rPr>
              <a:t>对于任意节点</a:t>
            </a:r>
            <a:r>
              <a:rPr lang="en-US" altLang="zh-CN" sz="2400">
                <a:sym typeface="+mn-ea"/>
              </a:rPr>
              <a:t> n </a:t>
            </a:r>
            <a:r>
              <a:rPr lang="zh-CN" altLang="en-US" sz="2400">
                <a:sym typeface="+mn-ea"/>
              </a:rPr>
              <a:t>和它的一步后继节点</a:t>
            </a:r>
            <a:r>
              <a:rPr lang="en-US" altLang="zh-CN" sz="2400">
                <a:sym typeface="+mn-ea"/>
              </a:rPr>
              <a:t> n'</a:t>
            </a:r>
            <a:r>
              <a:rPr lang="zh-CN" altLang="en-US" sz="2400">
                <a:sym typeface="+mn-ea"/>
              </a:rPr>
              <a:t>：</a:t>
            </a:r>
            <a:endParaRPr lang="zh-CN" altLang="en-US" sz="2400">
              <a:sym typeface="+mn-ea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sz="2400">
                <a:sym typeface="+mn-ea"/>
              </a:rPr>
              <a:t>h(n) ≤ c(n,n') + h(n')</a:t>
            </a:r>
            <a:r>
              <a:rPr lang="en-US" sz="2400">
                <a:sym typeface="+mn-ea"/>
              </a:rPr>
              <a:t>    </a:t>
            </a:r>
            <a:endParaRPr sz="2400">
              <a:sym typeface="+mn-ea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sz="2400">
                <a:sym typeface="+mn-ea"/>
              </a:rPr>
              <a:t>for every edge (n → n')</a:t>
            </a:r>
            <a:endParaRPr lang="zh-CN" altLang="en-US" sz="240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sz="2400">
                <a:sym typeface="+mn-ea"/>
              </a:rPr>
              <a:t>目标状态</a:t>
            </a:r>
            <a:r>
              <a:rPr sz="2400">
                <a:sym typeface="+mn-ea"/>
              </a:rPr>
              <a:t>:</a:t>
            </a:r>
            <a:endParaRPr sz="2400">
              <a:sym typeface="+mn-ea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sz="2400">
                <a:sym typeface="+mn-ea"/>
              </a:rPr>
              <a:t>h(G) = 0</a:t>
            </a:r>
            <a:endParaRPr lang="zh-CN" altLang="en-US" sz="2400">
              <a:sym typeface="+mn-ea"/>
            </a:endParaRPr>
          </a:p>
        </p:txBody>
      </p:sp>
      <p:cxnSp>
        <p:nvCxnSpPr>
          <p:cNvPr id="3" name="直接箭头连接符 2"/>
          <p:cNvCxnSpPr/>
          <p:nvPr/>
        </p:nvCxnSpPr>
        <p:spPr>
          <a:xfrm>
            <a:off x="6064250" y="4534535"/>
            <a:ext cx="2461260" cy="7239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" name="文本框 4"/>
          <p:cNvSpPr txBox="1"/>
          <p:nvPr/>
        </p:nvSpPr>
        <p:spPr>
          <a:xfrm>
            <a:off x="8395335" y="5202555"/>
            <a:ext cx="270764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>
                <a:latin typeface="汉仪颜楷简" panose="00020600040101010101" charset="-122"/>
                <a:ea typeface="汉仪颜楷简" panose="00020600040101010101" charset="-122"/>
              </a:rPr>
              <a:t>“</a:t>
            </a:r>
            <a:r>
              <a:rPr lang="zh-CN" altLang="en-US" sz="1400">
                <a:latin typeface="汉仪颜楷简" panose="00020600040101010101" charset="-122"/>
                <a:ea typeface="汉仪颜楷简" panose="00020600040101010101" charset="-122"/>
              </a:rPr>
              <a:t>俩边之和大于第三边</a:t>
            </a:r>
            <a:r>
              <a:rPr lang="en-US" altLang="zh-CN" sz="1400">
                <a:latin typeface="汉仪颜楷简" panose="00020600040101010101" charset="-122"/>
                <a:ea typeface="汉仪颜楷简" panose="00020600040101010101" charset="-122"/>
              </a:rPr>
              <a:t>”</a:t>
            </a:r>
            <a:endParaRPr lang="zh-CN" altLang="en-US" sz="1400">
              <a:latin typeface="汉仪颜楷简" panose="00020600040101010101" charset="-122"/>
              <a:ea typeface="汉仪颜楷简" panose="00020600040101010101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8710295" y="6396355"/>
            <a:ext cx="35852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i="1">
                <a:solidFill>
                  <a:srgbClr val="08A2E1"/>
                </a:solidFill>
                <a:sym typeface="+mn-ea"/>
              </a:rPr>
              <a:t>注：</a:t>
            </a:r>
            <a:r>
              <a:rPr i="1">
                <a:solidFill>
                  <a:srgbClr val="08A2E1"/>
                </a:solidFill>
                <a:sym typeface="+mn-ea"/>
              </a:rPr>
              <a:t>c(n,n')</a:t>
            </a:r>
            <a:r>
              <a:rPr lang="zh-CN" i="1">
                <a:solidFill>
                  <a:srgbClr val="08A2E1"/>
                </a:solidFill>
                <a:sym typeface="+mn-ea"/>
              </a:rPr>
              <a:t>为</a:t>
            </a:r>
            <a:r>
              <a:rPr lang="en-US" altLang="zh-CN" i="1">
                <a:solidFill>
                  <a:srgbClr val="08A2E1"/>
                </a:solidFill>
                <a:sym typeface="+mn-ea"/>
              </a:rPr>
              <a:t>n</a:t>
            </a:r>
            <a:r>
              <a:rPr lang="zh-CN" altLang="en-US" i="1">
                <a:solidFill>
                  <a:srgbClr val="08A2E1"/>
                </a:solidFill>
                <a:sym typeface="+mn-ea"/>
              </a:rPr>
              <a:t>到</a:t>
            </a:r>
            <a:r>
              <a:rPr lang="en-US" altLang="zh-CN" i="1">
                <a:solidFill>
                  <a:srgbClr val="08A2E1"/>
                </a:solidFill>
                <a:sym typeface="+mn-ea"/>
              </a:rPr>
              <a:t>n</a:t>
            </a:r>
            <a:r>
              <a:rPr i="1">
                <a:solidFill>
                  <a:srgbClr val="08A2E1"/>
                </a:solidFill>
                <a:sym typeface="+mn-ea"/>
              </a:rPr>
              <a:t>'</a:t>
            </a:r>
            <a:r>
              <a:rPr lang="zh-CN" i="1">
                <a:solidFill>
                  <a:srgbClr val="08A2E1"/>
                </a:solidFill>
                <a:sym typeface="+mn-ea"/>
              </a:rPr>
              <a:t>的最小代价</a:t>
            </a:r>
            <a:endParaRPr lang="zh-CN" i="1">
              <a:solidFill>
                <a:srgbClr val="08A2E1"/>
              </a:solidFill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switch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" grpId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4208780" y="734695"/>
            <a:ext cx="3979545" cy="49276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defPPr>
              <a:defRPr lang="zh-CN"/>
            </a:defPPr>
            <a:lvl1pPr algn="ctr">
              <a:lnSpc>
                <a:spcPct val="150000"/>
              </a:lnSpc>
              <a:defRPr sz="1400">
                <a:gradFill>
                  <a:gsLst>
                    <a:gs pos="0">
                      <a:srgbClr val="08AEEA"/>
                    </a:gs>
                    <a:gs pos="100000">
                      <a:srgbClr val="2AF598"/>
                    </a:gs>
                  </a:gsLst>
                  <a:lin ang="270000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1218565">
              <a:lnSpc>
                <a:spcPct val="100000"/>
              </a:lnSpc>
              <a:defRPr/>
            </a:pPr>
            <a:r>
              <a:rPr lang="en-US" altLang="zh-CN" sz="2400" dirty="0">
                <a:solidFill>
                  <a:srgbClr val="717C75"/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+mn-ea"/>
                <a:sym typeface="汉仪润圆-65简" panose="00020600040101010101" pitchFamily="18" charset="-122"/>
              </a:rPr>
              <a:t>Consistent =&gt; Admissible</a:t>
            </a:r>
            <a:endParaRPr lang="en-US" altLang="zh-CN" sz="2400" b="1" dirty="0">
              <a:solidFill>
                <a:srgbClr val="717C75"/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grpSp>
        <p:nvGrpSpPr>
          <p:cNvPr id="39" name="组合 38"/>
          <p:cNvGrpSpPr/>
          <p:nvPr/>
        </p:nvGrpSpPr>
        <p:grpSpPr>
          <a:xfrm>
            <a:off x="3076983" y="980763"/>
            <a:ext cx="6066607" cy="0"/>
            <a:chOff x="4615664" y="960506"/>
            <a:chExt cx="9102718" cy="0"/>
          </a:xfrm>
        </p:grpSpPr>
        <p:cxnSp>
          <p:nvCxnSpPr>
            <p:cNvPr id="41" name="77 21"/>
            <p:cNvCxnSpPr/>
            <p:nvPr/>
          </p:nvCxnSpPr>
          <p:spPr bwMode="auto">
            <a:xfrm flipH="1">
              <a:off x="4615664" y="960506"/>
              <a:ext cx="1314679" cy="0"/>
            </a:xfrm>
            <a:prstGeom prst="line">
              <a:avLst/>
            </a:prstGeom>
            <a:ln>
              <a:solidFill>
                <a:srgbClr val="9AA59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7722"/>
            <p:cNvCxnSpPr/>
            <p:nvPr/>
          </p:nvCxnSpPr>
          <p:spPr bwMode="auto">
            <a:xfrm flipH="1">
              <a:off x="12403703" y="960506"/>
              <a:ext cx="1314679" cy="0"/>
            </a:xfrm>
            <a:prstGeom prst="line">
              <a:avLst/>
            </a:prstGeom>
            <a:ln>
              <a:solidFill>
                <a:srgbClr val="9AA59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1300" y="1340485"/>
            <a:ext cx="8972550" cy="762000"/>
          </a:xfrm>
          <a:prstGeom prst="rect">
            <a:avLst/>
          </a:prstGeom>
        </p:spPr>
      </p:pic>
      <p:graphicFrame>
        <p:nvGraphicFramePr>
          <p:cNvPr id="4" name="对象 3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6038850" y="3321050"/>
          <a:ext cx="114300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r:id="rId2" imgW="114300" imgH="215900" progId="Equation.KSEE3">
                  <p:embed/>
                </p:oleObj>
              </mc:Choice>
              <mc:Fallback>
                <p:oleObj name="" r:id="rId2" imgW="114300" imgH="215900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6038850" y="3321050"/>
                        <a:ext cx="114300" cy="2159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文本框 5"/>
          <p:cNvSpPr txBox="1"/>
          <p:nvPr/>
        </p:nvSpPr>
        <p:spPr>
          <a:xfrm>
            <a:off x="1709420" y="2461895"/>
            <a:ext cx="8665845" cy="36830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 sz="2400">
                <a:sym typeface="+mn-ea"/>
              </a:rPr>
              <a:t>核心概念：</a:t>
            </a:r>
            <a:endParaRPr lang="zh-CN" altLang="en-US" sz="2400">
              <a:sym typeface="+mn-ea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zh-CN" sz="2400">
                <a:sym typeface="+mn-ea"/>
              </a:rPr>
              <a:t> </a:t>
            </a:r>
            <a:r>
              <a:rPr lang="zh-CN" altLang="en-US" sz="2400">
                <a:sym typeface="+mn-ea"/>
              </a:rPr>
              <a:t>可采纳性</a:t>
            </a:r>
            <a:r>
              <a:rPr lang="en-US" altLang="zh-CN" sz="2400">
                <a:sym typeface="+mn-ea"/>
              </a:rPr>
              <a:t> </a:t>
            </a:r>
            <a:r>
              <a:rPr lang="zh-CN" altLang="en-US" sz="2400">
                <a:sym typeface="+mn-ea"/>
              </a:rPr>
              <a:t>：对于任意节点</a:t>
            </a:r>
            <a:r>
              <a:rPr lang="en-US" altLang="zh-CN" sz="2400">
                <a:sym typeface="+mn-ea"/>
              </a:rPr>
              <a:t> n</a:t>
            </a:r>
            <a:r>
              <a:rPr lang="zh-CN" altLang="en-US" sz="2400">
                <a:sym typeface="+mn-ea"/>
              </a:rPr>
              <a:t>：</a:t>
            </a:r>
            <a:endParaRPr lang="zh-CN" altLang="en-US" sz="2400">
              <a:sym typeface="+mn-ea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sz="2400">
                <a:sym typeface="+mn-ea"/>
              </a:rPr>
              <a:t>h(n) ≤ h*(n)</a:t>
            </a:r>
            <a:endParaRPr sz="2400">
              <a:sym typeface="+mn-ea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sz="2400">
                <a:sym typeface="+mn-ea"/>
              </a:rPr>
              <a:t>(h*(n) = </a:t>
            </a:r>
            <a:r>
              <a:rPr lang="zh-CN" altLang="en-US" sz="2400">
                <a:sym typeface="+mn-ea"/>
              </a:rPr>
              <a:t>是从</a:t>
            </a:r>
            <a:r>
              <a:rPr lang="en-US" altLang="zh-CN" sz="2400">
                <a:sym typeface="+mn-ea"/>
              </a:rPr>
              <a:t>n</a:t>
            </a:r>
            <a:r>
              <a:rPr lang="zh-CN" altLang="en-US" sz="2400">
                <a:sym typeface="+mn-ea"/>
              </a:rPr>
              <a:t>到目标的真实最短路径成本</a:t>
            </a:r>
            <a:r>
              <a:rPr sz="2400">
                <a:sym typeface="+mn-ea"/>
              </a:rPr>
              <a:t>)</a:t>
            </a:r>
            <a:endParaRPr sz="2400">
              <a:sym typeface="+mn-ea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sz="2400" b="1">
                <a:sym typeface="+mn-ea"/>
              </a:rPr>
              <a:t>一致性：</a:t>
            </a:r>
            <a:r>
              <a:rPr lang="en-US" altLang="zh-CN" sz="2400" b="1">
                <a:sym typeface="+mn-ea"/>
              </a:rPr>
              <a:t> </a:t>
            </a:r>
            <a:r>
              <a:rPr lang="zh-CN" altLang="en-US" sz="2400">
                <a:sym typeface="+mn-ea"/>
              </a:rPr>
              <a:t>对于任意节点</a:t>
            </a:r>
            <a:r>
              <a:rPr lang="en-US" altLang="zh-CN" sz="2400">
                <a:sym typeface="+mn-ea"/>
              </a:rPr>
              <a:t> n </a:t>
            </a:r>
            <a:r>
              <a:rPr lang="zh-CN" altLang="en-US" sz="2400">
                <a:sym typeface="+mn-ea"/>
              </a:rPr>
              <a:t>和它的一步后继节点</a:t>
            </a:r>
            <a:r>
              <a:rPr lang="en-US" altLang="zh-CN" sz="2400">
                <a:sym typeface="+mn-ea"/>
              </a:rPr>
              <a:t> n'</a:t>
            </a:r>
            <a:r>
              <a:rPr lang="zh-CN" altLang="en-US" sz="2400">
                <a:sym typeface="+mn-ea"/>
              </a:rPr>
              <a:t>：</a:t>
            </a:r>
            <a:endParaRPr lang="zh-CN" altLang="en-US" sz="2400">
              <a:sym typeface="+mn-ea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sz="2400">
                <a:sym typeface="+mn-ea"/>
              </a:rPr>
              <a:t>h(n) ≤ c(n,n') + h(n')</a:t>
            </a:r>
            <a:r>
              <a:rPr lang="en-US" sz="2400">
                <a:sym typeface="+mn-ea"/>
              </a:rPr>
              <a:t>    </a:t>
            </a:r>
            <a:endParaRPr sz="2400">
              <a:sym typeface="+mn-ea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sz="2400">
                <a:sym typeface="+mn-ea"/>
              </a:rPr>
              <a:t>for every edge (n → n')</a:t>
            </a:r>
            <a:endParaRPr lang="zh-CN" altLang="en-US" sz="240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sz="2400">
                <a:sym typeface="+mn-ea"/>
              </a:rPr>
              <a:t>目标状态</a:t>
            </a:r>
            <a:r>
              <a:rPr sz="2400">
                <a:sym typeface="+mn-ea"/>
              </a:rPr>
              <a:t>:</a:t>
            </a:r>
            <a:endParaRPr sz="2400">
              <a:sym typeface="+mn-ea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sz="2400">
                <a:sym typeface="+mn-ea"/>
              </a:rPr>
              <a:t>h(G) = 0</a:t>
            </a:r>
            <a:endParaRPr lang="zh-CN" altLang="en-US" sz="2400">
              <a:sym typeface="+mn-ea"/>
            </a:endParaRPr>
          </a:p>
        </p:txBody>
      </p:sp>
      <p:cxnSp>
        <p:nvCxnSpPr>
          <p:cNvPr id="3" name="直接箭头连接符 2"/>
          <p:cNvCxnSpPr/>
          <p:nvPr/>
        </p:nvCxnSpPr>
        <p:spPr>
          <a:xfrm>
            <a:off x="6064250" y="4534535"/>
            <a:ext cx="2461260" cy="7239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" name="文本框 4"/>
          <p:cNvSpPr txBox="1"/>
          <p:nvPr/>
        </p:nvSpPr>
        <p:spPr>
          <a:xfrm>
            <a:off x="8395335" y="5202555"/>
            <a:ext cx="270764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>
                <a:latin typeface="汉仪颜楷简" panose="00020600040101010101" charset="-122"/>
                <a:ea typeface="汉仪颜楷简" panose="00020600040101010101" charset="-122"/>
              </a:rPr>
              <a:t>“</a:t>
            </a:r>
            <a:r>
              <a:rPr lang="zh-CN" altLang="en-US" sz="1400">
                <a:latin typeface="汉仪颜楷简" panose="00020600040101010101" charset="-122"/>
                <a:ea typeface="汉仪颜楷简" panose="00020600040101010101" charset="-122"/>
              </a:rPr>
              <a:t>俩边之和大于第三边</a:t>
            </a:r>
            <a:r>
              <a:rPr lang="en-US" altLang="zh-CN" sz="1400">
                <a:latin typeface="汉仪颜楷简" panose="00020600040101010101" charset="-122"/>
                <a:ea typeface="汉仪颜楷简" panose="00020600040101010101" charset="-122"/>
              </a:rPr>
              <a:t>”</a:t>
            </a:r>
            <a:endParaRPr lang="zh-CN" altLang="en-US" sz="1400">
              <a:latin typeface="汉仪颜楷简" panose="00020600040101010101" charset="-122"/>
              <a:ea typeface="汉仪颜楷简" panose="00020600040101010101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8710295" y="6396355"/>
            <a:ext cx="35852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i="1">
                <a:solidFill>
                  <a:srgbClr val="08A2E1"/>
                </a:solidFill>
                <a:sym typeface="+mn-ea"/>
              </a:rPr>
              <a:t>注：</a:t>
            </a:r>
            <a:r>
              <a:rPr i="1">
                <a:solidFill>
                  <a:srgbClr val="08A2E1"/>
                </a:solidFill>
                <a:sym typeface="+mn-ea"/>
              </a:rPr>
              <a:t>c(n,n')</a:t>
            </a:r>
            <a:r>
              <a:rPr lang="zh-CN" i="1">
                <a:solidFill>
                  <a:srgbClr val="08A2E1"/>
                </a:solidFill>
                <a:sym typeface="+mn-ea"/>
              </a:rPr>
              <a:t>为</a:t>
            </a:r>
            <a:r>
              <a:rPr lang="en-US" altLang="zh-CN" i="1">
                <a:solidFill>
                  <a:srgbClr val="08A2E1"/>
                </a:solidFill>
                <a:sym typeface="+mn-ea"/>
              </a:rPr>
              <a:t>n</a:t>
            </a:r>
            <a:r>
              <a:rPr lang="zh-CN" altLang="en-US" i="1">
                <a:solidFill>
                  <a:srgbClr val="08A2E1"/>
                </a:solidFill>
                <a:sym typeface="+mn-ea"/>
              </a:rPr>
              <a:t>到</a:t>
            </a:r>
            <a:r>
              <a:rPr lang="en-US" altLang="zh-CN" i="1">
                <a:solidFill>
                  <a:srgbClr val="08A2E1"/>
                </a:solidFill>
                <a:sym typeface="+mn-ea"/>
              </a:rPr>
              <a:t>n</a:t>
            </a:r>
            <a:r>
              <a:rPr i="1">
                <a:solidFill>
                  <a:srgbClr val="08A2E1"/>
                </a:solidFill>
                <a:sym typeface="+mn-ea"/>
              </a:rPr>
              <a:t>'</a:t>
            </a:r>
            <a:r>
              <a:rPr lang="zh-CN" i="1">
                <a:solidFill>
                  <a:srgbClr val="08A2E1"/>
                </a:solidFill>
                <a:sym typeface="+mn-ea"/>
              </a:rPr>
              <a:t>的最小代价</a:t>
            </a:r>
            <a:endParaRPr lang="zh-CN" i="1">
              <a:solidFill>
                <a:srgbClr val="08A2E1"/>
              </a:solidFill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switch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" grpId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文本框 35"/>
          <p:cNvSpPr txBox="1"/>
          <p:nvPr/>
        </p:nvSpPr>
        <p:spPr>
          <a:xfrm>
            <a:off x="4208689" y="698644"/>
            <a:ext cx="3758689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algn="ctr">
              <a:lnSpc>
                <a:spcPct val="150000"/>
              </a:lnSpc>
              <a:defRPr sz="1400">
                <a:gradFill>
                  <a:gsLst>
                    <a:gs pos="0">
                      <a:srgbClr val="08AEEA"/>
                    </a:gs>
                    <a:gs pos="100000">
                      <a:srgbClr val="2AF598"/>
                    </a:gs>
                  </a:gsLst>
                  <a:lin ang="270000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1218565">
              <a:lnSpc>
                <a:spcPct val="100000"/>
              </a:lnSpc>
              <a:defRPr/>
            </a:pPr>
            <a:r>
              <a:rPr lang="en-US" altLang="zh-CN" sz="3595" b="1" dirty="0">
                <a:solidFill>
                  <a:srgbClr val="717C75"/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+mn-ea"/>
                <a:sym typeface="汉仪润圆-65简" panose="00020600040101010101" pitchFamily="18" charset="-122"/>
              </a:rPr>
              <a:t>P</a:t>
            </a:r>
            <a:r>
              <a:rPr lang="en-US" altLang="zh-CN" sz="3595" b="1" dirty="0">
                <a:solidFill>
                  <a:srgbClr val="717C75"/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+mn-ea"/>
                <a:sym typeface="汉仪润圆-65简" panose="00020600040101010101" pitchFamily="18" charset="-122"/>
              </a:rPr>
              <a:t>roof</a:t>
            </a:r>
            <a:endParaRPr lang="en-US" altLang="zh-CN" sz="3595" b="1" dirty="0">
              <a:solidFill>
                <a:srgbClr val="717C75"/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grpSp>
        <p:nvGrpSpPr>
          <p:cNvPr id="39" name="组合 38"/>
          <p:cNvGrpSpPr/>
          <p:nvPr/>
        </p:nvGrpSpPr>
        <p:grpSpPr>
          <a:xfrm>
            <a:off x="3076983" y="980763"/>
            <a:ext cx="6066607" cy="0"/>
            <a:chOff x="4615664" y="960506"/>
            <a:chExt cx="9102718" cy="0"/>
          </a:xfrm>
        </p:grpSpPr>
        <p:cxnSp>
          <p:nvCxnSpPr>
            <p:cNvPr id="47" name="77 21"/>
            <p:cNvCxnSpPr/>
            <p:nvPr/>
          </p:nvCxnSpPr>
          <p:spPr bwMode="auto">
            <a:xfrm flipH="1">
              <a:off x="4615664" y="960506"/>
              <a:ext cx="1314679" cy="0"/>
            </a:xfrm>
            <a:prstGeom prst="line">
              <a:avLst/>
            </a:prstGeom>
            <a:ln>
              <a:solidFill>
                <a:srgbClr val="9AA59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7722"/>
            <p:cNvCxnSpPr/>
            <p:nvPr/>
          </p:nvCxnSpPr>
          <p:spPr bwMode="auto">
            <a:xfrm flipH="1">
              <a:off x="12403703" y="960506"/>
              <a:ext cx="1314679" cy="0"/>
            </a:xfrm>
            <a:prstGeom prst="line">
              <a:avLst/>
            </a:prstGeom>
            <a:ln>
              <a:solidFill>
                <a:srgbClr val="9AA59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文本框 5"/>
          <p:cNvSpPr txBox="1"/>
          <p:nvPr/>
        </p:nvSpPr>
        <p:spPr>
          <a:xfrm>
            <a:off x="180975" y="1391920"/>
            <a:ext cx="8543925" cy="51879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400">
                <a:sym typeface="+mn-ea"/>
              </a:rPr>
              <a:t>假设从节点</a:t>
            </a:r>
            <a:r>
              <a:rPr lang="en-US" altLang="zh-CN" sz="2400">
                <a:sym typeface="+mn-ea"/>
              </a:rPr>
              <a:t> n </a:t>
            </a:r>
            <a:r>
              <a:rPr lang="zh-CN" altLang="en-US" sz="2400">
                <a:sym typeface="+mn-ea"/>
              </a:rPr>
              <a:t>到目标</a:t>
            </a:r>
            <a:r>
              <a:rPr lang="en-US" altLang="zh-CN" sz="2400">
                <a:sym typeface="+mn-ea"/>
              </a:rPr>
              <a:t> G </a:t>
            </a:r>
            <a:r>
              <a:rPr lang="zh-CN" altLang="en-US" sz="2400">
                <a:sym typeface="+mn-ea"/>
              </a:rPr>
              <a:t>的真实最优路径为：</a:t>
            </a:r>
            <a:r>
              <a:rPr sz="2400">
                <a:sym typeface="+mn-ea"/>
              </a:rPr>
              <a:t> </a:t>
            </a:r>
            <a:endParaRPr sz="2400">
              <a:sym typeface="+mn-ea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sz="2400">
                <a:sym typeface="+mn-ea"/>
              </a:rPr>
              <a:t>n → n1 → n2 → ... → G</a:t>
            </a:r>
            <a:endParaRPr lang="en-US" altLang="zh-CN" sz="2400">
              <a:sym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400">
                <a:sym typeface="+mn-ea"/>
              </a:rPr>
              <a:t>根据一致性的定义，我们对路径上的每一步进行展开：</a:t>
            </a:r>
            <a:endParaRPr lang="zh-CN" altLang="en-US" sz="2400">
              <a:sym typeface="+mn-ea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sz="2400">
                <a:sym typeface="+mn-ea"/>
              </a:rPr>
              <a:t> </a:t>
            </a:r>
            <a:r>
              <a:rPr lang="zh-CN" sz="2400">
                <a:sym typeface="+mn-ea"/>
              </a:rPr>
              <a:t>第一步：</a:t>
            </a:r>
            <a:r>
              <a:rPr sz="2400">
                <a:sym typeface="+mn-ea"/>
              </a:rPr>
              <a:t>h(n) ≤ c(n,n1) + h(n1)</a:t>
            </a:r>
            <a:endParaRPr sz="2400">
              <a:sym typeface="+mn-ea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sz="2400">
                <a:sym typeface="+mn-ea"/>
              </a:rPr>
              <a:t> </a:t>
            </a:r>
            <a:r>
              <a:rPr lang="zh-CN" sz="2400">
                <a:sym typeface="+mn-ea"/>
              </a:rPr>
              <a:t>第二步：</a:t>
            </a:r>
            <a:r>
              <a:rPr sz="2400">
                <a:sym typeface="+mn-ea"/>
              </a:rPr>
              <a:t>h(n1) ≤ c(n1,n2) + h(n2)</a:t>
            </a:r>
            <a:endParaRPr sz="2400">
              <a:sym typeface="+mn-ea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zh-CN" sz="2400"/>
              <a:t> </a:t>
            </a:r>
            <a:r>
              <a:rPr lang="zh-CN" altLang="en-US" sz="2400"/>
              <a:t>第</a:t>
            </a:r>
            <a:r>
              <a:rPr lang="en-US" altLang="zh-CN" sz="2400"/>
              <a:t>n</a:t>
            </a:r>
            <a:r>
              <a:rPr lang="zh-CN" altLang="en-US" sz="2400"/>
              <a:t>步：</a:t>
            </a:r>
            <a:r>
              <a:rPr lang="en-US" altLang="zh-CN" sz="2400"/>
              <a:t>...</a:t>
            </a:r>
            <a:endParaRPr lang="zh-CN" altLang="en-US" sz="24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400"/>
              <a:t>将第二步代入第一步：</a:t>
            </a:r>
            <a:endParaRPr lang="zh-CN" altLang="en-US" sz="240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sz="2400">
                <a:sym typeface="+mn-ea"/>
              </a:rPr>
              <a:t> h(n) ≤ c(n,n1)+c(n1,n2)</a:t>
            </a:r>
            <a:r>
              <a:rPr lang="en-US" sz="2400">
                <a:sym typeface="+mn-ea"/>
              </a:rPr>
              <a:t>+h(n2)</a:t>
            </a:r>
            <a:endParaRPr lang="en-US" sz="2400">
              <a:sym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400">
                <a:sym typeface="+mn-ea"/>
              </a:rPr>
              <a:t>以此类推，不断向后代入展开，直到目标节点</a:t>
            </a:r>
            <a:r>
              <a:rPr lang="en-US" altLang="zh-CN" sz="2400">
                <a:sym typeface="+mn-ea"/>
              </a:rPr>
              <a:t> G</a:t>
            </a:r>
            <a:r>
              <a:rPr lang="zh-CN" altLang="en-US" sz="2400">
                <a:sym typeface="+mn-ea"/>
              </a:rPr>
              <a:t>：</a:t>
            </a:r>
            <a:endParaRPr lang="zh-CN" altLang="en-US" sz="2400">
              <a:sym typeface="+mn-ea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sz="2400">
                <a:sym typeface="+mn-ea"/>
              </a:rPr>
              <a:t> h(n) ≤ c(n,n1)+c(n1,n2)+...+c(nk,G)+h(G)</a:t>
            </a:r>
            <a:endParaRPr lang="zh-CN" altLang="en-US" sz="24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400">
                <a:sym typeface="+mn-ea"/>
              </a:rPr>
              <a:t>且已知</a:t>
            </a:r>
            <a:r>
              <a:rPr lang="en-US" altLang="zh-CN" sz="2400">
                <a:sym typeface="+mn-ea"/>
              </a:rPr>
              <a:t> h(G) = 0</a:t>
            </a:r>
            <a:r>
              <a:rPr lang="zh-CN" altLang="en-US" sz="2400">
                <a:sym typeface="+mn-ea"/>
              </a:rPr>
              <a:t>：</a:t>
            </a:r>
            <a:endParaRPr lang="en-US" altLang="zh-CN" sz="2400">
              <a:sym typeface="+mn-ea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sz="2400">
                <a:sym typeface="+mn-ea"/>
              </a:rPr>
              <a:t> h(n) ≤ h*(n)</a:t>
            </a:r>
            <a:endParaRPr lang="zh-CN" altLang="en-US" sz="24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sz="2400">
                <a:sym typeface="+mn-ea"/>
              </a:rPr>
              <a:t>所以</a:t>
            </a:r>
            <a:r>
              <a:rPr sz="2400">
                <a:sym typeface="+mn-ea"/>
              </a:rPr>
              <a:t>:</a:t>
            </a:r>
            <a:endParaRPr sz="2400">
              <a:sym typeface="+mn-ea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sz="2400">
                <a:sym typeface="+mn-ea"/>
              </a:rPr>
              <a:t> Consistent ⇒ Admissible</a:t>
            </a:r>
            <a:endParaRPr lang="zh-CN" altLang="en-US" sz="2400">
              <a:sym typeface="+mn-ea"/>
            </a:endParaRPr>
          </a:p>
        </p:txBody>
      </p:sp>
      <p:grpSp>
        <p:nvGrpSpPr>
          <p:cNvPr id="2" name="组合 1" descr="7b0a202020202274657874626f78223a2022220a7d0a"/>
          <p:cNvGrpSpPr/>
          <p:nvPr>
            <p:custDataLst>
              <p:tags r:id="rId1"/>
            </p:custDataLst>
          </p:nvPr>
        </p:nvGrpSpPr>
        <p:grpSpPr>
          <a:xfrm>
            <a:off x="7500620" y="5013325"/>
            <a:ext cx="4436745" cy="1844675"/>
            <a:chOff x="3067050" y="2067877"/>
            <a:chExt cx="6201959" cy="2809874"/>
          </a:xfrm>
        </p:grpSpPr>
        <p:grpSp>
          <p:nvGrpSpPr>
            <p:cNvPr id="4" name="组合 3"/>
            <p:cNvGrpSpPr/>
            <p:nvPr/>
          </p:nvGrpSpPr>
          <p:grpSpPr>
            <a:xfrm>
              <a:off x="3067050" y="2067877"/>
              <a:ext cx="6057900" cy="2809874"/>
              <a:chOff x="3067050" y="2067877"/>
              <a:chExt cx="6057900" cy="2809874"/>
            </a:xfrm>
          </p:grpSpPr>
          <p:sp>
            <p:nvSpPr>
              <p:cNvPr id="5" name="任意多边形: 形状 4"/>
              <p:cNvSpPr/>
              <p:nvPr/>
            </p:nvSpPr>
            <p:spPr>
              <a:xfrm>
                <a:off x="4582160" y="2189797"/>
                <a:ext cx="4542790" cy="9525"/>
              </a:xfrm>
              <a:custGeom>
                <a:avLst/>
                <a:gdLst>
                  <a:gd name="connsiteX0" fmla="*/ 0 w 4543424"/>
                  <a:gd name="connsiteY0" fmla="*/ 0 h 9525"/>
                  <a:gd name="connsiteX1" fmla="*/ 4543425 w 4543424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543424" h="9525">
                    <a:moveTo>
                      <a:pt x="0" y="0"/>
                    </a:moveTo>
                    <a:lnTo>
                      <a:pt x="4543425" y="0"/>
                    </a:lnTo>
                  </a:path>
                </a:pathLst>
              </a:custGeom>
              <a:ln w="19050" cap="flat">
                <a:solidFill>
                  <a:srgbClr val="3F8BE8"/>
                </a:solidFill>
                <a:prstDash val="solid"/>
                <a:miter/>
              </a:ln>
            </p:spPr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3" name="任意多边形: 形状 5"/>
              <p:cNvSpPr/>
              <p:nvPr/>
            </p:nvSpPr>
            <p:spPr>
              <a:xfrm>
                <a:off x="3067050" y="4832032"/>
                <a:ext cx="6057900" cy="45719"/>
              </a:xfrm>
              <a:custGeom>
                <a:avLst/>
                <a:gdLst>
                  <a:gd name="connsiteX0" fmla="*/ 0 w 5274309"/>
                  <a:gd name="connsiteY0" fmla="*/ 0 h 8255"/>
                  <a:gd name="connsiteX1" fmla="*/ 5274310 w 5274309"/>
                  <a:gd name="connsiteY1" fmla="*/ 0 h 82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274309" h="8255">
                    <a:moveTo>
                      <a:pt x="0" y="0"/>
                    </a:moveTo>
                    <a:lnTo>
                      <a:pt x="5274310" y="0"/>
                    </a:lnTo>
                  </a:path>
                </a:pathLst>
              </a:custGeom>
              <a:ln w="16564" cap="flat">
                <a:solidFill>
                  <a:srgbClr val="3F8BE8"/>
                </a:solidFill>
                <a:prstDash val="solid"/>
                <a:miter/>
              </a:ln>
            </p:spPr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endParaRPr lang="zh-CN" altLang="en-US"/>
              </a:p>
            </p:txBody>
          </p:sp>
          <p:sp>
            <p:nvSpPr>
              <p:cNvPr id="7" name="任意多边形: 形状 6"/>
              <p:cNvSpPr/>
              <p:nvPr/>
            </p:nvSpPr>
            <p:spPr>
              <a:xfrm>
                <a:off x="3067050" y="2067877"/>
                <a:ext cx="1275080" cy="253365"/>
              </a:xfrm>
              <a:custGeom>
                <a:avLst/>
                <a:gdLst>
                  <a:gd name="connsiteX0" fmla="*/ 53340 w 1275587"/>
                  <a:gd name="connsiteY0" fmla="*/ 249631 h 253898"/>
                  <a:gd name="connsiteX1" fmla="*/ 0 w 1275587"/>
                  <a:gd name="connsiteY1" fmla="*/ 249631 h 253898"/>
                  <a:gd name="connsiteX2" fmla="*/ 0 w 1275587"/>
                  <a:gd name="connsiteY2" fmla="*/ 4267 h 253898"/>
                  <a:gd name="connsiteX3" fmla="*/ 49073 w 1275587"/>
                  <a:gd name="connsiteY3" fmla="*/ 4267 h 253898"/>
                  <a:gd name="connsiteX4" fmla="*/ 144475 w 1275587"/>
                  <a:gd name="connsiteY4" fmla="*/ 149047 h 253898"/>
                  <a:gd name="connsiteX5" fmla="*/ 146304 w 1275587"/>
                  <a:gd name="connsiteY5" fmla="*/ 149047 h 253898"/>
                  <a:gd name="connsiteX6" fmla="*/ 146304 w 1275587"/>
                  <a:gd name="connsiteY6" fmla="*/ 4267 h 253898"/>
                  <a:gd name="connsiteX7" fmla="*/ 199644 w 1275587"/>
                  <a:gd name="connsiteY7" fmla="*/ 4267 h 253898"/>
                  <a:gd name="connsiteX8" fmla="*/ 199644 w 1275587"/>
                  <a:gd name="connsiteY8" fmla="*/ 249631 h 253898"/>
                  <a:gd name="connsiteX9" fmla="*/ 153314 w 1275587"/>
                  <a:gd name="connsiteY9" fmla="*/ 249631 h 253898"/>
                  <a:gd name="connsiteX10" fmla="*/ 55169 w 1275587"/>
                  <a:gd name="connsiteY10" fmla="*/ 104851 h 253898"/>
                  <a:gd name="connsiteX11" fmla="*/ 53340 w 1275587"/>
                  <a:gd name="connsiteY11" fmla="*/ 104851 h 253898"/>
                  <a:gd name="connsiteX12" fmla="*/ 53340 w 1275587"/>
                  <a:gd name="connsiteY12" fmla="*/ 249631 h 253898"/>
                  <a:gd name="connsiteX13" fmla="*/ 397764 w 1275587"/>
                  <a:gd name="connsiteY13" fmla="*/ 253898 h 253898"/>
                  <a:gd name="connsiteX14" fmla="*/ 337871 w 1275587"/>
                  <a:gd name="connsiteY14" fmla="*/ 238354 h 253898"/>
                  <a:gd name="connsiteX15" fmla="*/ 298704 w 1275587"/>
                  <a:gd name="connsiteY15" fmla="*/ 194310 h 253898"/>
                  <a:gd name="connsiteX16" fmla="*/ 284988 w 1275587"/>
                  <a:gd name="connsiteY16" fmla="*/ 127102 h 253898"/>
                  <a:gd name="connsiteX17" fmla="*/ 298704 w 1275587"/>
                  <a:gd name="connsiteY17" fmla="*/ 59741 h 253898"/>
                  <a:gd name="connsiteX18" fmla="*/ 337871 w 1275587"/>
                  <a:gd name="connsiteY18" fmla="*/ 15545 h 253898"/>
                  <a:gd name="connsiteX19" fmla="*/ 397764 w 1275587"/>
                  <a:gd name="connsiteY19" fmla="*/ 0 h 253898"/>
                  <a:gd name="connsiteX20" fmla="*/ 457505 w 1275587"/>
                  <a:gd name="connsiteY20" fmla="*/ 15545 h 253898"/>
                  <a:gd name="connsiteX21" fmla="*/ 496519 w 1275587"/>
                  <a:gd name="connsiteY21" fmla="*/ 59741 h 253898"/>
                  <a:gd name="connsiteX22" fmla="*/ 510235 w 1275587"/>
                  <a:gd name="connsiteY22" fmla="*/ 127102 h 253898"/>
                  <a:gd name="connsiteX23" fmla="*/ 496519 w 1275587"/>
                  <a:gd name="connsiteY23" fmla="*/ 194310 h 253898"/>
                  <a:gd name="connsiteX24" fmla="*/ 457505 w 1275587"/>
                  <a:gd name="connsiteY24" fmla="*/ 238354 h 253898"/>
                  <a:gd name="connsiteX25" fmla="*/ 397764 w 1275587"/>
                  <a:gd name="connsiteY25" fmla="*/ 253898 h 253898"/>
                  <a:gd name="connsiteX26" fmla="*/ 397764 w 1275587"/>
                  <a:gd name="connsiteY26" fmla="*/ 203911 h 253898"/>
                  <a:gd name="connsiteX27" fmla="*/ 440131 w 1275587"/>
                  <a:gd name="connsiteY27" fmla="*/ 183185 h 253898"/>
                  <a:gd name="connsiteX28" fmla="*/ 455676 w 1275587"/>
                  <a:gd name="connsiteY28" fmla="*/ 127102 h 253898"/>
                  <a:gd name="connsiteX29" fmla="*/ 440131 w 1275587"/>
                  <a:gd name="connsiteY29" fmla="*/ 70866 h 253898"/>
                  <a:gd name="connsiteX30" fmla="*/ 397764 w 1275587"/>
                  <a:gd name="connsiteY30" fmla="*/ 49987 h 253898"/>
                  <a:gd name="connsiteX31" fmla="*/ 355244 w 1275587"/>
                  <a:gd name="connsiteY31" fmla="*/ 70866 h 253898"/>
                  <a:gd name="connsiteX32" fmla="*/ 339547 w 1275587"/>
                  <a:gd name="connsiteY32" fmla="*/ 127102 h 253898"/>
                  <a:gd name="connsiteX33" fmla="*/ 355244 w 1275587"/>
                  <a:gd name="connsiteY33" fmla="*/ 183185 h 253898"/>
                  <a:gd name="connsiteX34" fmla="*/ 397764 w 1275587"/>
                  <a:gd name="connsiteY34" fmla="*/ 203911 h 253898"/>
                  <a:gd name="connsiteX35" fmla="*/ 704088 w 1275587"/>
                  <a:gd name="connsiteY35" fmla="*/ 249631 h 253898"/>
                  <a:gd name="connsiteX36" fmla="*/ 650748 w 1275587"/>
                  <a:gd name="connsiteY36" fmla="*/ 249631 h 253898"/>
                  <a:gd name="connsiteX37" fmla="*/ 650748 w 1275587"/>
                  <a:gd name="connsiteY37" fmla="*/ 54254 h 253898"/>
                  <a:gd name="connsiteX38" fmla="*/ 583692 w 1275587"/>
                  <a:gd name="connsiteY38" fmla="*/ 54254 h 253898"/>
                  <a:gd name="connsiteX39" fmla="*/ 583692 w 1275587"/>
                  <a:gd name="connsiteY39" fmla="*/ 4267 h 253898"/>
                  <a:gd name="connsiteX40" fmla="*/ 770839 w 1275587"/>
                  <a:gd name="connsiteY40" fmla="*/ 4267 h 253898"/>
                  <a:gd name="connsiteX41" fmla="*/ 770839 w 1275587"/>
                  <a:gd name="connsiteY41" fmla="*/ 54254 h 253898"/>
                  <a:gd name="connsiteX42" fmla="*/ 704088 w 1275587"/>
                  <a:gd name="connsiteY42" fmla="*/ 54254 h 253898"/>
                  <a:gd name="connsiteX43" fmla="*/ 704088 w 1275587"/>
                  <a:gd name="connsiteY43" fmla="*/ 249631 h 253898"/>
                  <a:gd name="connsiteX44" fmla="*/ 904342 w 1275587"/>
                  <a:gd name="connsiteY44" fmla="*/ 149352 h 253898"/>
                  <a:gd name="connsiteX45" fmla="*/ 904342 w 1275587"/>
                  <a:gd name="connsiteY45" fmla="*/ 201168 h 253898"/>
                  <a:gd name="connsiteX46" fmla="*/ 1015594 w 1275587"/>
                  <a:gd name="connsiteY46" fmla="*/ 201168 h 253898"/>
                  <a:gd name="connsiteX47" fmla="*/ 1015594 w 1275587"/>
                  <a:gd name="connsiteY47" fmla="*/ 249631 h 253898"/>
                  <a:gd name="connsiteX48" fmla="*/ 851002 w 1275587"/>
                  <a:gd name="connsiteY48" fmla="*/ 249631 h 253898"/>
                  <a:gd name="connsiteX49" fmla="*/ 851002 w 1275587"/>
                  <a:gd name="connsiteY49" fmla="*/ 4267 h 253898"/>
                  <a:gd name="connsiteX50" fmla="*/ 1011936 w 1275587"/>
                  <a:gd name="connsiteY50" fmla="*/ 4267 h 253898"/>
                  <a:gd name="connsiteX51" fmla="*/ 1011936 w 1275587"/>
                  <a:gd name="connsiteY51" fmla="*/ 52730 h 253898"/>
                  <a:gd name="connsiteX52" fmla="*/ 904342 w 1275587"/>
                  <a:gd name="connsiteY52" fmla="*/ 52730 h 253898"/>
                  <a:gd name="connsiteX53" fmla="*/ 904342 w 1275587"/>
                  <a:gd name="connsiteY53" fmla="*/ 100889 h 253898"/>
                  <a:gd name="connsiteX54" fmla="*/ 1006145 w 1275587"/>
                  <a:gd name="connsiteY54" fmla="*/ 100889 h 253898"/>
                  <a:gd name="connsiteX55" fmla="*/ 1006145 w 1275587"/>
                  <a:gd name="connsiteY55" fmla="*/ 149352 h 253898"/>
                  <a:gd name="connsiteX56" fmla="*/ 904342 w 1275587"/>
                  <a:gd name="connsiteY56" fmla="*/ 149352 h 253898"/>
                  <a:gd name="connsiteX57" fmla="*/ 1180490 w 1275587"/>
                  <a:gd name="connsiteY57" fmla="*/ 253898 h 253898"/>
                  <a:gd name="connsiteX58" fmla="*/ 1121969 w 1275587"/>
                  <a:gd name="connsiteY58" fmla="*/ 237287 h 253898"/>
                  <a:gd name="connsiteX59" fmla="*/ 1084478 w 1275587"/>
                  <a:gd name="connsiteY59" fmla="*/ 193243 h 253898"/>
                  <a:gd name="connsiteX60" fmla="*/ 1130808 w 1275587"/>
                  <a:gd name="connsiteY60" fmla="*/ 171602 h 253898"/>
                  <a:gd name="connsiteX61" fmla="*/ 1150315 w 1275587"/>
                  <a:gd name="connsiteY61" fmla="*/ 196596 h 253898"/>
                  <a:gd name="connsiteX62" fmla="*/ 1180795 w 1275587"/>
                  <a:gd name="connsiteY62" fmla="*/ 205130 h 253898"/>
                  <a:gd name="connsiteX63" fmla="*/ 1209446 w 1275587"/>
                  <a:gd name="connsiteY63" fmla="*/ 198425 h 253898"/>
                  <a:gd name="connsiteX64" fmla="*/ 1220114 w 1275587"/>
                  <a:gd name="connsiteY64" fmla="*/ 181051 h 253898"/>
                  <a:gd name="connsiteX65" fmla="*/ 1216152 w 1275587"/>
                  <a:gd name="connsiteY65" fmla="*/ 168402 h 253898"/>
                  <a:gd name="connsiteX66" fmla="*/ 1202436 w 1275587"/>
                  <a:gd name="connsiteY66" fmla="*/ 159106 h 253898"/>
                  <a:gd name="connsiteX67" fmla="*/ 1174090 w 1275587"/>
                  <a:gd name="connsiteY67" fmla="*/ 149657 h 253898"/>
                  <a:gd name="connsiteX68" fmla="*/ 1133551 w 1275587"/>
                  <a:gd name="connsiteY68" fmla="*/ 135636 h 253898"/>
                  <a:gd name="connsiteX69" fmla="*/ 1105052 w 1275587"/>
                  <a:gd name="connsiteY69" fmla="*/ 113843 h 253898"/>
                  <a:gd name="connsiteX70" fmla="*/ 1092708 w 1275587"/>
                  <a:gd name="connsiteY70" fmla="*/ 74676 h 253898"/>
                  <a:gd name="connsiteX71" fmla="*/ 1104748 w 1275587"/>
                  <a:gd name="connsiteY71" fmla="*/ 36271 h 253898"/>
                  <a:gd name="connsiteX72" fmla="*/ 1137666 w 1275587"/>
                  <a:gd name="connsiteY72" fmla="*/ 9601 h 253898"/>
                  <a:gd name="connsiteX73" fmla="*/ 1183843 w 1275587"/>
                  <a:gd name="connsiteY73" fmla="*/ 0 h 253898"/>
                  <a:gd name="connsiteX74" fmla="*/ 1275588 w 1275587"/>
                  <a:gd name="connsiteY74" fmla="*/ 57912 h 253898"/>
                  <a:gd name="connsiteX75" fmla="*/ 1229868 w 1275587"/>
                  <a:gd name="connsiteY75" fmla="*/ 80162 h 253898"/>
                  <a:gd name="connsiteX76" fmla="*/ 1210513 w 1275587"/>
                  <a:gd name="connsiteY76" fmla="*/ 56236 h 253898"/>
                  <a:gd name="connsiteX77" fmla="*/ 1183234 w 1275587"/>
                  <a:gd name="connsiteY77" fmla="*/ 48768 h 253898"/>
                  <a:gd name="connsiteX78" fmla="*/ 1157630 w 1275587"/>
                  <a:gd name="connsiteY78" fmla="*/ 55474 h 253898"/>
                  <a:gd name="connsiteX79" fmla="*/ 1147267 w 1275587"/>
                  <a:gd name="connsiteY79" fmla="*/ 71933 h 253898"/>
                  <a:gd name="connsiteX80" fmla="*/ 1151534 w 1275587"/>
                  <a:gd name="connsiteY80" fmla="*/ 85192 h 253898"/>
                  <a:gd name="connsiteX81" fmla="*/ 1165403 w 1275587"/>
                  <a:gd name="connsiteY81" fmla="*/ 94336 h 253898"/>
                  <a:gd name="connsiteX82" fmla="*/ 1193902 w 1275587"/>
                  <a:gd name="connsiteY82" fmla="*/ 103632 h 253898"/>
                  <a:gd name="connsiteX83" fmla="*/ 1234135 w 1275587"/>
                  <a:gd name="connsiteY83" fmla="*/ 117196 h 253898"/>
                  <a:gd name="connsiteX84" fmla="*/ 1262482 w 1275587"/>
                  <a:gd name="connsiteY84" fmla="*/ 138836 h 253898"/>
                  <a:gd name="connsiteX85" fmla="*/ 1274674 w 1275587"/>
                  <a:gd name="connsiteY85" fmla="*/ 178003 h 253898"/>
                  <a:gd name="connsiteX86" fmla="*/ 1262634 w 1275587"/>
                  <a:gd name="connsiteY86" fmla="*/ 218084 h 253898"/>
                  <a:gd name="connsiteX87" fmla="*/ 1229258 w 1275587"/>
                  <a:gd name="connsiteY87" fmla="*/ 244602 h 253898"/>
                  <a:gd name="connsiteX88" fmla="*/ 1180490 w 1275587"/>
                  <a:gd name="connsiteY88" fmla="*/ 253898 h 253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</a:cxnLst>
                <a:rect l="l" t="t" r="r" b="b"/>
                <a:pathLst>
                  <a:path w="1275587" h="253898">
                    <a:moveTo>
                      <a:pt x="53340" y="249631"/>
                    </a:moveTo>
                    <a:lnTo>
                      <a:pt x="0" y="249631"/>
                    </a:lnTo>
                    <a:lnTo>
                      <a:pt x="0" y="4267"/>
                    </a:lnTo>
                    <a:lnTo>
                      <a:pt x="49073" y="4267"/>
                    </a:lnTo>
                    <a:lnTo>
                      <a:pt x="144475" y="149047"/>
                    </a:lnTo>
                    <a:lnTo>
                      <a:pt x="146304" y="149047"/>
                    </a:lnTo>
                    <a:lnTo>
                      <a:pt x="146304" y="4267"/>
                    </a:lnTo>
                    <a:lnTo>
                      <a:pt x="199644" y="4267"/>
                    </a:lnTo>
                    <a:lnTo>
                      <a:pt x="199644" y="249631"/>
                    </a:lnTo>
                    <a:lnTo>
                      <a:pt x="153314" y="249631"/>
                    </a:lnTo>
                    <a:lnTo>
                      <a:pt x="55169" y="104851"/>
                    </a:lnTo>
                    <a:lnTo>
                      <a:pt x="53340" y="104851"/>
                    </a:lnTo>
                    <a:lnTo>
                      <a:pt x="53340" y="249631"/>
                    </a:lnTo>
                    <a:close/>
                    <a:moveTo>
                      <a:pt x="397764" y="253898"/>
                    </a:moveTo>
                    <a:cubicBezTo>
                      <a:pt x="374802" y="253898"/>
                      <a:pt x="354838" y="248717"/>
                      <a:pt x="337871" y="238354"/>
                    </a:cubicBezTo>
                    <a:cubicBezTo>
                      <a:pt x="320904" y="227990"/>
                      <a:pt x="307848" y="213309"/>
                      <a:pt x="298704" y="194310"/>
                    </a:cubicBezTo>
                    <a:cubicBezTo>
                      <a:pt x="289560" y="175311"/>
                      <a:pt x="284988" y="152908"/>
                      <a:pt x="284988" y="127102"/>
                    </a:cubicBezTo>
                    <a:cubicBezTo>
                      <a:pt x="284988" y="101295"/>
                      <a:pt x="289560" y="78842"/>
                      <a:pt x="298704" y="59741"/>
                    </a:cubicBezTo>
                    <a:cubicBezTo>
                      <a:pt x="307848" y="40640"/>
                      <a:pt x="320904" y="25908"/>
                      <a:pt x="337871" y="15545"/>
                    </a:cubicBezTo>
                    <a:cubicBezTo>
                      <a:pt x="354838" y="5182"/>
                      <a:pt x="374802" y="0"/>
                      <a:pt x="397764" y="0"/>
                    </a:cubicBezTo>
                    <a:cubicBezTo>
                      <a:pt x="420726" y="0"/>
                      <a:pt x="440639" y="5182"/>
                      <a:pt x="457505" y="15545"/>
                    </a:cubicBezTo>
                    <a:cubicBezTo>
                      <a:pt x="474370" y="25908"/>
                      <a:pt x="487375" y="40640"/>
                      <a:pt x="496519" y="59741"/>
                    </a:cubicBezTo>
                    <a:cubicBezTo>
                      <a:pt x="505663" y="78842"/>
                      <a:pt x="510235" y="101295"/>
                      <a:pt x="510235" y="127102"/>
                    </a:cubicBezTo>
                    <a:cubicBezTo>
                      <a:pt x="510235" y="152908"/>
                      <a:pt x="505663" y="175311"/>
                      <a:pt x="496519" y="194310"/>
                    </a:cubicBezTo>
                    <a:cubicBezTo>
                      <a:pt x="487375" y="213309"/>
                      <a:pt x="474370" y="227990"/>
                      <a:pt x="457505" y="238354"/>
                    </a:cubicBezTo>
                    <a:cubicBezTo>
                      <a:pt x="440639" y="248717"/>
                      <a:pt x="420726" y="253898"/>
                      <a:pt x="397764" y="253898"/>
                    </a:cubicBezTo>
                    <a:close/>
                    <a:moveTo>
                      <a:pt x="397764" y="203911"/>
                    </a:moveTo>
                    <a:cubicBezTo>
                      <a:pt x="415646" y="203911"/>
                      <a:pt x="429768" y="197002"/>
                      <a:pt x="440131" y="183185"/>
                    </a:cubicBezTo>
                    <a:cubicBezTo>
                      <a:pt x="450494" y="169367"/>
                      <a:pt x="455676" y="150673"/>
                      <a:pt x="455676" y="127102"/>
                    </a:cubicBezTo>
                    <a:cubicBezTo>
                      <a:pt x="455676" y="103530"/>
                      <a:pt x="450494" y="84785"/>
                      <a:pt x="440131" y="70866"/>
                    </a:cubicBezTo>
                    <a:cubicBezTo>
                      <a:pt x="429768" y="56947"/>
                      <a:pt x="415646" y="49987"/>
                      <a:pt x="397764" y="49987"/>
                    </a:cubicBezTo>
                    <a:cubicBezTo>
                      <a:pt x="379882" y="49987"/>
                      <a:pt x="365709" y="56947"/>
                      <a:pt x="355244" y="70866"/>
                    </a:cubicBezTo>
                    <a:cubicBezTo>
                      <a:pt x="344780" y="84785"/>
                      <a:pt x="339547" y="103530"/>
                      <a:pt x="339547" y="127102"/>
                    </a:cubicBezTo>
                    <a:cubicBezTo>
                      <a:pt x="339547" y="150673"/>
                      <a:pt x="344780" y="169367"/>
                      <a:pt x="355244" y="183185"/>
                    </a:cubicBezTo>
                    <a:cubicBezTo>
                      <a:pt x="365709" y="197002"/>
                      <a:pt x="379882" y="203911"/>
                      <a:pt x="397764" y="203911"/>
                    </a:cubicBezTo>
                    <a:close/>
                    <a:moveTo>
                      <a:pt x="704088" y="249631"/>
                    </a:moveTo>
                    <a:lnTo>
                      <a:pt x="650748" y="249631"/>
                    </a:lnTo>
                    <a:lnTo>
                      <a:pt x="650748" y="54254"/>
                    </a:lnTo>
                    <a:lnTo>
                      <a:pt x="583692" y="54254"/>
                    </a:lnTo>
                    <a:lnTo>
                      <a:pt x="583692" y="4267"/>
                    </a:lnTo>
                    <a:lnTo>
                      <a:pt x="770839" y="4267"/>
                    </a:lnTo>
                    <a:lnTo>
                      <a:pt x="770839" y="54254"/>
                    </a:lnTo>
                    <a:lnTo>
                      <a:pt x="704088" y="54254"/>
                    </a:lnTo>
                    <a:lnTo>
                      <a:pt x="704088" y="249631"/>
                    </a:lnTo>
                    <a:close/>
                    <a:moveTo>
                      <a:pt x="904342" y="149352"/>
                    </a:moveTo>
                    <a:lnTo>
                      <a:pt x="904342" y="201168"/>
                    </a:lnTo>
                    <a:lnTo>
                      <a:pt x="1015594" y="201168"/>
                    </a:lnTo>
                    <a:lnTo>
                      <a:pt x="1015594" y="249631"/>
                    </a:lnTo>
                    <a:lnTo>
                      <a:pt x="851002" y="249631"/>
                    </a:lnTo>
                    <a:lnTo>
                      <a:pt x="851002" y="4267"/>
                    </a:lnTo>
                    <a:lnTo>
                      <a:pt x="1011936" y="4267"/>
                    </a:lnTo>
                    <a:lnTo>
                      <a:pt x="1011936" y="52730"/>
                    </a:lnTo>
                    <a:lnTo>
                      <a:pt x="904342" y="52730"/>
                    </a:lnTo>
                    <a:lnTo>
                      <a:pt x="904342" y="100889"/>
                    </a:lnTo>
                    <a:lnTo>
                      <a:pt x="1006145" y="100889"/>
                    </a:lnTo>
                    <a:lnTo>
                      <a:pt x="1006145" y="149352"/>
                    </a:lnTo>
                    <a:lnTo>
                      <a:pt x="904342" y="149352"/>
                    </a:lnTo>
                    <a:close/>
                    <a:moveTo>
                      <a:pt x="1180490" y="253898"/>
                    </a:moveTo>
                    <a:cubicBezTo>
                      <a:pt x="1158138" y="253898"/>
                      <a:pt x="1138631" y="248361"/>
                      <a:pt x="1121969" y="237287"/>
                    </a:cubicBezTo>
                    <a:cubicBezTo>
                      <a:pt x="1105306" y="226212"/>
                      <a:pt x="1092810" y="211531"/>
                      <a:pt x="1084478" y="193243"/>
                    </a:cubicBezTo>
                    <a:lnTo>
                      <a:pt x="1130808" y="171602"/>
                    </a:lnTo>
                    <a:cubicBezTo>
                      <a:pt x="1135075" y="182575"/>
                      <a:pt x="1141578" y="190906"/>
                      <a:pt x="1150315" y="196596"/>
                    </a:cubicBezTo>
                    <a:cubicBezTo>
                      <a:pt x="1159053" y="202286"/>
                      <a:pt x="1169213" y="205130"/>
                      <a:pt x="1180795" y="205130"/>
                    </a:cubicBezTo>
                    <a:cubicBezTo>
                      <a:pt x="1192784" y="205130"/>
                      <a:pt x="1202335" y="202895"/>
                      <a:pt x="1209446" y="198425"/>
                    </a:cubicBezTo>
                    <a:cubicBezTo>
                      <a:pt x="1216559" y="193954"/>
                      <a:pt x="1220114" y="188163"/>
                      <a:pt x="1220114" y="181051"/>
                    </a:cubicBezTo>
                    <a:cubicBezTo>
                      <a:pt x="1220114" y="175971"/>
                      <a:pt x="1218794" y="171755"/>
                      <a:pt x="1216152" y="168402"/>
                    </a:cubicBezTo>
                    <a:cubicBezTo>
                      <a:pt x="1213510" y="165049"/>
                      <a:pt x="1208938" y="161950"/>
                      <a:pt x="1202436" y="159106"/>
                    </a:cubicBezTo>
                    <a:cubicBezTo>
                      <a:pt x="1195934" y="156261"/>
                      <a:pt x="1186485" y="153111"/>
                      <a:pt x="1174090" y="149657"/>
                    </a:cubicBezTo>
                    <a:cubicBezTo>
                      <a:pt x="1157834" y="144983"/>
                      <a:pt x="1144321" y="140310"/>
                      <a:pt x="1133551" y="135636"/>
                    </a:cubicBezTo>
                    <a:cubicBezTo>
                      <a:pt x="1122782" y="130962"/>
                      <a:pt x="1113282" y="123698"/>
                      <a:pt x="1105052" y="113843"/>
                    </a:cubicBezTo>
                    <a:cubicBezTo>
                      <a:pt x="1096823" y="103988"/>
                      <a:pt x="1092708" y="90932"/>
                      <a:pt x="1092708" y="74676"/>
                    </a:cubicBezTo>
                    <a:cubicBezTo>
                      <a:pt x="1092708" y="60452"/>
                      <a:pt x="1096721" y="47650"/>
                      <a:pt x="1104748" y="36271"/>
                    </a:cubicBezTo>
                    <a:cubicBezTo>
                      <a:pt x="1112774" y="24892"/>
                      <a:pt x="1123747" y="16002"/>
                      <a:pt x="1137666" y="9601"/>
                    </a:cubicBezTo>
                    <a:cubicBezTo>
                      <a:pt x="1151585" y="3200"/>
                      <a:pt x="1166978" y="0"/>
                      <a:pt x="1183843" y="0"/>
                    </a:cubicBezTo>
                    <a:cubicBezTo>
                      <a:pt x="1226312" y="0"/>
                      <a:pt x="1256894" y="19304"/>
                      <a:pt x="1275588" y="57912"/>
                    </a:cubicBezTo>
                    <a:lnTo>
                      <a:pt x="1229868" y="80162"/>
                    </a:lnTo>
                    <a:cubicBezTo>
                      <a:pt x="1224585" y="69190"/>
                      <a:pt x="1218133" y="61214"/>
                      <a:pt x="1210513" y="56236"/>
                    </a:cubicBezTo>
                    <a:cubicBezTo>
                      <a:pt x="1202893" y="51257"/>
                      <a:pt x="1193800" y="48768"/>
                      <a:pt x="1183234" y="48768"/>
                    </a:cubicBezTo>
                    <a:cubicBezTo>
                      <a:pt x="1173074" y="48768"/>
                      <a:pt x="1164539" y="51003"/>
                      <a:pt x="1157630" y="55474"/>
                    </a:cubicBezTo>
                    <a:cubicBezTo>
                      <a:pt x="1150722" y="59944"/>
                      <a:pt x="1147267" y="65430"/>
                      <a:pt x="1147267" y="71933"/>
                    </a:cubicBezTo>
                    <a:cubicBezTo>
                      <a:pt x="1147267" y="77419"/>
                      <a:pt x="1148690" y="81839"/>
                      <a:pt x="1151534" y="85192"/>
                    </a:cubicBezTo>
                    <a:cubicBezTo>
                      <a:pt x="1154379" y="88544"/>
                      <a:pt x="1159002" y="91592"/>
                      <a:pt x="1165403" y="94336"/>
                    </a:cubicBezTo>
                    <a:cubicBezTo>
                      <a:pt x="1171804" y="97079"/>
                      <a:pt x="1181303" y="100178"/>
                      <a:pt x="1193902" y="103632"/>
                    </a:cubicBezTo>
                    <a:cubicBezTo>
                      <a:pt x="1209954" y="108102"/>
                      <a:pt x="1223366" y="112624"/>
                      <a:pt x="1234135" y="117196"/>
                    </a:cubicBezTo>
                    <a:cubicBezTo>
                      <a:pt x="1244905" y="121768"/>
                      <a:pt x="1254354" y="128981"/>
                      <a:pt x="1262482" y="138836"/>
                    </a:cubicBezTo>
                    <a:cubicBezTo>
                      <a:pt x="1270610" y="148692"/>
                      <a:pt x="1274674" y="161747"/>
                      <a:pt x="1274674" y="178003"/>
                    </a:cubicBezTo>
                    <a:cubicBezTo>
                      <a:pt x="1274674" y="193243"/>
                      <a:pt x="1270660" y="206604"/>
                      <a:pt x="1262634" y="218084"/>
                    </a:cubicBezTo>
                    <a:cubicBezTo>
                      <a:pt x="1254608" y="229565"/>
                      <a:pt x="1243482" y="238404"/>
                      <a:pt x="1229258" y="244602"/>
                    </a:cubicBezTo>
                    <a:cubicBezTo>
                      <a:pt x="1215034" y="250800"/>
                      <a:pt x="1198778" y="253898"/>
                      <a:pt x="1180490" y="253898"/>
                    </a:cubicBezTo>
                    <a:close/>
                  </a:path>
                </a:pathLst>
              </a:custGeom>
              <a:solidFill>
                <a:srgbClr val="3F8BE8"/>
              </a:solidFill>
              <a:ln w="9525" cap="flat">
                <a:noFill/>
                <a:prstDash val="solid"/>
                <a:miter/>
              </a:ln>
            </p:spPr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endParaRPr lang="zh-CN" altLang="en-US"/>
              </a:p>
            </p:txBody>
          </p:sp>
        </p:grpSp>
        <p:sp>
          <p:nvSpPr>
            <p:cNvPr id="8" name="文本框 7"/>
            <p:cNvSpPr txBox="1"/>
            <p:nvPr/>
          </p:nvSpPr>
          <p:spPr>
            <a:xfrm>
              <a:off x="3067050" y="2559242"/>
              <a:ext cx="6201959" cy="2109582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algn="just">
                <a:lnSpc>
                  <a:spcPct val="170000"/>
                </a:lnSpc>
              </a:pPr>
              <a:r>
                <a:rPr lang="zh-CN" altLang="en-US" sz="1600">
                  <a:sym typeface="+mn-ea"/>
                </a:rPr>
                <a:t>当公式</a:t>
              </a:r>
              <a:r>
                <a:rPr lang="en-US" altLang="zh-CN" sz="1600">
                  <a:sym typeface="+mn-ea"/>
                </a:rPr>
                <a:t>h(n) - h(n')  ≤ c(n, n')</a:t>
              </a:r>
              <a:endParaRPr lang="en-US" altLang="zh-CN" sz="1600"/>
            </a:p>
            <a:p>
              <a:pPr algn="just">
                <a:lnSpc>
                  <a:spcPct val="170000"/>
                </a:lnSpc>
              </a:pPr>
              <a:r>
                <a:rPr lang="zh-CN" altLang="en-US" sz="1600">
                  <a:sym typeface="+mn-ea"/>
                </a:rPr>
                <a:t>严格成立时，它在</a:t>
              </a:r>
              <a:r>
                <a:rPr lang="zh-CN" altLang="en-US" sz="1600" u="sng">
                  <a:highlight>
                    <a:srgbClr val="FFFF00"/>
                  </a:highlight>
                  <a:sym typeface="+mn-ea"/>
                </a:rPr>
                <a:t>动态过程</a:t>
              </a:r>
              <a:r>
                <a:rPr lang="zh-CN" altLang="en-US" sz="1600">
                  <a:sym typeface="+mn-ea"/>
                </a:rPr>
                <a:t>中确立了一个铁律：您的预估代价，绝对不能超过您的真实付出。</a:t>
              </a:r>
              <a:endParaRPr lang="zh-CN" altLang="en-US" sz="16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switch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文本框 32"/>
          <p:cNvSpPr txBox="1"/>
          <p:nvPr/>
        </p:nvSpPr>
        <p:spPr>
          <a:xfrm>
            <a:off x="4208780" y="617855"/>
            <a:ext cx="3981450" cy="72644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defPPr>
              <a:defRPr lang="zh-CN"/>
            </a:defPPr>
            <a:lvl1pPr algn="ctr">
              <a:lnSpc>
                <a:spcPct val="150000"/>
              </a:lnSpc>
              <a:defRPr sz="1400">
                <a:gradFill>
                  <a:gsLst>
                    <a:gs pos="0">
                      <a:srgbClr val="08AEEA"/>
                    </a:gs>
                    <a:gs pos="100000">
                      <a:srgbClr val="2AF598"/>
                    </a:gs>
                  </a:gsLst>
                  <a:lin ang="270000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l">
              <a:buClrTx/>
              <a:buSzTx/>
              <a:buFontTx/>
            </a:pPr>
            <a:r>
              <a:rPr lang="en-US" altLang="en-AU" sz="2400" dirty="0">
                <a:solidFill>
                  <a:srgbClr val="717C75"/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+mn-ea"/>
                <a:sym typeface="汉仪润圆-65简" panose="00020600040101010101" pitchFamily="18" charset="-122"/>
              </a:rPr>
              <a:t>Admissible≠&gt;Consistent</a:t>
            </a:r>
            <a:endParaRPr lang="en-US" altLang="en-AU" sz="2400" b="1" dirty="0">
              <a:solidFill>
                <a:srgbClr val="717C75"/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grpSp>
        <p:nvGrpSpPr>
          <p:cNvPr id="34" name="组合 33"/>
          <p:cNvGrpSpPr/>
          <p:nvPr/>
        </p:nvGrpSpPr>
        <p:grpSpPr>
          <a:xfrm>
            <a:off x="3076983" y="980763"/>
            <a:ext cx="6066607" cy="0"/>
            <a:chOff x="4615664" y="960506"/>
            <a:chExt cx="9102718" cy="0"/>
          </a:xfrm>
        </p:grpSpPr>
        <p:cxnSp>
          <p:nvCxnSpPr>
            <p:cNvPr id="35" name="77 21"/>
            <p:cNvCxnSpPr/>
            <p:nvPr/>
          </p:nvCxnSpPr>
          <p:spPr bwMode="auto">
            <a:xfrm flipH="1">
              <a:off x="4615664" y="960506"/>
              <a:ext cx="1314679" cy="0"/>
            </a:xfrm>
            <a:prstGeom prst="line">
              <a:avLst/>
            </a:prstGeom>
            <a:ln>
              <a:solidFill>
                <a:srgbClr val="9AA59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7722"/>
            <p:cNvCxnSpPr/>
            <p:nvPr/>
          </p:nvCxnSpPr>
          <p:spPr bwMode="auto">
            <a:xfrm flipH="1">
              <a:off x="12403703" y="960506"/>
              <a:ext cx="1314679" cy="0"/>
            </a:xfrm>
            <a:prstGeom prst="line">
              <a:avLst/>
            </a:prstGeom>
            <a:ln>
              <a:solidFill>
                <a:srgbClr val="9AA59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8095" y="1344295"/>
            <a:ext cx="8982075" cy="38100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322705" y="1725295"/>
            <a:ext cx="8790940" cy="645160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zh-CN" altLang="en-US"/>
              <a:t>既然一致必定可采纳，那反过来成立吗？我们构造一个极简的 </a:t>
            </a:r>
            <a:r>
              <a:rPr lang="en-US" altLang="zh-CN"/>
              <a:t>3 </a:t>
            </a:r>
            <a:r>
              <a:rPr lang="zh-CN" altLang="en-US"/>
              <a:t>节点反例：</a:t>
            </a:r>
            <a:endParaRPr lang="zh-CN" altLang="en-US"/>
          </a:p>
          <a:p>
            <a:r>
              <a:rPr lang="zh-CN" altLang="en-US"/>
              <a:t>构造图与实际代价：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1268095" y="3876040"/>
            <a:ext cx="4170045" cy="26593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sz="2000">
                <a:sym typeface="+mn-ea"/>
              </a:rPr>
              <a:t>真实代价</a:t>
            </a:r>
            <a:r>
              <a:rPr sz="2000">
                <a:sym typeface="+mn-ea"/>
              </a:rPr>
              <a:t>:</a:t>
            </a:r>
            <a:endParaRPr sz="2000">
              <a:sym typeface="+mn-ea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sz="2000">
                <a:sym typeface="+mn-ea"/>
              </a:rPr>
              <a:t>h*(A)=2</a:t>
            </a:r>
            <a:endParaRPr sz="2000">
              <a:sym typeface="+mn-ea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sz="2000">
                <a:sym typeface="+mn-ea"/>
              </a:rPr>
              <a:t>h*(B)=1</a:t>
            </a:r>
            <a:endParaRPr sz="2000">
              <a:sym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sz="2000">
                <a:sym typeface="+mn-ea"/>
              </a:rPr>
              <a:t>人为设定启发式函数</a:t>
            </a:r>
            <a:r>
              <a:rPr sz="2000">
                <a:sym typeface="+mn-ea"/>
              </a:rPr>
              <a:t>:</a:t>
            </a:r>
            <a:endParaRPr sz="2000">
              <a:sym typeface="+mn-ea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sz="2000">
                <a:sym typeface="+mn-ea"/>
              </a:rPr>
              <a:t>h(A)=2</a:t>
            </a:r>
            <a:endParaRPr sz="2000">
              <a:sym typeface="+mn-ea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sz="2000">
                <a:sym typeface="+mn-ea"/>
              </a:rPr>
              <a:t>h(B)=0</a:t>
            </a:r>
            <a:endParaRPr sz="2000">
              <a:sym typeface="+mn-ea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sz="2000">
                <a:sym typeface="+mn-ea"/>
              </a:rPr>
              <a:t>h(G)=0</a:t>
            </a:r>
            <a:endParaRPr sz="2000">
              <a:sym typeface="+mn-ea"/>
            </a:endParaRPr>
          </a:p>
          <a:p>
            <a:pPr indent="0">
              <a:buFont typeface="Arial" panose="020B0604020202020204" pitchFamily="34" charset="0"/>
              <a:buNone/>
            </a:pPr>
            <a:r>
              <a:rPr lang="zh-CN" altLang="en-US" sz="2000">
                <a:sym typeface="+mn-ea"/>
              </a:rPr>
              <a:t>（符合</a:t>
            </a:r>
            <a:r>
              <a:rPr lang="en-US" altLang="zh-CN" sz="2000">
                <a:sym typeface="+mn-ea"/>
              </a:rPr>
              <a:t>h(n)≤h*(n)</a:t>
            </a:r>
            <a:r>
              <a:rPr lang="zh-CN" altLang="en-US" sz="2000">
                <a:sym typeface="+mn-ea"/>
              </a:rPr>
              <a:t>，可采纳）</a:t>
            </a:r>
            <a:endParaRPr lang="zh-CN" altLang="en-US" sz="2000"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754370" y="4072890"/>
            <a:ext cx="449580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sym typeface="+mn-ea"/>
              </a:rPr>
              <a:t>Admissible</a:t>
            </a:r>
            <a:r>
              <a:rPr lang="zh-CN">
                <a:sym typeface="+mn-ea"/>
              </a:rPr>
              <a:t>检验</a:t>
            </a:r>
            <a:r>
              <a:rPr>
                <a:sym typeface="+mn-ea"/>
              </a:rPr>
              <a:t>:</a:t>
            </a:r>
            <a:endParaRPr>
              <a:sym typeface="+mn-ea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>
                <a:sym typeface="+mn-ea"/>
              </a:rPr>
              <a:t> h(A)=2 ≤ 2, h(B)=0 ≤1 </a:t>
            </a:r>
            <a:r>
              <a:rPr>
                <a:solidFill>
                  <a:srgbClr val="FF0000"/>
                </a:solidFill>
                <a:sym typeface="+mn-ea"/>
              </a:rPr>
              <a:t>✓</a:t>
            </a:r>
            <a:endParaRPr lang="zh-CN" alt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sym typeface="+mn-ea"/>
              </a:rPr>
              <a:t>Consistency </a:t>
            </a:r>
            <a:r>
              <a:rPr lang="zh-CN">
                <a:sym typeface="+mn-ea"/>
              </a:rPr>
              <a:t>检验</a:t>
            </a:r>
            <a:r>
              <a:rPr>
                <a:sym typeface="+mn-ea"/>
              </a:rPr>
              <a:t>:</a:t>
            </a:r>
            <a:endParaRPr>
              <a:sym typeface="+mn-ea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>
                <a:sym typeface="+mn-ea"/>
              </a:rPr>
              <a:t> h(A) ≤ 1 + 0 ?</a:t>
            </a:r>
            <a:endParaRPr>
              <a:sym typeface="+mn-ea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>
                <a:sym typeface="+mn-ea"/>
              </a:rPr>
              <a:t> 2 ≤ 1</a:t>
            </a:r>
            <a:r>
              <a:rPr>
                <a:solidFill>
                  <a:srgbClr val="FF0000"/>
                </a:solidFill>
                <a:sym typeface="+mn-ea"/>
              </a:rPr>
              <a:t> ✗</a:t>
            </a:r>
            <a:endParaRPr lang="zh-CN" alt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>
                <a:sym typeface="+mn-ea"/>
              </a:rPr>
              <a:t>结论</a:t>
            </a:r>
            <a:r>
              <a:rPr>
                <a:sym typeface="+mn-ea"/>
              </a:rPr>
              <a:t>: </a:t>
            </a:r>
            <a:endParaRPr>
              <a:sym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sym typeface="+mn-ea"/>
              </a:rPr>
              <a:t>admissible but not consist</a:t>
            </a:r>
            <a:r>
              <a:rPr lang="en-US">
                <a:sym typeface="+mn-ea"/>
              </a:rPr>
              <a:t>ency</a:t>
            </a:r>
            <a:endParaRPr lang="en-US">
              <a:sym typeface="+mn-ea"/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9975" y="2550795"/>
            <a:ext cx="6378575" cy="108839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switch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文本框 32"/>
          <p:cNvSpPr txBox="1"/>
          <p:nvPr/>
        </p:nvSpPr>
        <p:spPr>
          <a:xfrm>
            <a:off x="4119880" y="617855"/>
            <a:ext cx="3981450" cy="72644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defPPr>
              <a:defRPr lang="zh-CN"/>
            </a:defPPr>
            <a:lvl1pPr algn="ctr">
              <a:lnSpc>
                <a:spcPct val="150000"/>
              </a:lnSpc>
              <a:defRPr sz="1400">
                <a:gradFill>
                  <a:gsLst>
                    <a:gs pos="0">
                      <a:srgbClr val="08AEEA"/>
                    </a:gs>
                    <a:gs pos="100000">
                      <a:srgbClr val="2AF598"/>
                    </a:gs>
                  </a:gsLst>
                  <a:lin ang="270000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ctr">
              <a:buClrTx/>
              <a:buSzTx/>
              <a:buFontTx/>
            </a:pPr>
            <a:r>
              <a:rPr lang="en-US" altLang="en-AU" sz="2400" b="1" dirty="0">
                <a:solidFill>
                  <a:srgbClr val="717C75"/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+mn-ea"/>
                <a:sym typeface="汉仪润圆-65简" panose="00020600040101010101" pitchFamily="18" charset="-122"/>
              </a:rPr>
              <a:t>Summary</a:t>
            </a:r>
            <a:endParaRPr lang="en-US" altLang="en-AU" sz="2400" b="1" dirty="0">
              <a:solidFill>
                <a:srgbClr val="717C75"/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grpSp>
        <p:nvGrpSpPr>
          <p:cNvPr id="34" name="组合 33"/>
          <p:cNvGrpSpPr/>
          <p:nvPr/>
        </p:nvGrpSpPr>
        <p:grpSpPr>
          <a:xfrm>
            <a:off x="3076983" y="980763"/>
            <a:ext cx="6066607" cy="0"/>
            <a:chOff x="4615664" y="960506"/>
            <a:chExt cx="9102718" cy="0"/>
          </a:xfrm>
        </p:grpSpPr>
        <p:cxnSp>
          <p:nvCxnSpPr>
            <p:cNvPr id="35" name="77 21"/>
            <p:cNvCxnSpPr/>
            <p:nvPr/>
          </p:nvCxnSpPr>
          <p:spPr bwMode="auto">
            <a:xfrm flipH="1">
              <a:off x="4615664" y="960506"/>
              <a:ext cx="1314679" cy="0"/>
            </a:xfrm>
            <a:prstGeom prst="line">
              <a:avLst/>
            </a:prstGeom>
            <a:ln>
              <a:solidFill>
                <a:srgbClr val="9AA59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7722"/>
            <p:cNvCxnSpPr/>
            <p:nvPr/>
          </p:nvCxnSpPr>
          <p:spPr bwMode="auto">
            <a:xfrm flipH="1">
              <a:off x="12403703" y="960506"/>
              <a:ext cx="1314679" cy="0"/>
            </a:xfrm>
            <a:prstGeom prst="line">
              <a:avLst/>
            </a:prstGeom>
            <a:ln>
              <a:solidFill>
                <a:srgbClr val="9AA59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2085" y="1534795"/>
            <a:ext cx="9115425" cy="62865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1649730" y="2492375"/>
            <a:ext cx="8479790" cy="41871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/>
              <a:t>答案：绝对不可能</a:t>
            </a:r>
            <a:r>
              <a:rPr lang="en-US" altLang="zh-CN"/>
              <a:t> (Impossible)</a:t>
            </a:r>
            <a:r>
              <a:rPr lang="zh-CN" altLang="en-US"/>
              <a:t>！</a:t>
            </a:r>
            <a:endParaRPr lang="zh-CN" altLang="en-US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/>
              <a:t>逻辑推演：</a:t>
            </a:r>
            <a:endParaRPr lang="zh-CN" altLang="en-US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CN" altLang="en-US"/>
              <a:t>在问题</a:t>
            </a:r>
            <a:r>
              <a:rPr lang="en-US" altLang="zh-CN"/>
              <a:t> (a) </a:t>
            </a:r>
            <a:r>
              <a:rPr lang="zh-CN" altLang="en-US"/>
              <a:t>中，我们已经完成了严格的数学证明：</a:t>
            </a:r>
            <a:endParaRPr lang="zh-CN" altLang="en-US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/>
              <a:t>Consistent =&gt; Admissible</a:t>
            </a:r>
            <a:endParaRPr lang="en-US" altLang="zh-CN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/>
              <a:t>(</a:t>
            </a:r>
            <a:r>
              <a:rPr lang="zh-CN" altLang="en-US"/>
              <a:t>如果一个函数是一致的，那么它必定是可采纳的</a:t>
            </a:r>
            <a:r>
              <a:rPr lang="en-US" altLang="zh-CN"/>
              <a:t>)</a:t>
            </a:r>
            <a:endParaRPr lang="en-US" altLang="zh-CN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/>
              <a:t>因此，这种启发式函数在数学上不存在。</a:t>
            </a:r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switch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文本框 32"/>
          <p:cNvSpPr txBox="1"/>
          <p:nvPr/>
        </p:nvSpPr>
        <p:spPr>
          <a:xfrm>
            <a:off x="4208780" y="617855"/>
            <a:ext cx="3981450" cy="72644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defPPr>
              <a:defRPr lang="zh-CN"/>
            </a:defPPr>
            <a:lvl1pPr algn="ctr">
              <a:lnSpc>
                <a:spcPct val="150000"/>
              </a:lnSpc>
              <a:defRPr sz="1400">
                <a:gradFill>
                  <a:gsLst>
                    <a:gs pos="0">
                      <a:srgbClr val="08AEEA"/>
                    </a:gs>
                    <a:gs pos="100000">
                      <a:srgbClr val="2AF598"/>
                    </a:gs>
                  </a:gsLst>
                  <a:lin ang="270000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ctr">
              <a:buClrTx/>
              <a:buSzTx/>
              <a:buFontTx/>
            </a:pPr>
            <a:r>
              <a:rPr lang="en-US" altLang="en-AU" sz="2400" b="1" dirty="0">
                <a:solidFill>
                  <a:srgbClr val="717C75"/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+mn-ea"/>
                <a:sym typeface="汉仪润圆-65简" panose="00020600040101010101" pitchFamily="18" charset="-122"/>
              </a:rPr>
              <a:t>Summary</a:t>
            </a:r>
            <a:endParaRPr lang="en-US" altLang="en-AU" sz="2400" b="1" dirty="0">
              <a:solidFill>
                <a:srgbClr val="717C75"/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grpSp>
        <p:nvGrpSpPr>
          <p:cNvPr id="34" name="组合 33"/>
          <p:cNvGrpSpPr/>
          <p:nvPr/>
        </p:nvGrpSpPr>
        <p:grpSpPr>
          <a:xfrm>
            <a:off x="3076983" y="980763"/>
            <a:ext cx="6066607" cy="0"/>
            <a:chOff x="4615664" y="960506"/>
            <a:chExt cx="9102718" cy="0"/>
          </a:xfrm>
        </p:grpSpPr>
        <p:cxnSp>
          <p:nvCxnSpPr>
            <p:cNvPr id="35" name="77 21"/>
            <p:cNvCxnSpPr/>
            <p:nvPr/>
          </p:nvCxnSpPr>
          <p:spPr bwMode="auto">
            <a:xfrm flipH="1">
              <a:off x="4615664" y="960506"/>
              <a:ext cx="1314679" cy="0"/>
            </a:xfrm>
            <a:prstGeom prst="line">
              <a:avLst/>
            </a:prstGeom>
            <a:ln>
              <a:solidFill>
                <a:srgbClr val="9AA59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7722"/>
            <p:cNvCxnSpPr/>
            <p:nvPr/>
          </p:nvCxnSpPr>
          <p:spPr bwMode="auto">
            <a:xfrm flipH="1">
              <a:off x="12403703" y="960506"/>
              <a:ext cx="1314679" cy="0"/>
            </a:xfrm>
            <a:prstGeom prst="line">
              <a:avLst/>
            </a:prstGeom>
            <a:ln>
              <a:solidFill>
                <a:srgbClr val="9AA59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4770" y="1344295"/>
            <a:ext cx="9729470" cy="424942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334770" y="5907405"/>
            <a:ext cx="9472295" cy="751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400"/>
              <a:t>一致性</a:t>
            </a:r>
            <a:r>
              <a:rPr lang="en-US" altLang="zh-CN" sz="2400"/>
              <a:t> (Consistent) </a:t>
            </a:r>
            <a:r>
              <a:rPr lang="zh-CN" altLang="en-US" sz="2400"/>
              <a:t>是</a:t>
            </a:r>
            <a:r>
              <a:rPr lang="en-US" altLang="zh-CN" sz="2400"/>
              <a:t> </a:t>
            </a:r>
            <a:r>
              <a:rPr lang="zh-CN" altLang="en-US" sz="2400"/>
              <a:t>可采纳性</a:t>
            </a:r>
            <a:r>
              <a:rPr lang="en-US" altLang="zh-CN" sz="2400"/>
              <a:t> (Admissible) </a:t>
            </a:r>
            <a:r>
              <a:rPr lang="zh-CN" altLang="en-US" sz="2400"/>
              <a:t>的充分不必要条件。</a:t>
            </a:r>
            <a:endParaRPr lang="en-US" altLang="zh-CN" sz="2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switch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文本框 32"/>
          <p:cNvSpPr txBox="1"/>
          <p:nvPr/>
        </p:nvSpPr>
        <p:spPr>
          <a:xfrm>
            <a:off x="4208780" y="617855"/>
            <a:ext cx="3981450" cy="72644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defPPr>
              <a:defRPr lang="zh-CN"/>
            </a:defPPr>
            <a:lvl1pPr algn="ctr">
              <a:lnSpc>
                <a:spcPct val="150000"/>
              </a:lnSpc>
              <a:defRPr sz="1400">
                <a:gradFill>
                  <a:gsLst>
                    <a:gs pos="0">
                      <a:srgbClr val="08AEEA"/>
                    </a:gs>
                    <a:gs pos="100000">
                      <a:srgbClr val="2AF598"/>
                    </a:gs>
                  </a:gsLst>
                  <a:lin ang="270000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ctr">
              <a:buClrTx/>
              <a:buSzTx/>
              <a:buFontTx/>
            </a:pPr>
            <a:r>
              <a:rPr lang="en-US" altLang="en-AU" sz="2400" b="1" dirty="0">
                <a:solidFill>
                  <a:srgbClr val="717C75"/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+mn-ea"/>
                <a:sym typeface="汉仪润圆-65简" panose="00020600040101010101" pitchFamily="18" charset="-122"/>
              </a:rPr>
              <a:t>Question I</a:t>
            </a:r>
            <a:endParaRPr lang="en-US" altLang="en-AU" sz="2400" b="1" dirty="0">
              <a:solidFill>
                <a:srgbClr val="717C75"/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grpSp>
        <p:nvGrpSpPr>
          <p:cNvPr id="34" name="组合 33"/>
          <p:cNvGrpSpPr/>
          <p:nvPr/>
        </p:nvGrpSpPr>
        <p:grpSpPr>
          <a:xfrm>
            <a:off x="3076983" y="980763"/>
            <a:ext cx="6066607" cy="0"/>
            <a:chOff x="4615664" y="960506"/>
            <a:chExt cx="9102718" cy="0"/>
          </a:xfrm>
        </p:grpSpPr>
        <p:cxnSp>
          <p:nvCxnSpPr>
            <p:cNvPr id="35" name="77 21"/>
            <p:cNvCxnSpPr/>
            <p:nvPr/>
          </p:nvCxnSpPr>
          <p:spPr bwMode="auto">
            <a:xfrm flipH="1">
              <a:off x="4615664" y="960506"/>
              <a:ext cx="1314679" cy="0"/>
            </a:xfrm>
            <a:prstGeom prst="line">
              <a:avLst/>
            </a:prstGeom>
            <a:ln>
              <a:solidFill>
                <a:srgbClr val="9AA59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7722"/>
            <p:cNvCxnSpPr/>
            <p:nvPr/>
          </p:nvCxnSpPr>
          <p:spPr bwMode="auto">
            <a:xfrm flipH="1">
              <a:off x="12403703" y="960506"/>
              <a:ext cx="1314679" cy="0"/>
            </a:xfrm>
            <a:prstGeom prst="line">
              <a:avLst/>
            </a:prstGeom>
            <a:ln>
              <a:solidFill>
                <a:srgbClr val="9AA59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文本框 1"/>
          <p:cNvSpPr txBox="1"/>
          <p:nvPr/>
        </p:nvSpPr>
        <p:spPr>
          <a:xfrm>
            <a:off x="530860" y="1236345"/>
            <a:ext cx="9686290" cy="16217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/>
              <a:t>思考：在第四题中，题目给定的启发式函数非常特殊，是</a:t>
            </a:r>
            <a:r>
              <a:rPr lang="en-US" altLang="zh-CN"/>
              <a:t> </a:t>
            </a:r>
            <a:endParaRPr lang="en-US" altLang="zh-CN"/>
          </a:p>
          <a:p>
            <a:r>
              <a:rPr lang="zh-CN" altLang="en-US"/>
              <a:t>，也就是利用两地到布加勒斯特（</a:t>
            </a:r>
            <a:r>
              <a:rPr lang="en-US" altLang="zh-CN"/>
              <a:t>Bucharest</a:t>
            </a:r>
            <a:r>
              <a:rPr lang="zh-CN" altLang="en-US"/>
              <a:t>）的直线距离之差来作为评估</a:t>
            </a:r>
            <a:r>
              <a:rPr lang="en-US" altLang="zh-CN"/>
              <a:t> </a:t>
            </a:r>
            <a:r>
              <a:rPr lang="zh-CN" altLang="en-US"/>
              <a:t>。大家想一想，如果我们要去</a:t>
            </a:r>
            <a:r>
              <a:rPr lang="en-US" altLang="zh-CN"/>
              <a:t> Craiova</a:t>
            </a:r>
            <a:r>
              <a:rPr lang="zh-CN" altLang="en-US"/>
              <a:t>，为什么不直接使用到</a:t>
            </a:r>
            <a:r>
              <a:rPr lang="en-US" altLang="zh-CN"/>
              <a:t> Craiova </a:t>
            </a:r>
            <a:r>
              <a:rPr lang="zh-CN" altLang="en-US"/>
              <a:t>的直线距离，而是要绕个弯子，引入第三个城市</a:t>
            </a:r>
            <a:r>
              <a:rPr lang="en-US" altLang="zh-CN"/>
              <a:t> Bucharest </a:t>
            </a:r>
            <a:r>
              <a:rPr lang="zh-CN" altLang="en-US"/>
              <a:t>的数据来进行计算呢？这种设计在现实的地图导航工程中有什么实际价值？</a:t>
            </a:r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59550" y="1236345"/>
            <a:ext cx="3124200" cy="34290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352425" y="3370580"/>
            <a:ext cx="10716895" cy="16649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endParaRPr lang="zh-CN" altLang="en-US"/>
          </a:p>
          <a:p>
            <a:r>
              <a:rPr lang="zh-CN" altLang="en-US"/>
              <a:t>空间爆炸问题：假设一个真实的国家路网有</a:t>
            </a:r>
            <a:r>
              <a:rPr lang="en-US" altLang="zh-CN"/>
              <a:t> 10 </a:t>
            </a:r>
            <a:r>
              <a:rPr lang="zh-CN" altLang="en-US"/>
              <a:t>万个十字路口（节点）。如果我们想在任意两点间使用</a:t>
            </a:r>
            <a:r>
              <a:rPr lang="en-US" altLang="zh-CN"/>
              <a:t> A* </a:t>
            </a:r>
            <a:r>
              <a:rPr lang="zh-CN" altLang="en-US"/>
              <a:t>算法，并且每次都直接调用它们之间的直线距离，我们需要在内存中预先存储一个</a:t>
            </a:r>
            <a:r>
              <a:rPr lang="en-US" altLang="zh-CN"/>
              <a:t> 100000 </a:t>
            </a:r>
            <a:r>
              <a:rPr lang="zh-CN" altLang="en-US"/>
              <a:t>✖️</a:t>
            </a:r>
            <a:r>
              <a:rPr lang="en-US" altLang="zh-CN"/>
              <a:t>100000 </a:t>
            </a:r>
            <a:r>
              <a:rPr lang="zh-CN" altLang="en-US"/>
              <a:t>的庞大二维数组。这种</a:t>
            </a:r>
            <a:r>
              <a:rPr lang="en-US" altLang="zh-CN"/>
              <a:t> O(V^2) </a:t>
            </a:r>
            <a:r>
              <a:rPr lang="zh-CN" altLang="en-US"/>
              <a:t>的空间复杂度在工程上是极其昂贵甚至不可接受的。</a:t>
            </a:r>
            <a:endParaRPr lang="zh-CN" altLang="en-US"/>
          </a:p>
          <a:p>
            <a:endParaRPr lang="zh-CN" altLang="en-US"/>
          </a:p>
          <a:p>
            <a:endParaRPr lang="en-US" altLang="zh-CN"/>
          </a:p>
        </p:txBody>
      </p:sp>
      <p:sp>
        <p:nvSpPr>
          <p:cNvPr id="7" name="文本框 6"/>
          <p:cNvSpPr txBox="1"/>
          <p:nvPr/>
        </p:nvSpPr>
        <p:spPr>
          <a:xfrm>
            <a:off x="873760" y="2458720"/>
            <a:ext cx="922909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rgbClr val="08A2E1"/>
                </a:solidFill>
                <a:sym typeface="+mn-ea"/>
              </a:rPr>
              <a:t>在现实工程（如地图导航、游戏大地图寻路）中，这种做法被称为</a:t>
            </a:r>
            <a:r>
              <a:rPr lang="en-US" altLang="zh-CN">
                <a:solidFill>
                  <a:srgbClr val="08A2E1"/>
                </a:solidFill>
                <a:sym typeface="+mn-ea"/>
              </a:rPr>
              <a:t>“</a:t>
            </a:r>
            <a:r>
              <a:rPr lang="zh-CN" altLang="en-US">
                <a:solidFill>
                  <a:srgbClr val="08A2E1"/>
                </a:solidFill>
                <a:sym typeface="+mn-ea"/>
              </a:rPr>
              <a:t>地标差分启发式（</a:t>
            </a:r>
            <a:r>
              <a:rPr lang="en-US" altLang="zh-CN">
                <a:solidFill>
                  <a:srgbClr val="08A2E1"/>
                </a:solidFill>
                <a:sym typeface="+mn-ea"/>
              </a:rPr>
              <a:t>Landmark-based Heuristic</a:t>
            </a:r>
            <a:r>
              <a:rPr lang="zh-CN" altLang="en-US">
                <a:solidFill>
                  <a:srgbClr val="08A2E1"/>
                </a:solidFill>
                <a:sym typeface="+mn-ea"/>
              </a:rPr>
              <a:t>）</a:t>
            </a:r>
            <a:r>
              <a:rPr lang="en-US" altLang="zh-CN">
                <a:solidFill>
                  <a:srgbClr val="08A2E1"/>
                </a:solidFill>
                <a:sym typeface="+mn-ea"/>
              </a:rPr>
              <a:t>”</a:t>
            </a:r>
            <a:r>
              <a:rPr lang="zh-CN" altLang="en-US">
                <a:solidFill>
                  <a:srgbClr val="08A2E1"/>
                </a:solidFill>
                <a:sym typeface="+mn-ea"/>
              </a:rPr>
              <a:t>。它的核心价值在于极大地节省内存空间。</a:t>
            </a:r>
            <a:endParaRPr lang="zh-CN" altLang="en-US">
              <a:solidFill>
                <a:srgbClr val="08A2E1"/>
              </a:solidFill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switch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6" grpId="0"/>
      <p:bldP spid="6" grpId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927100" y="132715"/>
            <a:ext cx="10721975" cy="16217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/>
              <a:t>思考：在第四题中，题目给定的启发式函数非常特殊，是</a:t>
            </a:r>
            <a:r>
              <a:rPr lang="en-US" altLang="zh-CN"/>
              <a:t> </a:t>
            </a:r>
            <a:endParaRPr lang="en-US" altLang="zh-CN"/>
          </a:p>
          <a:p>
            <a:r>
              <a:rPr lang="zh-CN" altLang="en-US"/>
              <a:t>，也就是利用两地到布加勒斯特（</a:t>
            </a:r>
            <a:r>
              <a:rPr lang="en-US" altLang="zh-CN"/>
              <a:t>Bucharest</a:t>
            </a:r>
            <a:r>
              <a:rPr lang="zh-CN" altLang="en-US"/>
              <a:t>）的直线距离之差来作为评估</a:t>
            </a:r>
            <a:r>
              <a:rPr lang="en-US" altLang="zh-CN"/>
              <a:t> </a:t>
            </a:r>
            <a:r>
              <a:rPr lang="zh-CN" altLang="en-US"/>
              <a:t>。大家想一想，如果我们要去</a:t>
            </a:r>
            <a:r>
              <a:rPr lang="en-US" altLang="zh-CN"/>
              <a:t> Craiova</a:t>
            </a:r>
            <a:r>
              <a:rPr lang="zh-CN" altLang="en-US"/>
              <a:t>，为什么不直接使用到</a:t>
            </a:r>
            <a:r>
              <a:rPr lang="en-US" altLang="zh-CN"/>
              <a:t> Craiova </a:t>
            </a:r>
            <a:r>
              <a:rPr lang="zh-CN" altLang="en-US"/>
              <a:t>的直线距离，而是要绕个弯子，引入第三个城市</a:t>
            </a:r>
            <a:r>
              <a:rPr lang="en-US" altLang="zh-CN"/>
              <a:t> Bucharest </a:t>
            </a:r>
            <a:r>
              <a:rPr lang="zh-CN" altLang="en-US"/>
              <a:t>的数据来进行计算呢？这种设计在现实的地图导航工程中有什么实际价值？</a:t>
            </a:r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32715"/>
            <a:ext cx="3124200" cy="34290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438150" y="1624965"/>
            <a:ext cx="10353040" cy="453771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/>
              <a:t>地标降维打击：为了解决这个问题，工程师会挑选几个重要的枢纽节点作为</a:t>
            </a:r>
            <a:r>
              <a:rPr lang="en-US" altLang="zh-CN"/>
              <a:t>“</a:t>
            </a:r>
            <a:r>
              <a:rPr lang="zh-CN" altLang="en-US"/>
              <a:t>地标（</a:t>
            </a:r>
            <a:r>
              <a:rPr lang="en-US" altLang="zh-CN"/>
              <a:t>Landmarks</a:t>
            </a:r>
            <a:r>
              <a:rPr lang="zh-CN" altLang="en-US"/>
              <a:t>）</a:t>
            </a:r>
            <a:r>
              <a:rPr lang="en-US" altLang="zh-CN"/>
              <a:t>”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——</a:t>
            </a:r>
            <a:r>
              <a:rPr lang="zh-CN" altLang="en-US"/>
              <a:t>在这道题中，首都</a:t>
            </a:r>
            <a:r>
              <a:rPr lang="en-US" altLang="zh-CN"/>
              <a:t> Bucharest </a:t>
            </a:r>
            <a:r>
              <a:rPr lang="zh-CN" altLang="en-US"/>
              <a:t>就是这个地标。计算逻辑（利用三角形不等式）：系统只需要存储所有节点到这一个地标的距离，空间复杂度瞬间降为</a:t>
            </a:r>
            <a:r>
              <a:rPr lang="en-US" altLang="zh-CN"/>
              <a:t> O(V)</a:t>
            </a:r>
            <a:r>
              <a:rPr lang="zh-CN" altLang="en-US"/>
              <a:t>。当我们需要计算从节点</a:t>
            </a:r>
            <a:r>
              <a:rPr lang="en-US" altLang="zh-CN"/>
              <a:t> n </a:t>
            </a:r>
            <a:r>
              <a:rPr lang="zh-CN" altLang="en-US"/>
              <a:t>到目标节点</a:t>
            </a:r>
            <a:r>
              <a:rPr lang="en-US" altLang="zh-CN"/>
              <a:t> Goal </a:t>
            </a:r>
            <a:r>
              <a:rPr lang="zh-CN" altLang="en-US"/>
              <a:t>的距离时，根据三角形的两边之差必定小于或等于第三边：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r>
              <a:rPr lang="zh-CN" altLang="en-US"/>
              <a:t>套用题目公式就是：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r>
              <a:rPr lang="zh-CN" altLang="en-US"/>
              <a:t>结论：这个绝对值差值，不仅完美符合</a:t>
            </a:r>
            <a:r>
              <a:rPr lang="en-US" altLang="zh-CN"/>
              <a:t>“</a:t>
            </a:r>
            <a:r>
              <a:rPr lang="zh-CN" altLang="en-US"/>
              <a:t>永远不高估真实代价</a:t>
            </a:r>
            <a:r>
              <a:rPr lang="en-US" altLang="zh-CN"/>
              <a:t>”</a:t>
            </a:r>
            <a:r>
              <a:rPr lang="zh-CN" altLang="en-US"/>
              <a:t>的可采纳性（</a:t>
            </a:r>
            <a:r>
              <a:rPr lang="en-US" altLang="zh-CN"/>
              <a:t>Admissible</a:t>
            </a:r>
            <a:r>
              <a:rPr lang="zh-CN" altLang="en-US"/>
              <a:t>）原则，还以极低的内存代价解决了任意两点间的启发式估算问题。</a:t>
            </a:r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8945" y="2996565"/>
            <a:ext cx="4718050" cy="52705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9680" y="3987800"/>
            <a:ext cx="3289935" cy="361315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6995" y="2996565"/>
            <a:ext cx="4342765" cy="23698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switch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4208780" y="734695"/>
            <a:ext cx="3979545" cy="49276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defPPr>
              <a:defRPr lang="zh-CN"/>
            </a:defPPr>
            <a:lvl1pPr algn="ctr">
              <a:lnSpc>
                <a:spcPct val="150000"/>
              </a:lnSpc>
              <a:defRPr sz="1400">
                <a:gradFill>
                  <a:gsLst>
                    <a:gs pos="0">
                      <a:srgbClr val="08AEEA"/>
                    </a:gs>
                    <a:gs pos="100000">
                      <a:srgbClr val="2AF598"/>
                    </a:gs>
                  </a:gsLst>
                  <a:lin ang="270000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1218565">
              <a:lnSpc>
                <a:spcPct val="100000"/>
              </a:lnSpc>
              <a:defRPr/>
            </a:pPr>
            <a:r>
              <a:rPr lang="en-US" altLang="zh-CN" sz="2400" dirty="0">
                <a:solidFill>
                  <a:srgbClr val="717C75"/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+mn-ea"/>
                <a:sym typeface="汉仪润圆-65简" panose="00020600040101010101" pitchFamily="18" charset="-122"/>
              </a:rPr>
              <a:t>Question II </a:t>
            </a:r>
            <a:endParaRPr lang="en-US" altLang="zh-CN" sz="2400" b="1" dirty="0">
              <a:solidFill>
                <a:srgbClr val="717C75"/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grpSp>
        <p:nvGrpSpPr>
          <p:cNvPr id="39" name="组合 38"/>
          <p:cNvGrpSpPr/>
          <p:nvPr/>
        </p:nvGrpSpPr>
        <p:grpSpPr>
          <a:xfrm>
            <a:off x="3076983" y="980763"/>
            <a:ext cx="6066607" cy="0"/>
            <a:chOff x="4615664" y="960506"/>
            <a:chExt cx="9102718" cy="0"/>
          </a:xfrm>
        </p:grpSpPr>
        <p:cxnSp>
          <p:nvCxnSpPr>
            <p:cNvPr id="41" name="77 21"/>
            <p:cNvCxnSpPr/>
            <p:nvPr/>
          </p:nvCxnSpPr>
          <p:spPr bwMode="auto">
            <a:xfrm flipH="1">
              <a:off x="4615664" y="960506"/>
              <a:ext cx="1314679" cy="0"/>
            </a:xfrm>
            <a:prstGeom prst="line">
              <a:avLst/>
            </a:prstGeom>
            <a:ln>
              <a:solidFill>
                <a:srgbClr val="9AA59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7722"/>
            <p:cNvCxnSpPr/>
            <p:nvPr/>
          </p:nvCxnSpPr>
          <p:spPr bwMode="auto">
            <a:xfrm flipH="1">
              <a:off x="12403703" y="960506"/>
              <a:ext cx="1314679" cy="0"/>
            </a:xfrm>
            <a:prstGeom prst="line">
              <a:avLst/>
            </a:prstGeom>
            <a:ln>
              <a:solidFill>
                <a:srgbClr val="9AA59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4" name="对象 3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6038850" y="3321050"/>
          <a:ext cx="114300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r:id="rId1" imgW="114300" imgH="215900" progId="Equation.KSEE3">
                  <p:embed/>
                </p:oleObj>
              </mc:Choice>
              <mc:Fallback>
                <p:oleObj name="" r:id="rId1" imgW="114300" imgH="215900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6038850" y="3321050"/>
                        <a:ext cx="114300" cy="2159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文本框 7"/>
          <p:cNvSpPr txBox="1"/>
          <p:nvPr/>
        </p:nvSpPr>
        <p:spPr>
          <a:xfrm>
            <a:off x="380365" y="1843405"/>
            <a:ext cx="116357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08A2E1"/>
                </a:solidFill>
              </a:rPr>
              <a:t>“</a:t>
            </a:r>
            <a:r>
              <a:rPr lang="zh-CN" altLang="en-US">
                <a:solidFill>
                  <a:srgbClr val="08A2E1"/>
                </a:solidFill>
              </a:rPr>
              <a:t>一致性</a:t>
            </a:r>
            <a:r>
              <a:rPr lang="en-US" altLang="zh-CN">
                <a:solidFill>
                  <a:srgbClr val="08A2E1"/>
                </a:solidFill>
              </a:rPr>
              <a:t>”</a:t>
            </a:r>
            <a:r>
              <a:rPr lang="zh-CN" altLang="en-US">
                <a:solidFill>
                  <a:srgbClr val="08A2E1"/>
                </a:solidFill>
              </a:rPr>
              <a:t>（</a:t>
            </a:r>
            <a:r>
              <a:rPr lang="en-US" altLang="zh-CN">
                <a:solidFill>
                  <a:srgbClr val="08A2E1"/>
                </a:solidFill>
              </a:rPr>
              <a:t>Consistency</a:t>
            </a:r>
            <a:r>
              <a:rPr lang="zh-CN" altLang="en-US">
                <a:solidFill>
                  <a:srgbClr val="08A2E1"/>
                </a:solidFill>
              </a:rPr>
              <a:t>）这个词，在数学和逻辑学中，通常指的是</a:t>
            </a:r>
            <a:r>
              <a:rPr lang="en-US" altLang="zh-CN">
                <a:solidFill>
                  <a:srgbClr val="08A2E1"/>
                </a:solidFill>
              </a:rPr>
              <a:t>“</a:t>
            </a:r>
            <a:r>
              <a:rPr lang="zh-CN" altLang="en-US">
                <a:solidFill>
                  <a:srgbClr val="08A2E1"/>
                </a:solidFill>
              </a:rPr>
              <a:t>系统内部结构严密，且不自相矛盾</a:t>
            </a:r>
            <a:r>
              <a:rPr lang="en-US" altLang="zh-CN">
                <a:solidFill>
                  <a:srgbClr val="08A2E1"/>
                </a:solidFill>
              </a:rPr>
              <a:t>”</a:t>
            </a:r>
            <a:r>
              <a:rPr lang="zh-CN" altLang="en-US">
                <a:solidFill>
                  <a:srgbClr val="08A2E1"/>
                </a:solidFill>
              </a:rPr>
              <a:t>。</a:t>
            </a:r>
            <a:endParaRPr lang="zh-CN" altLang="en-US">
              <a:solidFill>
                <a:srgbClr val="08A2E1"/>
              </a:solidFill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47040" y="2553335"/>
            <a:ext cx="10006965" cy="17513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“</a:t>
            </a:r>
            <a:r>
              <a:rPr lang="zh-CN" altLang="en-US"/>
              <a:t>不一致</a:t>
            </a:r>
            <a:r>
              <a:rPr lang="en-US" altLang="zh-CN"/>
              <a:t>”</a:t>
            </a:r>
            <a:r>
              <a:rPr lang="zh-CN" altLang="en-US"/>
              <a:t>导致的逻辑崩塌</a:t>
            </a:r>
            <a:r>
              <a:rPr lang="en-US" altLang="zh-CN"/>
              <a:t> : </a:t>
            </a:r>
            <a:endParaRPr lang="zh-CN" altLang="en-US"/>
          </a:p>
          <a:p>
            <a:r>
              <a:rPr lang="zh-CN" altLang="en-US"/>
              <a:t>假设您在</a:t>
            </a:r>
            <a:r>
              <a:rPr lang="en-US" altLang="zh-CN"/>
              <a:t> n </a:t>
            </a:r>
            <a:r>
              <a:rPr lang="zh-CN" altLang="en-US"/>
              <a:t>点，导航预估还有</a:t>
            </a:r>
            <a:r>
              <a:rPr lang="en-US" altLang="zh-CN"/>
              <a:t> 10 </a:t>
            </a:r>
            <a:r>
              <a:rPr lang="zh-CN" altLang="en-US"/>
              <a:t>公里到达终点。</a:t>
            </a:r>
            <a:endParaRPr lang="zh-CN" altLang="en-US"/>
          </a:p>
          <a:p>
            <a:r>
              <a:rPr lang="zh-CN" altLang="en-US"/>
              <a:t>您往前真实地走了</a:t>
            </a:r>
            <a:r>
              <a:rPr lang="en-US" altLang="zh-CN"/>
              <a:t> 1 </a:t>
            </a:r>
            <a:r>
              <a:rPr lang="zh-CN" altLang="en-US"/>
              <a:t>公里到达</a:t>
            </a:r>
            <a:r>
              <a:rPr lang="en-US" altLang="zh-CN"/>
              <a:t> n'</a:t>
            </a:r>
            <a:r>
              <a:rPr lang="zh-CN" altLang="en-US"/>
              <a:t>点。</a:t>
            </a:r>
            <a:endParaRPr lang="zh-CN" altLang="en-US"/>
          </a:p>
          <a:p>
            <a:r>
              <a:rPr lang="zh-CN" altLang="en-US"/>
              <a:t>此时，导航突然更新，告诉您距离终点只剩</a:t>
            </a:r>
            <a:r>
              <a:rPr lang="en-US" altLang="zh-CN"/>
              <a:t> 2 </a:t>
            </a:r>
            <a:r>
              <a:rPr lang="zh-CN" altLang="en-US"/>
              <a:t>公里了。</a:t>
            </a:r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651510" y="4164965"/>
            <a:ext cx="789559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这在物理现实中是极其荒谬的：</a:t>
            </a:r>
            <a:endParaRPr lang="zh-CN" altLang="en-US"/>
          </a:p>
          <a:p>
            <a:r>
              <a:rPr lang="zh-CN" altLang="en-US"/>
              <a:t>您仅仅走了</a:t>
            </a:r>
            <a:r>
              <a:rPr lang="en-US" altLang="zh-CN"/>
              <a:t> 1 </a:t>
            </a:r>
            <a:r>
              <a:rPr lang="zh-CN" altLang="en-US"/>
              <a:t>公里的路，怎么可能凭空拉近了</a:t>
            </a:r>
            <a:r>
              <a:rPr lang="en-US" altLang="zh-CN"/>
              <a:t> 8 </a:t>
            </a:r>
            <a:r>
              <a:rPr lang="zh-CN" altLang="en-US"/>
              <a:t>公里的直线距离？</a:t>
            </a:r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3556000" y="2767965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pPr>
              <a:spcBef>
                <a:spcPct val="0"/>
              </a:spcBef>
            </a:pPr>
            <a:r>
              <a:rPr lang="zh-CN" altLang="en-US" sz="1600" b="1">
                <a:latin typeface="Google Sans Text"/>
                <a:ea typeface="Google Sans Text"/>
              </a:rPr>
              <a:t>。</a:t>
            </a:r>
            <a:endParaRPr lang="zh-CN" altLang="en-US" sz="1600" b="1">
              <a:latin typeface="Google Sans Text"/>
              <a:ea typeface="Google Sans Text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51510" y="1132205"/>
            <a:ext cx="803656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思考：既然导航具备可采纳性，能确保得到最短路径，那为什么还要看一致性</a:t>
            </a:r>
            <a:endParaRPr lang="en-US" altLang="zh-CN"/>
          </a:p>
          <a:p>
            <a:pPr indent="457200"/>
            <a:r>
              <a:rPr lang="en-US" altLang="zh-CN"/>
              <a:t>   </a:t>
            </a:r>
            <a:r>
              <a:rPr lang="zh-CN" altLang="en-US"/>
              <a:t>若不具备一致性，又会发生什么？</a:t>
            </a:r>
            <a:endParaRPr lang="zh-CN" altLang="en-US"/>
          </a:p>
        </p:txBody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1105" y="2445385"/>
            <a:ext cx="1737995" cy="173799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switch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8" grpId="1"/>
      <p:bldP spid="9" grpId="0"/>
      <p:bldP spid="9" grpId="1"/>
      <p:bldP spid="10" grpId="0"/>
      <p:bldP spid="10" grpId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4208780" y="734695"/>
            <a:ext cx="3979545" cy="49276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defPPr>
              <a:defRPr lang="zh-CN"/>
            </a:defPPr>
            <a:lvl1pPr algn="ctr">
              <a:lnSpc>
                <a:spcPct val="150000"/>
              </a:lnSpc>
              <a:defRPr sz="1400">
                <a:gradFill>
                  <a:gsLst>
                    <a:gs pos="0">
                      <a:srgbClr val="08AEEA"/>
                    </a:gs>
                    <a:gs pos="100000">
                      <a:srgbClr val="2AF598"/>
                    </a:gs>
                  </a:gsLst>
                  <a:lin ang="270000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1218565">
              <a:lnSpc>
                <a:spcPct val="100000"/>
              </a:lnSpc>
              <a:defRPr/>
            </a:pPr>
            <a:r>
              <a:rPr lang="en-US" altLang="zh-CN" sz="2400" dirty="0">
                <a:solidFill>
                  <a:srgbClr val="717C75"/>
                </a:solidFill>
                <a:latin typeface="汉仪润圆-65简" panose="00020600040101010101" pitchFamily="18" charset="-122"/>
                <a:ea typeface="汉仪润圆-65简" panose="00020600040101010101" pitchFamily="18" charset="-122"/>
                <a:cs typeface="+mn-ea"/>
                <a:sym typeface="汉仪润圆-65简" panose="00020600040101010101" pitchFamily="18" charset="-122"/>
              </a:rPr>
              <a:t>Understand Consistent </a:t>
            </a:r>
            <a:endParaRPr lang="en-US" altLang="zh-CN" sz="2400" b="1" dirty="0">
              <a:solidFill>
                <a:srgbClr val="717C75"/>
              </a:solidFill>
              <a:latin typeface="汉仪润圆-65简" panose="00020600040101010101" pitchFamily="18" charset="-122"/>
              <a:ea typeface="汉仪润圆-65简" panose="00020600040101010101" pitchFamily="18" charset="-122"/>
              <a:cs typeface="+mn-ea"/>
              <a:sym typeface="汉仪润圆-65简" panose="00020600040101010101" pitchFamily="18" charset="-122"/>
            </a:endParaRPr>
          </a:p>
        </p:txBody>
      </p:sp>
      <p:grpSp>
        <p:nvGrpSpPr>
          <p:cNvPr id="39" name="组合 38"/>
          <p:cNvGrpSpPr/>
          <p:nvPr/>
        </p:nvGrpSpPr>
        <p:grpSpPr>
          <a:xfrm>
            <a:off x="3076983" y="980763"/>
            <a:ext cx="6066607" cy="0"/>
            <a:chOff x="4615664" y="960506"/>
            <a:chExt cx="9102718" cy="0"/>
          </a:xfrm>
        </p:grpSpPr>
        <p:cxnSp>
          <p:nvCxnSpPr>
            <p:cNvPr id="41" name="77 21"/>
            <p:cNvCxnSpPr/>
            <p:nvPr/>
          </p:nvCxnSpPr>
          <p:spPr bwMode="auto">
            <a:xfrm flipH="1">
              <a:off x="4615664" y="960506"/>
              <a:ext cx="1314679" cy="0"/>
            </a:xfrm>
            <a:prstGeom prst="line">
              <a:avLst/>
            </a:prstGeom>
            <a:ln>
              <a:solidFill>
                <a:srgbClr val="9AA59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7722"/>
            <p:cNvCxnSpPr/>
            <p:nvPr/>
          </p:nvCxnSpPr>
          <p:spPr bwMode="auto">
            <a:xfrm flipH="1">
              <a:off x="12403703" y="960506"/>
              <a:ext cx="1314679" cy="0"/>
            </a:xfrm>
            <a:prstGeom prst="line">
              <a:avLst/>
            </a:prstGeom>
            <a:ln>
              <a:solidFill>
                <a:srgbClr val="9AA59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4" name="对象 3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6038850" y="3321050"/>
          <a:ext cx="114300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r:id="rId1" imgW="114300" imgH="215900" progId="Equation.KSEE3">
                  <p:embed/>
                </p:oleObj>
              </mc:Choice>
              <mc:Fallback>
                <p:oleObj name="" r:id="rId1" imgW="114300" imgH="215900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6038850" y="3321050"/>
                        <a:ext cx="114300" cy="2159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文本框 10"/>
          <p:cNvSpPr txBox="1"/>
          <p:nvPr/>
        </p:nvSpPr>
        <p:spPr>
          <a:xfrm>
            <a:off x="3556000" y="2767965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pPr>
              <a:spcBef>
                <a:spcPct val="0"/>
              </a:spcBef>
            </a:pPr>
            <a:r>
              <a:rPr lang="zh-CN" altLang="en-US" sz="1600" b="1">
                <a:latin typeface="Google Sans Text"/>
                <a:ea typeface="Google Sans Text"/>
              </a:rPr>
              <a:t>。</a:t>
            </a:r>
            <a:endParaRPr lang="zh-CN" altLang="en-US" sz="1600" b="1">
              <a:latin typeface="Google Sans Text"/>
              <a:ea typeface="Google Sans Text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51510" y="1132205"/>
            <a:ext cx="718566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思考：既然导航具备可采纳性，能确保得到最短路径，那为什么</a:t>
            </a:r>
            <a:endParaRPr lang="en-US" altLang="zh-CN"/>
          </a:p>
          <a:p>
            <a:pPr indent="457200"/>
            <a:r>
              <a:rPr lang="en-US" altLang="zh-CN"/>
              <a:t>   </a:t>
            </a:r>
            <a:r>
              <a:rPr lang="zh-CN" altLang="en-US"/>
              <a:t>若不具备一致性，又会发生什么？</a:t>
            </a:r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708025" y="1928495"/>
            <a:ext cx="10035540" cy="515874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/>
              <a:t>在实际编写</a:t>
            </a:r>
            <a:r>
              <a:rPr lang="en-US" altLang="zh-CN"/>
              <a:t>A* </a:t>
            </a:r>
            <a:r>
              <a:rPr lang="zh-CN" altLang="en-US"/>
              <a:t>算法时，启发式函数如果</a:t>
            </a:r>
            <a:r>
              <a:rPr lang="en-US" altLang="zh-CN"/>
              <a:t>“</a:t>
            </a:r>
            <a:r>
              <a:rPr lang="zh-CN" altLang="en-US"/>
              <a:t>不一致（</a:t>
            </a:r>
            <a:r>
              <a:rPr lang="en-US" altLang="zh-CN"/>
              <a:t>Not Consistent</a:t>
            </a:r>
            <a:r>
              <a:rPr lang="zh-CN" altLang="en-US"/>
              <a:t>）</a:t>
            </a:r>
            <a:r>
              <a:rPr lang="en-US" altLang="zh-CN"/>
              <a:t>”</a:t>
            </a:r>
            <a:r>
              <a:rPr lang="zh-CN" altLang="en-US"/>
              <a:t>，会导致严重的性能灾难。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在</a:t>
            </a:r>
            <a:r>
              <a:rPr lang="en-US" altLang="zh-CN"/>
              <a:t> A* </a:t>
            </a:r>
            <a:r>
              <a:rPr lang="zh-CN" altLang="en-US"/>
              <a:t>算法的代码实现中，我们会维护一个</a:t>
            </a:r>
            <a:r>
              <a:rPr lang="en-US" altLang="zh-CN"/>
              <a:t>“</a:t>
            </a:r>
            <a:r>
              <a:rPr lang="zh-CN" altLang="en-US"/>
              <a:t>开启列表</a:t>
            </a:r>
            <a:r>
              <a:rPr lang="en-US" altLang="zh-CN"/>
              <a:t>”</a:t>
            </a:r>
            <a:r>
              <a:rPr lang="zh-CN" altLang="en-US"/>
              <a:t>（优先队列）和一个</a:t>
            </a:r>
            <a:r>
              <a:rPr lang="en-US" altLang="zh-CN"/>
              <a:t>“</a:t>
            </a:r>
            <a:r>
              <a:rPr lang="zh-CN" altLang="en-US"/>
              <a:t>关闭列表</a:t>
            </a:r>
            <a:r>
              <a:rPr lang="en-US" altLang="zh-CN"/>
              <a:t>”</a:t>
            </a:r>
            <a:r>
              <a:rPr lang="zh-CN" altLang="en-US"/>
              <a:t>（通常用哈希集合</a:t>
            </a:r>
            <a:r>
              <a:rPr lang="en-US" altLang="zh-CN"/>
              <a:t> std::unorderedset </a:t>
            </a:r>
            <a:r>
              <a:rPr lang="zh-CN" altLang="en-US"/>
              <a:t>实现）。当一个节点被评估并放入关闭列表后，算法通常认为已经找到了到达该节点的最短路径，不再对其进行处理。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如果启发式函数是一致的，上述假设绝对成立。每个节点最多只会被移入关闭列表一次。算法的时间复杂度得到严格控制，运行非常高效。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不一致带来的节点重扩展：如果启发式函数仅仅是可采纳但不一致，就会出现</a:t>
            </a:r>
            <a:r>
              <a:rPr lang="en-US" altLang="zh-CN"/>
              <a:t>“</a:t>
            </a:r>
            <a:r>
              <a:rPr lang="zh-CN" altLang="en-US"/>
              <a:t>时光倒流</a:t>
            </a:r>
            <a:r>
              <a:rPr lang="en-US" altLang="zh-CN"/>
              <a:t>”</a:t>
            </a:r>
            <a:r>
              <a:rPr lang="zh-CN" altLang="en-US"/>
              <a:t>的错觉。算法在后续探索中，可能会突然发现一条到达某个已经放入关闭列表的节点的更短路径。</a:t>
            </a:r>
            <a:endParaRPr lang="zh-CN" altLang="en-US"/>
          </a:p>
          <a:p>
            <a:r>
              <a:rPr lang="zh-CN" altLang="en-US"/>
              <a:t>此时，为了保证最终结果的最优性，代码别无选择，只能将该节点从关闭列表中强行踢出，重新放回开启队列中进行二次扩展。在最坏的情况下，这种</a:t>
            </a:r>
            <a:r>
              <a:rPr lang="en-US" altLang="zh-CN"/>
              <a:t>“</a:t>
            </a:r>
            <a:r>
              <a:rPr lang="zh-CN" altLang="en-US"/>
              <a:t>反复横跳</a:t>
            </a:r>
            <a:r>
              <a:rPr lang="en-US" altLang="zh-CN"/>
              <a:t>”</a:t>
            </a:r>
            <a:r>
              <a:rPr lang="zh-CN" altLang="en-US"/>
              <a:t>的重扩展会导致</a:t>
            </a:r>
            <a:r>
              <a:rPr lang="en-US" altLang="zh-CN"/>
              <a:t> A* </a:t>
            </a:r>
            <a:r>
              <a:rPr lang="zh-CN" altLang="en-US"/>
              <a:t>算法的时间复杂度退化为指数级别（</a:t>
            </a:r>
            <a:r>
              <a:rPr lang="en-US" altLang="zh-CN"/>
              <a:t>Exponential Time</a:t>
            </a:r>
            <a:r>
              <a:rPr lang="zh-CN" altLang="en-US"/>
              <a:t>），导致程序严重卡顿。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结论：在工程实现中，一致性能够确保每个节点只被扩展一次，从而极大地保证了算法的运行效率。</a:t>
            </a:r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switch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2273300" y="2694305"/>
            <a:ext cx="7799705" cy="13220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914400" lvl="2" indent="457200"/>
            <a:r>
              <a:rPr lang="zh-CN" altLang="en-US" sz="8000"/>
              <a:t>谢谢观看！</a:t>
            </a:r>
            <a:endParaRPr lang="zh-CN" altLang="en-US" sz="80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switch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PA" val="v3.0.1"/>
</p:tagLst>
</file>

<file path=ppt/tags/tag2.xml><?xml version="1.0" encoding="utf-8"?>
<p:tagLst xmlns:p="http://schemas.openxmlformats.org/presentationml/2006/main">
  <p:tag name="KSO_WM_DIAGRAM_VIRTUALLY_FRAME" val="{&quot;height&quot;:339.2540157480315,&quot;left&quot;:122.3,&quot;top&quot;:112.52826771653545,&quot;width&quot;:394.45}"/>
</p:tagLst>
</file>

<file path=ppt/tags/tag3.xml><?xml version="1.0" encoding="utf-8"?>
<p:tagLst xmlns:p="http://schemas.openxmlformats.org/presentationml/2006/main">
  <p:tag name="KSO_WM_DIAGRAM_VIRTUALLY_FRAME" val="{&quot;height&quot;:339.2540157480315,&quot;left&quot;:122.3,&quot;top&quot;:112.52826771653545,&quot;width&quot;:394.45}"/>
</p:tagLst>
</file>

<file path=ppt/tags/tag4.xml><?xml version="1.0" encoding="utf-8"?>
<p:tagLst xmlns:p="http://schemas.openxmlformats.org/presentationml/2006/main">
  <p:tag name="KSO_WM_DIAGRAM_VIRTUALLY_FRAME" val="{&quot;height&quot;:339.2540157480315,&quot;left&quot;:122.3,&quot;top&quot;:112.52826771653545,&quot;width&quot;:394.45}"/>
</p:tagLst>
</file>

<file path=ppt/tags/tag5.xml><?xml version="1.0" encoding="utf-8"?>
<p:tagLst xmlns:p="http://schemas.openxmlformats.org/presentationml/2006/main">
  <p:tag name="KSO_WM_DIAGRAM_VIRTUALLY_FRAME" val="{&quot;height&quot;:339.2540157480315,&quot;left&quot;:122.3,&quot;top&quot;:112.52826771653545,&quot;width&quot;:394.45}"/>
</p:tagLst>
</file>

<file path=ppt/tags/tag6.xml><?xml version="1.0" encoding="utf-8"?>
<p:tagLst xmlns:p="http://schemas.openxmlformats.org/presentationml/2006/main">
  <p:tag name="KSO_WM_DIAGRAM_VIRTUALLY_FRAME" val="{&quot;height&quot;:339.2540157480315,&quot;left&quot;:122.3,&quot;top&quot;:112.52826771653545,&quot;width&quot;:394.45}"/>
</p:tagLst>
</file>

<file path=ppt/tags/tag7.xml><?xml version="1.0" encoding="utf-8"?>
<p:tagLst xmlns:p="http://schemas.openxmlformats.org/presentationml/2006/main">
  <p:tag name="KSO_WM_DIAGRAM_VIRTUALLY_FRAME" val="{&quot;height&quot;:339.2540157480315,&quot;left&quot;:122.3,&quot;top&quot;:112.52826771653545,&quot;width&quot;:394.45}"/>
</p:tagLst>
</file>

<file path=ppt/tags/tag8.xml><?xml version="1.0" encoding="utf-8"?>
<p:tagLst xmlns:p="http://schemas.openxmlformats.org/presentationml/2006/main">
  <p:tag name="KSO_WM_DIAGRAM_VIRTUALLY_FRAME" val="{&quot;height&quot;:339.2540157480315,&quot;left&quot;:130.65,&quot;top&quot;:112.52826771653545,&quot;width&quot;:377.1}"/>
</p:tagLst>
</file>

<file path=ppt/tags/tag9.xml><?xml version="1.0" encoding="utf-8"?>
<p:tagLst xmlns:p="http://schemas.openxmlformats.org/presentationml/2006/main">
  <p:tag name="KSO_WM_DIAGRAM_VIRTUALLY_FRAME" val="{&quot;height&quot;:339.2540157480315,&quot;left&quot;:130.65,&quot;top&quot;:112.52826771653545,&quot;width&quot;:377.1}"/>
</p:tagLst>
</file>

<file path=ppt/tags/tag10.xml><?xml version="1.0" encoding="utf-8"?>
<p:tagLst xmlns:p="http://schemas.openxmlformats.org/presentationml/2006/main">
  <p:tag name="KSO_WM_DIAGRAM_VIRTUALLY_FRAME" val="{&quot;height&quot;:339.2540157480315,&quot;left&quot;:122.3,&quot;top&quot;:112.52826771653545,&quot;width&quot;:394.45}"/>
</p:tagLst>
</file>

<file path=ppt/tags/tag11.xml><?xml version="1.0" encoding="utf-8"?>
<p:tagLst xmlns:p="http://schemas.openxmlformats.org/presentationml/2006/main">
  <p:tag name="KSO_WM_DIAGRAM_VIRTUALLY_FRAME" val="{&quot;height&quot;:339.2540157480315,&quot;left&quot;:122.3,&quot;top&quot;:112.52826771653545,&quot;width&quot;:394.45}"/>
</p:tagLst>
</file>

<file path=ppt/tags/tag12.xml><?xml version="1.0" encoding="utf-8"?>
<p:tagLst xmlns:p="http://schemas.openxmlformats.org/presentationml/2006/main">
  <p:tag name="KSO_WM_DIAGRAM_VIRTUALLY_FRAME" val="{&quot;height&quot;:339.2540157480315,&quot;left&quot;:122.3,&quot;top&quot;:112.52826771653545,&quot;width&quot;:394.45}"/>
</p:tagLst>
</file>

<file path=ppt/tags/tag13.xml><?xml version="1.0" encoding="utf-8"?>
<p:tagLst xmlns:p="http://schemas.openxmlformats.org/presentationml/2006/main">
  <p:tag name="KSO_WM_DIAGRAM_VIRTUALLY_FRAME" val="{&quot;height&quot;:339.2540157480315,&quot;left&quot;:122.3,&quot;top&quot;:112.52826771653545,&quot;width&quot;:394.45}"/>
</p:tagLst>
</file>

<file path=ppt/tags/tag14.xml><?xml version="1.0" encoding="utf-8"?>
<p:tagLst xmlns:p="http://schemas.openxmlformats.org/presentationml/2006/main">
  <p:tag name="KSO_DOCER_RESOURCE_TRACE_INFO" val="{&quot;id&quot;:&quot;20348541&quot;,&quot;origin&quot;:0,&quot;type&quot;:&quot;textbox&quot;,&quot;user&quot;:&quot;371949792&quot;}"/>
</p:tagLst>
</file>

<file path=ppt/tags/tag15.xml><?xml version="1.0" encoding="utf-8"?>
<p:tagLst xmlns:p="http://schemas.openxmlformats.org/presentationml/2006/main">
  <p:tag name="ISLIDE.GUIDESSETTING" val="{&quot;Id&quot;:null,&quot;Name&quot;:&quot;正常&quot;,&quot;HeaderHeight&quot;:15.0,&quot;FooterHeight&quot;:9.0,&quot;SideMargin&quot;:5.5,&quot;TopMargin&quot;:0.0,&quot;BottomMargin&quot;:0.0,&quot;IntervalMargin&quot;:1.5,&quot;SettingType&quot;:&quot;System&quot;}"/>
  <p:tag name="COMMONDATA" val="eyJoZGlkIjoiNmU0ZmNjMjcyNjVhYWVmODFmMDA2NGIyZTQxOWE2NzQifQ=="/>
  <p:tag name="resource_record_key" val="{&quot;19&quot;:[20348541]}"/>
</p:tagLst>
</file>

<file path=ppt/theme/theme1.xml><?xml version="1.0" encoding="utf-8"?>
<a:theme xmlns:a="http://schemas.openxmlformats.org/drawingml/2006/main" name="pl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b4wzbpal">
      <a:majorFont>
        <a:latin typeface="汉仪润圆-65简"/>
        <a:ea typeface="汉仪润圆-65简"/>
        <a:cs typeface=""/>
      </a:majorFont>
      <a:minorFont>
        <a:latin typeface="汉仪润圆-65简"/>
        <a:ea typeface="汉仪润圆-65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汉仪润圆-65简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汉仪润圆-65简"/>
        <a:ea typeface=""/>
        <a:cs typeface=""/>
        <a:font script="Jpan" typeface="ＭＳ Ｐゴシック"/>
        <a:font script="Hang" typeface="맑은 고딕"/>
        <a:font script="Hans" typeface="汉仪润圆-65简"/>
        <a:font script="Hant" typeface="新細明體"/>
        <a:font script="Arab" typeface="汉仪润圆-65简"/>
        <a:font script="Hebr" typeface="汉仪润圆-65简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汉仪润圆-65简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汉仪润圆-65简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汉仪润圆-65简"/>
        <a:ea typeface=""/>
        <a:cs typeface=""/>
        <a:font script="Jpan" typeface="ＭＳ Ｐゴシック"/>
        <a:font script="Hang" typeface="맑은 고딕"/>
        <a:font script="Hans" typeface="汉仪润圆-65简"/>
        <a:font script="Hant" typeface="新細明體"/>
        <a:font script="Arab" typeface="汉仪润圆-65简"/>
        <a:font script="Hebr" typeface="汉仪润圆-65简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汉仪润圆-65简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3711</Words>
  <Application>WPS 演示</Application>
  <PresentationFormat>宽屏</PresentationFormat>
  <Paragraphs>247</Paragraphs>
  <Slides>16</Slides>
  <Notes>16</Notes>
  <HiddenSlides>1</HiddenSlides>
  <MMClips>0</MMClips>
  <ScaleCrop>false</ScaleCrop>
  <HeadingPairs>
    <vt:vector size="8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4</vt:i4>
      </vt:variant>
      <vt:variant>
        <vt:lpstr>幻灯片标题</vt:lpstr>
      </vt:variant>
      <vt:variant>
        <vt:i4>16</vt:i4>
      </vt:variant>
    </vt:vector>
  </HeadingPairs>
  <TitlesOfParts>
    <vt:vector size="34" baseType="lpstr">
      <vt:lpstr>Arial</vt:lpstr>
      <vt:lpstr>宋体</vt:lpstr>
      <vt:lpstr>Wingdings</vt:lpstr>
      <vt:lpstr>汉仪润圆-65简</vt:lpstr>
      <vt:lpstr>方正清刻本悦宋简体</vt:lpstr>
      <vt:lpstr>微软雅黑</vt:lpstr>
      <vt:lpstr>Calibri</vt:lpstr>
      <vt:lpstr>黑体</vt:lpstr>
      <vt:lpstr>汉仪颜楷简</vt:lpstr>
      <vt:lpstr>Google Sans Text</vt:lpstr>
      <vt:lpstr>Arial Unicode MS</vt:lpstr>
      <vt:lpstr>Google Sans Text</vt:lpstr>
      <vt:lpstr>Saturday Sans Regular</vt:lpstr>
      <vt:lpstr>pl主题</vt:lpstr>
      <vt:lpstr>Equation.KSEE3</vt:lpstr>
      <vt:lpstr>Equation.KSEE3</vt:lpstr>
      <vt:lpstr>Equation.KSEE3</vt:lpstr>
      <vt:lpstr>Equation.KSEE3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</dc:creator>
  <cp:lastModifiedBy>王云超0110</cp:lastModifiedBy>
  <cp:revision>99</cp:revision>
  <dcterms:created xsi:type="dcterms:W3CDTF">2021-10-25T03:40:00Z</dcterms:created>
  <dcterms:modified xsi:type="dcterms:W3CDTF">2026-06-06T14:19:02Z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C3557A13F4B7403F9D696AA352113D6B_13</vt:lpwstr>
  </property>
  <property fmtid="{D5CDD505-2E9C-101B-9397-08002B2CF9AE}" pid="3" name="KSOProductBuildVer">
    <vt:lpwstr>2052-12.1.0.26375</vt:lpwstr>
  </property>
  <property fmtid="{D5CDD505-2E9C-101B-9397-08002B2CF9AE}" pid="4" name="KSOTemplateUUID">
    <vt:lpwstr>v1.0_mb_knLkZY1hxWbNhF5bqycolg==</vt:lpwstr>
  </property>
</Properties>
</file>