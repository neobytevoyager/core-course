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4.xml" ContentType="application/vnd.openxmlformats-officedocument.presentationml.tags+xml"/>
  <Override PartName="/ppt/notesSlides/notesSlide1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2.xml" ContentType="application/vnd.openxmlformats-officedocument.presentationml.notesSlide+xml"/>
  <Override PartName="/ppt/tags/tag78.xml" ContentType="application/vnd.openxmlformats-officedocument.presentationml.tags+xml"/>
  <Override PartName="/ppt/notesSlides/notesSlide3.xml" ContentType="application/vnd.openxmlformats-officedocument.presentationml.notesSlide+xml"/>
  <Override PartName="/ppt/tags/tag79.xml" ContentType="application/vnd.openxmlformats-officedocument.presentationml.tags+xml"/>
  <Override PartName="/ppt/notesSlides/notesSlide4.xml" ContentType="application/vnd.openxmlformats-officedocument.presentationml.notesSlide+xml"/>
  <Override PartName="/ppt/tags/tag80.xml" ContentType="application/vnd.openxmlformats-officedocument.presentationml.tags+xml"/>
  <Override PartName="/ppt/notesSlides/notesSlide5.xml" ContentType="application/vnd.openxmlformats-officedocument.presentationml.notesSlide+xml"/>
  <Override PartName="/ppt/tags/tag81.xml" ContentType="application/vnd.openxmlformats-officedocument.presentationml.tags+xml"/>
  <Override PartName="/ppt/notesSlides/notesSlide6.xml" ContentType="application/vnd.openxmlformats-officedocument.presentationml.notesSlide+xml"/>
  <Override PartName="/ppt/tags/tag82.xml" ContentType="application/vnd.openxmlformats-officedocument.presentationml.tags+xml"/>
  <Override PartName="/ppt/notesSlides/notesSlide7.xml" ContentType="application/vnd.openxmlformats-officedocument.presentationml.notesSlide+xml"/>
  <Override PartName="/ppt/tags/tag83.xml" ContentType="application/vnd.openxmlformats-officedocument.presentationml.tags+xml"/>
  <Override PartName="/ppt/notesSlides/notesSlide8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9.xml" ContentType="application/vnd.openxmlformats-officedocument.presentationml.notesSlide+xml"/>
  <Override PartName="/ppt/tags/tag87.xml" ContentType="application/vnd.openxmlformats-officedocument.presentationml.tags+xml"/>
  <Override PartName="/ppt/notesSlides/notesSlide10.xml" ContentType="application/vnd.openxmlformats-officedocument.presentationml.notesSlide+xml"/>
  <Override PartName="/ppt/tags/tag88.xml" ContentType="application/vnd.openxmlformats-officedocument.presentationml.tags+xml"/>
  <Override PartName="/ppt/notesSlides/notesSlide11.xml" ContentType="application/vnd.openxmlformats-officedocument.presentationml.notesSlide+xml"/>
  <Override PartName="/ppt/tags/tag89.xml" ContentType="application/vnd.openxmlformats-officedocument.presentationml.tags+xml"/>
  <Override PartName="/ppt/notesSlides/notesSlide12.xml" ContentType="application/vnd.openxmlformats-officedocument.presentationml.notesSlide+xml"/>
  <Override PartName="/ppt/tags/tag90.xml" ContentType="application/vnd.openxmlformats-officedocument.presentationml.tags+xml"/>
  <Override PartName="/ppt/notesSlides/notesSlide13.xml" ContentType="application/vnd.openxmlformats-officedocument.presentationml.notesSlide+xml"/>
  <Override PartName="/ppt/tags/tag91.xml" ContentType="application/vnd.openxmlformats-officedocument.presentationml.tags+xml"/>
  <Override PartName="/ppt/notesSlides/notesSlide14.xml" ContentType="application/vnd.openxmlformats-officedocument.presentationml.notesSlide+xml"/>
  <Override PartName="/ppt/tags/tag92.xml" ContentType="application/vnd.openxmlformats-officedocument.presentationml.tags+xml"/>
  <Override PartName="/ppt/notesSlides/notesSlide15.xml" ContentType="application/vnd.openxmlformats-officedocument.presentationml.notesSlide+xml"/>
  <Override PartName="/ppt/tags/tag93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8" r:id="rId2"/>
    <p:sldId id="261" r:id="rId3"/>
    <p:sldId id="269" r:id="rId4"/>
    <p:sldId id="292" r:id="rId5"/>
    <p:sldId id="293" r:id="rId6"/>
    <p:sldId id="270" r:id="rId7"/>
    <p:sldId id="267" r:id="rId8"/>
    <p:sldId id="294" r:id="rId9"/>
    <p:sldId id="296" r:id="rId10"/>
    <p:sldId id="297" r:id="rId11"/>
    <p:sldId id="277" r:id="rId12"/>
    <p:sldId id="278" r:id="rId13"/>
    <p:sldId id="281" r:id="rId14"/>
    <p:sldId id="291" r:id="rId15"/>
    <p:sldId id="298" r:id="rId16"/>
    <p:sldId id="284" r:id="rId17"/>
  </p:sldIdLst>
  <p:sldSz cx="12192000" cy="6858000"/>
  <p:notesSz cx="6858000" cy="9144000"/>
  <p:embeddedFontLst>
    <p:embeddedFont>
      <p:font typeface="方正公文小标宋" panose="02010600030101010101" charset="-122"/>
      <p:regular r:id="rId20"/>
    </p:embeddedFont>
    <p:embeddedFont>
      <p:font typeface="汉仪大黑简" panose="02010600030101010101" charset="-122"/>
      <p:regular r:id="rId21"/>
    </p:embeddedFont>
    <p:embeddedFont>
      <p:font typeface="汉仪劲楷简" panose="02010600030101010101" charset="-122"/>
      <p:regular r:id="rId22"/>
    </p:embeddedFont>
    <p:embeddedFont>
      <p:font typeface="汉仪闫锐敏行楷简" panose="02010600030101010101" charset="-122"/>
      <p:regular r:id="rId23"/>
    </p:embeddedFont>
    <p:embeddedFont>
      <p:font typeface="Cambria Math" panose="02040503050406030204" pitchFamily="18" charset="0"/>
      <p:regular r:id="rId24"/>
    </p:embeddedFont>
  </p:embeddedFontLst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0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6161"/>
    <a:srgbClr val="FFFFFF"/>
    <a:srgbClr val="BB5C4F"/>
    <a:srgbClr val="ACAD97"/>
    <a:srgbClr val="B8B9A6"/>
    <a:srgbClr val="FEFEFA"/>
    <a:srgbClr val="FDFDF5"/>
    <a:srgbClr val="F1F0E2"/>
    <a:srgbClr val="FFFEF6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45" y="162"/>
      </p:cViewPr>
      <p:guideLst>
        <p:guide orient="horz" pos="2320"/>
        <p:guide pos="38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汉仪大黑简" panose="02010600000101010101" charset="-122"/>
              <a:ea typeface="汉仪大黑简" panose="0201060000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汉仪大黑简" panose="02010600000101010101" charset="-122"/>
              </a:rPr>
              <a:t>2026/5/10</a:t>
            </a:fld>
            <a:endParaRPr lang="zh-CN" altLang="en-US">
              <a:latin typeface="汉仪大黑简" panose="0201060000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汉仪大黑简" panose="02010600000101010101" charset="-122"/>
              <a:ea typeface="汉仪大黑简" panose="0201060000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汉仪大黑简" panose="02010600000101010101" charset="-122"/>
              </a:rPr>
              <a:t>‹#›</a:t>
            </a:fld>
            <a:endParaRPr lang="zh-CN" altLang="en-US">
              <a:latin typeface="汉仪大黑简" panose="0201060000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汉仪大黑简" panose="02010600000101010101" charset="-122"/>
                <a:ea typeface="汉仪大黑简" panose="0201060000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汉仪大黑简" panose="02010600000101010101" charset="-122"/>
                <a:ea typeface="汉仪大黑简" panose="0201060000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汉仪大黑简" panose="02010600000101010101" charset="-122"/>
                <a:ea typeface="汉仪大黑简" panose="0201060000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汉仪大黑简" panose="02010600000101010101" charset="-122"/>
                <a:ea typeface="汉仪大黑简" panose="02010600000101010101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汉仪大黑简" panose="02010600000101010101" charset="-122"/>
        <a:ea typeface="汉仪大黑简" panose="02010600000101010101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汉仪大黑简" panose="02010600000101010101" charset="-122"/>
        <a:ea typeface="汉仪大黑简" panose="02010600000101010101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汉仪大黑简" panose="02010600000101010101" charset="-122"/>
        <a:ea typeface="汉仪大黑简" panose="02010600000101010101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汉仪大黑简" panose="02010600000101010101" charset="-122"/>
        <a:ea typeface="汉仪大黑简" panose="02010600000101010101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汉仪大黑简" panose="02010600000101010101" charset="-122"/>
        <a:ea typeface="汉仪大黑简" panose="02010600000101010101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2026/5/10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ea typeface="汉仪大黑简" panose="0201060000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2026/5/10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ea typeface="汉仪大黑简" panose="0201060000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ea typeface="汉仪大黑简" panose="0201060000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汉仪大黑简" panose="0201060000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大黑简" panose="0201060000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大黑简" panose="0201060000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大黑简" panose="0201060000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大黑简" panose="0201060000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汉仪大黑简" panose="0201060000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2" Type="http://schemas.openxmlformats.org/officeDocument/2006/relationships/tags" Target="../tags/tag66.xml"/><Relationship Id="rId16" Type="http://schemas.openxmlformats.org/officeDocument/2006/relationships/image" Target="../media/image1.png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86.xml"/><Relationship Id="rId7" Type="http://schemas.openxmlformats.org/officeDocument/2006/relationships/image" Target="../media/image2.png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8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9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0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2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357245" y="865505"/>
            <a:ext cx="5549900" cy="5549900"/>
          </a:xfrm>
          <a:prstGeom prst="ellipse">
            <a:avLst/>
          </a:prstGeom>
          <a:gradFill>
            <a:gsLst>
              <a:gs pos="79000">
                <a:schemeClr val="accent5">
                  <a:lumMod val="40000"/>
                  <a:lumOff val="60000"/>
                  <a:alpha val="0"/>
                </a:schemeClr>
              </a:gs>
              <a:gs pos="26000">
                <a:schemeClr val="accent5">
                  <a:lumMod val="60000"/>
                  <a:lumOff val="40000"/>
                  <a:alpha val="18000"/>
                </a:schemeClr>
              </a:gs>
            </a:gsLst>
            <a:lin ang="53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 descr="7b0a20202020227461726765744d6f64756c65223a202270726f636573734f6e6c696e65466f6e7473220a7d0a"/>
          <p:cNvSpPr txBox="1"/>
          <p:nvPr/>
        </p:nvSpPr>
        <p:spPr>
          <a:xfrm>
            <a:off x="128905" y="2272665"/>
            <a:ext cx="490220" cy="16027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395605" y="191262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 descr="7b0a20202020227461726765744d6f64756c65223a202270726f636573734f6e6c696e65466f6e7473220a7d0a"/>
          <p:cNvSpPr txBox="1"/>
          <p:nvPr/>
        </p:nvSpPr>
        <p:spPr>
          <a:xfrm>
            <a:off x="11558905" y="2178050"/>
            <a:ext cx="490220" cy="14833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11825605" y="370014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395605" y="391795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11825605" y="181546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6C327780-755B-C5C6-2E1E-605FDE13DA44}"/>
              </a:ext>
            </a:extLst>
          </p:cNvPr>
          <p:cNvSpPr txBox="1"/>
          <p:nvPr/>
        </p:nvSpPr>
        <p:spPr>
          <a:xfrm>
            <a:off x="2199640" y="1550035"/>
            <a:ext cx="780923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>
                <a:latin typeface="方正公文小标宋" panose="02000500000000000000" charset="-122"/>
                <a:ea typeface="方正公文小标宋" panose="02000500000000000000" charset="-122"/>
              </a:rPr>
              <a:t>第三次小班第三题</a:t>
            </a:r>
          </a:p>
          <a:p>
            <a:pPr algn="ctr"/>
            <a:r>
              <a:rPr lang="zh-CN" altLang="en-US" sz="4400" dirty="0">
                <a:latin typeface="方正公文小标宋" panose="02000500000000000000" charset="-122"/>
                <a:ea typeface="方正公文小标宋" panose="02000500000000000000" charset="-122"/>
              </a:rPr>
              <a:t>贝叶斯网络设计医疗诊断系统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0F8A7A-2D77-6C6A-5591-407CB8BBBA3D}"/>
              </a:ext>
            </a:extLst>
          </p:cNvPr>
          <p:cNvSpPr txBox="1"/>
          <p:nvPr/>
        </p:nvSpPr>
        <p:spPr>
          <a:xfrm>
            <a:off x="7892415" y="3917950"/>
            <a:ext cx="375285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汇报组：第九组</a:t>
            </a:r>
          </a:p>
          <a:p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汇报人：周雨健</a:t>
            </a:r>
          </a:p>
          <a:p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小组成员：</a:t>
            </a:r>
          </a:p>
          <a:p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周雨健：负责</a:t>
            </a:r>
            <a:r>
              <a:rPr lang="en-US" altLang="zh-CN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PPT</a:t>
            </a: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融合与讲解</a:t>
            </a:r>
          </a:p>
          <a:p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王云超：负责第一二部分</a:t>
            </a:r>
          </a:p>
          <a:p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张一龙：负责第三部分</a:t>
            </a:r>
          </a:p>
          <a:p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毕佳涛：负责第四部分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6">
            <a:alphaModFix amt="3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缺角矩形 1"/>
          <p:cNvSpPr/>
          <p:nvPr>
            <p:custDataLst>
              <p:tags r:id="rId2"/>
            </p:custDataLst>
          </p:nvPr>
        </p:nvSpPr>
        <p:spPr>
          <a:xfrm>
            <a:off x="1494790" y="2219960"/>
            <a:ext cx="1847850" cy="3505200"/>
          </a:xfrm>
          <a:prstGeom prst="plaque">
            <a:avLst>
              <a:gd name="adj" fmla="val 12542"/>
            </a:avLst>
          </a:prstGeom>
          <a:blipFill rotWithShape="1">
            <a:blip r:embed="rId16"/>
            <a:stretch>
              <a:fillRect b="-26000"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缺角矩形 6"/>
          <p:cNvSpPr/>
          <p:nvPr>
            <p:custDataLst>
              <p:tags r:id="rId3"/>
            </p:custDataLst>
          </p:nvPr>
        </p:nvSpPr>
        <p:spPr>
          <a:xfrm>
            <a:off x="3895090" y="2219960"/>
            <a:ext cx="1847850" cy="3505200"/>
          </a:xfrm>
          <a:prstGeom prst="plaque">
            <a:avLst>
              <a:gd name="adj" fmla="val 12542"/>
            </a:avLst>
          </a:prstGeom>
          <a:blipFill rotWithShape="1">
            <a:blip r:embed="rId16"/>
            <a:stretch>
              <a:fillRect b="-26000"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缺角矩形 7"/>
          <p:cNvSpPr/>
          <p:nvPr>
            <p:custDataLst>
              <p:tags r:id="rId4"/>
            </p:custDataLst>
          </p:nvPr>
        </p:nvSpPr>
        <p:spPr>
          <a:xfrm>
            <a:off x="6295390" y="2219960"/>
            <a:ext cx="1847850" cy="3505200"/>
          </a:xfrm>
          <a:prstGeom prst="plaque">
            <a:avLst>
              <a:gd name="adj" fmla="val 12542"/>
            </a:avLst>
          </a:prstGeom>
          <a:blipFill rotWithShape="1">
            <a:blip r:embed="rId16"/>
            <a:stretch>
              <a:fillRect b="-26000"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缺角矩形 21"/>
          <p:cNvSpPr/>
          <p:nvPr>
            <p:custDataLst>
              <p:tags r:id="rId5"/>
            </p:custDataLst>
          </p:nvPr>
        </p:nvSpPr>
        <p:spPr>
          <a:xfrm>
            <a:off x="8714740" y="2219960"/>
            <a:ext cx="1847850" cy="3505200"/>
          </a:xfrm>
          <a:prstGeom prst="plaque">
            <a:avLst>
              <a:gd name="adj" fmla="val 12542"/>
            </a:avLst>
          </a:prstGeom>
          <a:blipFill rotWithShape="1">
            <a:blip r:embed="rId16"/>
            <a:stretch>
              <a:fillRect b="-26000"/>
            </a:stretch>
          </a:blip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643755" y="365125"/>
            <a:ext cx="3119755" cy="1861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11500" cap="all" dirty="0">
                <a:solidFill>
                  <a:srgbClr val="616161"/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闫锐敏行楷简" panose="00020600040101010101" charset="-122"/>
                <a:sym typeface="+mn-lt"/>
              </a:rPr>
              <a:t>序目</a:t>
            </a:r>
            <a:r>
              <a:rPr lang="zh-CN" altLang="en-US" sz="5400" cap="all" dirty="0">
                <a:solidFill>
                  <a:srgbClr val="616161"/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闫锐敏行楷简" panose="00020600040101010101" charset="-122"/>
                <a:sym typeface="+mn-lt"/>
              </a:rPr>
              <a:t> </a:t>
            </a:r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2098040" y="3151505"/>
            <a:ext cx="742315" cy="196913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80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</a:rPr>
              <a:t>题目介绍</a:t>
            </a:r>
            <a:endParaRPr lang="zh-CN" altLang="en-US" sz="800">
              <a:solidFill>
                <a:srgbClr val="616161"/>
              </a:solidFill>
              <a:uFillTx/>
              <a:latin typeface="汉仪劲楷简" panose="00020600040101010101" charset="-122"/>
              <a:ea typeface="汉仪劲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4495165" y="3164205"/>
            <a:ext cx="662305" cy="224599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400" b="1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</a:rPr>
              <a:t>贝叶斯网络构建</a:t>
            </a:r>
            <a:r>
              <a:rPr lang="zh-CN" altLang="en-US" sz="90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，</a:t>
            </a:r>
            <a:endParaRPr lang="zh-CN" altLang="en-US" sz="900">
              <a:solidFill>
                <a:srgbClr val="616161"/>
              </a:solidFill>
              <a:uFillTx/>
              <a:latin typeface="汉仪劲楷简" panose="00020600040101010101" charset="-122"/>
              <a:ea typeface="汉仪劲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8"/>
            </p:custDataLst>
          </p:nvPr>
        </p:nvSpPr>
        <p:spPr>
          <a:xfrm>
            <a:off x="6894878" y="3151505"/>
            <a:ext cx="664797" cy="24206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2400" b="1" dirty="0">
                <a:solidFill>
                  <a:srgbClr val="616161"/>
                </a:solidFill>
                <a:effectLst/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</a:rPr>
              <a:t>条件概率表添</a:t>
            </a:r>
            <a:r>
              <a:rPr lang="zh-CN" altLang="en-US" sz="2400" b="1" dirty="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</a:rPr>
              <a:t>加</a:t>
            </a:r>
            <a:endParaRPr lang="zh-CN" altLang="en-US" sz="900" dirty="0">
              <a:solidFill>
                <a:srgbClr val="616161"/>
              </a:solidFill>
              <a:effectLst/>
              <a:uFillTx/>
              <a:latin typeface="汉仪劲楷简" panose="00020600040101010101" charset="-122"/>
              <a:ea typeface="汉仪劲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 rot="16200000">
            <a:off x="8862695" y="3907155"/>
            <a:ext cx="1734185" cy="524510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lstStyle/>
          <a:p>
            <a:pPr algn="l" fontAlgn="auto">
              <a:lnSpc>
                <a:spcPct val="130000"/>
              </a:lnSpc>
            </a:pPr>
            <a:r>
              <a:rPr lang="en-US" altLang="zh-CN" sz="280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Q&amp;A</a:t>
            </a:r>
            <a:endParaRPr lang="zh-CN" altLang="en-US" sz="900">
              <a:solidFill>
                <a:srgbClr val="616161"/>
              </a:solidFill>
              <a:uFillTx/>
              <a:latin typeface="汉仪劲楷简" panose="00020600040101010101" charset="-122"/>
              <a:ea typeface="汉仪劲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10"/>
            </p:custDataLst>
          </p:nvPr>
        </p:nvSpPr>
        <p:spPr>
          <a:xfrm>
            <a:off x="1766570" y="2239645"/>
            <a:ext cx="1383030" cy="9220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60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壹</a:t>
            </a:r>
            <a:endParaRPr lang="zh-CN" altLang="en-US" sz="60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4134485" y="2239645"/>
            <a:ext cx="1383030" cy="9220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60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贰</a:t>
            </a:r>
            <a:endParaRPr lang="zh-CN" altLang="en-US" sz="60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12"/>
            </p:custDataLst>
          </p:nvPr>
        </p:nvSpPr>
        <p:spPr>
          <a:xfrm>
            <a:off x="6540500" y="2239645"/>
            <a:ext cx="1383030" cy="9220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60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叁</a:t>
            </a:r>
            <a:endParaRPr lang="zh-CN" altLang="en-US" sz="60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32" name="文本框 31"/>
          <p:cNvSpPr txBox="1"/>
          <p:nvPr>
            <p:custDataLst>
              <p:tags r:id="rId13"/>
            </p:custDataLst>
          </p:nvPr>
        </p:nvSpPr>
        <p:spPr>
          <a:xfrm>
            <a:off x="8990965" y="2239645"/>
            <a:ext cx="1383030" cy="9220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 fontAlgn="auto">
              <a:lnSpc>
                <a:spcPct val="130000"/>
              </a:lnSpc>
            </a:pPr>
            <a:r>
              <a:rPr lang="zh-CN" altLang="en-US" sz="60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肆</a:t>
            </a:r>
            <a:endParaRPr lang="zh-CN" altLang="en-US" sz="60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3410585" y="1295400"/>
            <a:ext cx="1007745" cy="635"/>
          </a:xfrm>
          <a:prstGeom prst="line">
            <a:avLst/>
          </a:prstGeom>
          <a:ln w="19050">
            <a:solidFill>
              <a:srgbClr val="616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706995" y="1294765"/>
            <a:ext cx="1007745" cy="635"/>
          </a:xfrm>
          <a:prstGeom prst="line">
            <a:avLst/>
          </a:prstGeom>
          <a:ln w="19050">
            <a:solidFill>
              <a:srgbClr val="616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 descr="7b0a20202020227461726765744d6f64756c65223a202270726f636573734f6e6c696e65466f6e7473220a7d0a"/>
          <p:cNvSpPr txBox="1"/>
          <p:nvPr/>
        </p:nvSpPr>
        <p:spPr>
          <a:xfrm>
            <a:off x="128905" y="2272665"/>
            <a:ext cx="490220" cy="16027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395605" y="191262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 descr="7b0a20202020227461726765744d6f64756c65223a202270726f636573734f6e6c696e65466f6e7473220a7d0a"/>
          <p:cNvSpPr txBox="1"/>
          <p:nvPr/>
        </p:nvSpPr>
        <p:spPr>
          <a:xfrm>
            <a:off x="11558905" y="2178050"/>
            <a:ext cx="490220" cy="14833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11825605" y="370014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395605" y="391795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11825605" y="181546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/>
        </p:nvSpPr>
        <p:spPr>
          <a:xfrm>
            <a:off x="3357245" y="865505"/>
            <a:ext cx="5549900" cy="5549900"/>
          </a:xfrm>
          <a:prstGeom prst="ellipse">
            <a:avLst/>
          </a:prstGeom>
          <a:gradFill>
            <a:gsLst>
              <a:gs pos="79000">
                <a:schemeClr val="accent5">
                  <a:lumMod val="40000"/>
                  <a:lumOff val="60000"/>
                  <a:alpha val="0"/>
                </a:schemeClr>
              </a:gs>
              <a:gs pos="26000">
                <a:schemeClr val="accent5">
                  <a:lumMod val="60000"/>
                  <a:lumOff val="40000"/>
                  <a:alpha val="18000"/>
                </a:schemeClr>
              </a:gs>
            </a:gsLst>
            <a:lin ang="53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 descr="7b0a20202020227461726765744d6f64756c65223a202270726f636573734f6e6c696e65466f6e7473220a7d0a"/>
          <p:cNvSpPr txBox="1"/>
          <p:nvPr/>
        </p:nvSpPr>
        <p:spPr>
          <a:xfrm>
            <a:off x="128905" y="2272665"/>
            <a:ext cx="490220" cy="16027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95605" y="191262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 descr="7b0a20202020227461726765744d6f64756c65223a202270726f636573734f6e6c696e65466f6e7473220a7d0a"/>
          <p:cNvSpPr txBox="1"/>
          <p:nvPr/>
        </p:nvSpPr>
        <p:spPr>
          <a:xfrm>
            <a:off x="11558905" y="2178050"/>
            <a:ext cx="490220" cy="14833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11825605" y="370014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395605" y="391795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1825605" y="181546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3444875" y="1713230"/>
            <a:ext cx="5320665" cy="20116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auto">
              <a:lnSpc>
                <a:spcPct val="130000"/>
              </a:lnSpc>
            </a:pPr>
            <a:r>
              <a:rPr lang="zh-CN" altLang="en-US" sz="9600">
                <a:solidFill>
                  <a:schemeClr val="tx1">
                    <a:lumMod val="65000"/>
                    <a:lumOff val="35000"/>
                  </a:schemeClr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第壹章节</a:t>
            </a:r>
            <a:endParaRPr lang="zh-CN" altLang="en-US" sz="9600">
              <a:solidFill>
                <a:schemeClr val="tx1">
                  <a:lumMod val="65000"/>
                  <a:lumOff val="35000"/>
                </a:schemeClr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97730" y="3322320"/>
            <a:ext cx="2865755" cy="7308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 fontAlgn="auto">
              <a:lnSpc>
                <a:spcPct val="130000"/>
              </a:lnSpc>
            </a:pPr>
            <a:r>
              <a:rPr lang="zh-CN" altLang="en-US" sz="3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题目介绍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027170" y="3706495"/>
            <a:ext cx="56578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660005" y="3706495"/>
            <a:ext cx="56578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alphaModFix amt="30000"/>
          </a:blip>
          <a:stretch>
            <a:fillRect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 descr="0a690c8a801f63c213df6b126b40e59a"/>
          <p:cNvPicPr>
            <a:picLocks noChangeAspect="1"/>
          </p:cNvPicPr>
          <p:nvPr/>
        </p:nvPicPr>
        <p:blipFill>
          <a:blip r:embed="rId5">
            <a:grayscl/>
            <a:lum bright="-18000"/>
          </a:blip>
          <a:srcRect l="9400" t="9000" r="8600" b="12600"/>
          <a:stretch>
            <a:fillRect/>
          </a:stretch>
        </p:blipFill>
        <p:spPr>
          <a:xfrm>
            <a:off x="461010" y="375285"/>
            <a:ext cx="1065530" cy="101981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623570" y="501015"/>
            <a:ext cx="8661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44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壹</a:t>
            </a:r>
            <a:endParaRPr lang="zh-CN" altLang="en-US" sz="44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631315" y="543560"/>
            <a:ext cx="3564255" cy="7067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320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题目介绍</a:t>
            </a:r>
          </a:p>
          <a:p>
            <a:pPr algn="l" fontAlgn="auto">
              <a:lnSpc>
                <a:spcPct val="100000"/>
              </a:lnSpc>
            </a:pPr>
            <a:endParaRPr lang="zh-CN" altLang="en-US" sz="800" dirty="0">
              <a:solidFill>
                <a:srgbClr val="616161"/>
              </a:solidFill>
              <a:latin typeface="汉仪劲楷简" panose="00020600040101010101" charset="-122"/>
              <a:ea typeface="汉仪劲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0210" y="1605280"/>
            <a:ext cx="859599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题目概括：设计一个基于</a:t>
            </a:r>
            <a:r>
              <a:rPr lang="zh-CN" altLang="en-US" sz="1600" b="1">
                <a:solidFill>
                  <a:srgbClr val="00000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贝叶斯网络</a:t>
            </a:r>
            <a:r>
              <a:rPr lang="zh-CN" altLang="en-US" sz="1600">
                <a:solidFill>
                  <a:srgbClr val="00000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的</a:t>
            </a:r>
            <a:r>
              <a:rPr lang="zh-CN" altLang="en-US" sz="1600" b="1">
                <a:solidFill>
                  <a:srgbClr val="00000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简易医疗诊断系统</a:t>
            </a:r>
            <a:r>
              <a:rPr lang="zh-CN" altLang="en-US" sz="1600">
                <a:solidFill>
                  <a:srgbClr val="00000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，根据季节和症状推断感冒或过敏。</a:t>
            </a:r>
          </a:p>
          <a:p>
            <a:endParaRPr lang="zh-CN" altLang="en-US" sz="1600">
              <a:solidFill>
                <a:srgbClr val="000000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18795" y="2321560"/>
            <a:ext cx="2423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问题变量</a:t>
            </a:r>
            <a:r>
              <a:rPr lang="en-US" altLang="zh-CN"/>
              <a:t>(</a:t>
            </a:r>
            <a:r>
              <a:rPr lang="zh-CN" altLang="en-US"/>
              <a:t>题目指定）</a:t>
            </a:r>
            <a:r>
              <a:rPr lang="en-US" altLang="zh-CN"/>
              <a:t>: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71615" y="3023870"/>
            <a:ext cx="3328670" cy="5994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依赖关系（题目给出）：</a:t>
            </a:r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780" y="3249930"/>
            <a:ext cx="5050790" cy="19697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1310" y="3515995"/>
            <a:ext cx="5012690" cy="12268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alphaModFix amt="30000"/>
          </a:blip>
          <a:stretch>
            <a:fillRect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 descr="0a690c8a801f63c213df6b126b40e59a"/>
          <p:cNvPicPr>
            <a:picLocks noChangeAspect="1"/>
          </p:cNvPicPr>
          <p:nvPr/>
        </p:nvPicPr>
        <p:blipFill>
          <a:blip r:embed="rId5">
            <a:grayscl/>
            <a:lum bright="-18000"/>
          </a:blip>
          <a:srcRect l="9400" t="9000" r="8600" b="12600"/>
          <a:stretch>
            <a:fillRect/>
          </a:stretch>
        </p:blipFill>
        <p:spPr>
          <a:xfrm>
            <a:off x="461010" y="375285"/>
            <a:ext cx="1065530" cy="101981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623570" y="501015"/>
            <a:ext cx="8661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44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壹</a:t>
            </a:r>
            <a:endParaRPr lang="zh-CN" altLang="en-US" sz="44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631315" y="543560"/>
            <a:ext cx="3564255" cy="7067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320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题目介绍</a:t>
            </a:r>
          </a:p>
          <a:p>
            <a:pPr algn="l" fontAlgn="auto">
              <a:lnSpc>
                <a:spcPct val="100000"/>
              </a:lnSpc>
            </a:pPr>
            <a:endParaRPr lang="zh-CN" altLang="en-US" sz="800" dirty="0">
              <a:solidFill>
                <a:srgbClr val="616161"/>
              </a:solidFill>
              <a:latin typeface="汉仪劲楷简" panose="00020600040101010101" charset="-122"/>
              <a:ea typeface="汉仪劲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0210" y="1605280"/>
            <a:ext cx="8595995" cy="3740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1600">
                <a:solidFill>
                  <a:srgbClr val="00000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题目概括：设计一个基于</a:t>
            </a:r>
            <a:r>
              <a:rPr lang="zh-CN" altLang="en-US" sz="1600" b="1">
                <a:solidFill>
                  <a:srgbClr val="00000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贝叶斯网络</a:t>
            </a:r>
            <a:r>
              <a:rPr lang="zh-CN" altLang="en-US" sz="1600">
                <a:solidFill>
                  <a:srgbClr val="00000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的</a:t>
            </a:r>
            <a:r>
              <a:rPr lang="zh-CN" altLang="en-US" sz="1600" b="1">
                <a:solidFill>
                  <a:srgbClr val="00000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简易医疗诊断系统</a:t>
            </a:r>
            <a:r>
              <a:rPr lang="zh-CN" altLang="en-US" sz="1600">
                <a:solidFill>
                  <a:srgbClr val="000000"/>
                </a:solidFill>
                <a:latin typeface="方正公文小标宋" panose="02000500000000000000" charset="-122"/>
                <a:ea typeface="方正公文小标宋" panose="02000500000000000000" charset="-122"/>
              </a:rPr>
              <a:t>，根据季节和症状推断感冒或过敏。</a:t>
            </a:r>
          </a:p>
          <a:p>
            <a:endParaRPr lang="zh-CN" altLang="en-US" sz="1600">
              <a:solidFill>
                <a:srgbClr val="000000"/>
              </a:solidFill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1010" y="2189480"/>
            <a:ext cx="40754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/>
              <a:t>先验概率和条件概率（题目给出）：</a:t>
            </a:r>
          </a:p>
          <a:p>
            <a:endParaRPr lang="zh-CN" altLang="en-US" sz="1400"/>
          </a:p>
        </p:txBody>
      </p:sp>
      <p:sp>
        <p:nvSpPr>
          <p:cNvPr id="7" name="文本框 6"/>
          <p:cNvSpPr txBox="1"/>
          <p:nvPr/>
        </p:nvSpPr>
        <p:spPr>
          <a:xfrm>
            <a:off x="370840" y="5252720"/>
            <a:ext cx="4994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第二问（</a:t>
            </a:r>
            <a:r>
              <a:rPr lang="en-US" altLang="zh-CN" dirty="0"/>
              <a:t>b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r>
              <a:rPr lang="zh-CN" altLang="en-US" dirty="0"/>
              <a:t>给出节点的条件概率表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rcRect t="1482"/>
          <a:stretch>
            <a:fillRect/>
          </a:stretch>
        </p:blipFill>
        <p:spPr>
          <a:xfrm>
            <a:off x="370840" y="2581275"/>
            <a:ext cx="6085205" cy="18567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1010" y="4707598"/>
            <a:ext cx="487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第一问（</a:t>
            </a:r>
            <a:r>
              <a:rPr lang="en-US" altLang="zh-CN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a</a:t>
            </a:r>
            <a:r>
              <a:rPr lang="zh-CN" altLang="en-US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）：绘制贝叶斯网络的有向无环图</a:t>
            </a:r>
            <a:endParaRPr lang="en-US" altLang="zh-CN" dirty="0"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/>
        </p:nvSpPr>
        <p:spPr>
          <a:xfrm>
            <a:off x="3357245" y="865505"/>
            <a:ext cx="5549900" cy="5549900"/>
          </a:xfrm>
          <a:prstGeom prst="ellipse">
            <a:avLst/>
          </a:prstGeom>
          <a:gradFill>
            <a:gsLst>
              <a:gs pos="79000">
                <a:schemeClr val="accent5">
                  <a:lumMod val="40000"/>
                  <a:lumOff val="60000"/>
                  <a:alpha val="0"/>
                </a:schemeClr>
              </a:gs>
              <a:gs pos="26000">
                <a:schemeClr val="accent5">
                  <a:lumMod val="60000"/>
                  <a:lumOff val="40000"/>
                  <a:alpha val="18000"/>
                </a:schemeClr>
              </a:gs>
            </a:gsLst>
            <a:lin ang="53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 descr="7b0a20202020227461726765744d6f64756c65223a202270726f636573734f6e6c696e65466f6e7473220a7d0a"/>
          <p:cNvSpPr txBox="1"/>
          <p:nvPr/>
        </p:nvSpPr>
        <p:spPr>
          <a:xfrm>
            <a:off x="128905" y="2272665"/>
            <a:ext cx="490220" cy="16027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95605" y="191262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 descr="7b0a20202020227461726765744d6f64756c65223a202270726f636573734f6e6c696e65466f6e7473220a7d0a"/>
          <p:cNvSpPr txBox="1"/>
          <p:nvPr/>
        </p:nvSpPr>
        <p:spPr>
          <a:xfrm>
            <a:off x="11558905" y="2178050"/>
            <a:ext cx="490220" cy="14833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11825605" y="370014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395605" y="391795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1825605" y="181546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3444875" y="1713230"/>
            <a:ext cx="5320665" cy="20116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auto">
              <a:lnSpc>
                <a:spcPct val="130000"/>
              </a:lnSpc>
            </a:pPr>
            <a:r>
              <a:rPr lang="zh-CN" altLang="en-US" sz="9600">
                <a:solidFill>
                  <a:schemeClr val="tx1">
                    <a:lumMod val="65000"/>
                    <a:lumOff val="35000"/>
                  </a:schemeClr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第贰章节</a:t>
            </a:r>
            <a:endParaRPr lang="zh-CN" altLang="en-US" sz="9600">
              <a:solidFill>
                <a:schemeClr val="tx1">
                  <a:lumMod val="65000"/>
                  <a:lumOff val="35000"/>
                </a:schemeClr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21835" y="3329305"/>
            <a:ext cx="3221355" cy="7308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 fontAlgn="auto">
              <a:lnSpc>
                <a:spcPct val="130000"/>
              </a:lnSpc>
            </a:pPr>
            <a:r>
              <a:rPr lang="zh-CN" altLang="en-US" sz="3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贝叶斯网络构建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027170" y="3706495"/>
            <a:ext cx="56578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660005" y="3706495"/>
            <a:ext cx="56578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alphaModFix amt="30000"/>
          </a:blip>
          <a:stretch>
            <a:fillRect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0a690c8a801f63c213df6b126b40e59a"/>
          <p:cNvPicPr>
            <a:picLocks noChangeAspect="1"/>
          </p:cNvPicPr>
          <p:nvPr/>
        </p:nvPicPr>
        <p:blipFill>
          <a:blip r:embed="rId5">
            <a:grayscl/>
            <a:lum bright="-18000"/>
          </a:blip>
          <a:srcRect l="9400" t="9000" r="8600" b="12600"/>
          <a:stretch>
            <a:fillRect/>
          </a:stretch>
        </p:blipFill>
        <p:spPr>
          <a:xfrm>
            <a:off x="461010" y="375285"/>
            <a:ext cx="1065530" cy="101981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623570" y="501015"/>
            <a:ext cx="8661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44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贰</a:t>
            </a:r>
            <a:endParaRPr lang="zh-CN" altLang="en-US" sz="44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631315" y="543560"/>
            <a:ext cx="356425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320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贝叶斯网络构建</a:t>
            </a:r>
            <a:endParaRPr lang="zh-CN" altLang="en-US" sz="800" dirty="0">
              <a:solidFill>
                <a:srgbClr val="616161"/>
              </a:solidFill>
              <a:latin typeface="汉仪劲楷简" panose="00020600040101010101" charset="-122"/>
              <a:ea typeface="汉仪劲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81800" y="1269365"/>
            <a:ext cx="39255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步骤一：列出所有相关随机变量，分析其类型并指出其取值范围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7330" y="2790825"/>
            <a:ext cx="3474720" cy="11499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1010" y="2521585"/>
            <a:ext cx="1257935" cy="209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变量名称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季节 </a:t>
            </a:r>
            <a:r>
              <a:rPr lang="en-US" altLang="zh-CN" sz="1600"/>
              <a:t>(S)</a:t>
            </a:r>
          </a:p>
          <a:p>
            <a:r>
              <a:rPr lang="zh-CN" altLang="en-US" sz="1600"/>
              <a:t>感冒 </a:t>
            </a:r>
            <a:r>
              <a:rPr lang="en-US" altLang="zh-CN" sz="1600"/>
              <a:t>(C)</a:t>
            </a:r>
          </a:p>
          <a:p>
            <a:r>
              <a:rPr lang="zh-CN" altLang="en-US" sz="1600"/>
              <a:t>过敏 </a:t>
            </a:r>
            <a:r>
              <a:rPr lang="en-US" altLang="zh-CN" sz="1600"/>
              <a:t>(A)</a:t>
            </a:r>
          </a:p>
          <a:p>
            <a:r>
              <a:rPr lang="zh-CN" altLang="en-US" sz="1600"/>
              <a:t>流涕 </a:t>
            </a:r>
            <a:r>
              <a:rPr lang="en-US" altLang="zh-CN" sz="1600"/>
              <a:t>(R)</a:t>
            </a:r>
          </a:p>
          <a:p>
            <a:r>
              <a:rPr lang="zh-CN" altLang="en-US" sz="1600"/>
              <a:t>发烧 </a:t>
            </a:r>
            <a:r>
              <a:rPr lang="en-US" altLang="zh-CN" sz="1600"/>
              <a:t>(F)</a:t>
            </a:r>
          </a:p>
          <a:p>
            <a:r>
              <a:rPr lang="zh-CN" altLang="en-US" sz="1600"/>
              <a:t>头痛 </a:t>
            </a:r>
            <a:r>
              <a:rPr lang="en-US" altLang="zh-CN" sz="1600"/>
              <a:t>(H)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44675" y="2521585"/>
            <a:ext cx="1347470" cy="2065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变量类型</a:t>
            </a:r>
          </a:p>
          <a:p>
            <a:endParaRPr lang="zh-CN" altLang="en-US"/>
          </a:p>
          <a:p>
            <a:r>
              <a:rPr lang="zh-CN" altLang="en-US" sz="1600"/>
              <a:t>外部环境</a:t>
            </a:r>
          </a:p>
          <a:p>
            <a:r>
              <a:rPr lang="zh-CN" altLang="en-US" sz="1600"/>
              <a:t>潜在病因</a:t>
            </a:r>
          </a:p>
          <a:p>
            <a:r>
              <a:rPr lang="zh-CN" altLang="en-US" sz="1600"/>
              <a:t>潜在病因</a:t>
            </a:r>
          </a:p>
          <a:p>
            <a:r>
              <a:rPr lang="zh-CN" altLang="en-US" sz="1600"/>
              <a:t>观测症状</a:t>
            </a:r>
          </a:p>
          <a:p>
            <a:r>
              <a:rPr lang="zh-CN" altLang="en-US" sz="1600"/>
              <a:t>观测症状</a:t>
            </a:r>
          </a:p>
          <a:p>
            <a:r>
              <a:rPr lang="zh-CN" altLang="en-US" sz="1600"/>
              <a:t>观测症状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192145" y="2521585"/>
            <a:ext cx="1725295" cy="209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取值范围</a:t>
            </a:r>
          </a:p>
          <a:p>
            <a:endParaRPr lang="zh-CN" altLang="en-US" sz="1600"/>
          </a:p>
          <a:p>
            <a:r>
              <a:rPr lang="en-US" altLang="zh-CN" sz="1600"/>
              <a:t>{</a:t>
            </a:r>
            <a:r>
              <a:rPr lang="zh-CN" altLang="en-US" sz="1600"/>
              <a:t>春，夏，秋，冬</a:t>
            </a:r>
            <a:r>
              <a:rPr lang="en-US" altLang="zh-CN" sz="1600"/>
              <a:t>}</a:t>
            </a:r>
          </a:p>
          <a:p>
            <a:r>
              <a:rPr lang="en-US" altLang="zh-CN" sz="1600"/>
              <a:t>{True,False}</a:t>
            </a:r>
          </a:p>
          <a:p>
            <a:r>
              <a:rPr lang="en-US" altLang="zh-CN" sz="1600"/>
              <a:t>{True,False}</a:t>
            </a:r>
          </a:p>
          <a:p>
            <a:r>
              <a:rPr lang="en-US" altLang="zh-CN" sz="1600"/>
              <a:t>{True,False}</a:t>
            </a:r>
          </a:p>
          <a:p>
            <a:r>
              <a:rPr lang="en-US" altLang="zh-CN" sz="1600"/>
              <a:t>{True,False}</a:t>
            </a:r>
          </a:p>
          <a:p>
            <a:r>
              <a:rPr lang="en-US" altLang="zh-CN" sz="1600"/>
              <a:t>{True,False}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3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4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8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8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9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8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3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4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8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8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9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8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8" dur="8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9" dur="8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8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5" dur="8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6" dur="8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8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2" dur="8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3" dur="8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8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7" dur="8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8" dur="8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8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4" dur="8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95" dur="8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6" dur="8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99" dur="8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0" dur="8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1" dur="8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4" dur="8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05" dur="8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8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1" dur="8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2" dur="8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3" dur="8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6" dur="8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7" dur="8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8" dur="8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1" dur="8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2" dur="8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3" dur="8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6" dur="8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7" dur="8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8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1" dur="8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2" dur="8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8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6" dur="8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7" dur="8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8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alphaModFix amt="30000"/>
          </a:blip>
          <a:stretch>
            <a:fillRect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0a690c8a801f63c213df6b126b40e59a"/>
          <p:cNvPicPr>
            <a:picLocks noChangeAspect="1"/>
          </p:cNvPicPr>
          <p:nvPr/>
        </p:nvPicPr>
        <p:blipFill>
          <a:blip r:embed="rId5">
            <a:grayscl/>
            <a:lum bright="-18000"/>
          </a:blip>
          <a:srcRect l="9400" t="9000" r="8600" b="12600"/>
          <a:stretch>
            <a:fillRect/>
          </a:stretch>
        </p:blipFill>
        <p:spPr>
          <a:xfrm>
            <a:off x="461010" y="375285"/>
            <a:ext cx="1065530" cy="101981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623570" y="501015"/>
            <a:ext cx="8661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44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贰</a:t>
            </a:r>
            <a:endParaRPr lang="zh-CN" altLang="en-US" sz="44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631315" y="543560"/>
            <a:ext cx="356425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320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贝叶斯网络构建</a:t>
            </a:r>
            <a:endParaRPr lang="zh-CN" altLang="en-US" sz="800" dirty="0">
              <a:solidFill>
                <a:srgbClr val="616161"/>
              </a:solidFill>
              <a:latin typeface="汉仪劲楷简" panose="00020600040101010101" charset="-122"/>
              <a:ea typeface="汉仪劲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93025" y="1269365"/>
            <a:ext cx="39255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步骤一：列出所有相关随机变量，分析其类型并指出其取值范围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1010" y="2521585"/>
            <a:ext cx="1257935" cy="209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变量名称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季节 </a:t>
            </a:r>
            <a:r>
              <a:rPr lang="en-US" altLang="zh-CN" sz="1600"/>
              <a:t>(S)</a:t>
            </a:r>
          </a:p>
          <a:p>
            <a:r>
              <a:rPr lang="zh-CN" altLang="en-US" sz="1600"/>
              <a:t>感冒 </a:t>
            </a:r>
            <a:r>
              <a:rPr lang="en-US" altLang="zh-CN" sz="1600"/>
              <a:t>(C)</a:t>
            </a:r>
          </a:p>
          <a:p>
            <a:r>
              <a:rPr lang="zh-CN" altLang="en-US" sz="1600"/>
              <a:t>过敏 </a:t>
            </a:r>
            <a:r>
              <a:rPr lang="en-US" altLang="zh-CN" sz="1600"/>
              <a:t>(A)</a:t>
            </a:r>
          </a:p>
          <a:p>
            <a:r>
              <a:rPr lang="zh-CN" altLang="en-US" sz="1600"/>
              <a:t>流涕 </a:t>
            </a:r>
            <a:r>
              <a:rPr lang="en-US" altLang="zh-CN" sz="1600"/>
              <a:t>(R)</a:t>
            </a:r>
          </a:p>
          <a:p>
            <a:r>
              <a:rPr lang="zh-CN" altLang="en-US" sz="1600"/>
              <a:t>发烧 </a:t>
            </a:r>
            <a:r>
              <a:rPr lang="en-US" altLang="zh-CN" sz="1600"/>
              <a:t>(F)</a:t>
            </a:r>
          </a:p>
          <a:p>
            <a:r>
              <a:rPr lang="zh-CN" altLang="en-US" sz="1600"/>
              <a:t>头痛 </a:t>
            </a:r>
            <a:r>
              <a:rPr lang="en-US" altLang="zh-CN" sz="1600"/>
              <a:t>(H)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844675" y="2521585"/>
            <a:ext cx="1347470" cy="2065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变量类型</a:t>
            </a:r>
          </a:p>
          <a:p>
            <a:endParaRPr lang="zh-CN" altLang="en-US"/>
          </a:p>
          <a:p>
            <a:r>
              <a:rPr lang="zh-CN" altLang="en-US" sz="1600"/>
              <a:t>外部环境</a:t>
            </a:r>
          </a:p>
          <a:p>
            <a:r>
              <a:rPr lang="zh-CN" altLang="en-US" sz="1600"/>
              <a:t>潜在病因</a:t>
            </a:r>
          </a:p>
          <a:p>
            <a:r>
              <a:rPr lang="zh-CN" altLang="en-US" sz="1600"/>
              <a:t>潜在病因</a:t>
            </a:r>
          </a:p>
          <a:p>
            <a:r>
              <a:rPr lang="zh-CN" altLang="en-US" sz="1600"/>
              <a:t>观测症状</a:t>
            </a:r>
          </a:p>
          <a:p>
            <a:r>
              <a:rPr lang="zh-CN" altLang="en-US" sz="1600"/>
              <a:t>观测症状</a:t>
            </a:r>
          </a:p>
          <a:p>
            <a:r>
              <a:rPr lang="zh-CN" altLang="en-US" sz="1600"/>
              <a:t>观测症状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192145" y="2521585"/>
            <a:ext cx="1725295" cy="2091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取值范围</a:t>
            </a:r>
          </a:p>
          <a:p>
            <a:endParaRPr lang="zh-CN" altLang="en-US" sz="1600"/>
          </a:p>
          <a:p>
            <a:r>
              <a:rPr lang="en-US" altLang="zh-CN" sz="1600"/>
              <a:t>{</a:t>
            </a:r>
            <a:r>
              <a:rPr lang="zh-CN" altLang="en-US" sz="1600"/>
              <a:t>春，夏，秋，冬</a:t>
            </a:r>
            <a:r>
              <a:rPr lang="en-US" altLang="zh-CN" sz="1600"/>
              <a:t>}</a:t>
            </a:r>
          </a:p>
          <a:p>
            <a:r>
              <a:rPr lang="en-US" altLang="zh-CN" sz="1600"/>
              <a:t>{True,False}</a:t>
            </a:r>
          </a:p>
          <a:p>
            <a:r>
              <a:rPr lang="en-US" altLang="zh-CN" sz="1600"/>
              <a:t>{True,False}</a:t>
            </a:r>
          </a:p>
          <a:p>
            <a:r>
              <a:rPr lang="en-US" altLang="zh-CN" sz="1600"/>
              <a:t>{True,False}</a:t>
            </a:r>
          </a:p>
          <a:p>
            <a:r>
              <a:rPr lang="en-US" altLang="zh-CN" sz="1600"/>
              <a:t>{True,False}</a:t>
            </a:r>
          </a:p>
          <a:p>
            <a:r>
              <a:rPr lang="en-US" altLang="zh-CN" sz="1600"/>
              <a:t>{True,False}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93025" y="2153285"/>
            <a:ext cx="42221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步骤二：分析变量间因果依赖关系，确定谁影响谁。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1056005"/>
            <a:ext cx="4924425" cy="12052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395595" y="2521585"/>
            <a:ext cx="1970405" cy="2091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zh-CN" altLang="en-US"/>
              <a:t>原因</a:t>
            </a:r>
            <a:r>
              <a:rPr lang="en-US" altLang="zh-CN"/>
              <a:t> (parent)</a:t>
            </a:r>
            <a:endParaRPr lang="zh-CN" altLang="en-US"/>
          </a:p>
          <a:p>
            <a:endParaRPr lang="en-US" altLang="zh-CN" sz="1600"/>
          </a:p>
          <a:p>
            <a:r>
              <a:rPr lang="zh-CN" altLang="en-US" sz="1600"/>
              <a:t>无</a:t>
            </a:r>
            <a:r>
              <a:rPr lang="en-US" altLang="zh-CN" sz="1600"/>
              <a:t>(root)</a:t>
            </a:r>
          </a:p>
          <a:p>
            <a:r>
              <a:rPr lang="zh-CN" altLang="en-US" sz="1600"/>
              <a:t>季节</a:t>
            </a:r>
            <a:r>
              <a:rPr lang="en-US" altLang="zh-CN" sz="1600"/>
              <a:t>S</a:t>
            </a:r>
          </a:p>
          <a:p>
            <a:r>
              <a:rPr lang="zh-CN" altLang="en-US" sz="1600"/>
              <a:t>季节</a:t>
            </a:r>
            <a:r>
              <a:rPr lang="en-US" altLang="zh-CN" sz="1600"/>
              <a:t>S</a:t>
            </a:r>
          </a:p>
          <a:p>
            <a:r>
              <a:rPr lang="zh-CN" altLang="en-US" sz="1600"/>
              <a:t>感冒</a:t>
            </a:r>
            <a:r>
              <a:rPr lang="en-US" altLang="zh-CN" sz="1600"/>
              <a:t>C</a:t>
            </a:r>
            <a:r>
              <a:rPr lang="zh-CN" altLang="en-US" sz="1600"/>
              <a:t>、过敏</a:t>
            </a:r>
            <a:r>
              <a:rPr lang="en-US" altLang="zh-CN" sz="1600"/>
              <a:t>A</a:t>
            </a:r>
          </a:p>
          <a:p>
            <a:r>
              <a:rPr lang="zh-CN" altLang="en-US" sz="1600"/>
              <a:t>感冒</a:t>
            </a:r>
            <a:r>
              <a:rPr lang="en-US" altLang="zh-CN" sz="1600"/>
              <a:t>C</a:t>
            </a:r>
          </a:p>
          <a:p>
            <a:r>
              <a:rPr lang="zh-CN" altLang="en-US" sz="1600"/>
              <a:t>感冒</a:t>
            </a:r>
            <a:r>
              <a:rPr lang="en-US" altLang="zh-CN" sz="1600"/>
              <a:t>C</a:t>
            </a:r>
            <a:r>
              <a:rPr lang="zh-CN" altLang="en-US" sz="1600"/>
              <a:t>、过敏</a:t>
            </a:r>
            <a:r>
              <a:rPr lang="en-US" altLang="zh-CN" sz="1600"/>
              <a:t>A</a:t>
            </a:r>
          </a:p>
          <a:p>
            <a:endParaRPr lang="en-US" altLang="zh-CN"/>
          </a:p>
          <a:p>
            <a:endParaRPr lang="zh-CN" altLang="en-US" sz="1600"/>
          </a:p>
        </p:txBody>
      </p:sp>
      <p:cxnSp>
        <p:nvCxnSpPr>
          <p:cNvPr id="11" name="直接连接符 10"/>
          <p:cNvCxnSpPr/>
          <p:nvPr/>
        </p:nvCxnSpPr>
        <p:spPr>
          <a:xfrm>
            <a:off x="2736215" y="1169035"/>
            <a:ext cx="3185160" cy="118745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736215" y="1488440"/>
            <a:ext cx="3185160" cy="118745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2736215" y="1764665"/>
            <a:ext cx="3185160" cy="118745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736215" y="2040890"/>
            <a:ext cx="3185160" cy="118745"/>
          </a:xfrm>
          <a:prstGeom prst="line">
            <a:avLst/>
          </a:prstGeom>
          <a:ln w="31750" cap="rnd">
            <a:solidFill>
              <a:prstClr val="black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8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8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8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0" dur="8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1" dur="8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8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0" dur="8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1" dur="8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8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5" dur="8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6" dur="8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8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2" dur="8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3" dur="8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8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>
            <a:alphaModFix amt="30000"/>
          </a:blip>
          <a:stretch>
            <a:fillRect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0a690c8a801f63c213df6b126b40e59a"/>
          <p:cNvPicPr>
            <a:picLocks noChangeAspect="1"/>
          </p:cNvPicPr>
          <p:nvPr/>
        </p:nvPicPr>
        <p:blipFill>
          <a:blip r:embed="rId7">
            <a:grayscl/>
            <a:lum bright="-18000"/>
          </a:blip>
          <a:srcRect l="9400" t="9000" r="8600" b="12600"/>
          <a:stretch>
            <a:fillRect/>
          </a:stretch>
        </p:blipFill>
        <p:spPr>
          <a:xfrm>
            <a:off x="461010" y="375285"/>
            <a:ext cx="1065530" cy="101981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623570" y="501015"/>
            <a:ext cx="8661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44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贰</a:t>
            </a:r>
            <a:endParaRPr lang="zh-CN" altLang="en-US" sz="44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631315" y="543560"/>
            <a:ext cx="356425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320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贝叶斯网络构建</a:t>
            </a:r>
            <a:endParaRPr lang="zh-CN" altLang="en-US" sz="800" dirty="0">
              <a:solidFill>
                <a:srgbClr val="616161"/>
              </a:solidFill>
              <a:latin typeface="汉仪劲楷简" panose="00020600040101010101" charset="-122"/>
              <a:ea typeface="汉仪劲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93025" y="1269365"/>
            <a:ext cx="39255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步骤一：列出所有相关随机变量，分析其类型并指出其取值范围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93025" y="2153285"/>
            <a:ext cx="42221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步骤二：分析变量间因果依赖关系，确定谁影响谁。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693025" y="3037205"/>
            <a:ext cx="38373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步骤三：根据因果关系构建贝叶斯网络</a:t>
            </a: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818755" y="3975100"/>
            <a:ext cx="3970655" cy="1270000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2326640" y="4643755"/>
            <a:ext cx="474345" cy="481965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C</a:t>
            </a:r>
          </a:p>
        </p:txBody>
      </p:sp>
      <p:sp>
        <p:nvSpPr>
          <p:cNvPr id="17" name="椭圆 16"/>
          <p:cNvSpPr/>
          <p:nvPr/>
        </p:nvSpPr>
        <p:spPr>
          <a:xfrm>
            <a:off x="3021965" y="4643755"/>
            <a:ext cx="474345" cy="481965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A</a:t>
            </a:r>
          </a:p>
        </p:txBody>
      </p:sp>
      <p:sp>
        <p:nvSpPr>
          <p:cNvPr id="18" name="椭圆 17"/>
          <p:cNvSpPr/>
          <p:nvPr/>
        </p:nvSpPr>
        <p:spPr>
          <a:xfrm>
            <a:off x="4296410" y="4643755"/>
            <a:ext cx="474345" cy="481965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F</a:t>
            </a:r>
          </a:p>
        </p:txBody>
      </p:sp>
      <p:sp>
        <p:nvSpPr>
          <p:cNvPr id="19" name="椭圆 18"/>
          <p:cNvSpPr/>
          <p:nvPr/>
        </p:nvSpPr>
        <p:spPr>
          <a:xfrm>
            <a:off x="3682365" y="4643755"/>
            <a:ext cx="474345" cy="481965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R</a:t>
            </a:r>
          </a:p>
        </p:txBody>
      </p:sp>
      <p:sp>
        <p:nvSpPr>
          <p:cNvPr id="20" name="椭圆 19"/>
          <p:cNvSpPr/>
          <p:nvPr/>
        </p:nvSpPr>
        <p:spPr>
          <a:xfrm>
            <a:off x="1631315" y="4643755"/>
            <a:ext cx="474345" cy="481965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S</a:t>
            </a:r>
          </a:p>
        </p:txBody>
      </p:sp>
      <p:sp>
        <p:nvSpPr>
          <p:cNvPr id="21" name="椭圆 20"/>
          <p:cNvSpPr/>
          <p:nvPr/>
        </p:nvSpPr>
        <p:spPr>
          <a:xfrm>
            <a:off x="4910455" y="4643755"/>
            <a:ext cx="474345" cy="481965"/>
          </a:xfrm>
          <a:prstGeom prst="ellipse">
            <a:avLst/>
          </a:prstGeom>
        </p:spPr>
        <p:style>
          <a:lnRef idx="0">
            <a:srgbClr val="FFFFFF"/>
          </a:lnRef>
          <a:fillRef idx="1">
            <a:schemeClr val="accent2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H</a:t>
            </a:r>
          </a:p>
        </p:txBody>
      </p:sp>
      <p:sp>
        <p:nvSpPr>
          <p:cNvPr id="22" name="PA_文本框 6"/>
          <p:cNvSpPr txBox="1"/>
          <p:nvPr>
            <p:custDataLst>
              <p:tags r:id="rId3"/>
            </p:custDataLst>
          </p:nvPr>
        </p:nvSpPr>
        <p:spPr>
          <a:xfrm>
            <a:off x="6826091" y="4017052"/>
            <a:ext cx="5955983" cy="245609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>
                <a:solidFill>
                  <a:srgbClr val="FF0000"/>
                </a:solidFill>
              </a14:hiddenLine>
            </a:ext>
          </a:extLst>
        </p:spPr>
        <p:txBody>
          <a:bodyPr vert="horz" wrap="square" numCol="1" rtlCol="0">
            <a:prstTxWarp prst="textPlain">
              <a:avLst/>
            </a:prstTxWarp>
            <a:spAutoFit/>
          </a:bodyPr>
          <a:lstStyle>
            <a:defPPr>
              <a:defRPr lang="zh-CN"/>
            </a:defPPr>
            <a:lvl1pPr marR="0" lvl="0" indent="0" fontAlgn="auto">
              <a:lnSpc>
                <a:spcPts val="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b="0" i="0" u="none" strike="noStrike" cap="none" spc="-1200" normalizeH="0" baseline="0">
                <a:ln>
                  <a:noFill/>
                </a:ln>
                <a:blipFill dpi="0" rotWithShape="1">
                  <a:blip r:embed="rId9"/>
                  <a:srcRect/>
                  <a:stretch>
                    <a:fillRect/>
                  </a:stretch>
                </a:blip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__________</a:t>
            </a:r>
            <a:endParaRPr lang="zh-CN" altLang="en-US" dirty="0"/>
          </a:p>
        </p:txBody>
      </p:sp>
      <p:cxnSp>
        <p:nvCxnSpPr>
          <p:cNvPr id="24" name="直接箭头连接符 23"/>
          <p:cNvCxnSpPr/>
          <p:nvPr/>
        </p:nvCxnSpPr>
        <p:spPr>
          <a:xfrm flipH="1">
            <a:off x="2503170" y="1628140"/>
            <a:ext cx="296545" cy="49657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3214370" y="1598930"/>
            <a:ext cx="273685" cy="45910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2614295" y="2606040"/>
            <a:ext cx="311150" cy="52578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H="1">
            <a:off x="3162300" y="2546985"/>
            <a:ext cx="266700" cy="58483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2103120" y="2628265"/>
            <a:ext cx="185420" cy="53340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>
            <a:off x="2725420" y="2480310"/>
            <a:ext cx="1096010" cy="733425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3636645" y="2554605"/>
            <a:ext cx="340360" cy="562610"/>
          </a:xfrm>
          <a:prstGeom prst="straightConnector1">
            <a:avLst/>
          </a:prstGeom>
          <a:ln w="31750" cap="rnd">
            <a:solidFill>
              <a:prstClr val="black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ppt_h/1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0" presetClass="entr" presetSubtype="0" fill="hold" grpId="0" nodeType="withEffect">
                                  <p:stCondLst>
                                    <p:cond delay="27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*sin(rand(360))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*sin(rand(360))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300000" y="300000"/>
                                    </p:animScale>
                                    <p:animEffect transition="out" filter="fade">
                                      <p:cBhvr>
                                        <p:cTn id="13" dur="6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" decel="100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 decel="100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800" decel="100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 decel="100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1875 -0.0383333 L 0.0928646 -0.495185 " pathEditMode="relative" rAng="0" ptsTypes="">
                                      <p:cBhvr>
                                        <p:cTn id="6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" y="-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73958 -0.0362037 L -0.00916667 -0.364537 " pathEditMode="relative" rAng="0" ptsTypes="">
                                      <p:cBhvr>
                                        <p:cTn id="7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20833e-05 -0.0362037 L 0.0219271 -0.3775 " pathEditMode="relative" ptsTypes="">
                                      <p:cBhvr>
                                        <p:cTn id="8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717188 -0.22787 " pathEditMode="relative" ptsTypes="">
                                      <p:cBhvr>
                                        <p:cTn id="8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00469 -0.216019 " pathEditMode="relative" ptsTypes="">
                                      <p:cBhvr>
                                        <p:cTn id="10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35417 -0.223611 " pathEditMode="relative" ptsTypes="">
                                      <p:cBhvr>
                                        <p:cTn id="10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16" grpId="0" animBg="1"/>
      <p:bldP spid="16" grpId="1" animBg="1"/>
      <p:bldP spid="16" grpId="2" animBg="1"/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1" grpId="0" animBg="1"/>
      <p:bldP spid="21" grpId="1" animBg="1"/>
      <p:bldP spid="21" grpId="2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alphaModFix amt="30000"/>
          </a:blip>
          <a:stretch>
            <a:fillRect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0a690c8a801f63c213df6b126b40e59a"/>
          <p:cNvPicPr>
            <a:picLocks noChangeAspect="1"/>
          </p:cNvPicPr>
          <p:nvPr/>
        </p:nvPicPr>
        <p:blipFill>
          <a:blip r:embed="rId5">
            <a:grayscl/>
            <a:lum bright="-18000"/>
          </a:blip>
          <a:srcRect l="9400" t="9000" r="8600" b="12600"/>
          <a:stretch>
            <a:fillRect/>
          </a:stretch>
        </p:blipFill>
        <p:spPr>
          <a:xfrm>
            <a:off x="461010" y="375285"/>
            <a:ext cx="1065530" cy="1019810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623570" y="501015"/>
            <a:ext cx="8661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44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贰</a:t>
            </a:r>
            <a:endParaRPr lang="zh-CN" altLang="en-US" sz="44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631315" y="543560"/>
            <a:ext cx="356425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320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贝叶斯网络构建</a:t>
            </a:r>
            <a:endParaRPr lang="zh-CN" altLang="en-US" sz="800" dirty="0">
              <a:solidFill>
                <a:srgbClr val="616161"/>
              </a:solidFill>
              <a:latin typeface="汉仪劲楷简" panose="00020600040101010101" charset="-122"/>
              <a:ea typeface="汉仪劲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93025" y="1269365"/>
            <a:ext cx="39255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步骤一：列出所有相关随机变量，分析其类型并指出其取值范围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693025" y="2153285"/>
            <a:ext cx="42221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步骤二：分析变量间因果依赖关系，确定谁影响谁。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693025" y="3037205"/>
            <a:ext cx="38373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ym typeface="+mn-ea"/>
              </a:rPr>
              <a:t>步骤三：根据因果关系构建贝叶斯网络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185" y="1610360"/>
            <a:ext cx="5934075" cy="50292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30814D4-2312-0B2D-1E08-9B822F15CEB2}"/>
                  </a:ext>
                </a:extLst>
              </p:cNvPr>
              <p:cNvSpPr txBox="1"/>
              <p:nvPr/>
            </p:nvSpPr>
            <p:spPr>
              <a:xfrm>
                <a:off x="7089319" y="4504363"/>
                <a:ext cx="482582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altLang="zh-CN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30814D4-2312-0B2D-1E08-9B822F15C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319" y="4504363"/>
                <a:ext cx="4825821" cy="646331"/>
              </a:xfrm>
              <a:prstGeom prst="rect">
                <a:avLst/>
              </a:prstGeom>
              <a:blipFill>
                <a:blip r:embed="rId7"/>
                <a:stretch>
                  <a:fillRect b="-6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/>
        </p:nvSpPr>
        <p:spPr>
          <a:xfrm>
            <a:off x="3357245" y="865505"/>
            <a:ext cx="5549900" cy="5549900"/>
          </a:xfrm>
          <a:prstGeom prst="ellipse">
            <a:avLst/>
          </a:prstGeom>
          <a:gradFill>
            <a:gsLst>
              <a:gs pos="79000">
                <a:schemeClr val="accent5">
                  <a:lumMod val="40000"/>
                  <a:lumOff val="60000"/>
                  <a:alpha val="0"/>
                </a:schemeClr>
              </a:gs>
              <a:gs pos="26000">
                <a:schemeClr val="accent5">
                  <a:lumMod val="60000"/>
                  <a:lumOff val="40000"/>
                  <a:alpha val="18000"/>
                </a:schemeClr>
              </a:gs>
            </a:gsLst>
            <a:lin ang="53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 descr="7b0a20202020227461726765744d6f64756c65223a202270726f636573734f6e6c696e65466f6e7473220a7d0a"/>
          <p:cNvSpPr txBox="1"/>
          <p:nvPr/>
        </p:nvSpPr>
        <p:spPr>
          <a:xfrm>
            <a:off x="128905" y="2272665"/>
            <a:ext cx="490220" cy="16027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95605" y="191262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 descr="7b0a20202020227461726765744d6f64756c65223a202270726f636573734f6e6c696e65466f6e7473220a7d0a"/>
          <p:cNvSpPr txBox="1"/>
          <p:nvPr/>
        </p:nvSpPr>
        <p:spPr>
          <a:xfrm>
            <a:off x="11558905" y="2178050"/>
            <a:ext cx="490220" cy="14833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11825605" y="370014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395605" y="391795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1825605" y="181546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3444875" y="1713230"/>
            <a:ext cx="5320665" cy="20116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auto">
              <a:lnSpc>
                <a:spcPct val="130000"/>
              </a:lnSpc>
            </a:pPr>
            <a:r>
              <a:rPr lang="zh-CN" altLang="en-US" sz="9600">
                <a:solidFill>
                  <a:schemeClr val="tx1">
                    <a:lumMod val="65000"/>
                    <a:lumOff val="35000"/>
                  </a:schemeClr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第叁章节</a:t>
            </a:r>
            <a:endParaRPr lang="zh-CN" altLang="en-US" sz="9600">
              <a:solidFill>
                <a:schemeClr val="tx1">
                  <a:lumMod val="65000"/>
                  <a:lumOff val="35000"/>
                </a:schemeClr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18025" y="3322320"/>
            <a:ext cx="3141980" cy="7308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 fontAlgn="auto">
              <a:lnSpc>
                <a:spcPct val="130000"/>
              </a:lnSpc>
            </a:pPr>
            <a:r>
              <a:rPr lang="zh-CN" altLang="en-US" sz="320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条件概率表添加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027170" y="3706495"/>
            <a:ext cx="56578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660005" y="3706495"/>
            <a:ext cx="56578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alphaModFix amt="30000"/>
          </a:blip>
          <a:stretch>
            <a:fillRect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椭圆 76"/>
          <p:cNvSpPr/>
          <p:nvPr/>
        </p:nvSpPr>
        <p:spPr>
          <a:xfrm>
            <a:off x="6011545" y="1554480"/>
            <a:ext cx="1171575" cy="1171575"/>
          </a:xfrm>
          <a:prstGeom prst="ellipse">
            <a:avLst/>
          </a:prstGeom>
          <a:gradFill>
            <a:gsLst>
              <a:gs pos="79000">
                <a:schemeClr val="accent5">
                  <a:lumMod val="40000"/>
                  <a:lumOff val="60000"/>
                  <a:alpha val="0"/>
                </a:schemeClr>
              </a:gs>
              <a:gs pos="26000">
                <a:schemeClr val="accent5">
                  <a:lumMod val="60000"/>
                  <a:lumOff val="40000"/>
                  <a:alpha val="22000"/>
                </a:schemeClr>
              </a:gs>
            </a:gsLst>
            <a:lin ang="53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2" name="图片 41" descr="0a690c8a801f63c213df6b126b40e59a"/>
          <p:cNvPicPr>
            <a:picLocks noChangeAspect="1"/>
          </p:cNvPicPr>
          <p:nvPr/>
        </p:nvPicPr>
        <p:blipFill>
          <a:blip r:embed="rId5">
            <a:grayscl/>
            <a:lum bright="-18000"/>
          </a:blip>
          <a:srcRect l="9400" t="9000" r="8600" b="12600"/>
          <a:stretch>
            <a:fillRect/>
          </a:stretch>
        </p:blipFill>
        <p:spPr>
          <a:xfrm>
            <a:off x="461010" y="375285"/>
            <a:ext cx="1065530" cy="1019810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623570" y="501015"/>
            <a:ext cx="8661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44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叁</a:t>
            </a:r>
            <a:endParaRPr lang="zh-CN" altLang="en-US" sz="44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631315" y="543560"/>
            <a:ext cx="356425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320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条件概率表添加</a:t>
            </a:r>
            <a:endParaRPr lang="zh-CN" altLang="en-US" sz="800" dirty="0">
              <a:solidFill>
                <a:srgbClr val="616161"/>
              </a:solidFill>
              <a:latin typeface="汉仪劲楷简" panose="00020600040101010101" charset="-122"/>
              <a:ea typeface="汉仪劲楷简" panose="00020600040101010101" charset="-122"/>
              <a:cs typeface="汉仪大黑简" panose="02010600000101010101" charset="-122"/>
              <a:sym typeface="+mn-ea"/>
            </a:endParaRPr>
          </a:p>
        </p:txBody>
      </p:sp>
      <p:pic>
        <p:nvPicPr>
          <p:cNvPr id="39" name="图片 38" descr="1a7e1556b4265e047e2199ab3ad88218"/>
          <p:cNvPicPr>
            <a:picLocks noChangeAspect="1"/>
          </p:cNvPicPr>
          <p:nvPr/>
        </p:nvPicPr>
        <p:blipFill>
          <a:blip r:embed="rId6">
            <a:alphaModFix amt="52000"/>
            <a:grayscl/>
          </a:blip>
          <a:srcRect l="28337" t="40000" r="16669" b="30278"/>
          <a:stretch>
            <a:fillRect/>
          </a:stretch>
        </p:blipFill>
        <p:spPr>
          <a:xfrm rot="20460000" flipH="1">
            <a:off x="9786620" y="791845"/>
            <a:ext cx="1650365" cy="133858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465" y="1447800"/>
            <a:ext cx="6002655" cy="42881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rcRect t="1482"/>
          <a:stretch>
            <a:fillRect/>
          </a:stretch>
        </p:blipFill>
        <p:spPr>
          <a:xfrm>
            <a:off x="6548755" y="0"/>
            <a:ext cx="5454015" cy="1664335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extLst>
              <p:ext uri="{D42A27DB-BD31-4B8C-83A1-F6EECF244321}">
                <p14:modId xmlns:p14="http://schemas.microsoft.com/office/powerpoint/2010/main" val="2626847299"/>
              </p:ext>
            </p:extLst>
          </p:nvPr>
        </p:nvGraphicFramePr>
        <p:xfrm>
          <a:off x="4838700" y="1000125"/>
          <a:ext cx="1532890" cy="1349370"/>
        </p:xfrm>
        <a:graphic>
          <a:graphicData uri="http://schemas.openxmlformats.org/drawingml/2006/table">
            <a:tbl>
              <a:tblPr/>
              <a:tblGrid>
                <a:gridCol w="766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S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P(S)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/>
                        <a:t>春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0.25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/>
                        <a:t>夏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0.25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/>
                        <a:t>秋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0.25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/>
                        <a:t>冬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0.25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extLst>
              <p:ext uri="{D42A27DB-BD31-4B8C-83A1-F6EECF244321}">
                <p14:modId xmlns:p14="http://schemas.microsoft.com/office/powerpoint/2010/main" val="2648019337"/>
              </p:ext>
            </p:extLst>
          </p:nvPr>
        </p:nvGraphicFramePr>
        <p:xfrm>
          <a:off x="296229" y="2432050"/>
          <a:ext cx="2356818" cy="1517010"/>
        </p:xfrm>
        <a:graphic>
          <a:graphicData uri="http://schemas.openxmlformats.org/drawingml/2006/table">
            <a:tbl>
              <a:tblPr/>
              <a:tblGrid>
                <a:gridCol w="78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606">
                  <a:extLst>
                    <a:ext uri="{9D8B030D-6E8A-4147-A177-3AD203B41FA5}">
                      <a16:colId xmlns:a16="http://schemas.microsoft.com/office/drawing/2014/main" val="3224798254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S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P(C=True | S)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P(C=False | S)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/>
                        <a:t>春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0.05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0.95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/>
                        <a:t>夏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0.02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0.98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/>
                        <a:t>秋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0.08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0.92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/>
                        <a:t>冬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0.15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0.85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/>
          <p:nvPr>
            <p:extLst>
              <p:ext uri="{D42A27DB-BD31-4B8C-83A1-F6EECF244321}">
                <p14:modId xmlns:p14="http://schemas.microsoft.com/office/powerpoint/2010/main" val="1138935098"/>
              </p:ext>
            </p:extLst>
          </p:nvPr>
        </p:nvGraphicFramePr>
        <p:xfrm>
          <a:off x="5650230" y="2586990"/>
          <a:ext cx="2283092" cy="1576944"/>
        </p:xfrm>
        <a:graphic>
          <a:graphicData uri="http://schemas.openxmlformats.org/drawingml/2006/table">
            <a:tbl>
              <a:tblPr/>
              <a:tblGrid>
                <a:gridCol w="761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866">
                  <a:extLst>
                    <a:ext uri="{9D8B030D-6E8A-4147-A177-3AD203B41FA5}">
                      <a16:colId xmlns:a16="http://schemas.microsoft.com/office/drawing/2014/main" val="4142158122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S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P(A=True | S)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P(A=False | S)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80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/>
                        <a:t>春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0.2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0.8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/>
                        <a:t>夏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0.3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0.7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 dirty="0"/>
                        <a:t>秋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0.25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0.75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100"/>
                        <a:t>冬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0.10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0.90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8" name="直接箭头连接符 7"/>
          <p:cNvCxnSpPr/>
          <p:nvPr/>
        </p:nvCxnSpPr>
        <p:spPr>
          <a:xfrm flipH="1">
            <a:off x="5807075" y="332105"/>
            <a:ext cx="918210" cy="652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cxnSpLocks/>
            <a:endCxn id="6" idx="0"/>
          </p:cNvCxnSpPr>
          <p:nvPr/>
        </p:nvCxnSpPr>
        <p:spPr>
          <a:xfrm flipH="1">
            <a:off x="1474638" y="695325"/>
            <a:ext cx="5207150" cy="17367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6503035" y="1111250"/>
            <a:ext cx="228600" cy="14503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1" name="表格 10"/>
          <p:cNvGraphicFramePr/>
          <p:nvPr>
            <p:extLst>
              <p:ext uri="{D42A27DB-BD31-4B8C-83A1-F6EECF244321}">
                <p14:modId xmlns:p14="http://schemas.microsoft.com/office/powerpoint/2010/main" val="821661256"/>
              </p:ext>
            </p:extLst>
          </p:nvPr>
        </p:nvGraphicFramePr>
        <p:xfrm>
          <a:off x="2608103" y="5340059"/>
          <a:ext cx="3198972" cy="1517010"/>
        </p:xfrm>
        <a:graphic>
          <a:graphicData uri="http://schemas.openxmlformats.org/drawingml/2006/table">
            <a:tbl>
              <a:tblPr/>
              <a:tblGrid>
                <a:gridCol w="799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7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765">
                  <a:extLst>
                    <a:ext uri="{9D8B030D-6E8A-4147-A177-3AD203B41FA5}">
                      <a16:colId xmlns:a16="http://schemas.microsoft.com/office/drawing/2014/main" val="3361083728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C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A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P(R=True | C,A)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P(R=False | C,A)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t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t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0.90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0.10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t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f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0.70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0.30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f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t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0.60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0.40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f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f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0.05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0.95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extLst>
              <p:ext uri="{D42A27DB-BD31-4B8C-83A1-F6EECF244321}">
                <p14:modId xmlns:p14="http://schemas.microsoft.com/office/powerpoint/2010/main" val="946726371"/>
              </p:ext>
            </p:extLst>
          </p:nvPr>
        </p:nvGraphicFramePr>
        <p:xfrm>
          <a:off x="1" y="5463075"/>
          <a:ext cx="2228043" cy="1006474"/>
        </p:xfrm>
        <a:graphic>
          <a:graphicData uri="http://schemas.openxmlformats.org/drawingml/2006/table">
            <a:tbl>
              <a:tblPr/>
              <a:tblGrid>
                <a:gridCol w="742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5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9852">
                  <a:extLst>
                    <a:ext uri="{9D8B030D-6E8A-4147-A177-3AD203B41FA5}">
                      <a16:colId xmlns:a16="http://schemas.microsoft.com/office/drawing/2014/main" val="944449720"/>
                    </a:ext>
                  </a:extLst>
                </a:gridCol>
              </a:tblGrid>
              <a:tr h="28448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C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P(F=True | C)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P(F=False | C)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t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0.80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0.20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f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0.01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0.99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/>
          <p:nvPr>
            <p:extLst>
              <p:ext uri="{D42A27DB-BD31-4B8C-83A1-F6EECF244321}">
                <p14:modId xmlns:p14="http://schemas.microsoft.com/office/powerpoint/2010/main" val="2712987952"/>
              </p:ext>
            </p:extLst>
          </p:nvPr>
        </p:nvGraphicFramePr>
        <p:xfrm>
          <a:off x="6836409" y="4405630"/>
          <a:ext cx="3460248" cy="1539874"/>
        </p:xfrm>
        <a:graphic>
          <a:graphicData uri="http://schemas.openxmlformats.org/drawingml/2006/table">
            <a:tbl>
              <a:tblPr/>
              <a:tblGrid>
                <a:gridCol w="865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5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062">
                  <a:extLst>
                    <a:ext uri="{9D8B030D-6E8A-4147-A177-3AD203B41FA5}">
                      <a16:colId xmlns:a16="http://schemas.microsoft.com/office/drawing/2014/main" val="1456750081"/>
                    </a:ext>
                  </a:extLst>
                </a:gridCol>
              </a:tblGrid>
              <a:tr h="27559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C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A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P(H=True | C,A)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P(H=False | C,A)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t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t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0.85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0.15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t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f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0.65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0.35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f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t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0.50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0.50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f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/>
                        <a:t>f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0.10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100" dirty="0"/>
                        <a:t>0.90</a:t>
                      </a:r>
                    </a:p>
                  </a:txBody>
                  <a:tcPr marL="51117" marR="51117" marT="51117" marB="51117" anchor="ctr">
                    <a:lnL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58A9787F-3A5F-198C-E0E8-8D1C3D77E276}"/>
              </a:ext>
            </a:extLst>
          </p:cNvPr>
          <p:cNvSpPr txBox="1"/>
          <p:nvPr/>
        </p:nvSpPr>
        <p:spPr>
          <a:xfrm>
            <a:off x="5634507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/>
          <p:cNvSpPr/>
          <p:nvPr/>
        </p:nvSpPr>
        <p:spPr>
          <a:xfrm>
            <a:off x="3357245" y="865505"/>
            <a:ext cx="5549900" cy="5549900"/>
          </a:xfrm>
          <a:prstGeom prst="ellipse">
            <a:avLst/>
          </a:prstGeom>
          <a:gradFill>
            <a:gsLst>
              <a:gs pos="79000">
                <a:schemeClr val="accent5">
                  <a:lumMod val="40000"/>
                  <a:lumOff val="60000"/>
                  <a:alpha val="0"/>
                </a:schemeClr>
              </a:gs>
              <a:gs pos="26000">
                <a:schemeClr val="accent5">
                  <a:lumMod val="60000"/>
                  <a:lumOff val="40000"/>
                  <a:alpha val="22000"/>
                </a:schemeClr>
              </a:gs>
            </a:gsLst>
            <a:lin ang="53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 descr="7b0a20202020227461726765744d6f64756c65223a202270726f636573734f6e6c696e65466f6e7473220a7d0a"/>
          <p:cNvSpPr txBox="1"/>
          <p:nvPr/>
        </p:nvSpPr>
        <p:spPr>
          <a:xfrm>
            <a:off x="128905" y="2272665"/>
            <a:ext cx="490220" cy="16027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9" name="直接连接符 8"/>
          <p:cNvCxnSpPr/>
          <p:nvPr/>
        </p:nvCxnSpPr>
        <p:spPr>
          <a:xfrm flipV="1">
            <a:off x="395605" y="191262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 descr="7b0a20202020227461726765744d6f64756c65223a202270726f636573734f6e6c696e65466f6e7473220a7d0a"/>
          <p:cNvSpPr txBox="1"/>
          <p:nvPr/>
        </p:nvSpPr>
        <p:spPr>
          <a:xfrm>
            <a:off x="11558905" y="2178050"/>
            <a:ext cx="490220" cy="14833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17" name="直接连接符 16"/>
          <p:cNvCxnSpPr/>
          <p:nvPr/>
        </p:nvCxnSpPr>
        <p:spPr>
          <a:xfrm flipV="1">
            <a:off x="11825605" y="370014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395605" y="391795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 flipV="1">
            <a:off x="11825605" y="181546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3444875" y="1713230"/>
            <a:ext cx="5320665" cy="20116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auto">
              <a:lnSpc>
                <a:spcPct val="130000"/>
              </a:lnSpc>
            </a:pPr>
            <a:r>
              <a:rPr lang="zh-CN" altLang="en-US" sz="96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第肆章节</a:t>
            </a:r>
            <a:endParaRPr lang="zh-CN" altLang="en-US" sz="96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697730" y="3322320"/>
            <a:ext cx="2865755" cy="7308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dist" fontAlgn="auto">
              <a:lnSpc>
                <a:spcPct val="130000"/>
              </a:lnSpc>
            </a:pPr>
            <a:r>
              <a:rPr lang="en-US" altLang="zh-CN" sz="3200">
                <a:solidFill>
                  <a:srgbClr val="616161"/>
                </a:solidFill>
                <a:uFillTx/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Q&amp;A</a:t>
            </a:r>
          </a:p>
        </p:txBody>
      </p:sp>
      <p:cxnSp>
        <p:nvCxnSpPr>
          <p:cNvPr id="3" name="直接连接符 2"/>
          <p:cNvCxnSpPr/>
          <p:nvPr/>
        </p:nvCxnSpPr>
        <p:spPr>
          <a:xfrm>
            <a:off x="4027170" y="3706495"/>
            <a:ext cx="565785" cy="0"/>
          </a:xfrm>
          <a:prstGeom prst="line">
            <a:avLst/>
          </a:prstGeom>
          <a:ln w="19050">
            <a:solidFill>
              <a:srgbClr val="616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660005" y="3706495"/>
            <a:ext cx="565785" cy="0"/>
          </a:xfrm>
          <a:prstGeom prst="line">
            <a:avLst/>
          </a:prstGeom>
          <a:ln w="19050">
            <a:solidFill>
              <a:srgbClr val="6161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 descr="0a690c8a801f63c213df6b126b40e59a"/>
          <p:cNvPicPr>
            <a:picLocks noChangeAspect="1"/>
          </p:cNvPicPr>
          <p:nvPr/>
        </p:nvPicPr>
        <p:blipFill>
          <a:blip r:embed="rId5">
            <a:grayscl/>
            <a:lum bright="-18000"/>
          </a:blip>
          <a:srcRect l="9400" t="9000" r="8600" b="12600"/>
          <a:stretch>
            <a:fillRect/>
          </a:stretch>
        </p:blipFill>
        <p:spPr>
          <a:xfrm>
            <a:off x="461010" y="375285"/>
            <a:ext cx="1065530" cy="1019810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623570" y="501015"/>
            <a:ext cx="8661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44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肆</a:t>
            </a:r>
            <a:endParaRPr lang="zh-CN" altLang="en-US" sz="44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631315" y="543560"/>
            <a:ext cx="356425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en-US" altLang="zh-CN" sz="3200" dirty="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Q&amp;A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40410" y="1694815"/>
            <a:ext cx="93402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方正公文小标宋" panose="02000500000000000000" charset="-122"/>
                <a:ea typeface="方正公文小标宋" panose="02000500000000000000" charset="-122"/>
              </a:rPr>
              <a:t>问题一：本题采用因果关系构建贝叶斯网络，这个网络构建顺序有什么好处，是唯一的吗？</a:t>
            </a:r>
          </a:p>
          <a:p>
            <a:endParaRPr lang="zh-CN" altLang="en-US">
              <a:latin typeface="方正公文小标宋" panose="02000500000000000000" charset="-122"/>
              <a:ea typeface="方正公文小标宋" panose="02000500000000000000" charset="-122"/>
            </a:endParaRPr>
          </a:p>
          <a:p>
            <a:endParaRPr lang="zh-CN" altLang="en-US">
              <a:latin typeface="方正公文小标宋" panose="02000500000000000000" charset="-122"/>
              <a:ea typeface="方正公文小标宋" panose="020005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66900" y="2753360"/>
            <a:ext cx="71551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好处：</a:t>
            </a:r>
          </a:p>
          <a:p>
            <a:r>
              <a:rPr lang="zh-CN" altLang="en-US" sz="16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符合人类直觉： 医生和专家更容易理解“感冒导致发烧”这种因果逻辑，从而提高模型构建的准确性和可靠性。</a:t>
            </a:r>
          </a:p>
          <a:p>
            <a:endParaRPr lang="en-US" altLang="zh-CN" sz="1600" dirty="0"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  <a:p>
            <a:r>
              <a:rPr lang="zh-CN" altLang="en-US" sz="16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模型更简洁（稀疏性）： 遵循因果关系通常会产生更少的连线，从而大幅减少需要定义的条件概率参数量，提高计算效率。</a:t>
            </a:r>
          </a:p>
          <a:p>
            <a:endParaRPr lang="en-US" altLang="zh-CN" sz="1600" dirty="0"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  <a:p>
            <a:r>
              <a:rPr lang="zh-CN" altLang="en-US" sz="16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支持干预分析： 因果网络能有效模拟“如果施加某种药物干预</a:t>
            </a:r>
            <a:r>
              <a:rPr lang="en-US" altLang="zh-CN" sz="16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”</a:t>
            </a:r>
            <a:r>
              <a:rPr lang="zh-CN" altLang="en-US" sz="16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后概率的变化。</a:t>
            </a:r>
          </a:p>
          <a:p>
            <a:endParaRPr lang="zh-CN" altLang="en-US" sz="1600" dirty="0">
              <a:latin typeface="方正公文小标宋" panose="02000500000000000000" charset="-122"/>
              <a:ea typeface="方正公文小标宋" panose="02000500000000000000" charset="-122"/>
              <a:cs typeface="方正公文小标宋" panose="02000500000000000000" charset="-122"/>
            </a:endParaRPr>
          </a:p>
          <a:p>
            <a:r>
              <a:rPr lang="zh-CN" altLang="en-US" sz="16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是否唯一： 不唯一。 贝叶斯网络实质上是变量间联合分布的一种分解，理论上任何变量顺序都能通过链式法则构建出一个有效的 </a:t>
            </a:r>
            <a:r>
              <a:rPr lang="en-US" altLang="zh-CN" sz="16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DAG </a:t>
            </a:r>
            <a:r>
              <a:rPr lang="zh-CN" altLang="en-US" sz="1600" dirty="0">
                <a:latin typeface="方正公文小标宋" panose="02000500000000000000" charset="-122"/>
                <a:ea typeface="方正公文小标宋" panose="02000500000000000000" charset="-122"/>
                <a:cs typeface="方正公文小标宋" panose="02000500000000000000" charset="-122"/>
              </a:rPr>
              <a:t>图。但非因果顺序构建出的网络往往会有大量多余的连线，变得异常复杂且难以解释。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 descr="0a690c8a801f63c213df6b126b40e59a"/>
          <p:cNvPicPr>
            <a:picLocks noChangeAspect="1"/>
          </p:cNvPicPr>
          <p:nvPr/>
        </p:nvPicPr>
        <p:blipFill>
          <a:blip r:embed="rId5">
            <a:grayscl/>
            <a:lum bright="-18000"/>
          </a:blip>
          <a:srcRect l="9400" t="9000" r="8600" b="12600"/>
          <a:stretch>
            <a:fillRect/>
          </a:stretch>
        </p:blipFill>
        <p:spPr>
          <a:xfrm>
            <a:off x="461010" y="375285"/>
            <a:ext cx="1065530" cy="1019810"/>
          </a:xfrm>
          <a:prstGeom prst="rect">
            <a:avLst/>
          </a:prstGeom>
        </p:spPr>
      </p:pic>
      <p:sp>
        <p:nvSpPr>
          <p:cNvPr id="59" name="文本框 58"/>
          <p:cNvSpPr txBox="1"/>
          <p:nvPr/>
        </p:nvSpPr>
        <p:spPr>
          <a:xfrm>
            <a:off x="623570" y="501015"/>
            <a:ext cx="8661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altLang="en-US" sz="4400">
                <a:solidFill>
                  <a:srgbClr val="616161"/>
                </a:solidFill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肆</a:t>
            </a:r>
            <a:endParaRPr lang="zh-CN" altLang="en-US" sz="4400">
              <a:solidFill>
                <a:srgbClr val="616161"/>
              </a:solidFill>
              <a:uFillTx/>
              <a:latin typeface="汉仪闫锐敏行楷简" panose="00020600040101010101" charset="-122"/>
              <a:ea typeface="汉仪闫锐敏行楷简" panose="00020600040101010101" charset="-122"/>
              <a:cs typeface="汉仪大黑简" panose="02010600000101010101" charset="-122"/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631315" y="543560"/>
            <a:ext cx="3564255" cy="5835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en-US" altLang="zh-CN" sz="3200" dirty="0">
                <a:solidFill>
                  <a:srgbClr val="616161"/>
                </a:solidFill>
                <a:latin typeface="汉仪劲楷简" panose="00020600040101010101" charset="-122"/>
                <a:ea typeface="汉仪劲楷简" panose="00020600040101010101" charset="-122"/>
                <a:cs typeface="汉仪大黑简" panose="02010600000101010101" charset="-122"/>
                <a:sym typeface="+mn-ea"/>
              </a:rPr>
              <a:t>Q&amp;A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40410" y="1694815"/>
            <a:ext cx="5155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方正公文小标宋" panose="02000500000000000000" charset="-122"/>
                <a:ea typeface="方正公文小标宋" panose="02000500000000000000" charset="-122"/>
              </a:rPr>
              <a:t>问题二：根据右图计算夏天头痛的概率，并分析这个问题中夏天头痛多是由什么引起的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23570" y="2339975"/>
            <a:ext cx="10013315" cy="46164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400" dirty="0"/>
              <a:t>根据贝叶斯网络的条件独立性,头痛(</a:t>
            </a:r>
            <a:r>
              <a:rPr lang="en-US" altLang="zh-CN" sz="1400" dirty="0"/>
              <a:t>H)</a:t>
            </a:r>
            <a:r>
              <a:rPr lang="zh-CN" altLang="en-US" sz="1400" dirty="0"/>
              <a:t>受感冒(</a:t>
            </a:r>
            <a:r>
              <a:rPr lang="en-US" altLang="zh-CN" sz="1400" dirty="0"/>
              <a:t>C)</a:t>
            </a:r>
            <a:r>
              <a:rPr lang="zh-CN" altLang="en-US" sz="1400" dirty="0"/>
              <a:t>和过敏(</a:t>
            </a:r>
            <a:r>
              <a:rPr lang="en-US" altLang="zh-CN" sz="1400" dirty="0"/>
              <a:t>A)</a:t>
            </a:r>
          </a:p>
          <a:p>
            <a:r>
              <a:rPr lang="zh-CN" altLang="en-US" sz="1400" dirty="0"/>
              <a:t>的直接影响,而两者又受季节</a:t>
            </a:r>
            <a:r>
              <a:rPr lang="en-US" altLang="zh-CN" sz="1400" dirty="0"/>
              <a:t>(S)</a:t>
            </a:r>
            <a:r>
              <a:rPr lang="zh-CN" altLang="en-US" sz="1400" dirty="0"/>
              <a:t>影响。</a:t>
            </a:r>
          </a:p>
          <a:p>
            <a:endParaRPr lang="en-US" altLang="zh-CN" sz="1400" dirty="0"/>
          </a:p>
          <a:p>
            <a:r>
              <a:rPr lang="zh-CN" altLang="en-US" sz="1400" dirty="0"/>
              <a:t>计算公式为:</a:t>
            </a:r>
          </a:p>
          <a:p>
            <a:endParaRPr lang="en-US" altLang="zh-CN" sz="1400" dirty="0"/>
          </a:p>
          <a:p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代入“夏天”的数据:</a:t>
            </a:r>
          </a:p>
          <a:p>
            <a:endParaRPr lang="en-US" altLang="zh-CN" sz="1400" dirty="0"/>
          </a:p>
          <a:p>
            <a:r>
              <a:rPr lang="zh-CN" altLang="en-US" sz="1400" dirty="0"/>
              <a:t>1. 感冒+过敏均发生:0.85×0.02×0.30=0.0051</a:t>
            </a:r>
          </a:p>
          <a:p>
            <a:endParaRPr lang="en-US" altLang="zh-CN" sz="1400" dirty="0"/>
          </a:p>
          <a:p>
            <a:r>
              <a:rPr lang="zh-CN" altLang="en-US" sz="1400" dirty="0"/>
              <a:t>2. 仅感冒发生:0.65×0.02×0.70=0.0091</a:t>
            </a:r>
          </a:p>
          <a:p>
            <a:endParaRPr lang="en-US" altLang="zh-CN" sz="1400" dirty="0"/>
          </a:p>
          <a:p>
            <a:r>
              <a:rPr lang="zh-CN" altLang="en-US" sz="1400" dirty="0"/>
              <a:t>3. 仅过敏发生:0.50×0.98×0.30=0.1470</a:t>
            </a:r>
          </a:p>
          <a:p>
            <a:endParaRPr lang="en-US" altLang="zh-CN" sz="1400" dirty="0"/>
          </a:p>
          <a:p>
            <a:r>
              <a:rPr lang="zh-CN" altLang="en-US" sz="1400" dirty="0"/>
              <a:t>4. 均未发生:0.10×0.98×0.70=0.0686</a:t>
            </a:r>
          </a:p>
          <a:p>
            <a:endParaRPr lang="en-US" altLang="zh-CN" sz="1400" dirty="0"/>
          </a:p>
          <a:p>
            <a:r>
              <a:rPr lang="zh-CN" altLang="en-US" sz="1400" dirty="0"/>
              <a:t>计算结果:</a:t>
            </a:r>
            <a:endParaRPr lang="en-US" altLang="zh-CN" sz="1400" dirty="0"/>
          </a:p>
          <a:p>
            <a:r>
              <a:rPr lang="en-US" altLang="zh-CN" sz="1400" dirty="0"/>
              <a:t>P(H|</a:t>
            </a:r>
            <a:r>
              <a:rPr lang="zh-CN" altLang="en-US" sz="1400" dirty="0"/>
              <a:t>夏天)=0.0051+0.0091+0.1470+0.0686=0.2298</a:t>
            </a:r>
          </a:p>
          <a:p>
            <a:r>
              <a:rPr lang="zh-CN" altLang="en-US" sz="1400" dirty="0"/>
              <a:t>即:在夏天,出现头痛症状的概率约为22.98%。</a:t>
            </a:r>
          </a:p>
          <a:p>
            <a:r>
              <a:rPr lang="zh-CN" altLang="en-US" sz="1400" dirty="0"/>
              <a:t>且仅过敏发生占大头，可认为夏天头痛多由过敏引起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70" y="3329940"/>
            <a:ext cx="4999355" cy="5435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7305BA5-2F80-7268-D372-52F58693AF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5347" y="0"/>
            <a:ext cx="6342072" cy="35996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357245" y="865505"/>
            <a:ext cx="5549900" cy="5549900"/>
          </a:xfrm>
          <a:prstGeom prst="ellipse">
            <a:avLst/>
          </a:prstGeom>
          <a:gradFill>
            <a:gsLst>
              <a:gs pos="79000">
                <a:schemeClr val="accent5">
                  <a:lumMod val="40000"/>
                  <a:lumOff val="60000"/>
                  <a:alpha val="0"/>
                </a:schemeClr>
              </a:gs>
              <a:gs pos="26000">
                <a:schemeClr val="accent5">
                  <a:lumMod val="60000"/>
                  <a:lumOff val="40000"/>
                  <a:alpha val="18000"/>
                </a:schemeClr>
              </a:gs>
            </a:gsLst>
            <a:lin ang="53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 descr="7b0a20202020227461726765744d6f64756c65223a202270726f636573734f6e6c696e65466f6e7473220a7d0a"/>
          <p:cNvSpPr txBox="1"/>
          <p:nvPr/>
        </p:nvSpPr>
        <p:spPr>
          <a:xfrm>
            <a:off x="6975475" y="1805305"/>
            <a:ext cx="1659890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sz="15000" cap="all" noProof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看</a:t>
            </a:r>
          </a:p>
        </p:txBody>
      </p:sp>
      <p:sp>
        <p:nvSpPr>
          <p:cNvPr id="3" name="文本框 2" descr="7b0a20202020227461726765744d6f64756c65223a202270726f636573734f6e6c696e65466f6e7473220a7d0a"/>
          <p:cNvSpPr txBox="1"/>
          <p:nvPr/>
        </p:nvSpPr>
        <p:spPr>
          <a:xfrm>
            <a:off x="5791835" y="1903730"/>
            <a:ext cx="165989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sz="12000" cap="all" noProof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观</a:t>
            </a:r>
          </a:p>
        </p:txBody>
      </p:sp>
      <p:sp>
        <p:nvSpPr>
          <p:cNvPr id="6" name="文本框 5" descr="7b0a20202020227461726765744d6f64756c65223a202270726f636573734f6e6c696e65466f6e7473220a7d0a"/>
          <p:cNvSpPr txBox="1"/>
          <p:nvPr/>
        </p:nvSpPr>
        <p:spPr>
          <a:xfrm>
            <a:off x="4591050" y="2011045"/>
            <a:ext cx="165989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sz="12000" cap="all" noProof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谢</a:t>
            </a:r>
          </a:p>
        </p:txBody>
      </p:sp>
      <p:sp>
        <p:nvSpPr>
          <p:cNvPr id="8" name="文本框 7" descr="7b0a20202020227461726765744d6f64756c65223a202270726f636573734f6e6c696e65466f6e7473220a7d0a"/>
          <p:cNvSpPr txBox="1"/>
          <p:nvPr/>
        </p:nvSpPr>
        <p:spPr>
          <a:xfrm>
            <a:off x="3350260" y="1885315"/>
            <a:ext cx="1250950" cy="2153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ct val="100000"/>
              </a:lnSpc>
            </a:pPr>
            <a:r>
              <a:rPr lang="zh-CN" sz="13400" cap="all" noProof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  <a:sym typeface="+mn-ea"/>
              </a:rPr>
              <a:t>感</a:t>
            </a:r>
          </a:p>
        </p:txBody>
      </p:sp>
      <p:sp>
        <p:nvSpPr>
          <p:cNvPr id="30" name="文本框 29" descr="7b0a20202020227461726765744d6f64756c65223a202270726f636573734f6e6c696e65466f6e7473220a7d0a"/>
          <p:cNvSpPr txBox="1"/>
          <p:nvPr/>
        </p:nvSpPr>
        <p:spPr>
          <a:xfrm>
            <a:off x="4707255" y="3740150"/>
            <a:ext cx="28009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cap="all">
                <a:ln w="1905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FillTx/>
                <a:latin typeface="汉仪大黑简" panose="02010600000101010101" charset="-122"/>
                <a:ea typeface="汉仪大黑简" panose="02010600000101010101" charset="-122"/>
                <a:cs typeface="汉仪大黑简" panose="02010600000101010101" charset="-122"/>
                <a:sym typeface="+mn-ea"/>
              </a:rPr>
              <a:t>Thank you</a:t>
            </a:r>
          </a:p>
        </p:txBody>
      </p:sp>
      <p:cxnSp>
        <p:nvCxnSpPr>
          <p:cNvPr id="22" name="直接连接符 21"/>
          <p:cNvCxnSpPr/>
          <p:nvPr/>
        </p:nvCxnSpPr>
        <p:spPr>
          <a:xfrm>
            <a:off x="7600315" y="3938905"/>
            <a:ext cx="62166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 descr="7b0a20202020227461726765744d6f64756c65223a202270726f636573734f6e6c696e65466f6e7473220a7d0a"/>
          <p:cNvSpPr txBox="1"/>
          <p:nvPr/>
        </p:nvSpPr>
        <p:spPr>
          <a:xfrm>
            <a:off x="128905" y="2272665"/>
            <a:ext cx="490220" cy="16027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395605" y="191262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 descr="7b0a20202020227461726765744d6f64756c65223a202270726f636573734f6e6c696e65466f6e7473220a7d0a"/>
          <p:cNvSpPr txBox="1"/>
          <p:nvPr/>
        </p:nvSpPr>
        <p:spPr>
          <a:xfrm>
            <a:off x="11558905" y="2178050"/>
            <a:ext cx="490220" cy="14833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sz="2000" cap="all">
                <a:solidFill>
                  <a:schemeClr val="bg1">
                    <a:lumMod val="75000"/>
                  </a:schemeClr>
                </a:solidFill>
                <a:uFillTx/>
                <a:latin typeface="汉仪闫锐敏行楷简" panose="00020600040101010101" charset="-122"/>
                <a:ea typeface="汉仪闫锐敏行楷简" panose="00020600040101010101" charset="-122"/>
                <a:cs typeface="汉仪大黑简" panose="02010600000101010101" charset="-122"/>
              </a:rPr>
              <a:t>江山如画</a:t>
            </a:r>
          </a:p>
        </p:txBody>
      </p:sp>
      <p:cxnSp>
        <p:nvCxnSpPr>
          <p:cNvPr id="14" name="直接连接符 13"/>
          <p:cNvCxnSpPr/>
          <p:nvPr/>
        </p:nvCxnSpPr>
        <p:spPr>
          <a:xfrm flipV="1">
            <a:off x="11825605" y="370014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395605" y="3917950"/>
            <a:ext cx="0" cy="32004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11825605" y="1815465"/>
            <a:ext cx="0" cy="36004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234815" y="6002655"/>
            <a:ext cx="372046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zh-CN" altLang="en-US" sz="1400" cap="all">
                <a:solidFill>
                  <a:schemeClr val="bg1">
                    <a:lumMod val="95000"/>
                  </a:schemeClr>
                </a:solidFill>
                <a:uFillTx/>
                <a:latin typeface="汉仪大黑简" panose="02010600000101010101" charset="-122"/>
                <a:ea typeface="汉仪大黑简" panose="02010600000101010101" charset="-122"/>
              </a:rPr>
              <a:t>Chinese style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3996690" y="3938905"/>
            <a:ext cx="621665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RlOTA5ODkwYWY2NjJhMWM1OTMwMDM1YmNhNWIxOGEifQ=="/>
  <p:tag name="KSO_DOCER_TEMPLATE_OPEN_ONCE_MARK" val="1"/>
  <p:tag name="RESOURCE_RECORD_KEY" val="{&quot;29&quot;:[50053044,50053121],&quot;65&quot;:[20205081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76,&quot;left&quot;:117.7,&quot;top&quot;:174.8,&quot;width&quot;:733.5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  <p:tag name="RESOURCE_RECORD_KEY" val="{&quot;29&quot;:[50053044,50053121],&quot;65&quot;:[20205081]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  <p:tag name="RESOURCE_RECORD_KEY" val="{&quot;29&quot;:[50053044,50053121],&quot;65&quot;:[20205081]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ECORATE_SHAPE_ID" val="2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ID" val="636440342935487115"/>
  <p:tag name="SCENEID" val="Unkown"/>
  <p:tag name="SCENELINKIDS" val="2|3"/>
  <p:tag name="ANIMSTRING" val="06845e1e48f104eaaa8e41c400262d67"/>
  <p:tag name="SCENESHAPETYPE" val="SceneShape"/>
  <p:tag name="SCENESHAPESUBTYPE" val="SceneSimpleShape"/>
  <p:tag name="SCENECOLOR-TEXT" val="Color_Theme"/>
  <p:tag name="SCENECOLOR-TEXT-VALUE" val="2"/>
  <p:tag name="KSO_WM_UNIT_HIGHLIGHT" val="0"/>
  <p:tag name="KSO_WM_UNIT_COMPATIBLE" val="0"/>
  <p:tag name="KSO_WM_UNIT_DIAGRAM_ISNUMVISUAL" val="0"/>
  <p:tag name="KSO_WM_UNIT_DIAGRAM_ISREFERUNIT" val="0"/>
  <p:tag name="KSO_WM_UNIT_SUBTYPE" val="f"/>
  <p:tag name="KSO_WM_UNIT_ID" val="mixed20200373_1*i*2"/>
  <p:tag name="KSO_WM_TEMPLATE_CATEGORY" val="mixed"/>
  <p:tag name="KSO_WM_TEMPLATE_INDEX" val="20200373"/>
  <p:tag name="KSO_WM_UNIT_LAYERLEVEL" val="1"/>
  <p:tag name="KSO_WM_TAG_VERSION" val="1.0"/>
  <p:tag name="KSO_WM_BEAUTIFY_FLAG" val="#wm#"/>
  <p:tag name="KSO_WM_UNIT_TYPE" val="i"/>
  <p:tag name="KSO_WM_UNIT_INDEX" val="2"/>
  <p:tag name="PA" val="v5.2.3"/>
  <p:tag name="KSO_WM_DECORATE_TAGETSHAPES_IDS" val="9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汉仪大黑简"/>
        <a:cs typeface=""/>
      </a:majorFont>
      <a:minorFont>
        <a:latin typeface="Arial"/>
        <a:ea typeface="汉仪大黑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大黑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大黑简"/>
        <a:ea typeface=""/>
        <a:cs typeface=""/>
        <a:font script="Jpan" typeface="ＭＳ Ｐゴシック"/>
        <a:font script="Hang" typeface="맑은 고딕"/>
        <a:font script="Hans" typeface="汉仪大黑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汉仪大黑简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汉仪大黑简"/>
        <a:ea typeface=""/>
        <a:cs typeface=""/>
        <a:font script="Jpan" typeface="ＭＳ Ｐゴシック"/>
        <a:font script="Hang" typeface="맑은 고딕"/>
        <a:font script="Hans" typeface="汉仪大黑简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1187</Words>
  <Application>Microsoft Office PowerPoint</Application>
  <PresentationFormat>宽屏</PresentationFormat>
  <Paragraphs>264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汉仪劲楷简</vt:lpstr>
      <vt:lpstr>Wingdings</vt:lpstr>
      <vt:lpstr>方正公文小标宋</vt:lpstr>
      <vt:lpstr>汉仪大黑简</vt:lpstr>
      <vt:lpstr>Cambria Math</vt:lpstr>
      <vt:lpstr>汉仪闫锐敏行楷简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zyl</cp:lastModifiedBy>
  <cp:revision>200</cp:revision>
  <dcterms:created xsi:type="dcterms:W3CDTF">2019-06-19T02:08:00Z</dcterms:created>
  <dcterms:modified xsi:type="dcterms:W3CDTF">2026-05-10T07:29:05Z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86307F0DD5EA4375A2888CC6B65884CA_11</vt:lpwstr>
  </property>
  <property fmtid="{D5CDD505-2E9C-101B-9397-08002B2CF9AE}" pid="4" name="KSOTemplateUUID">
    <vt:lpwstr>v1.0_mb_HSkEKMmNEZCn3GbxdJUrkw==</vt:lpwstr>
  </property>
</Properties>
</file>