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1811" r:id="rId3"/>
    <p:sldId id="1819" r:id="rId5"/>
    <p:sldId id="1818" r:id="rId6"/>
    <p:sldId id="1820" r:id="rId7"/>
    <p:sldId id="1821" r:id="rId8"/>
    <p:sldId id="1822" r:id="rId9"/>
    <p:sldId id="1823" r:id="rId10"/>
    <p:sldId id="1829" r:id="rId11"/>
    <p:sldId id="1824" r:id="rId12"/>
    <p:sldId id="1825" r:id="rId13"/>
    <p:sldId id="1827" r:id="rId14"/>
    <p:sldId id="1828" r:id="rId15"/>
    <p:sldId id="1830" r:id="rId16"/>
    <p:sldId id="1831" r:id="rId17"/>
    <p:sldId id="1832" r:id="rId18"/>
    <p:sldId id="1833" r:id="rId19"/>
    <p:sldId id="428" r:id="rId20"/>
    <p:sldId id="429" r:id="rId21"/>
    <p:sldId id="430" r:id="rId22"/>
    <p:sldId id="1798" r:id="rId23"/>
    <p:sldId id="1841" r:id="rId24"/>
    <p:sldId id="1836" r:id="rId25"/>
    <p:sldId id="1838" r:id="rId26"/>
    <p:sldId id="1842" r:id="rId27"/>
    <p:sldId id="1834" r:id="rId28"/>
    <p:sldId id="1835" r:id="rId29"/>
    <p:sldId id="1839" r:id="rId30"/>
    <p:sldId id="1800" r:id="rId31"/>
    <p:sldId id="1840" r:id="rId32"/>
    <p:sldId id="1802" r:id="rId33"/>
    <p:sldId id="456" r:id="rId34"/>
    <p:sldId id="458" r:id="rId35"/>
    <p:sldId id="459" r:id="rId36"/>
    <p:sldId id="1837" r:id="rId37"/>
    <p:sldId id="1843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69" autoAdjust="0"/>
    <p:restoredTop sz="94238" autoAdjust="0"/>
  </p:normalViewPr>
  <p:slideViewPr>
    <p:cSldViewPr snapToGrid="0">
      <p:cViewPr varScale="1">
        <p:scale>
          <a:sx n="68" d="100"/>
          <a:sy n="68" d="100"/>
        </p:scale>
        <p:origin x="33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2464D4-D5BB-4F0D-8E32-9142409BCE57}" type="datetimeFigureOut">
              <a:rPr lang="zh-TW" altLang="en-US" smtClean="0"/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44E6A9-403F-46BA-B5D7-D3E84626C545}" type="slidenum">
              <a:rPr lang="zh-TW" altLang="en-US" smtClean="0"/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-- We are going to design network. For image only</a:t>
            </a:r>
            <a:endParaRPr lang="en-US" altLang="zh-TW" dirty="0"/>
          </a:p>
          <a:p>
            <a:r>
              <a:rPr lang="en-US" altLang="zh-TW" dirty="0"/>
              <a:t>-- A neuron for a region (Receptive field)</a:t>
            </a:r>
            <a:endParaRPr lang="en-US" altLang="zh-TW" dirty="0"/>
          </a:p>
          <a:p>
            <a:r>
              <a:rPr lang="en-US" altLang="zh-TW" dirty="0"/>
              <a:t>-- Sharing the weights</a:t>
            </a:r>
            <a:endParaRPr lang="en-US" altLang="zh-TW" dirty="0"/>
          </a:p>
          <a:p>
            <a:r>
              <a:rPr lang="en-US" altLang="zh-TW" dirty="0"/>
              <a:t>-- The above two are CNN layers.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TW" dirty="0"/>
              <a:t>==========</a:t>
            </a:r>
            <a:endParaRPr lang="en-US" altLang="zh-TW" dirty="0"/>
          </a:p>
          <a:p>
            <a:r>
              <a:rPr lang="en-US" altLang="zh-TW" dirty="0"/>
              <a:t>-- multiple layers of CNN</a:t>
            </a:r>
            <a:endParaRPr lang="en-US" altLang="zh-TW" dirty="0"/>
          </a:p>
          <a:p>
            <a:r>
              <a:rPr lang="en-US" altLang="zh-TW" dirty="0"/>
              <a:t>-- Pooling </a:t>
            </a:r>
            <a:endParaRPr lang="en-US" altLang="zh-TW" dirty="0"/>
          </a:p>
          <a:p>
            <a:r>
              <a:rPr lang="en-US" altLang="zh-TW" dirty="0"/>
              <a:t>-- Typical CNN</a:t>
            </a:r>
            <a:endParaRPr lang="en-US" altLang="zh-TW" dirty="0"/>
          </a:p>
          <a:p>
            <a:r>
              <a:rPr lang="en-US" altLang="zh-TW" dirty="0"/>
              <a:t>--  Applications on GO</a:t>
            </a:r>
            <a:endParaRPr lang="en-US" altLang="zh-TW" dirty="0"/>
          </a:p>
          <a:p>
            <a:r>
              <a:rPr lang="en-US" altLang="zh-TW" dirty="0"/>
              <a:t>==========</a:t>
            </a:r>
            <a:endParaRPr lang="en-US" altLang="zh-TW" dirty="0"/>
          </a:p>
          <a:p>
            <a:r>
              <a:rPr lang="en-US" altLang="zh-TW" dirty="0"/>
              <a:t>More applications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44E6A9-403F-46BA-B5D7-D3E84626C54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You cannot add new classed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44E6A9-403F-46BA-B5D7-D3E84626C54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More parameters, </a:t>
            </a:r>
            <a:endParaRPr lang="en-US" altLang="zh-TW" dirty="0"/>
          </a:p>
          <a:p>
            <a:r>
              <a:rPr lang="en-US" altLang="zh-TW" dirty="0"/>
              <a:t>Not only computational intensive</a:t>
            </a:r>
            <a:endParaRPr lang="en-US" altLang="zh-TW" dirty="0"/>
          </a:p>
          <a:p>
            <a:r>
              <a:rPr lang="en-US" altLang="zh-TW" dirty="0"/>
              <a:t>But also easier to overfit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44E6A9-403F-46BA-B5D7-D3E84626C54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https://www.dcard.tw/f/funny/p/233833012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44E6A9-403F-46BA-B5D7-D3E84626C54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https://www.dcard.tw/f/funny/p/233833012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44E6A9-403F-46BA-B5D7-D3E84626C54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守的滴水不漏無懈可擊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44E6A9-403F-46BA-B5D7-D3E84626C54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Need an metaphor?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44E6A9-403F-46BA-B5D7-D3E84626C54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64</a:t>
            </a:r>
            <a:r>
              <a:rPr kumimoji="0" lang="en-US" altLang="zh-TW" sz="12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 filters</a:t>
            </a:r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EF9E8A1-852F-4483-B97B-027903F81BE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4 x 4 image</a:t>
            </a:r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44E6A9-403F-46BA-B5D7-D3E84626C54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44E6A9-403F-46BA-B5D7-D3E84626C54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b="0" i="0" dirty="0">
                <a:solidFill>
                  <a:srgbClr val="EA4335"/>
                </a:solidFill>
                <a:effectLst/>
                <a:latin typeface="Arial" panose="020B0604020202020204" pitchFamily="34" charset="0"/>
              </a:rPr>
              <a:t>No going to use this page ……</a:t>
            </a:r>
            <a:endParaRPr lang="en-US" altLang="zh-TW" b="0" i="0" dirty="0">
              <a:solidFill>
                <a:srgbClr val="EA4335"/>
              </a:solidFill>
              <a:effectLst/>
              <a:latin typeface="Arial" panose="020B0604020202020204" pitchFamily="34" charset="0"/>
            </a:endParaRPr>
          </a:p>
          <a:p>
            <a:r>
              <a:rPr lang="en-US" altLang="zh-TW" b="0" i="0" dirty="0">
                <a:solidFill>
                  <a:srgbClr val="EA4335"/>
                </a:solidFill>
                <a:effectLst/>
                <a:latin typeface="Arial" panose="020B0604020202020204" pitchFamily="34" charset="0"/>
              </a:rPr>
              <a:t>Each filter convolves over</a:t>
            </a:r>
            <a:r>
              <a:rPr lang="en-US" altLang="zh-TW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 the input image.</a:t>
            </a:r>
            <a:endParaRPr lang="en-US" altLang="zh-TW" b="0" i="0" dirty="0">
              <a:solidFill>
                <a:srgbClr val="4D5156"/>
              </a:solidFill>
              <a:effectLst/>
              <a:latin typeface="Arial" panose="020B0604020202020204" pitchFamily="34" charset="0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44E6A9-403F-46BA-B5D7-D3E84626C54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We can subsample the pixels to make image smaller</a:t>
            </a:r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Less parameters for the network to process the image</a:t>
            </a:r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44E6A9-403F-46BA-B5D7-D3E84626C54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It does not have parameters</a:t>
            </a:r>
            <a:endParaRPr lang="en-US" altLang="zh-TW" dirty="0"/>
          </a:p>
          <a:p>
            <a:r>
              <a:rPr lang="en-US" altLang="zh-TW" dirty="0"/>
              <a:t>Like activation function, like </a:t>
            </a:r>
            <a:r>
              <a:rPr lang="en-US" altLang="zh-TW" dirty="0" err="1"/>
              <a:t>relu</a:t>
            </a:r>
            <a:r>
              <a:rPr lang="en-US" altLang="zh-TW" dirty="0"/>
              <a:t>, sigmoid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44E6A9-403F-46BA-B5D7-D3E84626C54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TW" sz="1200" dirty="0"/>
              <a:t>Alpha Go is more complex.</a:t>
            </a:r>
            <a:endParaRPr lang="zh-TW" altLang="en-US" sz="1200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44E6A9-403F-46BA-B5D7-D3E84626C54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CNN is widely used</a:t>
            </a:r>
            <a:endParaRPr lang="en-US" altLang="zh-TW" dirty="0"/>
          </a:p>
          <a:p>
            <a:r>
              <a:rPr lang="en-US" altLang="zh-TW" dirty="0"/>
              <a:t>Very good example for designing  your network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9ACDAE2-1044-44AA-8E16-BB9FD2E2B3C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7453D-2FCD-4196-A60B-D7C8B2A9429E}" type="datetime1">
              <a:rPr lang="zh-TW" altLang="en-US" smtClean="0"/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5A70E-D967-43E8-8B96-CC54003181B8}" type="datetime1">
              <a:rPr lang="zh-TW" altLang="en-US" smtClean="0"/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7C6DB-C1C7-43B4-B51D-152A0BBFD762}" type="datetime1">
              <a:rPr lang="zh-TW" altLang="en-US" smtClean="0"/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946D4-CA44-49FE-94C0-CE347A1EB866}" type="datetime1">
              <a:rPr lang="zh-TW" altLang="en-US" smtClean="0"/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  <a:endParaRPr lang="zh-TW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  <a:endParaRPr lang="zh-TW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BABE7-3134-4BEB-ADFA-D48AFD2C58E4}" type="datetime1">
              <a:rPr lang="zh-TW" altLang="en-US" smtClean="0"/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FBB91-4F14-4C24-8A4D-2C4F9BD563AF}" type="datetime1">
              <a:rPr lang="zh-TW" altLang="en-US" smtClean="0"/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23A16-BF4C-4E39-8B41-6D3F48BCC549}" type="datetime1">
              <a:rPr lang="zh-TW" altLang="en-US" smtClean="0"/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  <a:endParaRPr lang="zh-TW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BCD2A-A922-434A-BC3B-38428B453397}" type="datetime1">
              <a:rPr lang="zh-TW" altLang="en-US" smtClean="0"/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  <a:endParaRPr lang="zh-TW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E7246-5C88-4101-A12F-1DA2314D6229}" type="datetime1">
              <a:rPr lang="zh-TW" altLang="en-US" smtClean="0"/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61BA1-97E1-4EBD-B1C0-EFBD00BACADA}" type="datetime1">
              <a:rPr lang="zh-TW" altLang="en-US" smtClean="0"/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F5F72-E45F-4B11-A7BB-FF10F01C8FC2}" type="datetime1">
              <a:rPr lang="zh-TW" altLang="en-US" smtClean="0"/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4C6A29-A896-42FE-A076-B1B777A608BC}" type="datetime1">
              <a:rPr lang="zh-TW" altLang="en-US" smtClean="0"/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CD78FF-708A-40C9-81BD-3756317ADA97}" type="slidenum">
              <a:rPr lang="zh-TW" altLang="en-US" smtClean="0"/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13.png"/><Relationship Id="rId7" Type="http://schemas.openxmlformats.org/officeDocument/2006/relationships/image" Target="../media/image12.jpeg"/><Relationship Id="rId6" Type="http://schemas.openxmlformats.org/officeDocument/2006/relationships/image" Target="../media/image11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0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9.wmf"/><Relationship Id="rId13" Type="http://schemas.openxmlformats.org/officeDocument/2006/relationships/notesSlide" Target="../notesSlides/notesSlide4.xml"/><Relationship Id="rId12" Type="http://schemas.openxmlformats.org/officeDocument/2006/relationships/vmlDrawing" Target="../drawings/vmlDrawing1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5.png"/><Relationship Id="rId1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13.png"/><Relationship Id="rId7" Type="http://schemas.openxmlformats.org/officeDocument/2006/relationships/image" Target="../media/image12.jpeg"/><Relationship Id="rId6" Type="http://schemas.openxmlformats.org/officeDocument/2006/relationships/image" Target="../media/image11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0.w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9.wmf"/><Relationship Id="rId13" Type="http://schemas.openxmlformats.org/officeDocument/2006/relationships/notesSlide" Target="../notesSlides/notesSlide5.xml"/><Relationship Id="rId12" Type="http://schemas.openxmlformats.org/officeDocument/2006/relationships/vmlDrawing" Target="../drawings/vmlDrawing2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5.png"/><Relationship Id="rId1" Type="http://schemas.openxmlformats.org/officeDocument/2006/relationships/oleObject" Target="../embeddings/oleObject4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7.png"/><Relationship Id="rId7" Type="http://schemas.openxmlformats.org/officeDocument/2006/relationships/image" Target="../media/image26.png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0.jpeg"/><Relationship Id="rId1" Type="http://schemas.openxmlformats.org/officeDocument/2006/relationships/image" Target="../media/image29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jpeg"/><Relationship Id="rId1" Type="http://schemas.openxmlformats.org/officeDocument/2006/relationships/image" Target="../media/image3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4.jpeg"/><Relationship Id="rId1" Type="http://schemas.openxmlformats.org/officeDocument/2006/relationships/image" Target="../media/image3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4654" y="2073715"/>
            <a:ext cx="8954691" cy="2993042"/>
          </a:xfrm>
        </p:spPr>
        <p:txBody>
          <a:bodyPr anchor="ctr">
            <a:normAutofit/>
          </a:bodyPr>
          <a:lstStyle/>
          <a:p>
            <a:r>
              <a:rPr lang="en-US" altLang="zh-TW" sz="5400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Convolutional Neural Network (CNN)</a:t>
            </a:r>
            <a:endParaRPr lang="zh-TW" altLang="en-US" sz="5400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94654" y="115193"/>
            <a:ext cx="8954691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Straight Connector 11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 flipH="1">
            <a:off x="1799424" y="1883640"/>
            <a:ext cx="520182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 flipH="1">
            <a:off x="1799424" y="5066757"/>
            <a:ext cx="520182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/>
          <p:cNvSpPr txBox="1"/>
          <p:nvPr/>
        </p:nvSpPr>
        <p:spPr>
          <a:xfrm>
            <a:off x="1079968" y="5643171"/>
            <a:ext cx="69840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Network Architecture designed for Image</a:t>
            </a: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Image Classification </a:t>
            </a:r>
            <a:endParaRPr lang="zh-TW" altLang="en-US" dirty="0"/>
          </a:p>
        </p:txBody>
      </p:sp>
      <p:sp>
        <p:nvSpPr>
          <p:cNvPr id="6" name="矩形: 圓角 5"/>
          <p:cNvSpPr/>
          <p:nvPr/>
        </p:nvSpPr>
        <p:spPr>
          <a:xfrm>
            <a:off x="3724275" y="2828923"/>
            <a:ext cx="1504950" cy="15656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Model</a:t>
            </a:r>
            <a:endParaRPr lang="zh-TW" altLang="en-US" sz="2400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650" y="2481134"/>
            <a:ext cx="2341436" cy="2492096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sp>
        <p:nvSpPr>
          <p:cNvPr id="8" name="文字方塊 7"/>
          <p:cNvSpPr txBox="1"/>
          <p:nvPr/>
        </p:nvSpPr>
        <p:spPr>
          <a:xfrm>
            <a:off x="1824402" y="4742397"/>
            <a:ext cx="20358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100 x 100</a:t>
            </a:r>
            <a:endParaRPr lang="zh-TW" altLang="en-US" sz="2400" dirty="0"/>
          </a:p>
        </p:txBody>
      </p:sp>
      <p:cxnSp>
        <p:nvCxnSpPr>
          <p:cNvPr id="10" name="直線單箭頭接點 9"/>
          <p:cNvCxnSpPr/>
          <p:nvPr/>
        </p:nvCxnSpPr>
        <p:spPr>
          <a:xfrm>
            <a:off x="2842319" y="3624908"/>
            <a:ext cx="80962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>
            <a:off x="5324475" y="3624908"/>
            <a:ext cx="87937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字方塊 16"/>
              <p:cNvSpPr txBox="1"/>
              <p:nvPr/>
            </p:nvSpPr>
            <p:spPr>
              <a:xfrm>
                <a:off x="6437286" y="3377189"/>
                <a:ext cx="283604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zh-TW" sz="2800" b="1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800" b="1" dirty="0"/>
              </a:p>
            </p:txBody>
          </p:sp>
        </mc:Choice>
        <mc:Fallback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7286" y="3377189"/>
                <a:ext cx="283604" cy="430887"/>
              </a:xfrm>
              <a:prstGeom prst="rect">
                <a:avLst/>
              </a:prstGeom>
              <a:blipFill rotWithShape="1">
                <a:blip r:embed="rId2"/>
                <a:stretch>
                  <a:fillRect l="-103" t="-60" r="-7371" b="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字方塊 17"/>
              <p:cNvSpPr txBox="1"/>
              <p:nvPr/>
            </p:nvSpPr>
            <p:spPr>
              <a:xfrm>
                <a:off x="7941784" y="3361861"/>
                <a:ext cx="842332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trlPr>
                            <a:rPr lang="en-US" altLang="zh-TW" sz="28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8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2800" b="1" dirty="0"/>
              </a:p>
            </p:txBody>
          </p:sp>
        </mc:Choice>
        <mc:Fallback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1784" y="3361861"/>
                <a:ext cx="842332" cy="430887"/>
              </a:xfrm>
              <a:prstGeom prst="rect">
                <a:avLst/>
              </a:prstGeom>
              <a:blipFill rotWithShape="1">
                <a:blip r:embed="rId3"/>
                <a:stretch>
                  <a:fillRect l="-56" t="-40" r="19" b="1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直線單箭頭接點 19"/>
          <p:cNvCxnSpPr/>
          <p:nvPr/>
        </p:nvCxnSpPr>
        <p:spPr>
          <a:xfrm>
            <a:off x="6865034" y="3626236"/>
            <a:ext cx="1286300" cy="0"/>
          </a:xfrm>
          <a:prstGeom prst="straightConnector1">
            <a:avLst/>
          </a:prstGeom>
          <a:ln w="57150">
            <a:prstDash val="sys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/>
          <p:cNvSpPr txBox="1"/>
          <p:nvPr/>
        </p:nvSpPr>
        <p:spPr>
          <a:xfrm>
            <a:off x="6490267" y="3744673"/>
            <a:ext cx="20358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Cross </a:t>
            </a:r>
            <a:endParaRPr lang="en-US" altLang="zh-TW" sz="2400" dirty="0"/>
          </a:p>
          <a:p>
            <a:pPr algn="ctr"/>
            <a:r>
              <a:rPr lang="en-US" altLang="zh-TW" sz="2400" dirty="0"/>
              <a:t>entropy</a:t>
            </a:r>
            <a:endParaRPr lang="zh-TW" altLang="en-US" sz="2400" dirty="0"/>
          </a:p>
        </p:txBody>
      </p:sp>
      <p:grpSp>
        <p:nvGrpSpPr>
          <p:cNvPr id="29" name="群組 28"/>
          <p:cNvGrpSpPr/>
          <p:nvPr/>
        </p:nvGrpSpPr>
        <p:grpSpPr>
          <a:xfrm>
            <a:off x="7100709" y="1238782"/>
            <a:ext cx="1451388" cy="1968168"/>
            <a:chOff x="7190460" y="4154983"/>
            <a:chExt cx="1451388" cy="196816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文字方塊 24"/>
                <p:cNvSpPr txBox="1"/>
                <p:nvPr/>
              </p:nvSpPr>
              <p:spPr>
                <a:xfrm>
                  <a:off x="8109843" y="4154983"/>
                  <a:ext cx="532005" cy="196816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zh-TW" sz="28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TW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zh-TW" sz="2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TW" altLang="en-US" sz="280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TW" altLang="en-US" sz="2800" dirty="0"/>
                </a:p>
              </p:txBody>
            </p:sp>
          </mc:Choice>
          <mc:Fallback>
            <p:sp>
              <p:nvSpPr>
                <p:cNvPr id="25" name="文字方塊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9843" y="4154983"/>
                  <a:ext cx="532005" cy="1968168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文字方塊 25"/>
            <p:cNvSpPr txBox="1"/>
            <p:nvPr/>
          </p:nvSpPr>
          <p:spPr>
            <a:xfrm>
              <a:off x="7211205" y="4958622"/>
              <a:ext cx="940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dirty="0"/>
                <a:t>cat</a:t>
              </a:r>
              <a:endParaRPr lang="zh-TW" altLang="en-US" dirty="0"/>
            </a:p>
          </p:txBody>
        </p:sp>
        <p:sp>
          <p:nvSpPr>
            <p:cNvPr id="27" name="文字方塊 26"/>
            <p:cNvSpPr txBox="1"/>
            <p:nvPr/>
          </p:nvSpPr>
          <p:spPr>
            <a:xfrm>
              <a:off x="7190460" y="4557731"/>
              <a:ext cx="940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dirty="0"/>
                <a:t>dog</a:t>
              </a:r>
              <a:endParaRPr lang="zh-TW" altLang="en-US" dirty="0"/>
            </a:p>
          </p:txBody>
        </p:sp>
        <p:sp>
          <p:nvSpPr>
            <p:cNvPr id="28" name="文字方塊 27"/>
            <p:cNvSpPr txBox="1"/>
            <p:nvPr/>
          </p:nvSpPr>
          <p:spPr>
            <a:xfrm>
              <a:off x="7200765" y="5327954"/>
              <a:ext cx="940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dirty="0"/>
                <a:t>tree</a:t>
              </a:r>
              <a:endParaRPr lang="zh-TW" altLang="en-US" dirty="0"/>
            </a:p>
          </p:txBody>
        </p:sp>
      </p:grpSp>
      <p:sp>
        <p:nvSpPr>
          <p:cNvPr id="30" name="投影片編號版面配置區 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</a:fld>
            <a:endParaRPr lang="zh-TW" altLang="en-US"/>
          </a:p>
        </p:txBody>
      </p:sp>
      <p:sp>
        <p:nvSpPr>
          <p:cNvPr id="31" name="文字方塊 30"/>
          <p:cNvSpPr txBox="1"/>
          <p:nvPr/>
        </p:nvSpPr>
        <p:spPr>
          <a:xfrm>
            <a:off x="821761" y="5532838"/>
            <a:ext cx="43624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(All the images to be classified have the same size.)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字方塊 22"/>
              <p:cNvSpPr txBox="1"/>
              <p:nvPr/>
            </p:nvSpPr>
            <p:spPr>
              <a:xfrm>
                <a:off x="6163050" y="1238782"/>
                <a:ext cx="804516" cy="19681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8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zh-TW" altLang="en-US" sz="280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23" name="文字方塊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3050" y="1238782"/>
                <a:ext cx="804516" cy="1968168"/>
              </a:xfrm>
              <a:prstGeom prst="rect">
                <a:avLst/>
              </a:prstGeom>
              <a:blipFill rotWithShape="1">
                <a:blip r:embed="rId5"/>
                <a:stretch>
                  <a:fillRect l="-47" t="-27" r="-4535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  <p:bldP spid="17" grpId="0"/>
      <p:bldP spid="18" grpId="0"/>
      <p:bldP spid="24" grpId="0"/>
      <p:bldP spid="31" grpId="0"/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Image Classification 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650" y="2481134"/>
            <a:ext cx="2341436" cy="2492096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cxnSp>
        <p:nvCxnSpPr>
          <p:cNvPr id="6" name="直線單箭頭接點 5"/>
          <p:cNvCxnSpPr/>
          <p:nvPr/>
        </p:nvCxnSpPr>
        <p:spPr>
          <a:xfrm>
            <a:off x="2835539" y="3698963"/>
            <a:ext cx="77030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群組 36"/>
          <p:cNvGrpSpPr/>
          <p:nvPr/>
        </p:nvGrpSpPr>
        <p:grpSpPr>
          <a:xfrm>
            <a:off x="3432093" y="2294909"/>
            <a:ext cx="3180483" cy="2650102"/>
            <a:chOff x="3432093" y="2294909"/>
            <a:chExt cx="3180483" cy="2650102"/>
          </a:xfrm>
        </p:grpSpPr>
        <p:pic>
          <p:nvPicPr>
            <p:cNvPr id="7" name="圖片 6"/>
            <p:cNvPicPr>
              <a:picLocks noChangeAspect="1"/>
            </p:cNvPicPr>
            <p:nvPr/>
          </p:nvPicPr>
          <p:blipFill>
            <a:blip r:embed="rId1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3432093" y="2294909"/>
              <a:ext cx="2341436" cy="2492096"/>
            </a:xfrm>
            <a:prstGeom prst="rect">
              <a:avLst/>
            </a:prstGeom>
            <a:scene3d>
              <a:camera prst="isometricRightUp"/>
              <a:lightRig rig="threePt" dir="t"/>
            </a:scene3d>
          </p:spPr>
        </p:pic>
        <p:pic>
          <p:nvPicPr>
            <p:cNvPr id="8" name="圖片 7"/>
            <p:cNvPicPr>
              <a:picLocks noChangeAspect="1"/>
            </p:cNvPicPr>
            <p:nvPr/>
          </p:nvPicPr>
          <p:blipFill>
            <a:blip r:embed="rId1"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3834690" y="2374424"/>
              <a:ext cx="2341436" cy="2492096"/>
            </a:xfrm>
            <a:prstGeom prst="rect">
              <a:avLst/>
            </a:prstGeom>
            <a:scene3d>
              <a:camera prst="isometricRightUp"/>
              <a:lightRig rig="threePt" dir="t"/>
            </a:scene3d>
          </p:spPr>
        </p:pic>
        <p:pic>
          <p:nvPicPr>
            <p:cNvPr id="9" name="圖片 8"/>
            <p:cNvPicPr>
              <a:picLocks noChangeAspect="1"/>
            </p:cNvPicPr>
            <p:nvPr/>
          </p:nvPicPr>
          <p:blipFill>
            <a:blip r:embed="rId1">
              <a:duotone>
                <a:prstClr val="black"/>
                <a:schemeClr val="accent6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4271140" y="2452915"/>
              <a:ext cx="2341436" cy="2492096"/>
            </a:xfrm>
            <a:prstGeom prst="rect">
              <a:avLst/>
            </a:prstGeom>
            <a:scene3d>
              <a:camera prst="isometricRightUp"/>
              <a:lightRig rig="threePt" dir="t"/>
            </a:scene3d>
          </p:spPr>
        </p:pic>
      </p:grpSp>
      <p:sp>
        <p:nvSpPr>
          <p:cNvPr id="10" name="文字方塊 9"/>
          <p:cNvSpPr txBox="1"/>
          <p:nvPr/>
        </p:nvSpPr>
        <p:spPr>
          <a:xfrm>
            <a:off x="1824402" y="4742397"/>
            <a:ext cx="20358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100 x 100</a:t>
            </a:r>
            <a:endParaRPr lang="zh-TW" altLang="en-US" sz="24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5332956" y="4714178"/>
            <a:ext cx="8259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100</a:t>
            </a:r>
            <a:endParaRPr lang="zh-TW" altLang="en-US" sz="24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6121673" y="2826859"/>
            <a:ext cx="8259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100</a:t>
            </a:r>
            <a:endParaRPr lang="zh-TW" altLang="en-US" sz="24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5138251" y="1347444"/>
            <a:ext cx="15190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3 channels</a:t>
            </a:r>
            <a:endParaRPr lang="zh-TW" altLang="en-US" sz="24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2682880" y="2709960"/>
            <a:ext cx="10192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3-D </a:t>
            </a:r>
            <a:endParaRPr lang="en-US" altLang="zh-TW" sz="2400" dirty="0"/>
          </a:p>
          <a:p>
            <a:pPr algn="ctr"/>
            <a:r>
              <a:rPr lang="en-US" altLang="zh-TW" sz="2400" dirty="0"/>
              <a:t>tensor</a:t>
            </a:r>
            <a:endParaRPr lang="zh-TW" altLang="en-US" sz="2400" dirty="0"/>
          </a:p>
        </p:txBody>
      </p:sp>
      <p:sp>
        <p:nvSpPr>
          <p:cNvPr id="15" name="右大括弧 14"/>
          <p:cNvSpPr/>
          <p:nvPr/>
        </p:nvSpPr>
        <p:spPr>
          <a:xfrm rot="17183749">
            <a:off x="5851745" y="1525897"/>
            <a:ext cx="199486" cy="1003772"/>
          </a:xfrm>
          <a:prstGeom prst="rightBrace">
            <a:avLst>
              <a:gd name="adj1" fmla="val 30921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" name="直線單箭頭接點 19"/>
          <p:cNvCxnSpPr/>
          <p:nvPr/>
        </p:nvCxnSpPr>
        <p:spPr>
          <a:xfrm>
            <a:off x="6395911" y="3659205"/>
            <a:ext cx="73854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表格 23"/>
          <p:cNvGraphicFramePr>
            <a:graphicFrameLocks noGrp="1"/>
          </p:cNvGraphicFramePr>
          <p:nvPr/>
        </p:nvGraphicFramePr>
        <p:xfrm>
          <a:off x="7315842" y="696192"/>
          <a:ext cx="42138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/>
              </a:tblGrid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" name="表格 23"/>
          <p:cNvGraphicFramePr>
            <a:graphicFrameLocks noGrp="1"/>
          </p:cNvGraphicFramePr>
          <p:nvPr/>
        </p:nvGraphicFramePr>
        <p:xfrm>
          <a:off x="7315841" y="2613857"/>
          <a:ext cx="42138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/>
              </a:tblGrid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表格 24"/>
          <p:cNvGraphicFramePr>
            <a:graphicFrameLocks noGrp="1"/>
          </p:cNvGraphicFramePr>
          <p:nvPr/>
        </p:nvGraphicFramePr>
        <p:xfrm>
          <a:off x="7315841" y="4531522"/>
          <a:ext cx="42138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/>
              </a:tblGrid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8" name="文字方塊 27"/>
          <p:cNvSpPr txBox="1"/>
          <p:nvPr/>
        </p:nvSpPr>
        <p:spPr>
          <a:xfrm>
            <a:off x="7753622" y="1393610"/>
            <a:ext cx="1284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100 x 100</a:t>
            </a:r>
            <a:endParaRPr lang="zh-TW" altLang="en-US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7737230" y="3429000"/>
            <a:ext cx="1284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100 x 100</a:t>
            </a:r>
            <a:endParaRPr lang="zh-TW" altLang="en-US" dirty="0"/>
          </a:p>
        </p:txBody>
      </p:sp>
      <p:sp>
        <p:nvSpPr>
          <p:cNvPr id="31" name="文字方塊 30"/>
          <p:cNvSpPr txBox="1"/>
          <p:nvPr/>
        </p:nvSpPr>
        <p:spPr>
          <a:xfrm>
            <a:off x="7753622" y="5273956"/>
            <a:ext cx="1284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100 x 100</a:t>
            </a:r>
            <a:endParaRPr lang="zh-TW" altLang="en-US" dirty="0"/>
          </a:p>
        </p:txBody>
      </p:sp>
      <p:sp>
        <p:nvSpPr>
          <p:cNvPr id="33" name="文字方塊 32"/>
          <p:cNvSpPr txBox="1"/>
          <p:nvPr/>
        </p:nvSpPr>
        <p:spPr>
          <a:xfrm>
            <a:off x="2540248" y="5562326"/>
            <a:ext cx="37101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TW" sz="2400" dirty="0"/>
              <a:t>value represents </a:t>
            </a:r>
            <a:r>
              <a:rPr lang="zh-TW" altLang="en-US" sz="2400" dirty="0"/>
              <a:t>intensity</a:t>
            </a:r>
            <a:endParaRPr lang="zh-TW" altLang="en-US" sz="2400" dirty="0"/>
          </a:p>
        </p:txBody>
      </p:sp>
      <p:cxnSp>
        <p:nvCxnSpPr>
          <p:cNvPr id="34" name="直線單箭頭接點 33"/>
          <p:cNvCxnSpPr/>
          <p:nvPr/>
        </p:nvCxnSpPr>
        <p:spPr>
          <a:xfrm flipV="1">
            <a:off x="6250426" y="5074283"/>
            <a:ext cx="1065415" cy="577321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投影片編號版面配置區 3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 animBg="1"/>
      <p:bldP spid="28" grpId="0"/>
      <p:bldP spid="30" grpId="0"/>
      <p:bldP spid="31" grpId="0"/>
      <p:bldP spid="3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單箭頭接點 3"/>
          <p:cNvCxnSpPr/>
          <p:nvPr/>
        </p:nvCxnSpPr>
        <p:spPr>
          <a:xfrm>
            <a:off x="4042114" y="1492670"/>
            <a:ext cx="253572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單箭頭接點 4"/>
          <p:cNvCxnSpPr>
            <a:endCxn id="22" idx="2"/>
          </p:cNvCxnSpPr>
          <p:nvPr/>
        </p:nvCxnSpPr>
        <p:spPr>
          <a:xfrm flipV="1">
            <a:off x="4042113" y="1518544"/>
            <a:ext cx="2535723" cy="148794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單箭頭接點 5"/>
          <p:cNvCxnSpPr>
            <a:endCxn id="22" idx="2"/>
          </p:cNvCxnSpPr>
          <p:nvPr/>
        </p:nvCxnSpPr>
        <p:spPr>
          <a:xfrm flipV="1">
            <a:off x="4042113" y="1518544"/>
            <a:ext cx="2535723" cy="30512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群組 6"/>
          <p:cNvGrpSpPr/>
          <p:nvPr/>
        </p:nvGrpSpPr>
        <p:grpSpPr>
          <a:xfrm>
            <a:off x="3657082" y="1248770"/>
            <a:ext cx="369332" cy="394455"/>
            <a:chOff x="674398" y="1660770"/>
            <a:chExt cx="369332" cy="394455"/>
          </a:xfrm>
        </p:grpSpPr>
        <p:sp>
          <p:nvSpPr>
            <p:cNvPr id="8" name="矩形 7"/>
            <p:cNvSpPr/>
            <p:nvPr/>
          </p:nvSpPr>
          <p:spPr>
            <a:xfrm>
              <a:off x="674398" y="1685893"/>
              <a:ext cx="369332" cy="369332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文字方塊 8"/>
                <p:cNvSpPr txBox="1"/>
                <p:nvPr/>
              </p:nvSpPr>
              <p:spPr>
                <a:xfrm>
                  <a:off x="749516" y="1660770"/>
                  <a:ext cx="241733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>
            <p:sp>
              <p:nvSpPr>
                <p:cNvPr id="9" name="文字方塊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516" y="1660770"/>
                  <a:ext cx="241733" cy="369332"/>
                </a:xfrm>
                <a:prstGeom prst="rect">
                  <a:avLst/>
                </a:prstGeom>
                <a:blipFill rotWithShape="1">
                  <a:blip r:embed="rId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群組 9"/>
          <p:cNvGrpSpPr/>
          <p:nvPr/>
        </p:nvGrpSpPr>
        <p:grpSpPr>
          <a:xfrm>
            <a:off x="3641788" y="2871632"/>
            <a:ext cx="369332" cy="399084"/>
            <a:chOff x="674398" y="1660770"/>
            <a:chExt cx="369332" cy="399084"/>
          </a:xfrm>
        </p:grpSpPr>
        <p:sp>
          <p:nvSpPr>
            <p:cNvPr id="11" name="矩形 10"/>
            <p:cNvSpPr/>
            <p:nvPr/>
          </p:nvSpPr>
          <p:spPr>
            <a:xfrm>
              <a:off x="674398" y="1685893"/>
              <a:ext cx="369332" cy="369332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文字方塊 11"/>
                <p:cNvSpPr txBox="1"/>
                <p:nvPr/>
              </p:nvSpPr>
              <p:spPr>
                <a:xfrm>
                  <a:off x="749516" y="1660770"/>
                  <a:ext cx="241733" cy="39908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>
            <p:sp>
              <p:nvSpPr>
                <p:cNvPr id="12" name="文字方塊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516" y="1660770"/>
                  <a:ext cx="241733" cy="399084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群組 12"/>
          <p:cNvGrpSpPr/>
          <p:nvPr/>
        </p:nvGrpSpPr>
        <p:grpSpPr>
          <a:xfrm>
            <a:off x="3650854" y="4476188"/>
            <a:ext cx="369332" cy="394455"/>
            <a:chOff x="674398" y="1660770"/>
            <a:chExt cx="369332" cy="394455"/>
          </a:xfrm>
        </p:grpSpPr>
        <p:sp>
          <p:nvSpPr>
            <p:cNvPr id="14" name="矩形 13"/>
            <p:cNvSpPr/>
            <p:nvPr/>
          </p:nvSpPr>
          <p:spPr>
            <a:xfrm>
              <a:off x="674398" y="1685893"/>
              <a:ext cx="369332" cy="369332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文字方塊 14"/>
                <p:cNvSpPr txBox="1"/>
                <p:nvPr/>
              </p:nvSpPr>
              <p:spPr>
                <a:xfrm>
                  <a:off x="749516" y="1660770"/>
                  <a:ext cx="241733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>
            <p:sp>
              <p:nvSpPr>
                <p:cNvPr id="15" name="文字方塊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516" y="1660770"/>
                  <a:ext cx="241733" cy="369332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6" name="直線單箭頭接點 15"/>
          <p:cNvCxnSpPr>
            <a:endCxn id="23" idx="2"/>
          </p:cNvCxnSpPr>
          <p:nvPr/>
        </p:nvCxnSpPr>
        <p:spPr>
          <a:xfrm>
            <a:off x="4042112" y="1458191"/>
            <a:ext cx="2543317" cy="162606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>
            <a:endCxn id="23" idx="2"/>
          </p:cNvCxnSpPr>
          <p:nvPr/>
        </p:nvCxnSpPr>
        <p:spPr>
          <a:xfrm>
            <a:off x="4042113" y="3064612"/>
            <a:ext cx="2543316" cy="1964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>
            <a:endCxn id="23" idx="2"/>
          </p:cNvCxnSpPr>
          <p:nvPr/>
        </p:nvCxnSpPr>
        <p:spPr>
          <a:xfrm flipV="1">
            <a:off x="4013957" y="3084260"/>
            <a:ext cx="2571472" cy="15185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>
            <a:endCxn id="24" idx="2"/>
          </p:cNvCxnSpPr>
          <p:nvPr/>
        </p:nvCxnSpPr>
        <p:spPr>
          <a:xfrm>
            <a:off x="4026414" y="1503228"/>
            <a:ext cx="2526296" cy="315878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>
            <a:endCxn id="24" idx="2"/>
          </p:cNvCxnSpPr>
          <p:nvPr/>
        </p:nvCxnSpPr>
        <p:spPr>
          <a:xfrm>
            <a:off x="4026413" y="3109649"/>
            <a:ext cx="2526297" cy="155236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 flipV="1">
            <a:off x="4042114" y="4676525"/>
            <a:ext cx="251059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群組 27"/>
          <p:cNvGrpSpPr/>
          <p:nvPr/>
        </p:nvGrpSpPr>
        <p:grpSpPr>
          <a:xfrm>
            <a:off x="6577836" y="1199456"/>
            <a:ext cx="638175" cy="638175"/>
            <a:chOff x="8370546" y="1983114"/>
            <a:chExt cx="638175" cy="638175"/>
          </a:xfrm>
        </p:grpSpPr>
        <p:sp>
          <p:nvSpPr>
            <p:cNvPr id="22" name="橢圓 21"/>
            <p:cNvSpPr/>
            <p:nvPr/>
          </p:nvSpPr>
          <p:spPr>
            <a:xfrm>
              <a:off x="8370546" y="1983114"/>
              <a:ext cx="638175" cy="638175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手繪多邊形 108"/>
            <p:cNvSpPr/>
            <p:nvPr/>
          </p:nvSpPr>
          <p:spPr>
            <a:xfrm>
              <a:off x="8447407" y="2115472"/>
              <a:ext cx="469900" cy="354083"/>
            </a:xfrm>
            <a:custGeom>
              <a:avLst/>
              <a:gdLst>
                <a:gd name="connsiteX0" fmla="*/ 469900 w 469900"/>
                <a:gd name="connsiteY0" fmla="*/ 5192 h 354083"/>
                <a:gd name="connsiteX1" fmla="*/ 254000 w 469900"/>
                <a:gd name="connsiteY1" fmla="*/ 43292 h 354083"/>
                <a:gd name="connsiteX2" fmla="*/ 139700 w 469900"/>
                <a:gd name="connsiteY2" fmla="*/ 322692 h 354083"/>
                <a:gd name="connsiteX3" fmla="*/ 0 w 469900"/>
                <a:gd name="connsiteY3" fmla="*/ 335392 h 354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9900" h="354083">
                  <a:moveTo>
                    <a:pt x="469900" y="5192"/>
                  </a:moveTo>
                  <a:cubicBezTo>
                    <a:pt x="389466" y="-2217"/>
                    <a:pt x="309033" y="-9625"/>
                    <a:pt x="254000" y="43292"/>
                  </a:cubicBezTo>
                  <a:cubicBezTo>
                    <a:pt x="198967" y="96209"/>
                    <a:pt x="182033" y="274009"/>
                    <a:pt x="139700" y="322692"/>
                  </a:cubicBezTo>
                  <a:cubicBezTo>
                    <a:pt x="97367" y="371375"/>
                    <a:pt x="48683" y="353383"/>
                    <a:pt x="0" y="335392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9" name="群組 28"/>
          <p:cNvGrpSpPr/>
          <p:nvPr/>
        </p:nvGrpSpPr>
        <p:grpSpPr>
          <a:xfrm>
            <a:off x="6585429" y="2765172"/>
            <a:ext cx="638175" cy="638175"/>
            <a:chOff x="8378140" y="3515828"/>
            <a:chExt cx="638175" cy="638175"/>
          </a:xfrm>
        </p:grpSpPr>
        <p:sp>
          <p:nvSpPr>
            <p:cNvPr id="23" name="橢圓 22"/>
            <p:cNvSpPr/>
            <p:nvPr/>
          </p:nvSpPr>
          <p:spPr>
            <a:xfrm>
              <a:off x="8378140" y="3515828"/>
              <a:ext cx="638175" cy="638175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手繪多邊形 108"/>
            <p:cNvSpPr/>
            <p:nvPr/>
          </p:nvSpPr>
          <p:spPr>
            <a:xfrm>
              <a:off x="8458600" y="3669023"/>
              <a:ext cx="469900" cy="354083"/>
            </a:xfrm>
            <a:custGeom>
              <a:avLst/>
              <a:gdLst>
                <a:gd name="connsiteX0" fmla="*/ 469900 w 469900"/>
                <a:gd name="connsiteY0" fmla="*/ 5192 h 354083"/>
                <a:gd name="connsiteX1" fmla="*/ 254000 w 469900"/>
                <a:gd name="connsiteY1" fmla="*/ 43292 h 354083"/>
                <a:gd name="connsiteX2" fmla="*/ 139700 w 469900"/>
                <a:gd name="connsiteY2" fmla="*/ 322692 h 354083"/>
                <a:gd name="connsiteX3" fmla="*/ 0 w 469900"/>
                <a:gd name="connsiteY3" fmla="*/ 335392 h 354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9900" h="354083">
                  <a:moveTo>
                    <a:pt x="469900" y="5192"/>
                  </a:moveTo>
                  <a:cubicBezTo>
                    <a:pt x="389466" y="-2217"/>
                    <a:pt x="309033" y="-9625"/>
                    <a:pt x="254000" y="43292"/>
                  </a:cubicBezTo>
                  <a:cubicBezTo>
                    <a:pt x="198967" y="96209"/>
                    <a:pt x="182033" y="274009"/>
                    <a:pt x="139700" y="322692"/>
                  </a:cubicBezTo>
                  <a:cubicBezTo>
                    <a:pt x="97367" y="371375"/>
                    <a:pt x="48683" y="353383"/>
                    <a:pt x="0" y="335392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30" name="群組 29"/>
          <p:cNvGrpSpPr/>
          <p:nvPr/>
        </p:nvGrpSpPr>
        <p:grpSpPr>
          <a:xfrm>
            <a:off x="6552710" y="4342923"/>
            <a:ext cx="638175" cy="638175"/>
            <a:chOff x="8345419" y="5048542"/>
            <a:chExt cx="638175" cy="638175"/>
          </a:xfrm>
        </p:grpSpPr>
        <p:sp>
          <p:nvSpPr>
            <p:cNvPr id="24" name="橢圓 23"/>
            <p:cNvSpPr/>
            <p:nvPr/>
          </p:nvSpPr>
          <p:spPr>
            <a:xfrm>
              <a:off x="8345419" y="5048542"/>
              <a:ext cx="638175" cy="638175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手繪多邊形 108"/>
            <p:cNvSpPr/>
            <p:nvPr/>
          </p:nvSpPr>
          <p:spPr>
            <a:xfrm>
              <a:off x="8454683" y="5215710"/>
              <a:ext cx="469900" cy="354083"/>
            </a:xfrm>
            <a:custGeom>
              <a:avLst/>
              <a:gdLst>
                <a:gd name="connsiteX0" fmla="*/ 469900 w 469900"/>
                <a:gd name="connsiteY0" fmla="*/ 5192 h 354083"/>
                <a:gd name="connsiteX1" fmla="*/ 254000 w 469900"/>
                <a:gd name="connsiteY1" fmla="*/ 43292 h 354083"/>
                <a:gd name="connsiteX2" fmla="*/ 139700 w 469900"/>
                <a:gd name="connsiteY2" fmla="*/ 322692 h 354083"/>
                <a:gd name="connsiteX3" fmla="*/ 0 w 469900"/>
                <a:gd name="connsiteY3" fmla="*/ 335392 h 354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9900" h="354083">
                  <a:moveTo>
                    <a:pt x="469900" y="5192"/>
                  </a:moveTo>
                  <a:cubicBezTo>
                    <a:pt x="389466" y="-2217"/>
                    <a:pt x="309033" y="-9625"/>
                    <a:pt x="254000" y="43292"/>
                  </a:cubicBezTo>
                  <a:cubicBezTo>
                    <a:pt x="198967" y="96209"/>
                    <a:pt x="182033" y="274009"/>
                    <a:pt x="139700" y="322692"/>
                  </a:cubicBezTo>
                  <a:cubicBezTo>
                    <a:pt x="97367" y="371375"/>
                    <a:pt x="48683" y="353383"/>
                    <a:pt x="0" y="335392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aphicFrame>
        <p:nvGraphicFramePr>
          <p:cNvPr id="31" name="表格 23"/>
          <p:cNvGraphicFramePr>
            <a:graphicFrameLocks noGrp="1"/>
          </p:cNvGraphicFramePr>
          <p:nvPr/>
        </p:nvGraphicFramePr>
        <p:xfrm>
          <a:off x="958671" y="580077"/>
          <a:ext cx="42138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/>
              </a:tblGrid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表格 31"/>
          <p:cNvGraphicFramePr>
            <a:graphicFrameLocks noGrp="1"/>
          </p:cNvGraphicFramePr>
          <p:nvPr/>
        </p:nvGraphicFramePr>
        <p:xfrm>
          <a:off x="958670" y="2497742"/>
          <a:ext cx="42138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/>
              </a:tblGrid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958670" y="4415407"/>
          <a:ext cx="42138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/>
              </a:tblGrid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4" name="文字方塊 33"/>
          <p:cNvSpPr txBox="1"/>
          <p:nvPr/>
        </p:nvSpPr>
        <p:spPr>
          <a:xfrm>
            <a:off x="1396451" y="1277495"/>
            <a:ext cx="1284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100 x 100</a:t>
            </a:r>
            <a:endParaRPr lang="zh-TW" altLang="en-US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1380059" y="3312885"/>
            <a:ext cx="1284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100 x 100</a:t>
            </a:r>
            <a:endParaRPr lang="zh-TW" altLang="en-US" dirty="0"/>
          </a:p>
        </p:txBody>
      </p:sp>
      <p:sp>
        <p:nvSpPr>
          <p:cNvPr id="36" name="文字方塊 35"/>
          <p:cNvSpPr txBox="1"/>
          <p:nvPr/>
        </p:nvSpPr>
        <p:spPr>
          <a:xfrm>
            <a:off x="1396451" y="5157841"/>
            <a:ext cx="1284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100 x 100</a:t>
            </a:r>
            <a:endParaRPr lang="zh-TW" altLang="en-US" dirty="0"/>
          </a:p>
        </p:txBody>
      </p:sp>
      <p:cxnSp>
        <p:nvCxnSpPr>
          <p:cNvPr id="39" name="直線單箭頭接點 38"/>
          <p:cNvCxnSpPr/>
          <p:nvPr/>
        </p:nvCxnSpPr>
        <p:spPr>
          <a:xfrm>
            <a:off x="7230094" y="1503228"/>
            <a:ext cx="65890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字方塊 40"/>
          <p:cNvSpPr txBox="1"/>
          <p:nvPr/>
        </p:nvSpPr>
        <p:spPr>
          <a:xfrm>
            <a:off x="2781083" y="4918483"/>
            <a:ext cx="20270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100 x 100 x 3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6450780" y="4981098"/>
            <a:ext cx="907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1000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4602320" y="2789665"/>
            <a:ext cx="1477154" cy="52322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3 x 10</a:t>
            </a:r>
            <a:r>
              <a:rPr kumimoji="0" lang="en-US" altLang="zh-TW" sz="2800" b="0" i="0" u="none" strike="noStrike" kern="1200" cap="none" spc="0" normalizeH="0" baseline="30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7</a:t>
            </a:r>
            <a:endParaRPr kumimoji="0" lang="zh-TW" altLang="en-US" sz="2800" b="0" i="0" u="none" strike="noStrike" kern="1200" cap="none" spc="0" normalizeH="0" baseline="3000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3439160" y="5552236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Do we </a:t>
            </a:r>
            <a:r>
              <a:rPr lang="en-US" altLang="zh-TW" sz="2400" dirty="0">
                <a:latin typeface="Calibri" panose="020F0502020204030204"/>
                <a:ea typeface="PMingLiU" panose="02020500000000000000" pitchFamily="18" charset="-120"/>
              </a:rPr>
              <a:t>really need “</a:t>
            </a:r>
            <a:r>
              <a:rPr kumimoji="0" lang="en-US" altLang="zh-TW" sz="24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fully connected” 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in image processing?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3317001" y="55259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1" i="1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Fully Connected </a:t>
            </a:r>
            <a:r>
              <a:rPr lang="en-US" altLang="zh-TW" sz="2400" b="1" i="1" u="sng" dirty="0">
                <a:latin typeface="Calibri" panose="020F0502020204030204"/>
                <a:ea typeface="PMingLiU" panose="02020500000000000000" pitchFamily="18" charset="-120"/>
              </a:rPr>
              <a:t>N</a:t>
            </a:r>
            <a:r>
              <a:rPr kumimoji="0" lang="en-US" altLang="zh-TW" sz="2400" b="1" i="1" u="sng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etwork</a:t>
            </a:r>
            <a:endParaRPr kumimoji="0" lang="zh-TW" altLang="en-US" sz="2400" b="1" i="1" u="sng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47" name="文字方塊 46"/>
          <p:cNvSpPr txBox="1"/>
          <p:nvPr/>
        </p:nvSpPr>
        <p:spPr>
          <a:xfrm rot="5400000">
            <a:off x="3535029" y="2061148"/>
            <a:ext cx="807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48" name="文字方塊 47"/>
          <p:cNvSpPr txBox="1"/>
          <p:nvPr/>
        </p:nvSpPr>
        <p:spPr>
          <a:xfrm rot="5400000">
            <a:off x="3536078" y="3678651"/>
            <a:ext cx="807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cxnSp>
        <p:nvCxnSpPr>
          <p:cNvPr id="60" name="直線單箭頭接點 59"/>
          <p:cNvCxnSpPr/>
          <p:nvPr/>
        </p:nvCxnSpPr>
        <p:spPr>
          <a:xfrm>
            <a:off x="7230094" y="3064612"/>
            <a:ext cx="65890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60"/>
          <p:cNvCxnSpPr/>
          <p:nvPr/>
        </p:nvCxnSpPr>
        <p:spPr>
          <a:xfrm>
            <a:off x="7219913" y="4685977"/>
            <a:ext cx="65890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字方塊 61"/>
          <p:cNvSpPr txBox="1"/>
          <p:nvPr/>
        </p:nvSpPr>
        <p:spPr>
          <a:xfrm>
            <a:off x="7678059" y="1153462"/>
            <a:ext cx="1103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63" name="文字方塊 62"/>
          <p:cNvSpPr txBox="1"/>
          <p:nvPr/>
        </p:nvSpPr>
        <p:spPr>
          <a:xfrm>
            <a:off x="7678059" y="2709646"/>
            <a:ext cx="1103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64" name="文字方塊 63"/>
          <p:cNvSpPr txBox="1"/>
          <p:nvPr/>
        </p:nvSpPr>
        <p:spPr>
          <a:xfrm>
            <a:off x="7678059" y="4342394"/>
            <a:ext cx="1103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65" name="投影片編號版面配置區 6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</a:fld>
            <a:endParaRPr lang="zh-TW" altLang="en-US"/>
          </a:p>
        </p:txBody>
      </p:sp>
      <p:sp>
        <p:nvSpPr>
          <p:cNvPr id="2" name="箭號: 向右 1"/>
          <p:cNvSpPr/>
          <p:nvPr/>
        </p:nvSpPr>
        <p:spPr>
          <a:xfrm>
            <a:off x="2779244" y="2719238"/>
            <a:ext cx="695073" cy="74702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/>
      <p:bldP spid="43" grpId="0" animBg="1"/>
      <p:bldP spid="45" grpId="0"/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Observation 1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2965526" y="2389320"/>
            <a:ext cx="498951" cy="26250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2638040" y="1907536"/>
            <a:ext cx="11346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Input</a:t>
            </a:r>
            <a:endParaRPr kumimoji="0" lang="en-US" altLang="zh-TW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033914" y="3107013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039732" y="2536684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graphicFrame>
        <p:nvGraphicFramePr>
          <p:cNvPr id="9" name="Object 12"/>
          <p:cNvGraphicFramePr>
            <a:graphicFrameLocks noChangeAspect="1"/>
          </p:cNvGraphicFramePr>
          <p:nvPr/>
        </p:nvGraphicFramePr>
        <p:xfrm>
          <a:off x="3052431" y="2441434"/>
          <a:ext cx="325438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方程式" r:id="rId1" imgW="3657600" imgH="5181600" progId="Equation.3">
                  <p:embed/>
                </p:oleObj>
              </mc:Choice>
              <mc:Fallback>
                <p:oleObj name="方程式" r:id="rId1" imgW="3657600" imgH="5181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2431" y="2441434"/>
                        <a:ext cx="325438" cy="461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2"/>
          <p:cNvGraphicFramePr>
            <a:graphicFrameLocks noChangeAspect="1"/>
          </p:cNvGraphicFramePr>
          <p:nvPr/>
        </p:nvGraphicFramePr>
        <p:xfrm>
          <a:off x="3057727" y="3024163"/>
          <a:ext cx="3524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方程式" r:id="rId3" imgW="3962400" imgH="5181600" progId="Equation.3">
                  <p:embed/>
                </p:oleObj>
              </mc:Choice>
              <mc:Fallback>
                <p:oleObj name="方程式" r:id="rId3" imgW="3962400" imgH="5181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7727" y="3024163"/>
                        <a:ext cx="352425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群組 10"/>
          <p:cNvGrpSpPr/>
          <p:nvPr/>
        </p:nvGrpSpPr>
        <p:grpSpPr>
          <a:xfrm>
            <a:off x="4542035" y="1907536"/>
            <a:ext cx="1134648" cy="3130011"/>
            <a:chOff x="2332137" y="1770729"/>
            <a:chExt cx="1134648" cy="3130011"/>
          </a:xfrm>
        </p:grpSpPr>
        <p:sp>
          <p:nvSpPr>
            <p:cNvPr id="44" name="矩形 43"/>
            <p:cNvSpPr/>
            <p:nvPr/>
          </p:nvSpPr>
          <p:spPr>
            <a:xfrm>
              <a:off x="2504565" y="2224872"/>
              <a:ext cx="746342" cy="26758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45" name="文字方塊 44"/>
            <p:cNvSpPr txBox="1"/>
            <p:nvPr/>
          </p:nvSpPr>
          <p:spPr>
            <a:xfrm>
              <a:off x="2332137" y="1770729"/>
              <a:ext cx="11346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Layer 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46" name="橢圓 45"/>
            <p:cNvSpPr/>
            <p:nvPr/>
          </p:nvSpPr>
          <p:spPr>
            <a:xfrm>
              <a:off x="2601675" y="2235874"/>
              <a:ext cx="574158" cy="57415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47" name="橢圓 46"/>
            <p:cNvSpPr/>
            <p:nvPr/>
          </p:nvSpPr>
          <p:spPr>
            <a:xfrm>
              <a:off x="2604017" y="3014444"/>
              <a:ext cx="574158" cy="57415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48" name="橢圓 47"/>
            <p:cNvSpPr/>
            <p:nvPr/>
          </p:nvSpPr>
          <p:spPr>
            <a:xfrm>
              <a:off x="2592384" y="4242456"/>
              <a:ext cx="574158" cy="57415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49" name="文字方塊 48"/>
            <p:cNvSpPr txBox="1"/>
            <p:nvPr/>
          </p:nvSpPr>
          <p:spPr>
            <a:xfrm rot="5400000">
              <a:off x="2589637" y="3664749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……</a:t>
              </a:r>
              <a:endPara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</p:grpSp>
      <p:sp>
        <p:nvSpPr>
          <p:cNvPr id="12" name="矩形 11"/>
          <p:cNvSpPr/>
          <p:nvPr/>
        </p:nvSpPr>
        <p:spPr>
          <a:xfrm>
            <a:off x="3043439" y="4504770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3040323" y="4408516"/>
          <a:ext cx="407988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方程式" r:id="rId5" imgW="4572000" imgH="5486400" progId="Equation.3">
                  <p:embed/>
                </p:oleObj>
              </mc:Choice>
              <mc:Fallback>
                <p:oleObj name="方程式" r:id="rId5" imgW="4572000" imgH="54864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0323" y="4408516"/>
                        <a:ext cx="407988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字方塊 13"/>
          <p:cNvSpPr txBox="1"/>
          <p:nvPr/>
        </p:nvSpPr>
        <p:spPr>
          <a:xfrm rot="5400000">
            <a:off x="2919371" y="3789712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……</a:t>
            </a: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grpSp>
        <p:nvGrpSpPr>
          <p:cNvPr id="15" name="群組 14"/>
          <p:cNvGrpSpPr/>
          <p:nvPr/>
        </p:nvGrpSpPr>
        <p:grpSpPr>
          <a:xfrm>
            <a:off x="6609911" y="1929294"/>
            <a:ext cx="1134648" cy="3113664"/>
            <a:chOff x="3657035" y="1770729"/>
            <a:chExt cx="1134648" cy="3113664"/>
          </a:xfrm>
        </p:grpSpPr>
        <p:sp>
          <p:nvSpPr>
            <p:cNvPr id="38" name="矩形 37"/>
            <p:cNvSpPr/>
            <p:nvPr/>
          </p:nvSpPr>
          <p:spPr>
            <a:xfrm>
              <a:off x="3830151" y="2208525"/>
              <a:ext cx="746342" cy="26758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39" name="文字方塊 38"/>
            <p:cNvSpPr txBox="1"/>
            <p:nvPr/>
          </p:nvSpPr>
          <p:spPr>
            <a:xfrm>
              <a:off x="3657035" y="1770729"/>
              <a:ext cx="11346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Layer 2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40" name="橢圓 39"/>
            <p:cNvSpPr/>
            <p:nvPr/>
          </p:nvSpPr>
          <p:spPr>
            <a:xfrm>
              <a:off x="3917237" y="2235874"/>
              <a:ext cx="574158" cy="574158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41" name="橢圓 40"/>
            <p:cNvSpPr/>
            <p:nvPr/>
          </p:nvSpPr>
          <p:spPr>
            <a:xfrm>
              <a:off x="3919579" y="3014444"/>
              <a:ext cx="574158" cy="574158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42" name="橢圓 41"/>
            <p:cNvSpPr/>
            <p:nvPr/>
          </p:nvSpPr>
          <p:spPr>
            <a:xfrm>
              <a:off x="3907946" y="4242456"/>
              <a:ext cx="574158" cy="574158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43" name="文字方塊 42"/>
            <p:cNvSpPr txBox="1"/>
            <p:nvPr/>
          </p:nvSpPr>
          <p:spPr>
            <a:xfrm rot="5400000">
              <a:off x="3905199" y="3664749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……</a:t>
              </a:r>
              <a:endPara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</p:grpSp>
      <p:sp>
        <p:nvSpPr>
          <p:cNvPr id="16" name="文字方塊 15"/>
          <p:cNvSpPr txBox="1"/>
          <p:nvPr/>
        </p:nvSpPr>
        <p:spPr>
          <a:xfrm>
            <a:off x="7552999" y="2350427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……</a:t>
            </a: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7559948" y="3111414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……</a:t>
            </a: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7588964" y="4326749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……</a:t>
            </a: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grpSp>
        <p:nvGrpSpPr>
          <p:cNvPr id="19" name="群組 18"/>
          <p:cNvGrpSpPr/>
          <p:nvPr/>
        </p:nvGrpSpPr>
        <p:grpSpPr>
          <a:xfrm>
            <a:off x="5376440" y="2659760"/>
            <a:ext cx="1537213" cy="2028340"/>
            <a:chOff x="3601750" y="2566495"/>
            <a:chExt cx="1537213" cy="2028340"/>
          </a:xfrm>
        </p:grpSpPr>
        <p:cxnSp>
          <p:nvCxnSpPr>
            <p:cNvPr id="29" name="直線單箭頭接點 28"/>
            <p:cNvCxnSpPr>
              <a:stCxn id="46" idx="6"/>
              <a:endCxn id="40" idx="2"/>
            </p:cNvCxnSpPr>
            <p:nvPr/>
          </p:nvCxnSpPr>
          <p:spPr>
            <a:xfrm>
              <a:off x="3611041" y="2566495"/>
              <a:ext cx="1484382" cy="2175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單箭頭接點 29"/>
            <p:cNvCxnSpPr>
              <a:endCxn id="41" idx="2"/>
            </p:cNvCxnSpPr>
            <p:nvPr/>
          </p:nvCxnSpPr>
          <p:spPr>
            <a:xfrm>
              <a:off x="3635412" y="3345065"/>
              <a:ext cx="1462353" cy="2175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單箭頭接點 30"/>
            <p:cNvCxnSpPr/>
            <p:nvPr/>
          </p:nvCxnSpPr>
          <p:spPr>
            <a:xfrm>
              <a:off x="3766038" y="4551293"/>
              <a:ext cx="137292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單箭頭接點 31"/>
            <p:cNvCxnSpPr>
              <a:stCxn id="47" idx="6"/>
              <a:endCxn id="40" idx="2"/>
            </p:cNvCxnSpPr>
            <p:nvPr/>
          </p:nvCxnSpPr>
          <p:spPr>
            <a:xfrm flipV="1">
              <a:off x="3613383" y="2588253"/>
              <a:ext cx="1482040" cy="7568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單箭頭接點 32"/>
            <p:cNvCxnSpPr>
              <a:stCxn id="46" idx="6"/>
              <a:endCxn id="41" idx="2"/>
            </p:cNvCxnSpPr>
            <p:nvPr/>
          </p:nvCxnSpPr>
          <p:spPr>
            <a:xfrm>
              <a:off x="3611041" y="2566495"/>
              <a:ext cx="1486724" cy="80032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單箭頭接點 33"/>
            <p:cNvCxnSpPr>
              <a:stCxn id="46" idx="6"/>
              <a:endCxn id="42" idx="2"/>
            </p:cNvCxnSpPr>
            <p:nvPr/>
          </p:nvCxnSpPr>
          <p:spPr>
            <a:xfrm>
              <a:off x="3611041" y="2566495"/>
              <a:ext cx="1475091" cy="202834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單箭頭接點 34"/>
            <p:cNvCxnSpPr>
              <a:stCxn id="47" idx="6"/>
              <a:endCxn id="42" idx="2"/>
            </p:cNvCxnSpPr>
            <p:nvPr/>
          </p:nvCxnSpPr>
          <p:spPr>
            <a:xfrm>
              <a:off x="3613383" y="3345065"/>
              <a:ext cx="1472749" cy="12497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單箭頭接點 35"/>
            <p:cNvCxnSpPr>
              <a:stCxn id="48" idx="6"/>
              <a:endCxn id="40" idx="2"/>
            </p:cNvCxnSpPr>
            <p:nvPr/>
          </p:nvCxnSpPr>
          <p:spPr>
            <a:xfrm flipV="1">
              <a:off x="3601750" y="2588253"/>
              <a:ext cx="1493673" cy="198482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單箭頭接點 36"/>
            <p:cNvCxnSpPr>
              <a:stCxn id="48" idx="6"/>
              <a:endCxn id="41" idx="2"/>
            </p:cNvCxnSpPr>
            <p:nvPr/>
          </p:nvCxnSpPr>
          <p:spPr>
            <a:xfrm flipV="1">
              <a:off x="3601750" y="3366823"/>
              <a:ext cx="1496015" cy="120625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" name="直線單箭頭接點 19"/>
          <p:cNvCxnSpPr>
            <a:endCxn id="46" idx="2"/>
          </p:cNvCxnSpPr>
          <p:nvPr/>
        </p:nvCxnSpPr>
        <p:spPr>
          <a:xfrm flipV="1">
            <a:off x="3398519" y="2659760"/>
            <a:ext cx="1413054" cy="2788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>
            <a:stCxn id="8" idx="3"/>
            <a:endCxn id="47" idx="2"/>
          </p:cNvCxnSpPr>
          <p:nvPr/>
        </p:nvCxnSpPr>
        <p:spPr>
          <a:xfrm>
            <a:off x="3382632" y="2708134"/>
            <a:ext cx="1431283" cy="73019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>
            <a:stCxn id="8" idx="3"/>
            <a:endCxn id="48" idx="2"/>
          </p:cNvCxnSpPr>
          <p:nvPr/>
        </p:nvCxnSpPr>
        <p:spPr>
          <a:xfrm>
            <a:off x="3382632" y="2708134"/>
            <a:ext cx="1419650" cy="195820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>
            <a:stCxn id="10" idx="3"/>
            <a:endCxn id="46" idx="2"/>
          </p:cNvCxnSpPr>
          <p:nvPr/>
        </p:nvCxnSpPr>
        <p:spPr>
          <a:xfrm flipV="1">
            <a:off x="3410152" y="2659760"/>
            <a:ext cx="1401421" cy="59538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>
            <a:stCxn id="7" idx="3"/>
            <a:endCxn id="47" idx="2"/>
          </p:cNvCxnSpPr>
          <p:nvPr/>
        </p:nvCxnSpPr>
        <p:spPr>
          <a:xfrm>
            <a:off x="3376814" y="3278463"/>
            <a:ext cx="1437101" cy="15986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>
            <a:stCxn id="7" idx="3"/>
            <a:endCxn id="48" idx="2"/>
          </p:cNvCxnSpPr>
          <p:nvPr/>
        </p:nvCxnSpPr>
        <p:spPr>
          <a:xfrm>
            <a:off x="3376814" y="3278463"/>
            <a:ext cx="1425468" cy="138787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>
            <a:stCxn id="13" idx="3"/>
            <a:endCxn id="46" idx="2"/>
          </p:cNvCxnSpPr>
          <p:nvPr/>
        </p:nvCxnSpPr>
        <p:spPr>
          <a:xfrm flipV="1">
            <a:off x="3448311" y="2659760"/>
            <a:ext cx="1363262" cy="199323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>
            <a:stCxn id="13" idx="3"/>
            <a:endCxn id="47" idx="2"/>
          </p:cNvCxnSpPr>
          <p:nvPr/>
        </p:nvCxnSpPr>
        <p:spPr>
          <a:xfrm flipV="1">
            <a:off x="3448311" y="3438330"/>
            <a:ext cx="1365604" cy="121466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>
            <a:stCxn id="13" idx="3"/>
            <a:endCxn id="48" idx="2"/>
          </p:cNvCxnSpPr>
          <p:nvPr/>
        </p:nvCxnSpPr>
        <p:spPr>
          <a:xfrm>
            <a:off x="3448311" y="4652991"/>
            <a:ext cx="1353971" cy="1335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字方塊 49"/>
          <p:cNvSpPr txBox="1"/>
          <p:nvPr/>
        </p:nvSpPr>
        <p:spPr>
          <a:xfrm>
            <a:off x="4143802" y="1093005"/>
            <a:ext cx="50001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Identifying some critical patterns</a:t>
            </a:r>
            <a:endParaRPr lang="zh-TW" altLang="en-US" sz="2800" dirty="0"/>
          </a:p>
        </p:txBody>
      </p:sp>
      <p:pic>
        <p:nvPicPr>
          <p:cNvPr id="59" name="Picture 4" descr="http://all4desktop.com/data_images/original/4244361-bird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496" y="2770369"/>
            <a:ext cx="2485663" cy="1792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圖片 6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76774" y="2019120"/>
            <a:ext cx="697027" cy="719513"/>
          </a:xfrm>
          <a:prstGeom prst="rect">
            <a:avLst/>
          </a:prstGeom>
        </p:spPr>
      </p:pic>
      <p:pic>
        <p:nvPicPr>
          <p:cNvPr id="65" name="圖片 6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99803" y="3042640"/>
            <a:ext cx="667597" cy="667597"/>
          </a:xfrm>
          <a:prstGeom prst="rect">
            <a:avLst/>
          </a:prstGeom>
        </p:spPr>
      </p:pic>
      <p:sp>
        <p:nvSpPr>
          <p:cNvPr id="68" name="文字方塊 67"/>
          <p:cNvSpPr txBox="1"/>
          <p:nvPr/>
        </p:nvSpPr>
        <p:spPr>
          <a:xfrm>
            <a:off x="7927134" y="2901670"/>
            <a:ext cx="7691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0000FF"/>
                </a:solidFill>
              </a:rPr>
              <a:t>Bird?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69" name="文字方塊 68"/>
          <p:cNvSpPr txBox="1"/>
          <p:nvPr/>
        </p:nvSpPr>
        <p:spPr>
          <a:xfrm>
            <a:off x="608305" y="5613085"/>
            <a:ext cx="80879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Perhaps human also identify birds in a similar way … </a:t>
            </a:r>
            <a:r>
              <a:rPr lang="en-US" altLang="zh-TW" sz="2800" dirty="0">
                <a:sym typeface="Wingdings" panose="05000000000000000000" pitchFamily="2" charset="2"/>
              </a:rPr>
              <a:t></a:t>
            </a:r>
            <a:endParaRPr lang="zh-TW" altLang="en-US" sz="2800" dirty="0"/>
          </a:p>
        </p:txBody>
      </p:sp>
      <p:pic>
        <p:nvPicPr>
          <p:cNvPr id="71" name="圖片 7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06139" y="4161651"/>
            <a:ext cx="661261" cy="661261"/>
          </a:xfrm>
          <a:prstGeom prst="rect">
            <a:avLst/>
          </a:prstGeom>
        </p:spPr>
      </p:pic>
      <p:sp>
        <p:nvSpPr>
          <p:cNvPr id="72" name="投影片編號版面配置區 7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</a:fld>
            <a:endParaRPr lang="zh-TW" altLang="en-US"/>
          </a:p>
        </p:txBody>
      </p:sp>
      <p:cxnSp>
        <p:nvCxnSpPr>
          <p:cNvPr id="51" name="直線單箭頭接點 3"/>
          <p:cNvCxnSpPr>
            <a:stCxn id="45" idx="0"/>
          </p:cNvCxnSpPr>
          <p:nvPr/>
        </p:nvCxnSpPr>
        <p:spPr>
          <a:xfrm flipV="1">
            <a:off x="5109359" y="1570947"/>
            <a:ext cx="300743" cy="336589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68" grpId="0"/>
      <p:bldP spid="6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2445" y="1181152"/>
            <a:ext cx="4547670" cy="4495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字方塊 5"/>
          <p:cNvSpPr txBox="1"/>
          <p:nvPr/>
        </p:nvSpPr>
        <p:spPr>
          <a:xfrm>
            <a:off x="2286000" y="578796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https://www.dcard.tw/f/funny/p/233833012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Observation 1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2965526" y="2389320"/>
            <a:ext cx="498951" cy="26250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2638040" y="1907536"/>
            <a:ext cx="11346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Input</a:t>
            </a:r>
            <a:endParaRPr kumimoji="0" lang="en-US" altLang="zh-TW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033914" y="3107013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039732" y="2536684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graphicFrame>
        <p:nvGraphicFramePr>
          <p:cNvPr id="9" name="Object 12"/>
          <p:cNvGraphicFramePr>
            <a:graphicFrameLocks noChangeAspect="1"/>
          </p:cNvGraphicFramePr>
          <p:nvPr/>
        </p:nvGraphicFramePr>
        <p:xfrm>
          <a:off x="3052431" y="2441434"/>
          <a:ext cx="325438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方程式" r:id="rId1" imgW="3657600" imgH="5181600" progId="Equation.3">
                  <p:embed/>
                </p:oleObj>
              </mc:Choice>
              <mc:Fallback>
                <p:oleObj name="方程式" r:id="rId1" imgW="3657600" imgH="5181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2431" y="2441434"/>
                        <a:ext cx="325438" cy="461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2"/>
          <p:cNvGraphicFramePr>
            <a:graphicFrameLocks noChangeAspect="1"/>
          </p:cNvGraphicFramePr>
          <p:nvPr/>
        </p:nvGraphicFramePr>
        <p:xfrm>
          <a:off x="3057727" y="3024163"/>
          <a:ext cx="3524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方程式" r:id="rId3" imgW="3962400" imgH="5181600" progId="Equation.3">
                  <p:embed/>
                </p:oleObj>
              </mc:Choice>
              <mc:Fallback>
                <p:oleObj name="方程式" r:id="rId3" imgW="3962400" imgH="5181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7727" y="3024163"/>
                        <a:ext cx="352425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群組 10"/>
          <p:cNvGrpSpPr/>
          <p:nvPr/>
        </p:nvGrpSpPr>
        <p:grpSpPr>
          <a:xfrm>
            <a:off x="4542035" y="1907536"/>
            <a:ext cx="1134648" cy="3130011"/>
            <a:chOff x="2332137" y="1770729"/>
            <a:chExt cx="1134648" cy="3130011"/>
          </a:xfrm>
        </p:grpSpPr>
        <p:sp>
          <p:nvSpPr>
            <p:cNvPr id="44" name="矩形 43"/>
            <p:cNvSpPr/>
            <p:nvPr/>
          </p:nvSpPr>
          <p:spPr>
            <a:xfrm>
              <a:off x="2504565" y="2224872"/>
              <a:ext cx="746342" cy="26758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45" name="文字方塊 44"/>
            <p:cNvSpPr txBox="1"/>
            <p:nvPr/>
          </p:nvSpPr>
          <p:spPr>
            <a:xfrm>
              <a:off x="2332137" y="1770729"/>
              <a:ext cx="11346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Layer 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46" name="橢圓 45"/>
            <p:cNvSpPr/>
            <p:nvPr/>
          </p:nvSpPr>
          <p:spPr>
            <a:xfrm>
              <a:off x="2601675" y="2235874"/>
              <a:ext cx="574158" cy="57415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47" name="橢圓 46"/>
            <p:cNvSpPr/>
            <p:nvPr/>
          </p:nvSpPr>
          <p:spPr>
            <a:xfrm>
              <a:off x="2604017" y="3014444"/>
              <a:ext cx="574158" cy="57415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48" name="橢圓 47"/>
            <p:cNvSpPr/>
            <p:nvPr/>
          </p:nvSpPr>
          <p:spPr>
            <a:xfrm>
              <a:off x="2592384" y="4242456"/>
              <a:ext cx="574158" cy="57415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49" name="文字方塊 48"/>
            <p:cNvSpPr txBox="1"/>
            <p:nvPr/>
          </p:nvSpPr>
          <p:spPr>
            <a:xfrm rot="5400000">
              <a:off x="2589637" y="3664749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……</a:t>
              </a:r>
              <a:endPara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</p:grpSp>
      <p:sp>
        <p:nvSpPr>
          <p:cNvPr id="12" name="矩形 11"/>
          <p:cNvSpPr/>
          <p:nvPr/>
        </p:nvSpPr>
        <p:spPr>
          <a:xfrm>
            <a:off x="3043439" y="4504770"/>
            <a:ext cx="342900" cy="3429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3040323" y="4408516"/>
          <a:ext cx="407988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方程式" r:id="rId5" imgW="4572000" imgH="5486400" progId="Equation.3">
                  <p:embed/>
                </p:oleObj>
              </mc:Choice>
              <mc:Fallback>
                <p:oleObj name="方程式" r:id="rId5" imgW="4572000" imgH="54864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0323" y="4408516"/>
                        <a:ext cx="407988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字方塊 13"/>
          <p:cNvSpPr txBox="1"/>
          <p:nvPr/>
        </p:nvSpPr>
        <p:spPr>
          <a:xfrm rot="5400000">
            <a:off x="2919371" y="3789712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……</a:t>
            </a: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grpSp>
        <p:nvGrpSpPr>
          <p:cNvPr id="15" name="群組 14"/>
          <p:cNvGrpSpPr/>
          <p:nvPr/>
        </p:nvGrpSpPr>
        <p:grpSpPr>
          <a:xfrm>
            <a:off x="6609911" y="1929294"/>
            <a:ext cx="1134648" cy="3113664"/>
            <a:chOff x="3657035" y="1770729"/>
            <a:chExt cx="1134648" cy="3113664"/>
          </a:xfrm>
        </p:grpSpPr>
        <p:sp>
          <p:nvSpPr>
            <p:cNvPr id="38" name="矩形 37"/>
            <p:cNvSpPr/>
            <p:nvPr/>
          </p:nvSpPr>
          <p:spPr>
            <a:xfrm>
              <a:off x="3830151" y="2208525"/>
              <a:ext cx="746342" cy="26758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39" name="文字方塊 38"/>
            <p:cNvSpPr txBox="1"/>
            <p:nvPr/>
          </p:nvSpPr>
          <p:spPr>
            <a:xfrm>
              <a:off x="3657035" y="1770729"/>
              <a:ext cx="11346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Layer 2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40" name="橢圓 39"/>
            <p:cNvSpPr/>
            <p:nvPr/>
          </p:nvSpPr>
          <p:spPr>
            <a:xfrm>
              <a:off x="3917237" y="2235874"/>
              <a:ext cx="574158" cy="574158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41" name="橢圓 40"/>
            <p:cNvSpPr/>
            <p:nvPr/>
          </p:nvSpPr>
          <p:spPr>
            <a:xfrm>
              <a:off x="3919579" y="3014444"/>
              <a:ext cx="574158" cy="574158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42" name="橢圓 41"/>
            <p:cNvSpPr/>
            <p:nvPr/>
          </p:nvSpPr>
          <p:spPr>
            <a:xfrm>
              <a:off x="3907946" y="4242456"/>
              <a:ext cx="574158" cy="574158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43" name="文字方塊 42"/>
            <p:cNvSpPr txBox="1"/>
            <p:nvPr/>
          </p:nvSpPr>
          <p:spPr>
            <a:xfrm rot="5400000">
              <a:off x="3905199" y="3664749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……</a:t>
              </a:r>
              <a:endPara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</p:grpSp>
      <p:sp>
        <p:nvSpPr>
          <p:cNvPr id="16" name="文字方塊 15"/>
          <p:cNvSpPr txBox="1"/>
          <p:nvPr/>
        </p:nvSpPr>
        <p:spPr>
          <a:xfrm>
            <a:off x="7552999" y="2350427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……</a:t>
            </a: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7559948" y="3111414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……</a:t>
            </a: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7588964" y="4326749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……</a:t>
            </a: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grpSp>
        <p:nvGrpSpPr>
          <p:cNvPr id="19" name="群組 18"/>
          <p:cNvGrpSpPr/>
          <p:nvPr/>
        </p:nvGrpSpPr>
        <p:grpSpPr>
          <a:xfrm>
            <a:off x="5376440" y="2659760"/>
            <a:ext cx="1537213" cy="2028340"/>
            <a:chOff x="3601750" y="2566495"/>
            <a:chExt cx="1537213" cy="2028340"/>
          </a:xfrm>
        </p:grpSpPr>
        <p:cxnSp>
          <p:nvCxnSpPr>
            <p:cNvPr id="29" name="直線單箭頭接點 28"/>
            <p:cNvCxnSpPr>
              <a:stCxn id="46" idx="6"/>
              <a:endCxn id="40" idx="2"/>
            </p:cNvCxnSpPr>
            <p:nvPr/>
          </p:nvCxnSpPr>
          <p:spPr>
            <a:xfrm>
              <a:off x="3611041" y="2566495"/>
              <a:ext cx="1484382" cy="2175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單箭頭接點 29"/>
            <p:cNvCxnSpPr>
              <a:endCxn id="41" idx="2"/>
            </p:cNvCxnSpPr>
            <p:nvPr/>
          </p:nvCxnSpPr>
          <p:spPr>
            <a:xfrm>
              <a:off x="3635412" y="3345065"/>
              <a:ext cx="1462353" cy="2175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單箭頭接點 30"/>
            <p:cNvCxnSpPr/>
            <p:nvPr/>
          </p:nvCxnSpPr>
          <p:spPr>
            <a:xfrm>
              <a:off x="3766038" y="4551293"/>
              <a:ext cx="137292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單箭頭接點 31"/>
            <p:cNvCxnSpPr>
              <a:stCxn id="47" idx="6"/>
              <a:endCxn id="40" idx="2"/>
            </p:cNvCxnSpPr>
            <p:nvPr/>
          </p:nvCxnSpPr>
          <p:spPr>
            <a:xfrm flipV="1">
              <a:off x="3613383" y="2588253"/>
              <a:ext cx="1482040" cy="7568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單箭頭接點 32"/>
            <p:cNvCxnSpPr>
              <a:stCxn id="46" idx="6"/>
              <a:endCxn id="41" idx="2"/>
            </p:cNvCxnSpPr>
            <p:nvPr/>
          </p:nvCxnSpPr>
          <p:spPr>
            <a:xfrm>
              <a:off x="3611041" y="2566495"/>
              <a:ext cx="1486724" cy="80032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單箭頭接點 33"/>
            <p:cNvCxnSpPr>
              <a:stCxn id="46" idx="6"/>
              <a:endCxn id="42" idx="2"/>
            </p:cNvCxnSpPr>
            <p:nvPr/>
          </p:nvCxnSpPr>
          <p:spPr>
            <a:xfrm>
              <a:off x="3611041" y="2566495"/>
              <a:ext cx="1475091" cy="202834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單箭頭接點 34"/>
            <p:cNvCxnSpPr>
              <a:stCxn id="47" idx="6"/>
              <a:endCxn id="42" idx="2"/>
            </p:cNvCxnSpPr>
            <p:nvPr/>
          </p:nvCxnSpPr>
          <p:spPr>
            <a:xfrm>
              <a:off x="3613383" y="3345065"/>
              <a:ext cx="1472749" cy="12497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單箭頭接點 35"/>
            <p:cNvCxnSpPr>
              <a:stCxn id="48" idx="6"/>
              <a:endCxn id="40" idx="2"/>
            </p:cNvCxnSpPr>
            <p:nvPr/>
          </p:nvCxnSpPr>
          <p:spPr>
            <a:xfrm flipV="1">
              <a:off x="3601750" y="2588253"/>
              <a:ext cx="1493673" cy="198482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單箭頭接點 36"/>
            <p:cNvCxnSpPr>
              <a:stCxn id="48" idx="6"/>
              <a:endCxn id="41" idx="2"/>
            </p:cNvCxnSpPr>
            <p:nvPr/>
          </p:nvCxnSpPr>
          <p:spPr>
            <a:xfrm flipV="1">
              <a:off x="3601750" y="3366823"/>
              <a:ext cx="1496015" cy="120625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" name="直線單箭頭接點 19"/>
          <p:cNvCxnSpPr>
            <a:endCxn id="46" idx="2"/>
          </p:cNvCxnSpPr>
          <p:nvPr/>
        </p:nvCxnSpPr>
        <p:spPr>
          <a:xfrm flipV="1">
            <a:off x="3398519" y="2659760"/>
            <a:ext cx="1413054" cy="2788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>
            <a:stCxn id="8" idx="3"/>
            <a:endCxn id="47" idx="2"/>
          </p:cNvCxnSpPr>
          <p:nvPr/>
        </p:nvCxnSpPr>
        <p:spPr>
          <a:xfrm>
            <a:off x="3382632" y="2708134"/>
            <a:ext cx="1431283" cy="73019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>
            <a:stCxn id="8" idx="3"/>
            <a:endCxn id="48" idx="2"/>
          </p:cNvCxnSpPr>
          <p:nvPr/>
        </p:nvCxnSpPr>
        <p:spPr>
          <a:xfrm>
            <a:off x="3382632" y="2708134"/>
            <a:ext cx="1419650" cy="195820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>
            <a:stCxn id="10" idx="3"/>
            <a:endCxn id="46" idx="2"/>
          </p:cNvCxnSpPr>
          <p:nvPr/>
        </p:nvCxnSpPr>
        <p:spPr>
          <a:xfrm flipV="1">
            <a:off x="3410152" y="2659760"/>
            <a:ext cx="1401421" cy="59538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>
            <a:stCxn id="7" idx="3"/>
            <a:endCxn id="47" idx="2"/>
          </p:cNvCxnSpPr>
          <p:nvPr/>
        </p:nvCxnSpPr>
        <p:spPr>
          <a:xfrm>
            <a:off x="3376814" y="3278463"/>
            <a:ext cx="1437101" cy="15986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>
            <a:stCxn id="7" idx="3"/>
            <a:endCxn id="48" idx="2"/>
          </p:cNvCxnSpPr>
          <p:nvPr/>
        </p:nvCxnSpPr>
        <p:spPr>
          <a:xfrm>
            <a:off x="3376814" y="3278463"/>
            <a:ext cx="1425468" cy="138787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>
            <a:stCxn id="13" idx="3"/>
            <a:endCxn id="46" idx="2"/>
          </p:cNvCxnSpPr>
          <p:nvPr/>
        </p:nvCxnSpPr>
        <p:spPr>
          <a:xfrm flipV="1">
            <a:off x="3448311" y="2659760"/>
            <a:ext cx="1363262" cy="199323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>
            <a:stCxn id="13" idx="3"/>
            <a:endCxn id="47" idx="2"/>
          </p:cNvCxnSpPr>
          <p:nvPr/>
        </p:nvCxnSpPr>
        <p:spPr>
          <a:xfrm flipV="1">
            <a:off x="3448311" y="3438330"/>
            <a:ext cx="1365604" cy="121466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>
            <a:stCxn id="13" idx="3"/>
            <a:endCxn id="48" idx="2"/>
          </p:cNvCxnSpPr>
          <p:nvPr/>
        </p:nvCxnSpPr>
        <p:spPr>
          <a:xfrm>
            <a:off x="3448311" y="4652991"/>
            <a:ext cx="1353971" cy="1335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字方塊 49"/>
          <p:cNvSpPr txBox="1"/>
          <p:nvPr/>
        </p:nvSpPr>
        <p:spPr>
          <a:xfrm>
            <a:off x="4446910" y="5049222"/>
            <a:ext cx="13248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basic</a:t>
            </a:r>
            <a:endParaRPr lang="en-US" altLang="zh-TW" sz="2400" dirty="0"/>
          </a:p>
          <a:p>
            <a:pPr algn="ctr"/>
            <a:r>
              <a:rPr lang="en-US" altLang="zh-TW" sz="2400" dirty="0"/>
              <a:t>detector</a:t>
            </a:r>
            <a:endParaRPr lang="zh-TW" altLang="en-US" sz="2400" dirty="0"/>
          </a:p>
        </p:txBody>
      </p:sp>
      <p:sp>
        <p:nvSpPr>
          <p:cNvPr id="51" name="文字方塊 50"/>
          <p:cNvSpPr txBox="1"/>
          <p:nvPr/>
        </p:nvSpPr>
        <p:spPr>
          <a:xfrm>
            <a:off x="6456695" y="5066271"/>
            <a:ext cx="13990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advanced</a:t>
            </a:r>
            <a:endParaRPr lang="en-US" altLang="zh-TW" sz="2400" dirty="0"/>
          </a:p>
          <a:p>
            <a:pPr algn="ctr"/>
            <a:r>
              <a:rPr lang="en-US" altLang="zh-TW" sz="2400" dirty="0"/>
              <a:t>detector</a:t>
            </a:r>
            <a:endParaRPr lang="zh-TW" altLang="en-US" sz="2400" dirty="0"/>
          </a:p>
        </p:txBody>
      </p:sp>
      <p:pic>
        <p:nvPicPr>
          <p:cNvPr id="59" name="Picture 4" descr="http://all4desktop.com/data_images/original/4244361-bird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496" y="2770369"/>
            <a:ext cx="2485663" cy="1792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圖片 6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76774" y="2019120"/>
            <a:ext cx="697027" cy="719513"/>
          </a:xfrm>
          <a:prstGeom prst="rect">
            <a:avLst/>
          </a:prstGeom>
        </p:spPr>
      </p:pic>
      <p:pic>
        <p:nvPicPr>
          <p:cNvPr id="65" name="圖片 6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99803" y="3042640"/>
            <a:ext cx="667597" cy="667597"/>
          </a:xfrm>
          <a:prstGeom prst="rect">
            <a:avLst/>
          </a:prstGeom>
        </p:spPr>
      </p:pic>
      <p:sp>
        <p:nvSpPr>
          <p:cNvPr id="68" name="文字方塊 67"/>
          <p:cNvSpPr txBox="1"/>
          <p:nvPr/>
        </p:nvSpPr>
        <p:spPr>
          <a:xfrm>
            <a:off x="7616253" y="3036117"/>
            <a:ext cx="7691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0000FF"/>
                </a:solidFill>
              </a:rPr>
              <a:t>bird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713239" y="5939791"/>
            <a:ext cx="81966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800" dirty="0"/>
              <a:t>Some patterns are much smaller than the whole image.</a:t>
            </a:r>
            <a:endParaRPr lang="zh-TW" altLang="en-US" sz="2800" dirty="0"/>
          </a:p>
        </p:txBody>
      </p:sp>
      <p:sp>
        <p:nvSpPr>
          <p:cNvPr id="52" name="矩形 51"/>
          <p:cNvSpPr/>
          <p:nvPr/>
        </p:nvSpPr>
        <p:spPr>
          <a:xfrm>
            <a:off x="1182854" y="3266949"/>
            <a:ext cx="301422" cy="3014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8" name="矩形 57"/>
          <p:cNvSpPr/>
          <p:nvPr/>
        </p:nvSpPr>
        <p:spPr>
          <a:xfrm>
            <a:off x="1420449" y="3309377"/>
            <a:ext cx="301422" cy="3014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60" name="圖片 5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06139" y="4161651"/>
            <a:ext cx="661261" cy="661261"/>
          </a:xfrm>
          <a:prstGeom prst="rect">
            <a:avLst/>
          </a:prstGeom>
        </p:spPr>
      </p:pic>
      <p:sp>
        <p:nvSpPr>
          <p:cNvPr id="62" name="矩形 61"/>
          <p:cNvSpPr/>
          <p:nvPr/>
        </p:nvSpPr>
        <p:spPr>
          <a:xfrm>
            <a:off x="1709020" y="4228552"/>
            <a:ext cx="301422" cy="3014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文字方塊 62"/>
          <p:cNvSpPr txBox="1"/>
          <p:nvPr/>
        </p:nvSpPr>
        <p:spPr>
          <a:xfrm>
            <a:off x="4533896" y="705912"/>
            <a:ext cx="457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A neuron does not have to see the whole image.</a:t>
            </a: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53" name="投影片編號版面配置區 5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</a:fld>
            <a:endParaRPr lang="zh-TW" altLang="en-US"/>
          </a:p>
        </p:txBody>
      </p:sp>
      <p:cxnSp>
        <p:nvCxnSpPr>
          <p:cNvPr id="55" name="直線單箭頭接點 54"/>
          <p:cNvCxnSpPr>
            <a:stCxn id="62" idx="2"/>
          </p:cNvCxnSpPr>
          <p:nvPr/>
        </p:nvCxnSpPr>
        <p:spPr>
          <a:xfrm>
            <a:off x="1859731" y="4529974"/>
            <a:ext cx="553269" cy="143440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單箭頭接點 65"/>
          <p:cNvCxnSpPr/>
          <p:nvPr/>
        </p:nvCxnSpPr>
        <p:spPr>
          <a:xfrm flipV="1">
            <a:off x="5771808" y="1560902"/>
            <a:ext cx="604237" cy="53355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字方塊 63"/>
          <p:cNvSpPr txBox="1"/>
          <p:nvPr/>
        </p:nvSpPr>
        <p:spPr>
          <a:xfrm>
            <a:off x="276166" y="1794685"/>
            <a:ext cx="24856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Need to see the whole image?</a:t>
            </a:r>
            <a:endParaRPr lang="zh-TW" alt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58" grpId="0" animBg="1"/>
      <p:bldP spid="62" grpId="0" animBg="1"/>
      <p:bldP spid="63" grpId="0"/>
      <p:bldP spid="6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內容版面配置區 3"/>
          <p:cNvGraphicFramePr/>
          <p:nvPr/>
        </p:nvGraphicFramePr>
        <p:xfrm>
          <a:off x="2022370" y="3108560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/>
                <a:gridCol w="478995"/>
                <a:gridCol w="478995"/>
                <a:gridCol w="478995"/>
                <a:gridCol w="478995"/>
                <a:gridCol w="47899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en-US" altLang="zh-TW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6" name="矩形 15"/>
          <p:cNvSpPr/>
          <p:nvPr/>
        </p:nvSpPr>
        <p:spPr>
          <a:xfrm>
            <a:off x="2047009" y="3146198"/>
            <a:ext cx="1412346" cy="13233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Simplification 1 </a:t>
            </a:r>
            <a:endParaRPr lang="zh-TW" altLang="en-US" dirty="0"/>
          </a:p>
        </p:txBody>
      </p:sp>
      <p:graphicFrame>
        <p:nvGraphicFramePr>
          <p:cNvPr id="6" name="內容版面配置區 3"/>
          <p:cNvGraphicFramePr/>
          <p:nvPr/>
        </p:nvGraphicFramePr>
        <p:xfrm>
          <a:off x="2177492" y="3272071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/>
                <a:gridCol w="478995"/>
                <a:gridCol w="478995"/>
                <a:gridCol w="478995"/>
                <a:gridCol w="478995"/>
                <a:gridCol w="47899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en-US" altLang="zh-TW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內容版面配置區 3"/>
          <p:cNvGraphicFramePr/>
          <p:nvPr/>
        </p:nvGraphicFramePr>
        <p:xfrm>
          <a:off x="2361713" y="3414486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/>
                <a:gridCol w="478995"/>
                <a:gridCol w="478995"/>
                <a:gridCol w="478995"/>
                <a:gridCol w="478995"/>
                <a:gridCol w="47899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en-US" altLang="zh-TW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3" name="矩形 12"/>
          <p:cNvSpPr/>
          <p:nvPr/>
        </p:nvSpPr>
        <p:spPr>
          <a:xfrm>
            <a:off x="2376227" y="3443514"/>
            <a:ext cx="1412346" cy="13233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" name="直線接點 18"/>
          <p:cNvCxnSpPr/>
          <p:nvPr/>
        </p:nvCxnSpPr>
        <p:spPr>
          <a:xfrm>
            <a:off x="2022370" y="4454985"/>
            <a:ext cx="339343" cy="316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3435318" y="3108560"/>
            <a:ext cx="339343" cy="316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2047009" y="3166353"/>
            <a:ext cx="339343" cy="316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字方塊 27"/>
          <p:cNvSpPr txBox="1"/>
          <p:nvPr/>
        </p:nvSpPr>
        <p:spPr>
          <a:xfrm>
            <a:off x="5247540" y="1392451"/>
            <a:ext cx="836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400" dirty="0"/>
              <a:t>3 x 3</a:t>
            </a:r>
            <a:endParaRPr lang="zh-TW" altLang="en-US" sz="2400" dirty="0"/>
          </a:p>
        </p:txBody>
      </p:sp>
      <p:sp>
        <p:nvSpPr>
          <p:cNvPr id="36" name="文字方塊 35"/>
          <p:cNvSpPr txBox="1"/>
          <p:nvPr/>
        </p:nvSpPr>
        <p:spPr>
          <a:xfrm>
            <a:off x="540518" y="3242816"/>
            <a:ext cx="14126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400" dirty="0"/>
              <a:t>Receptive field </a:t>
            </a:r>
            <a:endParaRPr lang="zh-TW" altLang="en-US" sz="2400" dirty="0"/>
          </a:p>
        </p:txBody>
      </p:sp>
      <p:graphicFrame>
        <p:nvGraphicFramePr>
          <p:cNvPr id="30" name="表格 23"/>
          <p:cNvGraphicFramePr>
            <a:graphicFrameLocks noGrp="1"/>
          </p:cNvGraphicFramePr>
          <p:nvPr/>
        </p:nvGraphicFramePr>
        <p:xfrm>
          <a:off x="5946372" y="570443"/>
          <a:ext cx="42138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" name="表格 23"/>
          <p:cNvGraphicFramePr>
            <a:graphicFrameLocks noGrp="1"/>
          </p:cNvGraphicFramePr>
          <p:nvPr/>
        </p:nvGraphicFramePr>
        <p:xfrm>
          <a:off x="5946372" y="1940347"/>
          <a:ext cx="42138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文字方塊 2"/>
          <p:cNvSpPr txBox="1"/>
          <p:nvPr/>
        </p:nvSpPr>
        <p:spPr>
          <a:xfrm rot="5400000">
            <a:off x="5892209" y="1388674"/>
            <a:ext cx="750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…...</a:t>
            </a:r>
            <a:endParaRPr lang="zh-TW" altLang="en-US" sz="2800" dirty="0"/>
          </a:p>
        </p:txBody>
      </p:sp>
      <p:graphicFrame>
        <p:nvGraphicFramePr>
          <p:cNvPr id="47" name="表格 23"/>
          <p:cNvGraphicFramePr>
            <a:graphicFrameLocks noGrp="1"/>
          </p:cNvGraphicFramePr>
          <p:nvPr/>
        </p:nvGraphicFramePr>
        <p:xfrm>
          <a:off x="5946896" y="2341379"/>
          <a:ext cx="42138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" name="表格 23"/>
          <p:cNvGraphicFramePr>
            <a:graphicFrameLocks noGrp="1"/>
          </p:cNvGraphicFramePr>
          <p:nvPr/>
        </p:nvGraphicFramePr>
        <p:xfrm>
          <a:off x="5946896" y="3711283"/>
          <a:ext cx="42138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9" name="文字方塊 48"/>
          <p:cNvSpPr txBox="1"/>
          <p:nvPr/>
        </p:nvSpPr>
        <p:spPr>
          <a:xfrm rot="5400000">
            <a:off x="5892733" y="3159610"/>
            <a:ext cx="750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…...</a:t>
            </a:r>
            <a:endParaRPr lang="zh-TW" altLang="en-US" sz="2800" dirty="0"/>
          </a:p>
        </p:txBody>
      </p:sp>
      <p:graphicFrame>
        <p:nvGraphicFramePr>
          <p:cNvPr id="50" name="表格 23"/>
          <p:cNvGraphicFramePr>
            <a:graphicFrameLocks noGrp="1"/>
          </p:cNvGraphicFramePr>
          <p:nvPr/>
        </p:nvGraphicFramePr>
        <p:xfrm>
          <a:off x="5946372" y="4111016"/>
          <a:ext cx="42138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" name="表格 23"/>
          <p:cNvGraphicFramePr>
            <a:graphicFrameLocks noGrp="1"/>
          </p:cNvGraphicFramePr>
          <p:nvPr/>
        </p:nvGraphicFramePr>
        <p:xfrm>
          <a:off x="5946372" y="5480920"/>
          <a:ext cx="42138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2" name="文字方塊 51"/>
          <p:cNvSpPr txBox="1"/>
          <p:nvPr/>
        </p:nvSpPr>
        <p:spPr>
          <a:xfrm rot="5400000">
            <a:off x="5892209" y="4929247"/>
            <a:ext cx="750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…...</a:t>
            </a:r>
            <a:endParaRPr lang="zh-TW" altLang="en-US" sz="2800" dirty="0"/>
          </a:p>
        </p:txBody>
      </p:sp>
      <p:sp>
        <p:nvSpPr>
          <p:cNvPr id="53" name="文字方塊 52"/>
          <p:cNvSpPr txBox="1"/>
          <p:nvPr/>
        </p:nvSpPr>
        <p:spPr>
          <a:xfrm>
            <a:off x="5247540" y="3128044"/>
            <a:ext cx="836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400" dirty="0"/>
              <a:t>3 x 3</a:t>
            </a:r>
            <a:endParaRPr lang="zh-TW" altLang="en-US" sz="2400" dirty="0"/>
          </a:p>
        </p:txBody>
      </p:sp>
      <p:sp>
        <p:nvSpPr>
          <p:cNvPr id="54" name="文字方塊 53"/>
          <p:cNvSpPr txBox="1"/>
          <p:nvPr/>
        </p:nvSpPr>
        <p:spPr>
          <a:xfrm>
            <a:off x="5247932" y="4960024"/>
            <a:ext cx="836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400" dirty="0"/>
              <a:t>3 x 3</a:t>
            </a:r>
            <a:endParaRPr lang="zh-TW" altLang="en-US" sz="2400" dirty="0"/>
          </a:p>
        </p:txBody>
      </p:sp>
      <p:grpSp>
        <p:nvGrpSpPr>
          <p:cNvPr id="55" name="群組 54"/>
          <p:cNvGrpSpPr/>
          <p:nvPr/>
        </p:nvGrpSpPr>
        <p:grpSpPr>
          <a:xfrm>
            <a:off x="7533638" y="1608643"/>
            <a:ext cx="638175" cy="638175"/>
            <a:chOff x="8370546" y="1983114"/>
            <a:chExt cx="638175" cy="638175"/>
          </a:xfrm>
        </p:grpSpPr>
        <p:sp>
          <p:nvSpPr>
            <p:cNvPr id="56" name="橢圓 55"/>
            <p:cNvSpPr/>
            <p:nvPr/>
          </p:nvSpPr>
          <p:spPr>
            <a:xfrm>
              <a:off x="8370546" y="1983114"/>
              <a:ext cx="638175" cy="638175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7" name="手繪多邊形 108"/>
            <p:cNvSpPr/>
            <p:nvPr/>
          </p:nvSpPr>
          <p:spPr>
            <a:xfrm>
              <a:off x="8447407" y="2115472"/>
              <a:ext cx="469900" cy="354083"/>
            </a:xfrm>
            <a:custGeom>
              <a:avLst/>
              <a:gdLst>
                <a:gd name="connsiteX0" fmla="*/ 469900 w 469900"/>
                <a:gd name="connsiteY0" fmla="*/ 5192 h 354083"/>
                <a:gd name="connsiteX1" fmla="*/ 254000 w 469900"/>
                <a:gd name="connsiteY1" fmla="*/ 43292 h 354083"/>
                <a:gd name="connsiteX2" fmla="*/ 139700 w 469900"/>
                <a:gd name="connsiteY2" fmla="*/ 322692 h 354083"/>
                <a:gd name="connsiteX3" fmla="*/ 0 w 469900"/>
                <a:gd name="connsiteY3" fmla="*/ 335392 h 354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9900" h="354083">
                  <a:moveTo>
                    <a:pt x="469900" y="5192"/>
                  </a:moveTo>
                  <a:cubicBezTo>
                    <a:pt x="389466" y="-2217"/>
                    <a:pt x="309033" y="-9625"/>
                    <a:pt x="254000" y="43292"/>
                  </a:cubicBezTo>
                  <a:cubicBezTo>
                    <a:pt x="198967" y="96209"/>
                    <a:pt x="182033" y="274009"/>
                    <a:pt x="139700" y="322692"/>
                  </a:cubicBezTo>
                  <a:cubicBezTo>
                    <a:pt x="97367" y="371375"/>
                    <a:pt x="48683" y="353383"/>
                    <a:pt x="0" y="335392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cxnSp>
        <p:nvCxnSpPr>
          <p:cNvPr id="58" name="直線單箭頭接點 57"/>
          <p:cNvCxnSpPr/>
          <p:nvPr/>
        </p:nvCxnSpPr>
        <p:spPr>
          <a:xfrm>
            <a:off x="8185896" y="1912415"/>
            <a:ext cx="65890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 flipV="1">
            <a:off x="2846439" y="2341379"/>
            <a:ext cx="0" cy="930692"/>
          </a:xfrm>
          <a:prstGeom prst="line">
            <a:avLst/>
          </a:prstGeom>
          <a:ln w="571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/>
          <p:nvPr/>
        </p:nvCxnSpPr>
        <p:spPr>
          <a:xfrm>
            <a:off x="2843133" y="2341379"/>
            <a:ext cx="2908738" cy="0"/>
          </a:xfrm>
          <a:prstGeom prst="line">
            <a:avLst/>
          </a:prstGeom>
          <a:ln w="57150">
            <a:solidFill>
              <a:srgbClr val="FF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60"/>
          <p:cNvCxnSpPr>
            <a:endCxn id="56" idx="2"/>
          </p:cNvCxnSpPr>
          <p:nvPr/>
        </p:nvCxnSpPr>
        <p:spPr>
          <a:xfrm>
            <a:off x="6367761" y="752209"/>
            <a:ext cx="1165877" cy="117552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>
            <a:endCxn id="56" idx="2"/>
          </p:cNvCxnSpPr>
          <p:nvPr/>
        </p:nvCxnSpPr>
        <p:spPr>
          <a:xfrm>
            <a:off x="6373298" y="1111445"/>
            <a:ext cx="1160340" cy="81628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>
            <a:endCxn id="56" idx="2"/>
          </p:cNvCxnSpPr>
          <p:nvPr/>
        </p:nvCxnSpPr>
        <p:spPr>
          <a:xfrm flipV="1">
            <a:off x="6373298" y="1927731"/>
            <a:ext cx="1160340" cy="19019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字方塊 25"/>
          <p:cNvSpPr txBox="1"/>
          <p:nvPr/>
        </p:nvSpPr>
        <p:spPr>
          <a:xfrm>
            <a:off x="6936328" y="450979"/>
            <a:ext cx="11946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3 x 3 x 3 weights</a:t>
            </a:r>
            <a:endParaRPr lang="zh-TW" altLang="en-US" sz="2400" dirty="0"/>
          </a:p>
        </p:txBody>
      </p:sp>
      <p:cxnSp>
        <p:nvCxnSpPr>
          <p:cNvPr id="67" name="直線單箭頭接點 66"/>
          <p:cNvCxnSpPr/>
          <p:nvPr/>
        </p:nvCxnSpPr>
        <p:spPr>
          <a:xfrm flipV="1">
            <a:off x="7853566" y="2246818"/>
            <a:ext cx="0" cy="5878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/>
          <p:cNvSpPr/>
          <p:nvPr/>
        </p:nvSpPr>
        <p:spPr>
          <a:xfrm flipH="1">
            <a:off x="7704093" y="2879454"/>
            <a:ext cx="333714" cy="33371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  <a:endParaRPr lang="zh-TW" altLang="en-US" dirty="0"/>
          </a:p>
        </p:txBody>
      </p:sp>
      <p:cxnSp>
        <p:nvCxnSpPr>
          <p:cNvPr id="69" name="直線單箭頭接點 68"/>
          <p:cNvCxnSpPr>
            <a:endCxn id="56" idx="2"/>
          </p:cNvCxnSpPr>
          <p:nvPr/>
        </p:nvCxnSpPr>
        <p:spPr>
          <a:xfrm flipV="1">
            <a:off x="6362559" y="1927731"/>
            <a:ext cx="1171079" cy="58137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/>
          <p:cNvCxnSpPr>
            <a:endCxn id="56" idx="2"/>
          </p:cNvCxnSpPr>
          <p:nvPr/>
        </p:nvCxnSpPr>
        <p:spPr>
          <a:xfrm flipV="1">
            <a:off x="6351820" y="1927731"/>
            <a:ext cx="1181818" cy="92572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單箭頭接點 71"/>
          <p:cNvCxnSpPr>
            <a:endCxn id="56" idx="2"/>
          </p:cNvCxnSpPr>
          <p:nvPr/>
        </p:nvCxnSpPr>
        <p:spPr>
          <a:xfrm flipV="1">
            <a:off x="6343598" y="1927731"/>
            <a:ext cx="1190040" cy="193412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73"/>
          <p:cNvCxnSpPr>
            <a:endCxn id="56" idx="2"/>
          </p:cNvCxnSpPr>
          <p:nvPr/>
        </p:nvCxnSpPr>
        <p:spPr>
          <a:xfrm flipV="1">
            <a:off x="6362559" y="1927731"/>
            <a:ext cx="1171079" cy="239131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單箭頭接點 75"/>
          <p:cNvCxnSpPr>
            <a:endCxn id="56" idx="2"/>
          </p:cNvCxnSpPr>
          <p:nvPr/>
        </p:nvCxnSpPr>
        <p:spPr>
          <a:xfrm flipV="1">
            <a:off x="6368515" y="1927731"/>
            <a:ext cx="1165123" cy="27696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單箭頭接點 77"/>
          <p:cNvCxnSpPr>
            <a:endCxn id="56" idx="2"/>
          </p:cNvCxnSpPr>
          <p:nvPr/>
        </p:nvCxnSpPr>
        <p:spPr>
          <a:xfrm flipV="1">
            <a:off x="6360167" y="1927731"/>
            <a:ext cx="1173471" cy="37690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文字方塊 79"/>
          <p:cNvSpPr txBox="1"/>
          <p:nvPr/>
        </p:nvSpPr>
        <p:spPr>
          <a:xfrm>
            <a:off x="8040779" y="2339895"/>
            <a:ext cx="1194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bias</a:t>
            </a:r>
            <a:endParaRPr lang="zh-TW" altLang="en-US" sz="2400" dirty="0"/>
          </a:p>
        </p:txBody>
      </p:sp>
      <p:sp>
        <p:nvSpPr>
          <p:cNvPr id="82" name="投影片編號版面配置區 8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3" grpId="0" animBg="1"/>
      <p:bldP spid="28" grpId="0"/>
      <p:bldP spid="36" grpId="0"/>
      <p:bldP spid="3" grpId="0"/>
      <p:bldP spid="49" grpId="0"/>
      <p:bldP spid="52" grpId="0"/>
      <p:bldP spid="53" grpId="0"/>
      <p:bldP spid="54" grpId="0"/>
      <p:bldP spid="26" grpId="0"/>
      <p:bldP spid="68" grpId="0" animBg="1"/>
      <p:bldP spid="8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內容版面配置區 3"/>
          <p:cNvGraphicFramePr/>
          <p:nvPr/>
        </p:nvGraphicFramePr>
        <p:xfrm>
          <a:off x="2022370" y="3108560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/>
                <a:gridCol w="478995"/>
                <a:gridCol w="478995"/>
                <a:gridCol w="478995"/>
                <a:gridCol w="478995"/>
                <a:gridCol w="47899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en-US" altLang="zh-TW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6" name="矩形 15"/>
          <p:cNvSpPr/>
          <p:nvPr/>
        </p:nvSpPr>
        <p:spPr>
          <a:xfrm>
            <a:off x="2047009" y="3146198"/>
            <a:ext cx="1412346" cy="13233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Simplification 1 </a:t>
            </a:r>
            <a:endParaRPr lang="zh-TW" altLang="en-US" dirty="0"/>
          </a:p>
        </p:txBody>
      </p:sp>
      <p:sp>
        <p:nvSpPr>
          <p:cNvPr id="9" name="橢圓 8"/>
          <p:cNvSpPr/>
          <p:nvPr/>
        </p:nvSpPr>
        <p:spPr>
          <a:xfrm>
            <a:off x="6035360" y="2172416"/>
            <a:ext cx="574158" cy="57415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0" name="橢圓 9"/>
          <p:cNvSpPr/>
          <p:nvPr/>
        </p:nvSpPr>
        <p:spPr>
          <a:xfrm>
            <a:off x="6035360" y="5768621"/>
            <a:ext cx="574158" cy="574158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1" name="橢圓 10"/>
          <p:cNvSpPr/>
          <p:nvPr/>
        </p:nvSpPr>
        <p:spPr>
          <a:xfrm>
            <a:off x="6035360" y="4568228"/>
            <a:ext cx="574158" cy="57415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2" name="橢圓 11"/>
          <p:cNvSpPr/>
          <p:nvPr/>
        </p:nvSpPr>
        <p:spPr>
          <a:xfrm>
            <a:off x="6035360" y="3444403"/>
            <a:ext cx="574158" cy="574158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graphicFrame>
        <p:nvGraphicFramePr>
          <p:cNvPr id="6" name="內容版面配置區 3"/>
          <p:cNvGraphicFramePr/>
          <p:nvPr/>
        </p:nvGraphicFramePr>
        <p:xfrm>
          <a:off x="2177492" y="3272071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/>
                <a:gridCol w="478995"/>
                <a:gridCol w="478995"/>
                <a:gridCol w="478995"/>
                <a:gridCol w="478995"/>
                <a:gridCol w="47899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en-US" altLang="zh-TW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內容版面配置區 3"/>
          <p:cNvGraphicFramePr/>
          <p:nvPr/>
        </p:nvGraphicFramePr>
        <p:xfrm>
          <a:off x="2361713" y="3414486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/>
                <a:gridCol w="478995"/>
                <a:gridCol w="478995"/>
                <a:gridCol w="478995"/>
                <a:gridCol w="478995"/>
                <a:gridCol w="47899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en-US" altLang="zh-TW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3" name="矩形 12"/>
          <p:cNvSpPr/>
          <p:nvPr/>
        </p:nvSpPr>
        <p:spPr>
          <a:xfrm>
            <a:off x="2376227" y="3443514"/>
            <a:ext cx="1412346" cy="13233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2853911" y="3909786"/>
            <a:ext cx="1412346" cy="13233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3823337" y="4831414"/>
            <a:ext cx="1412346" cy="13233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" name="直線接點 18"/>
          <p:cNvCxnSpPr/>
          <p:nvPr/>
        </p:nvCxnSpPr>
        <p:spPr>
          <a:xfrm>
            <a:off x="2022370" y="4454985"/>
            <a:ext cx="339343" cy="316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3435318" y="3108560"/>
            <a:ext cx="339343" cy="316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2047009" y="3166353"/>
            <a:ext cx="339343" cy="316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手繪多邊形: 圖案 26"/>
          <p:cNvSpPr/>
          <p:nvPr/>
        </p:nvSpPr>
        <p:spPr>
          <a:xfrm>
            <a:off x="3599887" y="2488954"/>
            <a:ext cx="2409372" cy="753862"/>
          </a:xfrm>
          <a:custGeom>
            <a:avLst/>
            <a:gdLst>
              <a:gd name="connsiteX0" fmla="*/ 0 w 2409372"/>
              <a:gd name="connsiteY0" fmla="*/ 812800 h 812800"/>
              <a:gd name="connsiteX1" fmla="*/ 740229 w 2409372"/>
              <a:gd name="connsiteY1" fmla="*/ 203200 h 812800"/>
              <a:gd name="connsiteX2" fmla="*/ 2409372 w 2409372"/>
              <a:gd name="connsiteY2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09372" h="812800">
                <a:moveTo>
                  <a:pt x="0" y="812800"/>
                </a:moveTo>
                <a:cubicBezTo>
                  <a:pt x="169333" y="575733"/>
                  <a:pt x="338667" y="338667"/>
                  <a:pt x="740229" y="203200"/>
                </a:cubicBezTo>
                <a:cubicBezTo>
                  <a:pt x="1141791" y="67733"/>
                  <a:pt x="1775581" y="33866"/>
                  <a:pt x="2409372" y="0"/>
                </a:cubicBezTo>
              </a:path>
            </a:pathLst>
          </a:custGeom>
          <a:noFill/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文字方塊 27"/>
          <p:cNvSpPr txBox="1"/>
          <p:nvPr/>
        </p:nvSpPr>
        <p:spPr>
          <a:xfrm>
            <a:off x="2545295" y="2142036"/>
            <a:ext cx="2225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3 x 3 x 3 weights</a:t>
            </a:r>
            <a:endParaRPr lang="zh-TW" altLang="en-US" sz="2400" dirty="0"/>
          </a:p>
        </p:txBody>
      </p:sp>
      <p:cxnSp>
        <p:nvCxnSpPr>
          <p:cNvPr id="31" name="直線單箭頭接點 30"/>
          <p:cNvCxnSpPr>
            <a:endCxn id="10" idx="2"/>
          </p:cNvCxnSpPr>
          <p:nvPr/>
        </p:nvCxnSpPr>
        <p:spPr>
          <a:xfrm>
            <a:off x="5235683" y="5599798"/>
            <a:ext cx="799677" cy="45590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手繪多邊形: 圖案 32"/>
          <p:cNvSpPr/>
          <p:nvPr/>
        </p:nvSpPr>
        <p:spPr>
          <a:xfrm rot="21257122">
            <a:off x="4245773" y="4243693"/>
            <a:ext cx="1872343" cy="425148"/>
          </a:xfrm>
          <a:custGeom>
            <a:avLst/>
            <a:gdLst>
              <a:gd name="connsiteX0" fmla="*/ 0 w 1872343"/>
              <a:gd name="connsiteY0" fmla="*/ 47777 h 425148"/>
              <a:gd name="connsiteX1" fmla="*/ 1161143 w 1872343"/>
              <a:gd name="connsiteY1" fmla="*/ 33263 h 425148"/>
              <a:gd name="connsiteX2" fmla="*/ 1872343 w 1872343"/>
              <a:gd name="connsiteY2" fmla="*/ 425148 h 425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72343" h="425148">
                <a:moveTo>
                  <a:pt x="0" y="47777"/>
                </a:moveTo>
                <a:cubicBezTo>
                  <a:pt x="424543" y="9072"/>
                  <a:pt x="849086" y="-29632"/>
                  <a:pt x="1161143" y="33263"/>
                </a:cubicBezTo>
                <a:cubicBezTo>
                  <a:pt x="1473200" y="96158"/>
                  <a:pt x="1672771" y="260653"/>
                  <a:pt x="1872343" y="425148"/>
                </a:cubicBezTo>
              </a:path>
            </a:pathLst>
          </a:custGeom>
          <a:noFill/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手繪多邊形: 圖案 33"/>
          <p:cNvSpPr/>
          <p:nvPr/>
        </p:nvSpPr>
        <p:spPr>
          <a:xfrm>
            <a:off x="3657945" y="3064515"/>
            <a:ext cx="2438400" cy="468587"/>
          </a:xfrm>
          <a:custGeom>
            <a:avLst/>
            <a:gdLst>
              <a:gd name="connsiteX0" fmla="*/ 0 w 2438400"/>
              <a:gd name="connsiteY0" fmla="*/ 279901 h 468587"/>
              <a:gd name="connsiteX1" fmla="*/ 1422400 w 2438400"/>
              <a:gd name="connsiteY1" fmla="*/ 4129 h 468587"/>
              <a:gd name="connsiteX2" fmla="*/ 2438400 w 2438400"/>
              <a:gd name="connsiteY2" fmla="*/ 468587 h 468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38400" h="468587">
                <a:moveTo>
                  <a:pt x="0" y="279901"/>
                </a:moveTo>
                <a:cubicBezTo>
                  <a:pt x="508000" y="126291"/>
                  <a:pt x="1016000" y="-27319"/>
                  <a:pt x="1422400" y="4129"/>
                </a:cubicBezTo>
                <a:cubicBezTo>
                  <a:pt x="1828800" y="35577"/>
                  <a:pt x="2133600" y="252082"/>
                  <a:pt x="2438400" y="468587"/>
                </a:cubicBezTo>
              </a:path>
            </a:pathLst>
          </a:custGeom>
          <a:noFill/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文字方塊 35"/>
          <p:cNvSpPr txBox="1"/>
          <p:nvPr/>
        </p:nvSpPr>
        <p:spPr>
          <a:xfrm>
            <a:off x="540518" y="3242816"/>
            <a:ext cx="14126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400" dirty="0"/>
              <a:t>Receptive field </a:t>
            </a:r>
            <a:endParaRPr lang="zh-TW" altLang="en-US" sz="2400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7016103" y="2637429"/>
            <a:ext cx="22338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the same receptive field</a:t>
            </a:r>
            <a:endParaRPr lang="zh-TW" altLang="en-US" sz="2400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4479181" y="141545"/>
            <a:ext cx="46159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Can different neurons have different sizes of receptive field?</a:t>
            </a:r>
            <a:endParaRPr lang="zh-TW" altLang="en-US" sz="2400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4479181" y="954324"/>
            <a:ext cx="42119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Cover only some channels?</a:t>
            </a:r>
            <a:endParaRPr lang="zh-TW" altLang="en-US" sz="2400" dirty="0"/>
          </a:p>
        </p:txBody>
      </p:sp>
      <p:sp>
        <p:nvSpPr>
          <p:cNvPr id="41" name="文字方塊 40"/>
          <p:cNvSpPr txBox="1"/>
          <p:nvPr/>
        </p:nvSpPr>
        <p:spPr>
          <a:xfrm>
            <a:off x="4479182" y="1469364"/>
            <a:ext cx="4615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Not square receptive field?</a:t>
            </a:r>
            <a:endParaRPr lang="zh-TW" altLang="en-US" sz="2400" dirty="0"/>
          </a:p>
        </p:txBody>
      </p:sp>
      <p:sp>
        <p:nvSpPr>
          <p:cNvPr id="42" name="文字方塊 41"/>
          <p:cNvSpPr txBox="1"/>
          <p:nvPr/>
        </p:nvSpPr>
        <p:spPr>
          <a:xfrm>
            <a:off x="7037887" y="4973137"/>
            <a:ext cx="18125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Can be overlapped</a:t>
            </a:r>
            <a:endParaRPr lang="zh-TW" altLang="en-US" sz="2400" dirty="0"/>
          </a:p>
        </p:txBody>
      </p:sp>
      <p:sp>
        <p:nvSpPr>
          <p:cNvPr id="43" name="右大括弧 42"/>
          <p:cNvSpPr/>
          <p:nvPr/>
        </p:nvSpPr>
        <p:spPr>
          <a:xfrm>
            <a:off x="6690225" y="2137606"/>
            <a:ext cx="252791" cy="1880955"/>
          </a:xfrm>
          <a:prstGeom prst="rightBrace">
            <a:avLst>
              <a:gd name="adj1" fmla="val 26182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右大括弧 43"/>
          <p:cNvSpPr/>
          <p:nvPr/>
        </p:nvSpPr>
        <p:spPr>
          <a:xfrm>
            <a:off x="6697307" y="4454985"/>
            <a:ext cx="252791" cy="1880955"/>
          </a:xfrm>
          <a:prstGeom prst="rightBrace">
            <a:avLst>
              <a:gd name="adj1" fmla="val 26182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投影片編號版面配置區 4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</a:fld>
            <a:endParaRPr lang="zh-TW" altLang="en-US"/>
          </a:p>
        </p:txBody>
      </p:sp>
      <p:sp>
        <p:nvSpPr>
          <p:cNvPr id="46" name="手繪多邊形 108"/>
          <p:cNvSpPr/>
          <p:nvPr/>
        </p:nvSpPr>
        <p:spPr>
          <a:xfrm>
            <a:off x="6087489" y="2281935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手繪多邊形 108"/>
          <p:cNvSpPr/>
          <p:nvPr/>
        </p:nvSpPr>
        <p:spPr>
          <a:xfrm>
            <a:off x="6075266" y="3576737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手繪多邊形 108"/>
          <p:cNvSpPr/>
          <p:nvPr/>
        </p:nvSpPr>
        <p:spPr>
          <a:xfrm>
            <a:off x="6097737" y="4716390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手繪多邊形 108"/>
          <p:cNvSpPr/>
          <p:nvPr/>
        </p:nvSpPr>
        <p:spPr>
          <a:xfrm>
            <a:off x="6096345" y="5895290"/>
            <a:ext cx="469900" cy="354083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27" grpId="0" animBg="1"/>
      <p:bldP spid="28" grpId="0"/>
      <p:bldP spid="33" grpId="0" animBg="1"/>
      <p:bldP spid="34" grpId="0" animBg="1"/>
      <p:bldP spid="38" grpId="0"/>
      <p:bldP spid="39" grpId="0"/>
      <p:bldP spid="40" grpId="0"/>
      <p:bldP spid="41" grpId="0"/>
      <p:bldP spid="42" grpId="0"/>
      <p:bldP spid="43" grpId="0" animBg="1"/>
      <p:bldP spid="44" grpId="0" animBg="1"/>
      <p:bldP spid="46" grpId="0" animBg="1"/>
      <p:bldP spid="47" grpId="0" animBg="1"/>
      <p:bldP spid="48" grpId="0" animBg="1"/>
      <p:bldP spid="4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內容版面配置區 3"/>
          <p:cNvGraphicFramePr/>
          <p:nvPr/>
        </p:nvGraphicFramePr>
        <p:xfrm>
          <a:off x="2907273" y="3264358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/>
                <a:gridCol w="478995"/>
                <a:gridCol w="478995"/>
                <a:gridCol w="478995"/>
                <a:gridCol w="478995"/>
                <a:gridCol w="47899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en-US" altLang="zh-TW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8" name="矩形 57"/>
          <p:cNvSpPr/>
          <p:nvPr/>
        </p:nvSpPr>
        <p:spPr>
          <a:xfrm>
            <a:off x="4817259" y="3275828"/>
            <a:ext cx="1412346" cy="13233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4" name="矩形 53"/>
          <p:cNvSpPr/>
          <p:nvPr/>
        </p:nvSpPr>
        <p:spPr>
          <a:xfrm>
            <a:off x="3890384" y="3281811"/>
            <a:ext cx="1412346" cy="13233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/>
          <p:cNvSpPr/>
          <p:nvPr/>
        </p:nvSpPr>
        <p:spPr>
          <a:xfrm>
            <a:off x="2931912" y="3301996"/>
            <a:ext cx="1412346" cy="13233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Simplification 1 – Typical Setting  </a:t>
            </a:r>
            <a:endParaRPr lang="zh-TW" altLang="en-US" dirty="0"/>
          </a:p>
        </p:txBody>
      </p:sp>
      <p:graphicFrame>
        <p:nvGraphicFramePr>
          <p:cNvPr id="6" name="內容版面配置區 3"/>
          <p:cNvGraphicFramePr/>
          <p:nvPr/>
        </p:nvGraphicFramePr>
        <p:xfrm>
          <a:off x="3062395" y="3427869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/>
                <a:gridCol w="478995"/>
                <a:gridCol w="478995"/>
                <a:gridCol w="478995"/>
                <a:gridCol w="478995"/>
                <a:gridCol w="47899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en-US" altLang="zh-TW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內容版面配置區 3"/>
          <p:cNvGraphicFramePr/>
          <p:nvPr/>
        </p:nvGraphicFramePr>
        <p:xfrm>
          <a:off x="3246616" y="3570284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/>
                <a:gridCol w="478995"/>
                <a:gridCol w="478995"/>
                <a:gridCol w="478995"/>
                <a:gridCol w="478995"/>
                <a:gridCol w="47899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en-US" altLang="zh-TW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3" name="矩形 12"/>
          <p:cNvSpPr/>
          <p:nvPr/>
        </p:nvSpPr>
        <p:spPr>
          <a:xfrm>
            <a:off x="3261130" y="3599312"/>
            <a:ext cx="1412346" cy="13233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4199226" y="3599311"/>
            <a:ext cx="1412346" cy="13233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" name="直線接點 18"/>
          <p:cNvCxnSpPr/>
          <p:nvPr/>
        </p:nvCxnSpPr>
        <p:spPr>
          <a:xfrm>
            <a:off x="2907273" y="4610783"/>
            <a:ext cx="339343" cy="316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2931912" y="3322151"/>
            <a:ext cx="339343" cy="316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/>
          <p:cNvSpPr txBox="1"/>
          <p:nvPr/>
        </p:nvSpPr>
        <p:spPr>
          <a:xfrm>
            <a:off x="1195775" y="2776876"/>
            <a:ext cx="18244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all channels</a:t>
            </a:r>
            <a:endParaRPr lang="zh-TW" altLang="en-US" sz="2400" dirty="0"/>
          </a:p>
        </p:txBody>
      </p:sp>
      <p:cxnSp>
        <p:nvCxnSpPr>
          <p:cNvPr id="35" name="直線接點 34"/>
          <p:cNvCxnSpPr/>
          <p:nvPr/>
        </p:nvCxnSpPr>
        <p:spPr>
          <a:xfrm>
            <a:off x="4320221" y="3264358"/>
            <a:ext cx="339343" cy="316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>
          <a:xfrm>
            <a:off x="3276246" y="4489360"/>
            <a:ext cx="1412346" cy="13233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矩形 52"/>
          <p:cNvSpPr/>
          <p:nvPr/>
        </p:nvSpPr>
        <p:spPr>
          <a:xfrm>
            <a:off x="5163722" y="3605418"/>
            <a:ext cx="1412346" cy="13233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5" name="直線接點 54"/>
          <p:cNvCxnSpPr/>
          <p:nvPr/>
        </p:nvCxnSpPr>
        <p:spPr>
          <a:xfrm>
            <a:off x="5287480" y="3268916"/>
            <a:ext cx="339343" cy="316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3872243" y="3308063"/>
            <a:ext cx="339343" cy="316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/>
          <p:nvPr/>
        </p:nvCxnSpPr>
        <p:spPr>
          <a:xfrm>
            <a:off x="6254244" y="3275828"/>
            <a:ext cx="339343" cy="316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>
            <a:off x="6242264" y="4599129"/>
            <a:ext cx="339343" cy="316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/>
          <p:cNvCxnSpPr/>
          <p:nvPr/>
        </p:nvCxnSpPr>
        <p:spPr>
          <a:xfrm flipH="1" flipV="1">
            <a:off x="2538649" y="3921404"/>
            <a:ext cx="732606" cy="1995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單箭頭接點 59"/>
          <p:cNvCxnSpPr/>
          <p:nvPr/>
        </p:nvCxnSpPr>
        <p:spPr>
          <a:xfrm flipH="1" flipV="1">
            <a:off x="2550418" y="3238445"/>
            <a:ext cx="513368" cy="23113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字方塊 61"/>
          <p:cNvSpPr txBox="1"/>
          <p:nvPr/>
        </p:nvSpPr>
        <p:spPr>
          <a:xfrm>
            <a:off x="783933" y="1853324"/>
            <a:ext cx="7625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Each receptive field has a set of neurons (e.g., 64 neurons).  </a:t>
            </a:r>
            <a:endParaRPr lang="zh-TW" altLang="en-US" sz="2400" dirty="0"/>
          </a:p>
        </p:txBody>
      </p:sp>
      <p:sp>
        <p:nvSpPr>
          <p:cNvPr id="64" name="文字方塊 63"/>
          <p:cNvSpPr txBox="1"/>
          <p:nvPr/>
        </p:nvSpPr>
        <p:spPr>
          <a:xfrm>
            <a:off x="2808588" y="2598680"/>
            <a:ext cx="18244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stride = 2</a:t>
            </a:r>
            <a:endParaRPr lang="zh-TW" altLang="en-US" sz="2400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557878" y="3705433"/>
            <a:ext cx="19886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400" dirty="0"/>
              <a:t>kernel size (e.g., 3 x 3) </a:t>
            </a:r>
            <a:endParaRPr lang="zh-TW" altLang="en-US" sz="2400" dirty="0"/>
          </a:p>
        </p:txBody>
      </p:sp>
      <p:sp>
        <p:nvSpPr>
          <p:cNvPr id="24" name="右大括弧 23"/>
          <p:cNvSpPr/>
          <p:nvPr/>
        </p:nvSpPr>
        <p:spPr>
          <a:xfrm rot="16200000">
            <a:off x="3514290" y="2858980"/>
            <a:ext cx="437711" cy="932163"/>
          </a:xfrm>
          <a:prstGeom prst="rightBrace">
            <a:avLst>
              <a:gd name="adj1" fmla="val 45605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6" name="直線單箭頭接點 65"/>
          <p:cNvCxnSpPr/>
          <p:nvPr/>
        </p:nvCxnSpPr>
        <p:spPr>
          <a:xfrm flipV="1">
            <a:off x="6339669" y="3886871"/>
            <a:ext cx="519676" cy="24496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字方塊 66"/>
          <p:cNvSpPr txBox="1"/>
          <p:nvPr/>
        </p:nvSpPr>
        <p:spPr>
          <a:xfrm>
            <a:off x="6881361" y="3670170"/>
            <a:ext cx="1499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padding</a:t>
            </a:r>
            <a:endParaRPr lang="zh-TW" altLang="en-US" sz="2400" dirty="0"/>
          </a:p>
        </p:txBody>
      </p:sp>
      <p:cxnSp>
        <p:nvCxnSpPr>
          <p:cNvPr id="68" name="直線接點 67"/>
          <p:cNvCxnSpPr/>
          <p:nvPr/>
        </p:nvCxnSpPr>
        <p:spPr>
          <a:xfrm>
            <a:off x="2936903" y="4161569"/>
            <a:ext cx="339343" cy="316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接點 68"/>
          <p:cNvCxnSpPr/>
          <p:nvPr/>
        </p:nvCxnSpPr>
        <p:spPr>
          <a:xfrm>
            <a:off x="2907273" y="5569750"/>
            <a:ext cx="354969" cy="25858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2931912" y="4120932"/>
            <a:ext cx="0" cy="144881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投影片編號版面配置區 7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</a:fld>
            <a:endParaRPr lang="zh-TW" altLang="en-US"/>
          </a:p>
        </p:txBody>
      </p:sp>
      <p:cxnSp>
        <p:nvCxnSpPr>
          <p:cNvPr id="74" name="直線接點 73"/>
          <p:cNvCxnSpPr/>
          <p:nvPr/>
        </p:nvCxnSpPr>
        <p:spPr>
          <a:xfrm>
            <a:off x="4814354" y="3285454"/>
            <a:ext cx="339343" cy="316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4218920" y="4487942"/>
            <a:ext cx="1412346" cy="13233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文字方塊 35"/>
          <p:cNvSpPr txBox="1"/>
          <p:nvPr/>
        </p:nvSpPr>
        <p:spPr>
          <a:xfrm>
            <a:off x="6291568" y="5113155"/>
            <a:ext cx="27407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The receptive fields cover the whole image.</a:t>
            </a:r>
            <a:endParaRPr lang="zh-TW" altLang="en-US" sz="2400" dirty="0"/>
          </a:p>
        </p:txBody>
      </p:sp>
      <p:cxnSp>
        <p:nvCxnSpPr>
          <p:cNvPr id="37" name="直線單箭頭接點 36"/>
          <p:cNvCxnSpPr/>
          <p:nvPr/>
        </p:nvCxnSpPr>
        <p:spPr>
          <a:xfrm flipV="1">
            <a:off x="4353377" y="3051340"/>
            <a:ext cx="713714" cy="4019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字方塊 37"/>
          <p:cNvSpPr txBox="1"/>
          <p:nvPr/>
        </p:nvSpPr>
        <p:spPr>
          <a:xfrm>
            <a:off x="4738876" y="2627474"/>
            <a:ext cx="1499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overlap</a:t>
            </a:r>
            <a:endParaRPr lang="zh-TW" alt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54" grpId="0" animBg="1"/>
      <p:bldP spid="15" grpId="0" animBg="1"/>
      <p:bldP spid="32" grpId="0"/>
      <p:bldP spid="51" grpId="0" animBg="1"/>
      <p:bldP spid="53" grpId="0" animBg="1"/>
      <p:bldP spid="62" grpId="0"/>
      <p:bldP spid="64" grpId="0"/>
      <p:bldP spid="65" grpId="0"/>
      <p:bldP spid="24" grpId="0" animBg="1"/>
      <p:bldP spid="67" grpId="0"/>
      <p:bldP spid="34" grpId="0" animBg="1"/>
      <p:bldP spid="36" grpId="0"/>
      <p:bldP spid="3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Observation 2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same patterns appear in different regions.</a:t>
            </a:r>
            <a:endParaRPr lang="zh-TW" altLang="en-US" dirty="0"/>
          </a:p>
          <a:p>
            <a:endParaRPr lang="zh-TW" altLang="en-US" dirty="0"/>
          </a:p>
        </p:txBody>
      </p:sp>
      <p:pic>
        <p:nvPicPr>
          <p:cNvPr id="4" name="Picture 4" descr="http://all4desktop.com/data_images/original/4244361-bird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83" y="4504510"/>
            <a:ext cx="2485663" cy="1792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https://upload.wikimedia.org/wikipedia/commons/5/5e/Silverbird_in_Murchison_Falls_National_Park,_Uganda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83" y="2606048"/>
            <a:ext cx="2485663" cy="1657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4810" y="2895419"/>
            <a:ext cx="2151234" cy="1279848"/>
          </a:xfrm>
          <a:prstGeom prst="rect">
            <a:avLst/>
          </a:prstGeom>
        </p:spPr>
      </p:pic>
      <p:sp>
        <p:nvSpPr>
          <p:cNvPr id="7" name="雲朵形圖說文字 9"/>
          <p:cNvSpPr/>
          <p:nvPr/>
        </p:nvSpPr>
        <p:spPr>
          <a:xfrm>
            <a:off x="5134298" y="2453232"/>
            <a:ext cx="3751113" cy="951706"/>
          </a:xfrm>
          <a:prstGeom prst="cloudCallout">
            <a:avLst>
              <a:gd name="adj1" fmla="val -48303"/>
              <a:gd name="adj2" fmla="val 5589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I detect “beak” in my receptive field.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348044" y="2655976"/>
            <a:ext cx="406400" cy="379459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862848" y="5021375"/>
            <a:ext cx="406400" cy="37945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2665" y="4680497"/>
            <a:ext cx="2295525" cy="1590675"/>
          </a:xfrm>
          <a:prstGeom prst="rect">
            <a:avLst/>
          </a:prstGeom>
        </p:spPr>
      </p:pic>
      <p:sp>
        <p:nvSpPr>
          <p:cNvPr id="11" name="雲朵形圖說文字 30"/>
          <p:cNvSpPr/>
          <p:nvPr/>
        </p:nvSpPr>
        <p:spPr>
          <a:xfrm>
            <a:off x="5134299" y="5541168"/>
            <a:ext cx="3730384" cy="951706"/>
          </a:xfrm>
          <a:prstGeom prst="cloudCallout">
            <a:avLst>
              <a:gd name="adj1" fmla="val -40531"/>
              <a:gd name="adj2" fmla="val -60650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altLang="zh-TW" sz="2400" dirty="0">
                <a:solidFill>
                  <a:prstClr val="white"/>
                </a:solidFill>
              </a:rPr>
              <a:t>I detect “beak” in my receptive field.</a:t>
            </a:r>
            <a:endParaRPr lang="zh-TW" altLang="en-US" sz="2400" dirty="0">
              <a:solidFill>
                <a:prstClr val="white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04177" y="4053509"/>
            <a:ext cx="334253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Each receptive field needs a “beak” detector?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cxnSp>
        <p:nvCxnSpPr>
          <p:cNvPr id="14" name="直線單箭頭接點 13"/>
          <p:cNvCxnSpPr/>
          <p:nvPr/>
        </p:nvCxnSpPr>
        <p:spPr>
          <a:xfrm>
            <a:off x="4504441" y="3795442"/>
            <a:ext cx="0" cy="1341375"/>
          </a:xfrm>
          <a:prstGeom prst="straightConnector1">
            <a:avLst/>
          </a:prstGeom>
          <a:ln w="762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投影片編號版面配置區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1" grpId="0" animBg="1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Simplification 2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/>
          <p:nvPr/>
        </p:nvGraphicFramePr>
        <p:xfrm>
          <a:off x="674229" y="2547035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/>
                <a:gridCol w="478995"/>
                <a:gridCol w="478995"/>
                <a:gridCol w="478995"/>
                <a:gridCol w="478995"/>
                <a:gridCol w="47899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en-US" altLang="zh-TW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698868" y="2584673"/>
            <a:ext cx="1412346" cy="13233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6" name="內容版面配置區 3"/>
          <p:cNvGraphicFramePr/>
          <p:nvPr/>
        </p:nvGraphicFramePr>
        <p:xfrm>
          <a:off x="829351" y="2710546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/>
                <a:gridCol w="478995"/>
                <a:gridCol w="478995"/>
                <a:gridCol w="478995"/>
                <a:gridCol w="478995"/>
                <a:gridCol w="47899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en-US" altLang="zh-TW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內容版面配置區 3"/>
          <p:cNvGraphicFramePr/>
          <p:nvPr/>
        </p:nvGraphicFramePr>
        <p:xfrm>
          <a:off x="1013572" y="2852961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/>
                <a:gridCol w="478995"/>
                <a:gridCol w="478995"/>
                <a:gridCol w="478995"/>
                <a:gridCol w="478995"/>
                <a:gridCol w="47899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en-US" altLang="zh-TW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1028086" y="2881989"/>
            <a:ext cx="1412346" cy="13233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直線接點 8"/>
          <p:cNvCxnSpPr/>
          <p:nvPr/>
        </p:nvCxnSpPr>
        <p:spPr>
          <a:xfrm>
            <a:off x="674229" y="3893460"/>
            <a:ext cx="339343" cy="316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2087177" y="2547035"/>
            <a:ext cx="339343" cy="316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698868" y="2604828"/>
            <a:ext cx="339343" cy="316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1942283" y="3751830"/>
            <a:ext cx="1412346" cy="13233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4" name="表格 23"/>
          <p:cNvGraphicFramePr>
            <a:graphicFrameLocks noGrp="1"/>
          </p:cNvGraphicFramePr>
          <p:nvPr/>
        </p:nvGraphicFramePr>
        <p:xfrm>
          <a:off x="5336850" y="297228"/>
          <a:ext cx="42138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表格 23"/>
          <p:cNvGraphicFramePr>
            <a:graphicFrameLocks noGrp="1"/>
          </p:cNvGraphicFramePr>
          <p:nvPr/>
        </p:nvGraphicFramePr>
        <p:xfrm>
          <a:off x="5336850" y="1667132"/>
          <a:ext cx="42138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6" name="文字方塊 15"/>
          <p:cNvSpPr txBox="1"/>
          <p:nvPr/>
        </p:nvSpPr>
        <p:spPr>
          <a:xfrm rot="5400000">
            <a:off x="5282687" y="1115459"/>
            <a:ext cx="750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…...</a:t>
            </a:r>
            <a:endParaRPr lang="zh-TW" altLang="en-US" sz="2800" dirty="0"/>
          </a:p>
        </p:txBody>
      </p:sp>
      <p:graphicFrame>
        <p:nvGraphicFramePr>
          <p:cNvPr id="17" name="表格 23"/>
          <p:cNvGraphicFramePr>
            <a:graphicFrameLocks noGrp="1"/>
          </p:cNvGraphicFramePr>
          <p:nvPr/>
        </p:nvGraphicFramePr>
        <p:xfrm>
          <a:off x="5337374" y="2068164"/>
          <a:ext cx="42138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9" name="文字方塊 18"/>
          <p:cNvSpPr txBox="1"/>
          <p:nvPr/>
        </p:nvSpPr>
        <p:spPr>
          <a:xfrm rot="5400000">
            <a:off x="5283211" y="2886395"/>
            <a:ext cx="750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…</a:t>
            </a:r>
            <a:endParaRPr lang="zh-TW" altLang="en-US" sz="2800" dirty="0"/>
          </a:p>
        </p:txBody>
      </p:sp>
      <p:grpSp>
        <p:nvGrpSpPr>
          <p:cNvPr id="25" name="群組 24"/>
          <p:cNvGrpSpPr/>
          <p:nvPr/>
        </p:nvGrpSpPr>
        <p:grpSpPr>
          <a:xfrm>
            <a:off x="6924116" y="1335428"/>
            <a:ext cx="638175" cy="638175"/>
            <a:chOff x="8370546" y="1983114"/>
            <a:chExt cx="638175" cy="638175"/>
          </a:xfrm>
        </p:grpSpPr>
        <p:sp>
          <p:nvSpPr>
            <p:cNvPr id="26" name="橢圓 25"/>
            <p:cNvSpPr/>
            <p:nvPr/>
          </p:nvSpPr>
          <p:spPr>
            <a:xfrm>
              <a:off x="8370546" y="1983114"/>
              <a:ext cx="638175" cy="638175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手繪多邊形 108"/>
            <p:cNvSpPr/>
            <p:nvPr/>
          </p:nvSpPr>
          <p:spPr>
            <a:xfrm>
              <a:off x="8447407" y="2115472"/>
              <a:ext cx="469900" cy="354083"/>
            </a:xfrm>
            <a:custGeom>
              <a:avLst/>
              <a:gdLst>
                <a:gd name="connsiteX0" fmla="*/ 469900 w 469900"/>
                <a:gd name="connsiteY0" fmla="*/ 5192 h 354083"/>
                <a:gd name="connsiteX1" fmla="*/ 254000 w 469900"/>
                <a:gd name="connsiteY1" fmla="*/ 43292 h 354083"/>
                <a:gd name="connsiteX2" fmla="*/ 139700 w 469900"/>
                <a:gd name="connsiteY2" fmla="*/ 322692 h 354083"/>
                <a:gd name="connsiteX3" fmla="*/ 0 w 469900"/>
                <a:gd name="connsiteY3" fmla="*/ 335392 h 354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9900" h="354083">
                  <a:moveTo>
                    <a:pt x="469900" y="5192"/>
                  </a:moveTo>
                  <a:cubicBezTo>
                    <a:pt x="389466" y="-2217"/>
                    <a:pt x="309033" y="-9625"/>
                    <a:pt x="254000" y="43292"/>
                  </a:cubicBezTo>
                  <a:cubicBezTo>
                    <a:pt x="198967" y="96209"/>
                    <a:pt x="182033" y="274009"/>
                    <a:pt x="139700" y="322692"/>
                  </a:cubicBezTo>
                  <a:cubicBezTo>
                    <a:pt x="97367" y="371375"/>
                    <a:pt x="48683" y="353383"/>
                    <a:pt x="0" y="335392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cxnSp>
        <p:nvCxnSpPr>
          <p:cNvPr id="28" name="直線單箭頭接點 27"/>
          <p:cNvCxnSpPr/>
          <p:nvPr/>
        </p:nvCxnSpPr>
        <p:spPr>
          <a:xfrm>
            <a:off x="7576374" y="1639200"/>
            <a:ext cx="65890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>
            <a:endCxn id="26" idx="2"/>
          </p:cNvCxnSpPr>
          <p:nvPr/>
        </p:nvCxnSpPr>
        <p:spPr>
          <a:xfrm>
            <a:off x="5758239" y="478994"/>
            <a:ext cx="1165877" cy="117552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>
            <a:endCxn id="26" idx="2"/>
          </p:cNvCxnSpPr>
          <p:nvPr/>
        </p:nvCxnSpPr>
        <p:spPr>
          <a:xfrm>
            <a:off x="5763776" y="838230"/>
            <a:ext cx="1160340" cy="81628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>
            <a:endCxn id="26" idx="2"/>
          </p:cNvCxnSpPr>
          <p:nvPr/>
        </p:nvCxnSpPr>
        <p:spPr>
          <a:xfrm flipV="1">
            <a:off x="5763776" y="1654516"/>
            <a:ext cx="1160340" cy="19019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/>
          <p:cNvSpPr txBox="1"/>
          <p:nvPr/>
        </p:nvSpPr>
        <p:spPr>
          <a:xfrm>
            <a:off x="6664118" y="497214"/>
            <a:ext cx="11946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3 x 3 x 3 weights</a:t>
            </a:r>
            <a:endParaRPr lang="zh-TW" altLang="en-US" sz="2400" dirty="0"/>
          </a:p>
        </p:txBody>
      </p:sp>
      <p:cxnSp>
        <p:nvCxnSpPr>
          <p:cNvPr id="33" name="直線單箭頭接點 32"/>
          <p:cNvCxnSpPr/>
          <p:nvPr/>
        </p:nvCxnSpPr>
        <p:spPr>
          <a:xfrm flipV="1">
            <a:off x="7244044" y="1973603"/>
            <a:ext cx="0" cy="5878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 flipH="1">
            <a:off x="7094571" y="2606239"/>
            <a:ext cx="333714" cy="33371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  <a:endParaRPr lang="zh-TW" altLang="en-US" dirty="0"/>
          </a:p>
        </p:txBody>
      </p:sp>
      <p:cxnSp>
        <p:nvCxnSpPr>
          <p:cNvPr id="35" name="直線單箭頭接點 34"/>
          <p:cNvCxnSpPr>
            <a:endCxn id="26" idx="2"/>
          </p:cNvCxnSpPr>
          <p:nvPr/>
        </p:nvCxnSpPr>
        <p:spPr>
          <a:xfrm flipV="1">
            <a:off x="5753037" y="1654516"/>
            <a:ext cx="1171079" cy="58137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>
            <a:endCxn id="26" idx="2"/>
          </p:cNvCxnSpPr>
          <p:nvPr/>
        </p:nvCxnSpPr>
        <p:spPr>
          <a:xfrm flipV="1">
            <a:off x="5742298" y="1654516"/>
            <a:ext cx="1181818" cy="92572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字方塊 40"/>
          <p:cNvSpPr txBox="1"/>
          <p:nvPr/>
        </p:nvSpPr>
        <p:spPr>
          <a:xfrm>
            <a:off x="7431257" y="2066680"/>
            <a:ext cx="1194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bias</a:t>
            </a:r>
            <a:endParaRPr lang="zh-TW" altLang="en-US" sz="2400" dirty="0"/>
          </a:p>
        </p:txBody>
      </p:sp>
      <p:graphicFrame>
        <p:nvGraphicFramePr>
          <p:cNvPr id="42" name="表格 23"/>
          <p:cNvGraphicFramePr>
            <a:graphicFrameLocks noGrp="1"/>
          </p:cNvGraphicFramePr>
          <p:nvPr/>
        </p:nvGraphicFramePr>
        <p:xfrm>
          <a:off x="5337690" y="3634884"/>
          <a:ext cx="42138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" name="表格 23"/>
          <p:cNvGraphicFramePr>
            <a:graphicFrameLocks noGrp="1"/>
          </p:cNvGraphicFramePr>
          <p:nvPr/>
        </p:nvGraphicFramePr>
        <p:xfrm>
          <a:off x="5337690" y="5004788"/>
          <a:ext cx="42138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4" name="文字方塊 43"/>
          <p:cNvSpPr txBox="1"/>
          <p:nvPr/>
        </p:nvSpPr>
        <p:spPr>
          <a:xfrm rot="5400000">
            <a:off x="5283527" y="4453115"/>
            <a:ext cx="750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…...</a:t>
            </a:r>
            <a:endParaRPr lang="zh-TW" altLang="en-US" sz="2800" dirty="0"/>
          </a:p>
        </p:txBody>
      </p:sp>
      <p:graphicFrame>
        <p:nvGraphicFramePr>
          <p:cNvPr id="45" name="表格 23"/>
          <p:cNvGraphicFramePr>
            <a:graphicFrameLocks noGrp="1"/>
          </p:cNvGraphicFramePr>
          <p:nvPr/>
        </p:nvGraphicFramePr>
        <p:xfrm>
          <a:off x="5338214" y="5405820"/>
          <a:ext cx="42138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6" name="文字方塊 45"/>
          <p:cNvSpPr txBox="1"/>
          <p:nvPr/>
        </p:nvSpPr>
        <p:spPr>
          <a:xfrm rot="5400000">
            <a:off x="5284051" y="6224051"/>
            <a:ext cx="750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…</a:t>
            </a:r>
            <a:endParaRPr lang="zh-TW" altLang="en-US" sz="2800" dirty="0"/>
          </a:p>
        </p:txBody>
      </p:sp>
      <p:grpSp>
        <p:nvGrpSpPr>
          <p:cNvPr id="47" name="群組 46"/>
          <p:cNvGrpSpPr/>
          <p:nvPr/>
        </p:nvGrpSpPr>
        <p:grpSpPr>
          <a:xfrm>
            <a:off x="6924956" y="4673084"/>
            <a:ext cx="638175" cy="638175"/>
            <a:chOff x="8370546" y="1983114"/>
            <a:chExt cx="638175" cy="638175"/>
          </a:xfrm>
        </p:grpSpPr>
        <p:sp>
          <p:nvSpPr>
            <p:cNvPr id="48" name="橢圓 47"/>
            <p:cNvSpPr/>
            <p:nvPr/>
          </p:nvSpPr>
          <p:spPr>
            <a:xfrm>
              <a:off x="8370546" y="1983114"/>
              <a:ext cx="638175" cy="638175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" name="手繪多邊形 108"/>
            <p:cNvSpPr/>
            <p:nvPr/>
          </p:nvSpPr>
          <p:spPr>
            <a:xfrm>
              <a:off x="8447407" y="2115472"/>
              <a:ext cx="469900" cy="354083"/>
            </a:xfrm>
            <a:custGeom>
              <a:avLst/>
              <a:gdLst>
                <a:gd name="connsiteX0" fmla="*/ 469900 w 469900"/>
                <a:gd name="connsiteY0" fmla="*/ 5192 h 354083"/>
                <a:gd name="connsiteX1" fmla="*/ 254000 w 469900"/>
                <a:gd name="connsiteY1" fmla="*/ 43292 h 354083"/>
                <a:gd name="connsiteX2" fmla="*/ 139700 w 469900"/>
                <a:gd name="connsiteY2" fmla="*/ 322692 h 354083"/>
                <a:gd name="connsiteX3" fmla="*/ 0 w 469900"/>
                <a:gd name="connsiteY3" fmla="*/ 335392 h 354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9900" h="354083">
                  <a:moveTo>
                    <a:pt x="469900" y="5192"/>
                  </a:moveTo>
                  <a:cubicBezTo>
                    <a:pt x="389466" y="-2217"/>
                    <a:pt x="309033" y="-9625"/>
                    <a:pt x="254000" y="43292"/>
                  </a:cubicBezTo>
                  <a:cubicBezTo>
                    <a:pt x="198967" y="96209"/>
                    <a:pt x="182033" y="274009"/>
                    <a:pt x="139700" y="322692"/>
                  </a:cubicBezTo>
                  <a:cubicBezTo>
                    <a:pt x="97367" y="371375"/>
                    <a:pt x="48683" y="353383"/>
                    <a:pt x="0" y="335392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cxnSp>
        <p:nvCxnSpPr>
          <p:cNvPr id="50" name="直線單箭頭接點 49"/>
          <p:cNvCxnSpPr/>
          <p:nvPr/>
        </p:nvCxnSpPr>
        <p:spPr>
          <a:xfrm>
            <a:off x="7577214" y="4976856"/>
            <a:ext cx="65890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>
            <a:endCxn id="48" idx="2"/>
          </p:cNvCxnSpPr>
          <p:nvPr/>
        </p:nvCxnSpPr>
        <p:spPr>
          <a:xfrm>
            <a:off x="5759079" y="3816650"/>
            <a:ext cx="1165877" cy="117552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>
            <a:endCxn id="48" idx="2"/>
          </p:cNvCxnSpPr>
          <p:nvPr/>
        </p:nvCxnSpPr>
        <p:spPr>
          <a:xfrm>
            <a:off x="5764616" y="4175886"/>
            <a:ext cx="1160340" cy="81628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>
            <a:endCxn id="48" idx="2"/>
          </p:cNvCxnSpPr>
          <p:nvPr/>
        </p:nvCxnSpPr>
        <p:spPr>
          <a:xfrm flipV="1">
            <a:off x="5764616" y="4992172"/>
            <a:ext cx="1160340" cy="19019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字方塊 53"/>
          <p:cNvSpPr txBox="1"/>
          <p:nvPr/>
        </p:nvSpPr>
        <p:spPr>
          <a:xfrm>
            <a:off x="6638617" y="3790194"/>
            <a:ext cx="11946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3 x 3 x 3 weights</a:t>
            </a:r>
            <a:endParaRPr lang="zh-TW" altLang="en-US" sz="2400" dirty="0"/>
          </a:p>
        </p:txBody>
      </p:sp>
      <p:cxnSp>
        <p:nvCxnSpPr>
          <p:cNvPr id="55" name="直線單箭頭接點 54"/>
          <p:cNvCxnSpPr/>
          <p:nvPr/>
        </p:nvCxnSpPr>
        <p:spPr>
          <a:xfrm flipV="1">
            <a:off x="7244884" y="5311259"/>
            <a:ext cx="0" cy="5878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 flipH="1">
            <a:off x="7095411" y="5943895"/>
            <a:ext cx="333714" cy="33371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  <a:endParaRPr lang="zh-TW" altLang="en-US" dirty="0"/>
          </a:p>
        </p:txBody>
      </p:sp>
      <p:cxnSp>
        <p:nvCxnSpPr>
          <p:cNvPr id="57" name="直線單箭頭接點 56"/>
          <p:cNvCxnSpPr>
            <a:endCxn id="48" idx="2"/>
          </p:cNvCxnSpPr>
          <p:nvPr/>
        </p:nvCxnSpPr>
        <p:spPr>
          <a:xfrm flipV="1">
            <a:off x="5753877" y="4992172"/>
            <a:ext cx="1171079" cy="58137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單箭頭接點 57"/>
          <p:cNvCxnSpPr>
            <a:endCxn id="48" idx="2"/>
          </p:cNvCxnSpPr>
          <p:nvPr/>
        </p:nvCxnSpPr>
        <p:spPr>
          <a:xfrm flipV="1">
            <a:off x="5743138" y="4992172"/>
            <a:ext cx="1181818" cy="92572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字方塊 58"/>
          <p:cNvSpPr txBox="1"/>
          <p:nvPr/>
        </p:nvSpPr>
        <p:spPr>
          <a:xfrm>
            <a:off x="7432097" y="5404336"/>
            <a:ext cx="1194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bias</a:t>
            </a:r>
            <a:endParaRPr lang="zh-TW" altLang="en-US" sz="2400" dirty="0"/>
          </a:p>
        </p:txBody>
      </p:sp>
      <p:cxnSp>
        <p:nvCxnSpPr>
          <p:cNvPr id="60" name="直線接點 59"/>
          <p:cNvCxnSpPr/>
          <p:nvPr/>
        </p:nvCxnSpPr>
        <p:spPr>
          <a:xfrm flipV="1">
            <a:off x="1525639" y="2129316"/>
            <a:ext cx="0" cy="581230"/>
          </a:xfrm>
          <a:prstGeom prst="line">
            <a:avLst/>
          </a:prstGeom>
          <a:ln w="571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/>
          <p:cNvCxnSpPr/>
          <p:nvPr/>
        </p:nvCxnSpPr>
        <p:spPr>
          <a:xfrm>
            <a:off x="1522333" y="2100288"/>
            <a:ext cx="3688296" cy="0"/>
          </a:xfrm>
          <a:prstGeom prst="line">
            <a:avLst/>
          </a:prstGeom>
          <a:ln w="57150">
            <a:solidFill>
              <a:srgbClr val="FF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/>
          <p:cNvCxnSpPr/>
          <p:nvPr/>
        </p:nvCxnSpPr>
        <p:spPr>
          <a:xfrm>
            <a:off x="2764638" y="4510475"/>
            <a:ext cx="2445991" cy="0"/>
          </a:xfrm>
          <a:prstGeom prst="line">
            <a:avLst/>
          </a:prstGeom>
          <a:ln w="57150">
            <a:solidFill>
              <a:srgbClr val="FF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/>
          <p:cNvSpPr/>
          <p:nvPr/>
        </p:nvSpPr>
        <p:spPr>
          <a:xfrm>
            <a:off x="5223350" y="3075705"/>
            <a:ext cx="2707927" cy="461665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parameter </a:t>
            </a:r>
            <a:r>
              <a:rPr kumimoji="0" lang="en-US" altLang="zh-TW" sz="24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sharing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69" name="投影片編號版面配置區 6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</a:fld>
            <a:endParaRPr lang="zh-TW" altLang="en-US"/>
          </a:p>
        </p:txBody>
      </p:sp>
      <p:sp>
        <p:nvSpPr>
          <p:cNvPr id="3" name="箭號: 向右 2"/>
          <p:cNvSpPr/>
          <p:nvPr/>
        </p:nvSpPr>
        <p:spPr>
          <a:xfrm rot="5400000">
            <a:off x="6212937" y="2572404"/>
            <a:ext cx="445978" cy="46165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箭號: 向右 62"/>
          <p:cNvSpPr/>
          <p:nvPr/>
        </p:nvSpPr>
        <p:spPr>
          <a:xfrm rot="16200000" flipV="1">
            <a:off x="6210303" y="3611309"/>
            <a:ext cx="445978" cy="46165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3" grpId="0" animBg="1"/>
      <p:bldP spid="6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Simplification 2</a:t>
            </a:r>
            <a:endParaRPr lang="zh-TW" altLang="en-US" dirty="0"/>
          </a:p>
        </p:txBody>
      </p:sp>
      <p:graphicFrame>
        <p:nvGraphicFramePr>
          <p:cNvPr id="14" name="表格 23"/>
          <p:cNvGraphicFramePr>
            <a:graphicFrameLocks noGrp="1"/>
          </p:cNvGraphicFramePr>
          <p:nvPr/>
        </p:nvGraphicFramePr>
        <p:xfrm>
          <a:off x="5336850" y="297228"/>
          <a:ext cx="42138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表格 23"/>
          <p:cNvGraphicFramePr>
            <a:graphicFrameLocks noGrp="1"/>
          </p:cNvGraphicFramePr>
          <p:nvPr/>
        </p:nvGraphicFramePr>
        <p:xfrm>
          <a:off x="5336850" y="1667132"/>
          <a:ext cx="42138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6" name="文字方塊 15"/>
          <p:cNvSpPr txBox="1"/>
          <p:nvPr/>
        </p:nvSpPr>
        <p:spPr>
          <a:xfrm rot="5400000">
            <a:off x="5282687" y="1115459"/>
            <a:ext cx="750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…...</a:t>
            </a:r>
            <a:endParaRPr lang="zh-TW" altLang="en-US" sz="2800" dirty="0"/>
          </a:p>
        </p:txBody>
      </p:sp>
      <p:graphicFrame>
        <p:nvGraphicFramePr>
          <p:cNvPr id="17" name="表格 23"/>
          <p:cNvGraphicFramePr>
            <a:graphicFrameLocks noGrp="1"/>
          </p:cNvGraphicFramePr>
          <p:nvPr/>
        </p:nvGraphicFramePr>
        <p:xfrm>
          <a:off x="5337374" y="2068164"/>
          <a:ext cx="42138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9" name="文字方塊 18"/>
          <p:cNvSpPr txBox="1"/>
          <p:nvPr/>
        </p:nvSpPr>
        <p:spPr>
          <a:xfrm rot="5400000">
            <a:off x="5283211" y="2886395"/>
            <a:ext cx="750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…</a:t>
            </a:r>
            <a:endParaRPr lang="zh-TW" altLang="en-US" sz="2800" dirty="0"/>
          </a:p>
        </p:txBody>
      </p:sp>
      <p:grpSp>
        <p:nvGrpSpPr>
          <p:cNvPr id="25" name="群組 24"/>
          <p:cNvGrpSpPr/>
          <p:nvPr/>
        </p:nvGrpSpPr>
        <p:grpSpPr>
          <a:xfrm>
            <a:off x="6924116" y="1335428"/>
            <a:ext cx="638175" cy="638175"/>
            <a:chOff x="8370546" y="1983114"/>
            <a:chExt cx="638175" cy="638175"/>
          </a:xfrm>
        </p:grpSpPr>
        <p:sp>
          <p:nvSpPr>
            <p:cNvPr id="26" name="橢圓 25"/>
            <p:cNvSpPr/>
            <p:nvPr/>
          </p:nvSpPr>
          <p:spPr>
            <a:xfrm>
              <a:off x="8370546" y="1983114"/>
              <a:ext cx="638175" cy="638175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手繪多邊形 108"/>
            <p:cNvSpPr/>
            <p:nvPr/>
          </p:nvSpPr>
          <p:spPr>
            <a:xfrm>
              <a:off x="8447407" y="2115472"/>
              <a:ext cx="469900" cy="354083"/>
            </a:xfrm>
            <a:custGeom>
              <a:avLst/>
              <a:gdLst>
                <a:gd name="connsiteX0" fmla="*/ 469900 w 469900"/>
                <a:gd name="connsiteY0" fmla="*/ 5192 h 354083"/>
                <a:gd name="connsiteX1" fmla="*/ 254000 w 469900"/>
                <a:gd name="connsiteY1" fmla="*/ 43292 h 354083"/>
                <a:gd name="connsiteX2" fmla="*/ 139700 w 469900"/>
                <a:gd name="connsiteY2" fmla="*/ 322692 h 354083"/>
                <a:gd name="connsiteX3" fmla="*/ 0 w 469900"/>
                <a:gd name="connsiteY3" fmla="*/ 335392 h 354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9900" h="354083">
                  <a:moveTo>
                    <a:pt x="469900" y="5192"/>
                  </a:moveTo>
                  <a:cubicBezTo>
                    <a:pt x="389466" y="-2217"/>
                    <a:pt x="309033" y="-9625"/>
                    <a:pt x="254000" y="43292"/>
                  </a:cubicBezTo>
                  <a:cubicBezTo>
                    <a:pt x="198967" y="96209"/>
                    <a:pt x="182033" y="274009"/>
                    <a:pt x="139700" y="322692"/>
                  </a:cubicBezTo>
                  <a:cubicBezTo>
                    <a:pt x="97367" y="371375"/>
                    <a:pt x="48683" y="353383"/>
                    <a:pt x="0" y="335392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cxnSp>
        <p:nvCxnSpPr>
          <p:cNvPr id="28" name="直線單箭頭接點 27"/>
          <p:cNvCxnSpPr/>
          <p:nvPr/>
        </p:nvCxnSpPr>
        <p:spPr>
          <a:xfrm>
            <a:off x="7576374" y="1639200"/>
            <a:ext cx="65890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>
            <a:endCxn id="26" idx="2"/>
          </p:cNvCxnSpPr>
          <p:nvPr/>
        </p:nvCxnSpPr>
        <p:spPr>
          <a:xfrm>
            <a:off x="5758239" y="478994"/>
            <a:ext cx="1165877" cy="117552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>
            <a:endCxn id="26" idx="2"/>
          </p:cNvCxnSpPr>
          <p:nvPr/>
        </p:nvCxnSpPr>
        <p:spPr>
          <a:xfrm>
            <a:off x="5763776" y="838230"/>
            <a:ext cx="1160340" cy="816286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>
            <a:endCxn id="26" idx="2"/>
          </p:cNvCxnSpPr>
          <p:nvPr/>
        </p:nvCxnSpPr>
        <p:spPr>
          <a:xfrm flipV="1">
            <a:off x="5763776" y="1654516"/>
            <a:ext cx="1160340" cy="19019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/>
          <p:nvPr/>
        </p:nvCxnSpPr>
        <p:spPr>
          <a:xfrm flipV="1">
            <a:off x="7244044" y="1973603"/>
            <a:ext cx="0" cy="5878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 flipH="1">
            <a:off x="7094571" y="2606239"/>
            <a:ext cx="333714" cy="33371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  <a:endParaRPr lang="zh-TW" altLang="en-US" dirty="0"/>
          </a:p>
        </p:txBody>
      </p:sp>
      <p:cxnSp>
        <p:nvCxnSpPr>
          <p:cNvPr id="35" name="直線單箭頭接點 34"/>
          <p:cNvCxnSpPr>
            <a:endCxn id="26" idx="2"/>
          </p:cNvCxnSpPr>
          <p:nvPr/>
        </p:nvCxnSpPr>
        <p:spPr>
          <a:xfrm flipV="1">
            <a:off x="5753037" y="1654516"/>
            <a:ext cx="1171079" cy="581372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>
            <a:endCxn id="26" idx="2"/>
          </p:cNvCxnSpPr>
          <p:nvPr/>
        </p:nvCxnSpPr>
        <p:spPr>
          <a:xfrm flipV="1">
            <a:off x="5742298" y="1654516"/>
            <a:ext cx="1181818" cy="925722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字方塊 40"/>
          <p:cNvSpPr txBox="1"/>
          <p:nvPr/>
        </p:nvSpPr>
        <p:spPr>
          <a:xfrm>
            <a:off x="7431257" y="2066680"/>
            <a:ext cx="1194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bias</a:t>
            </a:r>
            <a:endParaRPr lang="zh-TW" altLang="en-US" sz="2400" dirty="0"/>
          </a:p>
        </p:txBody>
      </p:sp>
      <p:graphicFrame>
        <p:nvGraphicFramePr>
          <p:cNvPr id="42" name="表格 23"/>
          <p:cNvGraphicFramePr>
            <a:graphicFrameLocks noGrp="1"/>
          </p:cNvGraphicFramePr>
          <p:nvPr/>
        </p:nvGraphicFramePr>
        <p:xfrm>
          <a:off x="5337690" y="3634884"/>
          <a:ext cx="42138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" name="表格 23"/>
          <p:cNvGraphicFramePr>
            <a:graphicFrameLocks noGrp="1"/>
          </p:cNvGraphicFramePr>
          <p:nvPr/>
        </p:nvGraphicFramePr>
        <p:xfrm>
          <a:off x="5337690" y="5004788"/>
          <a:ext cx="42138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4" name="文字方塊 43"/>
          <p:cNvSpPr txBox="1"/>
          <p:nvPr/>
        </p:nvSpPr>
        <p:spPr>
          <a:xfrm rot="5400000">
            <a:off x="5283527" y="4453115"/>
            <a:ext cx="750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…...</a:t>
            </a:r>
            <a:endParaRPr lang="zh-TW" altLang="en-US" sz="2800" dirty="0"/>
          </a:p>
        </p:txBody>
      </p:sp>
      <p:graphicFrame>
        <p:nvGraphicFramePr>
          <p:cNvPr id="45" name="表格 23"/>
          <p:cNvGraphicFramePr>
            <a:graphicFrameLocks noGrp="1"/>
          </p:cNvGraphicFramePr>
          <p:nvPr/>
        </p:nvGraphicFramePr>
        <p:xfrm>
          <a:off x="5338214" y="5405820"/>
          <a:ext cx="42138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6" name="文字方塊 45"/>
          <p:cNvSpPr txBox="1"/>
          <p:nvPr/>
        </p:nvSpPr>
        <p:spPr>
          <a:xfrm rot="5400000">
            <a:off x="5284051" y="6224051"/>
            <a:ext cx="750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…</a:t>
            </a:r>
            <a:endParaRPr lang="zh-TW" altLang="en-US" sz="2800" dirty="0"/>
          </a:p>
        </p:txBody>
      </p:sp>
      <p:grpSp>
        <p:nvGrpSpPr>
          <p:cNvPr id="47" name="群組 46"/>
          <p:cNvGrpSpPr/>
          <p:nvPr/>
        </p:nvGrpSpPr>
        <p:grpSpPr>
          <a:xfrm>
            <a:off x="6924956" y="4673084"/>
            <a:ext cx="638175" cy="638175"/>
            <a:chOff x="8370546" y="1983114"/>
            <a:chExt cx="638175" cy="638175"/>
          </a:xfrm>
        </p:grpSpPr>
        <p:sp>
          <p:nvSpPr>
            <p:cNvPr id="48" name="橢圓 47"/>
            <p:cNvSpPr/>
            <p:nvPr/>
          </p:nvSpPr>
          <p:spPr>
            <a:xfrm>
              <a:off x="8370546" y="1983114"/>
              <a:ext cx="638175" cy="638175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" name="手繪多邊形 108"/>
            <p:cNvSpPr/>
            <p:nvPr/>
          </p:nvSpPr>
          <p:spPr>
            <a:xfrm>
              <a:off x="8447407" y="2115472"/>
              <a:ext cx="469900" cy="354083"/>
            </a:xfrm>
            <a:custGeom>
              <a:avLst/>
              <a:gdLst>
                <a:gd name="connsiteX0" fmla="*/ 469900 w 469900"/>
                <a:gd name="connsiteY0" fmla="*/ 5192 h 354083"/>
                <a:gd name="connsiteX1" fmla="*/ 254000 w 469900"/>
                <a:gd name="connsiteY1" fmla="*/ 43292 h 354083"/>
                <a:gd name="connsiteX2" fmla="*/ 139700 w 469900"/>
                <a:gd name="connsiteY2" fmla="*/ 322692 h 354083"/>
                <a:gd name="connsiteX3" fmla="*/ 0 w 469900"/>
                <a:gd name="connsiteY3" fmla="*/ 335392 h 354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9900" h="354083">
                  <a:moveTo>
                    <a:pt x="469900" y="5192"/>
                  </a:moveTo>
                  <a:cubicBezTo>
                    <a:pt x="389466" y="-2217"/>
                    <a:pt x="309033" y="-9625"/>
                    <a:pt x="254000" y="43292"/>
                  </a:cubicBezTo>
                  <a:cubicBezTo>
                    <a:pt x="198967" y="96209"/>
                    <a:pt x="182033" y="274009"/>
                    <a:pt x="139700" y="322692"/>
                  </a:cubicBezTo>
                  <a:cubicBezTo>
                    <a:pt x="97367" y="371375"/>
                    <a:pt x="48683" y="353383"/>
                    <a:pt x="0" y="335392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cxnSp>
        <p:nvCxnSpPr>
          <p:cNvPr id="50" name="直線單箭頭接點 49"/>
          <p:cNvCxnSpPr/>
          <p:nvPr/>
        </p:nvCxnSpPr>
        <p:spPr>
          <a:xfrm>
            <a:off x="7577214" y="4976856"/>
            <a:ext cx="65890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>
            <a:endCxn id="48" idx="2"/>
          </p:cNvCxnSpPr>
          <p:nvPr/>
        </p:nvCxnSpPr>
        <p:spPr>
          <a:xfrm>
            <a:off x="5759079" y="3816650"/>
            <a:ext cx="1165877" cy="117552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>
            <a:endCxn id="48" idx="2"/>
          </p:cNvCxnSpPr>
          <p:nvPr/>
        </p:nvCxnSpPr>
        <p:spPr>
          <a:xfrm>
            <a:off x="5764616" y="4175886"/>
            <a:ext cx="1160340" cy="816286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>
            <a:endCxn id="48" idx="2"/>
          </p:cNvCxnSpPr>
          <p:nvPr/>
        </p:nvCxnSpPr>
        <p:spPr>
          <a:xfrm flipV="1">
            <a:off x="5764616" y="4992172"/>
            <a:ext cx="1160340" cy="19019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/>
          <p:cNvCxnSpPr/>
          <p:nvPr/>
        </p:nvCxnSpPr>
        <p:spPr>
          <a:xfrm flipV="1">
            <a:off x="7244884" y="5311259"/>
            <a:ext cx="0" cy="5878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 flipH="1">
            <a:off x="7095411" y="5943895"/>
            <a:ext cx="333714" cy="33371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  <a:endParaRPr lang="zh-TW" altLang="en-US" dirty="0"/>
          </a:p>
        </p:txBody>
      </p:sp>
      <p:cxnSp>
        <p:nvCxnSpPr>
          <p:cNvPr id="57" name="直線單箭頭接點 56"/>
          <p:cNvCxnSpPr>
            <a:endCxn id="48" idx="2"/>
          </p:cNvCxnSpPr>
          <p:nvPr/>
        </p:nvCxnSpPr>
        <p:spPr>
          <a:xfrm flipV="1">
            <a:off x="5753877" y="4992172"/>
            <a:ext cx="1171079" cy="581372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單箭頭接點 57"/>
          <p:cNvCxnSpPr>
            <a:endCxn id="48" idx="2"/>
          </p:cNvCxnSpPr>
          <p:nvPr/>
        </p:nvCxnSpPr>
        <p:spPr>
          <a:xfrm flipV="1">
            <a:off x="5743138" y="4992172"/>
            <a:ext cx="1181818" cy="925722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字方塊 58"/>
          <p:cNvSpPr txBox="1"/>
          <p:nvPr/>
        </p:nvSpPr>
        <p:spPr>
          <a:xfrm>
            <a:off x="7432097" y="5404336"/>
            <a:ext cx="1194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bias</a:t>
            </a:r>
            <a:endParaRPr lang="zh-TW" alt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字方塊 2"/>
              <p:cNvSpPr txBox="1"/>
              <p:nvPr/>
            </p:nvSpPr>
            <p:spPr>
              <a:xfrm>
                <a:off x="6329776" y="679469"/>
                <a:ext cx="42184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9776" y="679469"/>
                <a:ext cx="421847" cy="369332"/>
              </a:xfrm>
              <a:prstGeom prst="rect">
                <a:avLst/>
              </a:prstGeom>
              <a:blipFill rotWithShape="1">
                <a:blip r:embed="rId1"/>
                <a:stretch>
                  <a:fillRect l="-23" t="-5" r="-9863" b="1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文字方塊 62"/>
              <p:cNvSpPr txBox="1"/>
              <p:nvPr/>
            </p:nvSpPr>
            <p:spPr>
              <a:xfrm>
                <a:off x="6284915" y="4030031"/>
                <a:ext cx="42184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3" name="文字方塊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4915" y="4030031"/>
                <a:ext cx="421847" cy="369332"/>
              </a:xfrm>
              <a:prstGeom prst="rect">
                <a:avLst/>
              </a:prstGeom>
              <a:blipFill rotWithShape="1">
                <a:blip r:embed="rId1"/>
                <a:stretch>
                  <a:fillRect l="-76" t="-87" r="-9810" b="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文字方塊 63"/>
              <p:cNvSpPr txBox="1"/>
              <p:nvPr/>
            </p:nvSpPr>
            <p:spPr>
              <a:xfrm>
                <a:off x="5867535" y="1078668"/>
                <a:ext cx="42896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rgbClr val="FFC000"/>
                  </a:solidFill>
                </a:endParaRPr>
              </a:p>
            </p:txBody>
          </p:sp>
        </mc:Choice>
        <mc:Fallback>
          <p:sp>
            <p:nvSpPr>
              <p:cNvPr id="64" name="文字方塊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535" y="1078668"/>
                <a:ext cx="428964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31" t="-119" r="-8919" b="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" name="文字方塊 64"/>
              <p:cNvSpPr txBox="1"/>
              <p:nvPr/>
            </p:nvSpPr>
            <p:spPr>
              <a:xfrm>
                <a:off x="5891684" y="4482232"/>
                <a:ext cx="42896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rgbClr val="FFC000"/>
                  </a:solidFill>
                </a:endParaRPr>
              </a:p>
            </p:txBody>
          </p:sp>
        </mc:Choice>
        <mc:Fallback>
          <p:sp>
            <p:nvSpPr>
              <p:cNvPr id="65" name="文字方塊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1684" y="4482232"/>
                <a:ext cx="428964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36" t="-109" r="-8915" b="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" name="文字方塊 65"/>
              <p:cNvSpPr txBox="1"/>
              <p:nvPr/>
            </p:nvSpPr>
            <p:spPr>
              <a:xfrm>
                <a:off x="4946729" y="211109"/>
                <a:ext cx="36490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6" name="文字方塊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6729" y="211109"/>
                <a:ext cx="364907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22" t="-78" r="-10479" b="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文字方塊 66"/>
              <p:cNvSpPr txBox="1"/>
              <p:nvPr/>
            </p:nvSpPr>
            <p:spPr>
              <a:xfrm>
                <a:off x="4933416" y="606700"/>
                <a:ext cx="3720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7" name="文字方塊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3416" y="606700"/>
                <a:ext cx="372025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27" t="-74" r="-9384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" name="文字方塊 67"/>
              <p:cNvSpPr txBox="1"/>
              <p:nvPr/>
            </p:nvSpPr>
            <p:spPr>
              <a:xfrm>
                <a:off x="4950357" y="3616119"/>
                <a:ext cx="3649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8" name="文字方塊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0357" y="3616119"/>
                <a:ext cx="364908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146" t="-116" r="-10355" b="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" name="文字方塊 68"/>
              <p:cNvSpPr txBox="1"/>
              <p:nvPr/>
            </p:nvSpPr>
            <p:spPr>
              <a:xfrm>
                <a:off x="4950357" y="4011451"/>
                <a:ext cx="3720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9" name="文字方塊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0357" y="4011451"/>
                <a:ext cx="372025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143" t="-42" r="-9268" b="1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字方塊 12"/>
              <p:cNvSpPr txBox="1"/>
              <p:nvPr/>
            </p:nvSpPr>
            <p:spPr>
              <a:xfrm>
                <a:off x="6092946" y="189918"/>
                <a:ext cx="293869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sz="24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4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+…</m:t>
                          </m:r>
                          <m:r>
                            <m:rPr>
                              <m:nor/>
                            </m:rPr>
                            <a:rPr lang="zh-TW" altLang="en-US" sz="2400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2946" y="189918"/>
                <a:ext cx="2938690" cy="369332"/>
              </a:xfrm>
              <a:prstGeom prst="rect">
                <a:avLst/>
              </a:prstGeom>
              <a:blipFill rotWithShape="1">
                <a:blip r:embed="rId7"/>
                <a:stretch>
                  <a:fillRect l="-4" t="-14" r="1" b="1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文字方塊 69"/>
              <p:cNvSpPr txBox="1"/>
              <p:nvPr/>
            </p:nvSpPr>
            <p:spPr>
              <a:xfrm>
                <a:off x="6151867" y="3619265"/>
                <a:ext cx="293869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sz="24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4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+…</m:t>
                          </m:r>
                          <m:r>
                            <m:rPr>
                              <m:nor/>
                            </m:rPr>
                            <a:rPr lang="zh-TW" altLang="en-US" sz="2400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70" name="文字方塊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1867" y="3619265"/>
                <a:ext cx="2938690" cy="369332"/>
              </a:xfrm>
              <a:prstGeom prst="rect">
                <a:avLst/>
              </a:prstGeom>
              <a:blipFill rotWithShape="1">
                <a:blip r:embed="rId8"/>
                <a:stretch>
                  <a:fillRect l="-21" t="-108" r="18" b="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字方塊 17"/>
          <p:cNvSpPr txBox="1"/>
          <p:nvPr/>
        </p:nvSpPr>
        <p:spPr>
          <a:xfrm>
            <a:off x="249604" y="5703355"/>
            <a:ext cx="52908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Two neurons with the same receptive field would not share parameters.</a:t>
            </a:r>
            <a:endParaRPr lang="zh-TW" altLang="en-US" sz="2400" dirty="0"/>
          </a:p>
        </p:txBody>
      </p:sp>
      <p:graphicFrame>
        <p:nvGraphicFramePr>
          <p:cNvPr id="71" name="內容版面配置區 3"/>
          <p:cNvGraphicFramePr/>
          <p:nvPr/>
        </p:nvGraphicFramePr>
        <p:xfrm>
          <a:off x="674229" y="2547035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/>
                <a:gridCol w="478995"/>
                <a:gridCol w="478995"/>
                <a:gridCol w="478995"/>
                <a:gridCol w="478995"/>
                <a:gridCol w="47899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en-US" altLang="zh-TW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2" name="矩形 71"/>
          <p:cNvSpPr/>
          <p:nvPr/>
        </p:nvSpPr>
        <p:spPr>
          <a:xfrm>
            <a:off x="698868" y="2584673"/>
            <a:ext cx="1412346" cy="13233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73" name="內容版面配置區 3"/>
          <p:cNvGraphicFramePr/>
          <p:nvPr/>
        </p:nvGraphicFramePr>
        <p:xfrm>
          <a:off x="829351" y="2710546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/>
                <a:gridCol w="478995"/>
                <a:gridCol w="478995"/>
                <a:gridCol w="478995"/>
                <a:gridCol w="478995"/>
                <a:gridCol w="47899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en-US" altLang="zh-TW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4" name="內容版面配置區 3"/>
          <p:cNvGraphicFramePr/>
          <p:nvPr/>
        </p:nvGraphicFramePr>
        <p:xfrm>
          <a:off x="1013572" y="2852961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/>
                <a:gridCol w="478995"/>
                <a:gridCol w="478995"/>
                <a:gridCol w="478995"/>
                <a:gridCol w="478995"/>
                <a:gridCol w="47899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en-US" altLang="zh-TW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5" name="矩形 74"/>
          <p:cNvSpPr/>
          <p:nvPr/>
        </p:nvSpPr>
        <p:spPr>
          <a:xfrm>
            <a:off x="1028086" y="2881989"/>
            <a:ext cx="1412346" cy="13233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6" name="直線接點 75"/>
          <p:cNvCxnSpPr/>
          <p:nvPr/>
        </p:nvCxnSpPr>
        <p:spPr>
          <a:xfrm>
            <a:off x="674229" y="3893460"/>
            <a:ext cx="339343" cy="316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/>
          <p:cNvCxnSpPr/>
          <p:nvPr/>
        </p:nvCxnSpPr>
        <p:spPr>
          <a:xfrm>
            <a:off x="2087177" y="2547035"/>
            <a:ext cx="339343" cy="316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接點 77"/>
          <p:cNvCxnSpPr/>
          <p:nvPr/>
        </p:nvCxnSpPr>
        <p:spPr>
          <a:xfrm>
            <a:off x="698868" y="2604828"/>
            <a:ext cx="339343" cy="316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矩形 78"/>
          <p:cNvSpPr/>
          <p:nvPr/>
        </p:nvSpPr>
        <p:spPr>
          <a:xfrm>
            <a:off x="1942283" y="3751830"/>
            <a:ext cx="1412346" cy="13233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0" name="直線接點 79"/>
          <p:cNvCxnSpPr/>
          <p:nvPr/>
        </p:nvCxnSpPr>
        <p:spPr>
          <a:xfrm flipV="1">
            <a:off x="1525639" y="2129316"/>
            <a:ext cx="0" cy="581230"/>
          </a:xfrm>
          <a:prstGeom prst="line">
            <a:avLst/>
          </a:prstGeom>
          <a:ln w="571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>
            <a:off x="1522333" y="2100288"/>
            <a:ext cx="3688296" cy="0"/>
          </a:xfrm>
          <a:prstGeom prst="line">
            <a:avLst/>
          </a:prstGeom>
          <a:ln w="57150">
            <a:solidFill>
              <a:srgbClr val="FF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/>
          <p:cNvCxnSpPr/>
          <p:nvPr/>
        </p:nvCxnSpPr>
        <p:spPr>
          <a:xfrm>
            <a:off x="2764638" y="4510475"/>
            <a:ext cx="2445991" cy="0"/>
          </a:xfrm>
          <a:prstGeom prst="line">
            <a:avLst/>
          </a:prstGeom>
          <a:ln w="57150">
            <a:solidFill>
              <a:srgbClr val="FF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投影片編號版面配置區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13" grpId="0"/>
      <p:bldP spid="70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Simplification 2 – Typical Setting 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/>
          <p:nvPr/>
        </p:nvGraphicFramePr>
        <p:xfrm>
          <a:off x="3084250" y="3264358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/>
                <a:gridCol w="478995"/>
                <a:gridCol w="478995"/>
                <a:gridCol w="478995"/>
                <a:gridCol w="478995"/>
                <a:gridCol w="47899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en-US" altLang="zh-TW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3108889" y="3301996"/>
            <a:ext cx="1412346" cy="13233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8" name="內容版面配置區 3"/>
          <p:cNvGraphicFramePr/>
          <p:nvPr/>
        </p:nvGraphicFramePr>
        <p:xfrm>
          <a:off x="3239372" y="3427869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/>
                <a:gridCol w="478995"/>
                <a:gridCol w="478995"/>
                <a:gridCol w="478995"/>
                <a:gridCol w="478995"/>
                <a:gridCol w="47899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en-US" altLang="zh-TW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內容版面配置區 3"/>
          <p:cNvGraphicFramePr/>
          <p:nvPr/>
        </p:nvGraphicFramePr>
        <p:xfrm>
          <a:off x="3423593" y="3570284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/>
                <a:gridCol w="478995"/>
                <a:gridCol w="478995"/>
                <a:gridCol w="478995"/>
                <a:gridCol w="478995"/>
                <a:gridCol w="47899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en-US" altLang="zh-TW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0" name="矩形 9"/>
          <p:cNvSpPr/>
          <p:nvPr/>
        </p:nvSpPr>
        <p:spPr>
          <a:xfrm>
            <a:off x="3438107" y="3599312"/>
            <a:ext cx="1412346" cy="13233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/>
          <p:cNvCxnSpPr/>
          <p:nvPr/>
        </p:nvCxnSpPr>
        <p:spPr>
          <a:xfrm>
            <a:off x="3084250" y="4610783"/>
            <a:ext cx="339343" cy="316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3108889" y="3322151"/>
            <a:ext cx="339343" cy="316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/>
          <p:cNvSpPr txBox="1"/>
          <p:nvPr/>
        </p:nvSpPr>
        <p:spPr>
          <a:xfrm>
            <a:off x="783933" y="1853324"/>
            <a:ext cx="7625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Each receptive field has a set of neurons (e.g., 64 neurons).  </a:t>
            </a:r>
            <a:endParaRPr lang="zh-TW" altLang="en-US" sz="2400" dirty="0"/>
          </a:p>
        </p:txBody>
      </p:sp>
      <p:cxnSp>
        <p:nvCxnSpPr>
          <p:cNvPr id="33" name="直線接點 32"/>
          <p:cNvCxnSpPr/>
          <p:nvPr/>
        </p:nvCxnSpPr>
        <p:spPr>
          <a:xfrm>
            <a:off x="4528239" y="3302702"/>
            <a:ext cx="339343" cy="316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4368946" y="4506119"/>
            <a:ext cx="1412346" cy="13233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橢圓 36"/>
          <p:cNvSpPr/>
          <p:nvPr/>
        </p:nvSpPr>
        <p:spPr>
          <a:xfrm>
            <a:off x="1471721" y="3411799"/>
            <a:ext cx="343327" cy="34332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橢圓 37"/>
          <p:cNvSpPr/>
          <p:nvPr/>
        </p:nvSpPr>
        <p:spPr>
          <a:xfrm>
            <a:off x="1475601" y="3909741"/>
            <a:ext cx="343327" cy="34332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橢圓 38"/>
          <p:cNvSpPr/>
          <p:nvPr/>
        </p:nvSpPr>
        <p:spPr>
          <a:xfrm>
            <a:off x="1471721" y="4391224"/>
            <a:ext cx="343327" cy="34332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橢圓 39"/>
          <p:cNvSpPr/>
          <p:nvPr/>
        </p:nvSpPr>
        <p:spPr>
          <a:xfrm>
            <a:off x="1475835" y="4890340"/>
            <a:ext cx="343327" cy="34332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 rot="5400000">
            <a:off x="1178203" y="5608155"/>
            <a:ext cx="11596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42" name="橢圓 41"/>
          <p:cNvSpPr/>
          <p:nvPr/>
        </p:nvSpPr>
        <p:spPr>
          <a:xfrm>
            <a:off x="7362161" y="3411678"/>
            <a:ext cx="343327" cy="34332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橢圓 42"/>
          <p:cNvSpPr/>
          <p:nvPr/>
        </p:nvSpPr>
        <p:spPr>
          <a:xfrm>
            <a:off x="7366041" y="3909620"/>
            <a:ext cx="343327" cy="34332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橢圓 43"/>
          <p:cNvSpPr/>
          <p:nvPr/>
        </p:nvSpPr>
        <p:spPr>
          <a:xfrm>
            <a:off x="7362161" y="4391103"/>
            <a:ext cx="343327" cy="34332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橢圓 44"/>
          <p:cNvSpPr/>
          <p:nvPr/>
        </p:nvSpPr>
        <p:spPr>
          <a:xfrm>
            <a:off x="7366275" y="4890219"/>
            <a:ext cx="343327" cy="34332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文字方塊 45"/>
          <p:cNvSpPr txBox="1"/>
          <p:nvPr/>
        </p:nvSpPr>
        <p:spPr>
          <a:xfrm rot="5400000">
            <a:off x="7087178" y="5567810"/>
            <a:ext cx="11596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cxnSp>
        <p:nvCxnSpPr>
          <p:cNvPr id="48" name="直線單箭頭接點 47"/>
          <p:cNvCxnSpPr/>
          <p:nvPr/>
        </p:nvCxnSpPr>
        <p:spPr>
          <a:xfrm flipH="1">
            <a:off x="2019652" y="4081404"/>
            <a:ext cx="1549454" cy="0"/>
          </a:xfrm>
          <a:prstGeom prst="straightConnector1">
            <a:avLst/>
          </a:prstGeom>
          <a:ln w="762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/>
          <p:nvPr/>
        </p:nvCxnSpPr>
        <p:spPr>
          <a:xfrm>
            <a:off x="5195386" y="5189368"/>
            <a:ext cx="1987075" cy="0"/>
          </a:xfrm>
          <a:prstGeom prst="straightConnector1">
            <a:avLst/>
          </a:prstGeom>
          <a:ln w="762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投影片編號版面配置區 5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Simplification 2 – Typical Setting 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/>
          <p:nvPr/>
        </p:nvGraphicFramePr>
        <p:xfrm>
          <a:off x="3084250" y="3264358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/>
                <a:gridCol w="478995"/>
                <a:gridCol w="478995"/>
                <a:gridCol w="478995"/>
                <a:gridCol w="478995"/>
                <a:gridCol w="47899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en-US" altLang="zh-TW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3108889" y="3301996"/>
            <a:ext cx="1412346" cy="13233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8" name="內容版面配置區 3"/>
          <p:cNvGraphicFramePr/>
          <p:nvPr/>
        </p:nvGraphicFramePr>
        <p:xfrm>
          <a:off x="3239372" y="3427869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/>
                <a:gridCol w="478995"/>
                <a:gridCol w="478995"/>
                <a:gridCol w="478995"/>
                <a:gridCol w="478995"/>
                <a:gridCol w="47899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en-US" altLang="zh-TW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內容版面配置區 3"/>
          <p:cNvGraphicFramePr/>
          <p:nvPr/>
        </p:nvGraphicFramePr>
        <p:xfrm>
          <a:off x="3423593" y="3570284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/>
                <a:gridCol w="478995"/>
                <a:gridCol w="478995"/>
                <a:gridCol w="478995"/>
                <a:gridCol w="478995"/>
                <a:gridCol w="47899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en-US" altLang="zh-TW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0" name="矩形 9"/>
          <p:cNvSpPr/>
          <p:nvPr/>
        </p:nvSpPr>
        <p:spPr>
          <a:xfrm>
            <a:off x="3438107" y="3599312"/>
            <a:ext cx="1412346" cy="13233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/>
          <p:cNvCxnSpPr/>
          <p:nvPr/>
        </p:nvCxnSpPr>
        <p:spPr>
          <a:xfrm>
            <a:off x="3084250" y="4610783"/>
            <a:ext cx="339343" cy="316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3108889" y="3322151"/>
            <a:ext cx="339343" cy="316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/>
          <p:cNvSpPr txBox="1"/>
          <p:nvPr/>
        </p:nvSpPr>
        <p:spPr>
          <a:xfrm>
            <a:off x="783933" y="1853324"/>
            <a:ext cx="7625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Each receptive field has a set of neurons (e.g., 64 neurons).  </a:t>
            </a:r>
            <a:endParaRPr lang="zh-TW" altLang="en-US" sz="2400" dirty="0"/>
          </a:p>
        </p:txBody>
      </p:sp>
      <p:cxnSp>
        <p:nvCxnSpPr>
          <p:cNvPr id="33" name="直線接點 32"/>
          <p:cNvCxnSpPr/>
          <p:nvPr/>
        </p:nvCxnSpPr>
        <p:spPr>
          <a:xfrm>
            <a:off x="4528239" y="3302702"/>
            <a:ext cx="339343" cy="316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4368946" y="4506119"/>
            <a:ext cx="1412346" cy="13233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文字方塊 35"/>
          <p:cNvSpPr txBox="1"/>
          <p:nvPr/>
        </p:nvSpPr>
        <p:spPr>
          <a:xfrm>
            <a:off x="860852" y="2342924"/>
            <a:ext cx="76252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Each receptive field has the neurons with the same set of parameters. </a:t>
            </a:r>
            <a:endParaRPr lang="zh-TW" altLang="en-US" sz="2400" dirty="0"/>
          </a:p>
        </p:txBody>
      </p:sp>
      <p:sp>
        <p:nvSpPr>
          <p:cNvPr id="37" name="橢圓 36"/>
          <p:cNvSpPr/>
          <p:nvPr/>
        </p:nvSpPr>
        <p:spPr>
          <a:xfrm>
            <a:off x="1471721" y="3411799"/>
            <a:ext cx="343327" cy="34332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橢圓 37"/>
          <p:cNvSpPr/>
          <p:nvPr/>
        </p:nvSpPr>
        <p:spPr>
          <a:xfrm>
            <a:off x="1475601" y="3909741"/>
            <a:ext cx="343327" cy="343327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橢圓 38"/>
          <p:cNvSpPr/>
          <p:nvPr/>
        </p:nvSpPr>
        <p:spPr>
          <a:xfrm>
            <a:off x="1471721" y="4391224"/>
            <a:ext cx="343327" cy="34332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橢圓 39"/>
          <p:cNvSpPr/>
          <p:nvPr/>
        </p:nvSpPr>
        <p:spPr>
          <a:xfrm>
            <a:off x="1475835" y="4890340"/>
            <a:ext cx="343327" cy="34332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 rot="5400000">
            <a:off x="1178203" y="5608155"/>
            <a:ext cx="11596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42" name="橢圓 41"/>
          <p:cNvSpPr/>
          <p:nvPr/>
        </p:nvSpPr>
        <p:spPr>
          <a:xfrm>
            <a:off x="7362161" y="3411678"/>
            <a:ext cx="343327" cy="34332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橢圓 42"/>
          <p:cNvSpPr/>
          <p:nvPr/>
        </p:nvSpPr>
        <p:spPr>
          <a:xfrm>
            <a:off x="7366041" y="3909620"/>
            <a:ext cx="343327" cy="343327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橢圓 43"/>
          <p:cNvSpPr/>
          <p:nvPr/>
        </p:nvSpPr>
        <p:spPr>
          <a:xfrm>
            <a:off x="7362161" y="4391103"/>
            <a:ext cx="343327" cy="34332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橢圓 44"/>
          <p:cNvSpPr/>
          <p:nvPr/>
        </p:nvSpPr>
        <p:spPr>
          <a:xfrm>
            <a:off x="7366275" y="4890219"/>
            <a:ext cx="343327" cy="34332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文字方塊 45"/>
          <p:cNvSpPr txBox="1"/>
          <p:nvPr/>
        </p:nvSpPr>
        <p:spPr>
          <a:xfrm rot="5400000">
            <a:off x="7087178" y="5567810"/>
            <a:ext cx="11596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cxnSp>
        <p:nvCxnSpPr>
          <p:cNvPr id="48" name="直線單箭頭接點 47"/>
          <p:cNvCxnSpPr/>
          <p:nvPr/>
        </p:nvCxnSpPr>
        <p:spPr>
          <a:xfrm flipH="1">
            <a:off x="2019652" y="4081404"/>
            <a:ext cx="1549454" cy="0"/>
          </a:xfrm>
          <a:prstGeom prst="straightConnector1">
            <a:avLst/>
          </a:prstGeom>
          <a:ln w="762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/>
          <p:nvPr/>
        </p:nvCxnSpPr>
        <p:spPr>
          <a:xfrm>
            <a:off x="5195386" y="5189368"/>
            <a:ext cx="1987075" cy="0"/>
          </a:xfrm>
          <a:prstGeom prst="straightConnector1">
            <a:avLst/>
          </a:prstGeom>
          <a:ln w="762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/>
          <p:cNvSpPr txBox="1"/>
          <p:nvPr/>
        </p:nvSpPr>
        <p:spPr>
          <a:xfrm>
            <a:off x="487865" y="3352508"/>
            <a:ext cx="1245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filter 1</a:t>
            </a:r>
            <a:endParaRPr lang="zh-TW" altLang="en-US" sz="24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478767" y="3830029"/>
            <a:ext cx="1245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filter 2</a:t>
            </a:r>
            <a:endParaRPr lang="zh-TW" altLang="en-US" sz="2400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478734" y="4336907"/>
            <a:ext cx="1245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filter 3</a:t>
            </a:r>
            <a:endParaRPr lang="zh-TW" altLang="en-US" sz="24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486024" y="4828261"/>
            <a:ext cx="1245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filter 4</a:t>
            </a:r>
            <a:endParaRPr lang="zh-TW" altLang="en-US" sz="2400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7785349" y="3373216"/>
            <a:ext cx="1245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filter 1</a:t>
            </a:r>
            <a:endParaRPr lang="zh-TW" altLang="en-US" sz="2400" dirty="0"/>
          </a:p>
        </p:txBody>
      </p:sp>
      <p:sp>
        <p:nvSpPr>
          <p:cNvPr id="31" name="文字方塊 30"/>
          <p:cNvSpPr txBox="1"/>
          <p:nvPr/>
        </p:nvSpPr>
        <p:spPr>
          <a:xfrm>
            <a:off x="7776251" y="3850737"/>
            <a:ext cx="1245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filter 2</a:t>
            </a:r>
            <a:endParaRPr lang="zh-TW" altLang="en-US" sz="2400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7776218" y="4357615"/>
            <a:ext cx="1245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filter 3</a:t>
            </a:r>
            <a:endParaRPr lang="zh-TW" altLang="en-US" sz="2400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7783508" y="4848969"/>
            <a:ext cx="1245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filter 4</a:t>
            </a:r>
            <a:endParaRPr lang="zh-TW" altLang="en-US" sz="2400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7" grpId="0"/>
      <p:bldP spid="28" grpId="0"/>
      <p:bldP spid="29" grpId="0"/>
      <p:bldP spid="30" grpId="0"/>
      <p:bldP spid="31" grpId="0"/>
      <p:bldP spid="32" grpId="0"/>
      <p:bldP spid="3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Benefit of Convolutional Layer </a:t>
            </a:r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546304" y="1736040"/>
            <a:ext cx="5914103" cy="3451123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1713879" y="1963656"/>
            <a:ext cx="3628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i="1" u="sng" dirty="0"/>
              <a:t>Fully Connected Layer</a:t>
            </a:r>
            <a:endParaRPr lang="zh-TW" altLang="en-US" sz="2400" b="1" i="1" u="sng" dirty="0"/>
          </a:p>
        </p:txBody>
      </p:sp>
      <p:sp>
        <p:nvSpPr>
          <p:cNvPr id="7" name="文字方塊 6"/>
          <p:cNvSpPr txBox="1"/>
          <p:nvPr/>
        </p:nvSpPr>
        <p:spPr>
          <a:xfrm>
            <a:off x="1104282" y="5314796"/>
            <a:ext cx="75733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dirty="0"/>
              <a:t>Some patterns are much smaller than the whole image.</a:t>
            </a:r>
            <a:endParaRPr lang="zh-TW" altLang="en-US" sz="2400" dirty="0"/>
          </a:p>
        </p:txBody>
      </p:sp>
      <p:sp>
        <p:nvSpPr>
          <p:cNvPr id="8" name="橢圓 7"/>
          <p:cNvSpPr/>
          <p:nvPr/>
        </p:nvSpPr>
        <p:spPr>
          <a:xfrm>
            <a:off x="1200150" y="2492673"/>
            <a:ext cx="4603955" cy="251304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2394145" y="2721483"/>
            <a:ext cx="23449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Receptive Field</a:t>
            </a:r>
            <a:endParaRPr lang="zh-TW" altLang="en-US" sz="24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1104282" y="5795053"/>
            <a:ext cx="70054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dirty="0"/>
              <a:t>The same patterns appear in different regions.</a:t>
            </a:r>
            <a:endParaRPr lang="zh-TW" altLang="en-US" sz="2400" dirty="0"/>
          </a:p>
        </p:txBody>
      </p:sp>
      <p:sp>
        <p:nvSpPr>
          <p:cNvPr id="12" name="橢圓 11"/>
          <p:cNvSpPr/>
          <p:nvPr/>
        </p:nvSpPr>
        <p:spPr>
          <a:xfrm>
            <a:off x="1689306" y="3201740"/>
            <a:ext cx="3628102" cy="1616776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2218852" y="3410081"/>
            <a:ext cx="26955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Parameter Sharing</a:t>
            </a:r>
            <a:endParaRPr lang="zh-TW" altLang="en-US" sz="24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2180139" y="3940827"/>
            <a:ext cx="26955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i="1" u="sng" dirty="0"/>
              <a:t>Convolutional Layer</a:t>
            </a:r>
            <a:endParaRPr lang="zh-TW" altLang="en-US" sz="2400" b="1" i="1" u="sng" dirty="0"/>
          </a:p>
        </p:txBody>
      </p:sp>
      <p:sp>
        <p:nvSpPr>
          <p:cNvPr id="15" name="投影片編號版面配置區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</a:fld>
            <a:endParaRPr lang="zh-TW" altLang="en-US"/>
          </a:p>
        </p:txBody>
      </p:sp>
      <p:sp>
        <p:nvSpPr>
          <p:cNvPr id="3" name="文字方塊 2"/>
          <p:cNvSpPr txBox="1"/>
          <p:nvPr/>
        </p:nvSpPr>
        <p:spPr>
          <a:xfrm>
            <a:off x="6448734" y="3946149"/>
            <a:ext cx="26277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Larger model bias</a:t>
            </a:r>
            <a:endParaRPr lang="zh-TW" altLang="en-US" sz="2400" dirty="0"/>
          </a:p>
        </p:txBody>
      </p:sp>
      <p:cxnSp>
        <p:nvCxnSpPr>
          <p:cNvPr id="10" name="直線單箭頭接點 9"/>
          <p:cNvCxnSpPr/>
          <p:nvPr/>
        </p:nvCxnSpPr>
        <p:spPr>
          <a:xfrm>
            <a:off x="4909790" y="4203925"/>
            <a:ext cx="154351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/>
          <p:cNvSpPr txBox="1"/>
          <p:nvPr/>
        </p:nvSpPr>
        <p:spPr>
          <a:xfrm>
            <a:off x="6448734" y="4384891"/>
            <a:ext cx="1973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(for image)</a:t>
            </a:r>
            <a:endParaRPr lang="zh-TW" altLang="en-US" sz="2400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6457950" y="1977883"/>
            <a:ext cx="26277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/>
              <a:t>Jack of all trades, </a:t>
            </a:r>
            <a:endParaRPr lang="en-US" altLang="zh-TW" sz="2400" dirty="0"/>
          </a:p>
          <a:p>
            <a:r>
              <a:rPr lang="en-US" altLang="zh-TW" sz="2400" dirty="0"/>
              <a:t>master of none</a:t>
            </a:r>
            <a:endParaRPr lang="zh-TW" altLang="en-US" sz="2400" dirty="0"/>
          </a:p>
        </p:txBody>
      </p:sp>
      <p:cxnSp>
        <p:nvCxnSpPr>
          <p:cNvPr id="22" name="直線單箭頭接點 21"/>
          <p:cNvCxnSpPr/>
          <p:nvPr/>
        </p:nvCxnSpPr>
        <p:spPr>
          <a:xfrm flipV="1">
            <a:off x="5032347" y="2205915"/>
            <a:ext cx="1386891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7" grpId="0"/>
      <p:bldP spid="8" grpId="0" animBg="1"/>
      <p:bldP spid="9" grpId="0"/>
      <p:bldP spid="11" grpId="0"/>
      <p:bldP spid="12" grpId="0" animBg="1"/>
      <p:bldP spid="13" grpId="0"/>
      <p:bldP spid="14" grpId="0"/>
      <p:bldP spid="3" grpId="0"/>
      <p:bldP spid="16" grpId="0"/>
      <p:bldP spid="1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Convolutional Layer 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4578607" y="1752387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/>
                <a:gridCol w="540718"/>
                <a:gridCol w="540718"/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80010" y="2124755"/>
            <a:ext cx="1448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Filter 1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4578607" y="3616028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/>
                <a:gridCol w="540718"/>
                <a:gridCol w="540718"/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0" name="文字方塊 9"/>
          <p:cNvSpPr txBox="1"/>
          <p:nvPr/>
        </p:nvSpPr>
        <p:spPr>
          <a:xfrm rot="5400000">
            <a:off x="4889979" y="5429125"/>
            <a:ext cx="7083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……</a:t>
            </a:r>
            <a:endParaRPr kumimoji="0" lang="zh-TW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6580010" y="2511166"/>
            <a:ext cx="21420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TW" sz="2400" dirty="0">
                <a:solidFill>
                  <a:prstClr val="black"/>
                </a:solidFill>
              </a:rPr>
              <a:t>3 x 3 x channel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pic>
        <p:nvPicPr>
          <p:cNvPr id="19" name="Picture 2" descr="http://s.hswstatic.com/gif/whiskers-sam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03" y="1831341"/>
            <a:ext cx="1771005" cy="1204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矩形 19"/>
          <p:cNvSpPr/>
          <p:nvPr/>
        </p:nvSpPr>
        <p:spPr>
          <a:xfrm>
            <a:off x="1116284" y="3569317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Convolution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24" name="向下箭號 11"/>
          <p:cNvSpPr/>
          <p:nvPr/>
        </p:nvSpPr>
        <p:spPr>
          <a:xfrm>
            <a:off x="1735981" y="3091572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25" name="向下箭號 17"/>
          <p:cNvSpPr/>
          <p:nvPr/>
        </p:nvSpPr>
        <p:spPr>
          <a:xfrm>
            <a:off x="1735981" y="4202354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035781" y="3504098"/>
            <a:ext cx="1856830" cy="696515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30" name="文字方塊 29"/>
          <p:cNvSpPr txBox="1"/>
          <p:nvPr/>
        </p:nvSpPr>
        <p:spPr>
          <a:xfrm rot="5400000">
            <a:off x="1765004" y="4788002"/>
            <a:ext cx="7083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……</a:t>
            </a:r>
            <a:endParaRPr kumimoji="0" lang="zh-TW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128766" y="1515576"/>
            <a:ext cx="4644930" cy="4642077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cxnSp>
        <p:nvCxnSpPr>
          <p:cNvPr id="33" name="直線接點 32"/>
          <p:cNvCxnSpPr/>
          <p:nvPr/>
        </p:nvCxnSpPr>
        <p:spPr>
          <a:xfrm flipV="1">
            <a:off x="2853331" y="1493103"/>
            <a:ext cx="1209540" cy="1999454"/>
          </a:xfrm>
          <a:prstGeom prst="line">
            <a:avLst/>
          </a:prstGeom>
          <a:ln w="571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2882876" y="4168318"/>
            <a:ext cx="1179995" cy="1989335"/>
          </a:xfrm>
          <a:prstGeom prst="line">
            <a:avLst/>
          </a:prstGeom>
          <a:ln w="571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表格 22"/>
          <p:cNvGraphicFramePr>
            <a:graphicFrameLocks noGrp="1"/>
          </p:cNvGraphicFramePr>
          <p:nvPr/>
        </p:nvGraphicFramePr>
        <p:xfrm>
          <a:off x="4731007" y="1904787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/>
                <a:gridCol w="540718"/>
                <a:gridCol w="540718"/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/>
        </p:nvGraphicFramePr>
        <p:xfrm>
          <a:off x="4883407" y="2057187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/>
                <a:gridCol w="540718"/>
                <a:gridCol w="540718"/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/>
        </p:nvGraphicFramePr>
        <p:xfrm>
          <a:off x="4731007" y="3768428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/>
                <a:gridCol w="540718"/>
                <a:gridCol w="540718"/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表格 28"/>
          <p:cNvGraphicFramePr>
            <a:graphicFrameLocks noGrp="1"/>
          </p:cNvGraphicFramePr>
          <p:nvPr/>
        </p:nvGraphicFramePr>
        <p:xfrm>
          <a:off x="4883407" y="3920828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/>
                <a:gridCol w="540718"/>
                <a:gridCol w="540718"/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2" name="文字方塊 31"/>
          <p:cNvSpPr txBox="1"/>
          <p:nvPr/>
        </p:nvSpPr>
        <p:spPr>
          <a:xfrm>
            <a:off x="6568083" y="3897020"/>
            <a:ext cx="1448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Filter 2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6553335" y="4298179"/>
            <a:ext cx="21420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TW" sz="2400" dirty="0">
                <a:solidFill>
                  <a:prstClr val="black"/>
                </a:solidFill>
              </a:rPr>
              <a:t>3 x 3 x channel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6573587" y="2879627"/>
            <a:ext cx="12246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TW" sz="2400" dirty="0">
                <a:solidFill>
                  <a:prstClr val="black"/>
                </a:solidFill>
              </a:rPr>
              <a:t>tensor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6553335" y="4678363"/>
            <a:ext cx="12246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TW" sz="2400" dirty="0">
                <a:solidFill>
                  <a:prstClr val="black"/>
                </a:solidFill>
              </a:rPr>
              <a:t>tensor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336538" y="6198606"/>
            <a:ext cx="2986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TW" sz="2400" dirty="0">
                <a:solidFill>
                  <a:prstClr val="black"/>
                </a:solidFill>
              </a:rPr>
              <a:t>channel = 1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1936438" y="6212795"/>
            <a:ext cx="33077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/>
              <a:t>(</a:t>
            </a:r>
            <a:r>
              <a:rPr lang="zh-TW" altLang="en-US" sz="2400" dirty="0"/>
              <a:t>black and white</a:t>
            </a:r>
            <a:r>
              <a:rPr lang="en-US" altLang="zh-TW" sz="2400" dirty="0"/>
              <a:t>)</a:t>
            </a:r>
            <a:endParaRPr lang="zh-TW" altLang="en-US" sz="2400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5570854" y="5684033"/>
            <a:ext cx="3348118" cy="830997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Each filter detects a small pattern (3 x 3 </a:t>
            </a:r>
            <a:r>
              <a:rPr lang="en-US" altLang="zh-TW" sz="2400" dirty="0">
                <a:solidFill>
                  <a:schemeClr val="bg1"/>
                </a:solidFill>
              </a:rPr>
              <a:t>x channel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). 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7" name="投影片編號版面配置區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</a:fld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4220173" y="149986"/>
            <a:ext cx="48077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Another story based on </a:t>
            </a:r>
            <a:r>
              <a:rPr lang="en-US" altLang="zh-TW" sz="2800" b="1" i="1" dirty="0"/>
              <a:t>filter</a:t>
            </a:r>
            <a:r>
              <a:rPr lang="en-US" altLang="zh-TW" sz="2800" dirty="0"/>
              <a:t> </a:t>
            </a:r>
            <a:r>
              <a:rPr lang="en-US" altLang="zh-TW" sz="2800" dirty="0">
                <a:sym typeface="Wingdings" panose="05000000000000000000" pitchFamily="2" charset="2"/>
              </a:rPr>
              <a:t></a:t>
            </a:r>
            <a:endParaRPr lang="zh-TW" altLang="en-US" sz="2800" dirty="0"/>
          </a:p>
        </p:txBody>
      </p:sp>
      <p:sp>
        <p:nvSpPr>
          <p:cNvPr id="41" name="文字方塊 40"/>
          <p:cNvSpPr txBox="1"/>
          <p:nvPr/>
        </p:nvSpPr>
        <p:spPr>
          <a:xfrm>
            <a:off x="336537" y="5716464"/>
            <a:ext cx="2986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TW" sz="2400" dirty="0">
                <a:solidFill>
                  <a:prstClr val="black"/>
                </a:solidFill>
              </a:rPr>
              <a:t>channel = 3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1933369" y="5716464"/>
            <a:ext cx="33077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/>
              <a:t>(colorful)</a:t>
            </a:r>
            <a:endParaRPr lang="zh-TW" alt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5" grpId="0"/>
      <p:bldP spid="28" grpId="0" animBg="1"/>
      <p:bldP spid="31" grpId="0" animBg="1"/>
      <p:bldP spid="32" grpId="0"/>
      <p:bldP spid="35" grpId="0"/>
      <p:bldP spid="36" grpId="0"/>
      <p:bldP spid="37" grpId="0"/>
      <p:bldP spid="38" grpId="0"/>
      <p:bldP spid="39" grpId="0"/>
      <p:bldP spid="40" grpId="0" animBg="1"/>
      <p:bldP spid="41" grpId="0"/>
      <p:bldP spid="4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Convolutional Layer 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</p:nvPr>
        </p:nvGraphicFramePr>
        <p:xfrm>
          <a:off x="985111" y="2399062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/>
                <a:gridCol w="478995"/>
                <a:gridCol w="478995"/>
                <a:gridCol w="478995"/>
                <a:gridCol w="478995"/>
                <a:gridCol w="478995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en-US" altLang="zh-TW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1248583" y="5388970"/>
            <a:ext cx="2347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6 x 6 image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5009230" y="1915090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/>
                <a:gridCol w="540718"/>
                <a:gridCol w="540718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40724" y="2267468"/>
            <a:ext cx="1448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Filter 1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5009230" y="3539828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/>
                <a:gridCol w="540718"/>
                <a:gridCol w="540718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6540724" y="3879102"/>
            <a:ext cx="1448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Filter 2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0" name="文字方塊 9"/>
          <p:cNvSpPr txBox="1"/>
          <p:nvPr/>
        </p:nvSpPr>
        <p:spPr>
          <a:xfrm rot="5400000">
            <a:off x="5579344" y="5004005"/>
            <a:ext cx="7083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……</a:t>
            </a:r>
            <a:endParaRPr kumimoji="0" lang="zh-TW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4860128" y="5619802"/>
            <a:ext cx="35425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(The values in the filters are</a:t>
            </a:r>
            <a:r>
              <a:rPr kumimoji="0" lang="zh-TW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 </a:t>
            </a:r>
            <a:r>
              <a:rPr kumimoji="0" lang="en-US" altLang="zh-TW" sz="24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unknown</a:t>
            </a:r>
            <a:r>
              <a:rPr kumimoji="0" lang="en-US" altLang="zh-TW" sz="2400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 parameters.)</a:t>
            </a:r>
            <a:endParaRPr kumimoji="0" lang="zh-TW" altLang="en-US" sz="240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1" name="投影片編號版面配置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</a:fld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5654107" y="579532"/>
            <a:ext cx="32213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TW" sz="2400" dirty="0">
                <a:solidFill>
                  <a:prstClr val="black"/>
                </a:solidFill>
              </a:rPr>
              <a:t>Consider channel = 1</a:t>
            </a:r>
            <a:endParaRPr lang="en-US" altLang="zh-TW" sz="2400" dirty="0">
              <a:solidFill>
                <a:prstClr val="black"/>
              </a:solidFill>
            </a:endParaRPr>
          </a:p>
          <a:p>
            <a:pPr>
              <a:defRPr/>
            </a:pPr>
            <a:r>
              <a:rPr lang="en-US" altLang="zh-TW" sz="2400" dirty="0"/>
              <a:t>(</a:t>
            </a:r>
            <a:r>
              <a:rPr lang="zh-TW" altLang="en-US" sz="2400" dirty="0"/>
              <a:t>black and white </a:t>
            </a:r>
            <a:r>
              <a:rPr lang="en-US" altLang="zh-TW" sz="2400" dirty="0"/>
              <a:t>image)</a:t>
            </a:r>
            <a:endParaRPr lang="zh-TW" alt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Convolutional Layer 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</p:nvPr>
        </p:nvGraphicFramePr>
        <p:xfrm>
          <a:off x="985111" y="2399062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/>
                <a:gridCol w="478995"/>
                <a:gridCol w="478995"/>
                <a:gridCol w="478995"/>
                <a:gridCol w="478995"/>
                <a:gridCol w="47899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en-US" altLang="zh-TW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1248583" y="5388970"/>
            <a:ext cx="2347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6 x 6 image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5563892" y="478405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/>
                <a:gridCol w="540718"/>
                <a:gridCol w="54071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7186046" y="933372"/>
            <a:ext cx="1448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Filter 1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85111" y="2399062"/>
            <a:ext cx="1417126" cy="13825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2" name="橢圓 11"/>
          <p:cNvSpPr/>
          <p:nvPr/>
        </p:nvSpPr>
        <p:spPr>
          <a:xfrm>
            <a:off x="4722062" y="27879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3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3" name="橢圓 12"/>
          <p:cNvSpPr/>
          <p:nvPr/>
        </p:nvSpPr>
        <p:spPr>
          <a:xfrm>
            <a:off x="5563891" y="27879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-1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4" name="橢圓 13"/>
          <p:cNvSpPr/>
          <p:nvPr/>
        </p:nvSpPr>
        <p:spPr>
          <a:xfrm>
            <a:off x="6405720" y="27879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-3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5" name="橢圓 14"/>
          <p:cNvSpPr/>
          <p:nvPr/>
        </p:nvSpPr>
        <p:spPr>
          <a:xfrm>
            <a:off x="7247549" y="27879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-1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6" name="橢圓 15"/>
          <p:cNvSpPr/>
          <p:nvPr/>
        </p:nvSpPr>
        <p:spPr>
          <a:xfrm>
            <a:off x="4722062" y="35880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-3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7" name="橢圓 16"/>
          <p:cNvSpPr/>
          <p:nvPr/>
        </p:nvSpPr>
        <p:spPr>
          <a:xfrm>
            <a:off x="5563891" y="35880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1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8" name="橢圓 17"/>
          <p:cNvSpPr/>
          <p:nvPr/>
        </p:nvSpPr>
        <p:spPr>
          <a:xfrm>
            <a:off x="6405720" y="35880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0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9" name="橢圓 18"/>
          <p:cNvSpPr/>
          <p:nvPr/>
        </p:nvSpPr>
        <p:spPr>
          <a:xfrm>
            <a:off x="7247549" y="35880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-3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20" name="橢圓 19"/>
          <p:cNvSpPr/>
          <p:nvPr/>
        </p:nvSpPr>
        <p:spPr>
          <a:xfrm>
            <a:off x="4722062" y="44458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-3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21" name="橢圓 20"/>
          <p:cNvSpPr/>
          <p:nvPr/>
        </p:nvSpPr>
        <p:spPr>
          <a:xfrm>
            <a:off x="5563891" y="44458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-3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22" name="橢圓 21"/>
          <p:cNvSpPr/>
          <p:nvPr/>
        </p:nvSpPr>
        <p:spPr>
          <a:xfrm>
            <a:off x="6405720" y="44458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0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23" name="橢圓 22"/>
          <p:cNvSpPr/>
          <p:nvPr/>
        </p:nvSpPr>
        <p:spPr>
          <a:xfrm>
            <a:off x="7247549" y="44458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1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24" name="橢圓 23"/>
          <p:cNvSpPr/>
          <p:nvPr/>
        </p:nvSpPr>
        <p:spPr>
          <a:xfrm>
            <a:off x="4732036" y="5259802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3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25" name="橢圓 24"/>
          <p:cNvSpPr/>
          <p:nvPr/>
        </p:nvSpPr>
        <p:spPr>
          <a:xfrm>
            <a:off x="5563891" y="52459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-2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26" name="橢圓 25"/>
          <p:cNvSpPr/>
          <p:nvPr/>
        </p:nvSpPr>
        <p:spPr>
          <a:xfrm>
            <a:off x="6405720" y="52459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-2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27" name="橢圓 26"/>
          <p:cNvSpPr/>
          <p:nvPr/>
        </p:nvSpPr>
        <p:spPr>
          <a:xfrm>
            <a:off x="7247549" y="52459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-1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484714" y="2399062"/>
            <a:ext cx="1417126" cy="13825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930824" y="2402206"/>
            <a:ext cx="1417126" cy="13825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2432953" y="2405350"/>
            <a:ext cx="1417126" cy="13825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985111" y="2810239"/>
            <a:ext cx="1417126" cy="13825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167364" y="1732534"/>
            <a:ext cx="12071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s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tride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=1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2432953" y="3767518"/>
            <a:ext cx="1417126" cy="13825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63890" y="478405"/>
            <a:ext cx="524489" cy="454967"/>
          </a:xfrm>
          <a:prstGeom prst="rect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6120535" y="936720"/>
            <a:ext cx="524489" cy="454967"/>
          </a:xfrm>
          <a:prstGeom prst="rect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6645024" y="1405708"/>
            <a:ext cx="524489" cy="454967"/>
          </a:xfrm>
          <a:prstGeom prst="rect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cxnSp>
        <p:nvCxnSpPr>
          <p:cNvPr id="10" name="直線接點 9"/>
          <p:cNvCxnSpPr/>
          <p:nvPr/>
        </p:nvCxnSpPr>
        <p:spPr>
          <a:xfrm>
            <a:off x="5563890" y="478405"/>
            <a:ext cx="1605623" cy="1382270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4713060" y="2785871"/>
            <a:ext cx="729002" cy="708265"/>
          </a:xfrm>
          <a:prstGeom prst="rect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4732036" y="5262585"/>
            <a:ext cx="729002" cy="708265"/>
          </a:xfrm>
          <a:prstGeom prst="rect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cxnSp>
        <p:nvCxnSpPr>
          <p:cNvPr id="41" name="直線接點 40"/>
          <p:cNvCxnSpPr/>
          <p:nvPr/>
        </p:nvCxnSpPr>
        <p:spPr>
          <a:xfrm>
            <a:off x="929397" y="2425786"/>
            <a:ext cx="1605623" cy="1382270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>
            <a:off x="880630" y="3761564"/>
            <a:ext cx="1605623" cy="1382270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4" grpId="0"/>
      <p:bldP spid="32" grpId="0" animBg="1"/>
      <p:bldP spid="32" grpId="1" animBg="1"/>
      <p:bldP spid="8" grpId="0" animBg="1"/>
      <p:bldP spid="36" grpId="0" animBg="1"/>
      <p:bldP spid="37" grpId="0" animBg="1"/>
      <p:bldP spid="38" grpId="0" animBg="1"/>
      <p:bldP spid="3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Convolutional Layer 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</p:nvPr>
        </p:nvGraphicFramePr>
        <p:xfrm>
          <a:off x="985111" y="2399062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/>
                <a:gridCol w="478995"/>
                <a:gridCol w="478995"/>
                <a:gridCol w="478995"/>
                <a:gridCol w="478995"/>
                <a:gridCol w="47899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en-US" altLang="zh-TW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1248583" y="5388970"/>
            <a:ext cx="2347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6 x 6 image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2" name="橢圓 11"/>
          <p:cNvSpPr/>
          <p:nvPr/>
        </p:nvSpPr>
        <p:spPr>
          <a:xfrm>
            <a:off x="4722062" y="27879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3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3" name="橢圓 12"/>
          <p:cNvSpPr/>
          <p:nvPr/>
        </p:nvSpPr>
        <p:spPr>
          <a:xfrm>
            <a:off x="5563891" y="27879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-1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4" name="橢圓 13"/>
          <p:cNvSpPr/>
          <p:nvPr/>
        </p:nvSpPr>
        <p:spPr>
          <a:xfrm>
            <a:off x="6405720" y="27879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-3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5" name="橢圓 14"/>
          <p:cNvSpPr/>
          <p:nvPr/>
        </p:nvSpPr>
        <p:spPr>
          <a:xfrm>
            <a:off x="7247549" y="27879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-1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6" name="橢圓 15"/>
          <p:cNvSpPr/>
          <p:nvPr/>
        </p:nvSpPr>
        <p:spPr>
          <a:xfrm>
            <a:off x="4722062" y="35880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-3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7" name="橢圓 16"/>
          <p:cNvSpPr/>
          <p:nvPr/>
        </p:nvSpPr>
        <p:spPr>
          <a:xfrm>
            <a:off x="5563891" y="35880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1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8" name="橢圓 17"/>
          <p:cNvSpPr/>
          <p:nvPr/>
        </p:nvSpPr>
        <p:spPr>
          <a:xfrm>
            <a:off x="6405720" y="35880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0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9" name="橢圓 18"/>
          <p:cNvSpPr/>
          <p:nvPr/>
        </p:nvSpPr>
        <p:spPr>
          <a:xfrm>
            <a:off x="7247549" y="3588083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-3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20" name="橢圓 19"/>
          <p:cNvSpPr/>
          <p:nvPr/>
        </p:nvSpPr>
        <p:spPr>
          <a:xfrm>
            <a:off x="4722062" y="44458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-3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21" name="橢圓 20"/>
          <p:cNvSpPr/>
          <p:nvPr/>
        </p:nvSpPr>
        <p:spPr>
          <a:xfrm>
            <a:off x="5563891" y="44458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-3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22" name="橢圓 21"/>
          <p:cNvSpPr/>
          <p:nvPr/>
        </p:nvSpPr>
        <p:spPr>
          <a:xfrm>
            <a:off x="6405720" y="44458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0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23" name="橢圓 22"/>
          <p:cNvSpPr/>
          <p:nvPr/>
        </p:nvSpPr>
        <p:spPr>
          <a:xfrm>
            <a:off x="7247549" y="44458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1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24" name="橢圓 23"/>
          <p:cNvSpPr/>
          <p:nvPr/>
        </p:nvSpPr>
        <p:spPr>
          <a:xfrm>
            <a:off x="4722062" y="52459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3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25" name="橢圓 24"/>
          <p:cNvSpPr/>
          <p:nvPr/>
        </p:nvSpPr>
        <p:spPr>
          <a:xfrm>
            <a:off x="5563891" y="52459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-2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26" name="橢圓 25"/>
          <p:cNvSpPr/>
          <p:nvPr/>
        </p:nvSpPr>
        <p:spPr>
          <a:xfrm>
            <a:off x="6405720" y="52459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-2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27" name="橢圓 26"/>
          <p:cNvSpPr/>
          <p:nvPr/>
        </p:nvSpPr>
        <p:spPr>
          <a:xfrm>
            <a:off x="7247549" y="5245955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-1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graphicFrame>
        <p:nvGraphicFramePr>
          <p:cNvPr id="35" name="表格 34"/>
          <p:cNvGraphicFramePr>
            <a:graphicFrameLocks noGrp="1"/>
          </p:cNvGraphicFramePr>
          <p:nvPr/>
        </p:nvGraphicFramePr>
        <p:xfrm>
          <a:off x="5687103" y="365126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/>
                <a:gridCol w="540718"/>
                <a:gridCol w="54071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6" name="文字方塊 35"/>
          <p:cNvSpPr txBox="1"/>
          <p:nvPr/>
        </p:nvSpPr>
        <p:spPr>
          <a:xfrm>
            <a:off x="7309257" y="820093"/>
            <a:ext cx="1448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Filter 2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985111" y="2399062"/>
            <a:ext cx="1417126" cy="1382524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488818" y="2399062"/>
            <a:ext cx="1417126" cy="1382524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1930824" y="2400838"/>
            <a:ext cx="1417126" cy="1382524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2406593" y="2399062"/>
            <a:ext cx="1417126" cy="1382524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985111" y="2810239"/>
            <a:ext cx="1417126" cy="1382524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42" name="橢圓 41"/>
          <p:cNvSpPr/>
          <p:nvPr/>
        </p:nvSpPr>
        <p:spPr>
          <a:xfrm>
            <a:off x="4905599" y="2996196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-1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43" name="橢圓 42"/>
          <p:cNvSpPr/>
          <p:nvPr/>
        </p:nvSpPr>
        <p:spPr>
          <a:xfrm>
            <a:off x="5747428" y="2996196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-1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44" name="橢圓 43"/>
          <p:cNvSpPr/>
          <p:nvPr/>
        </p:nvSpPr>
        <p:spPr>
          <a:xfrm>
            <a:off x="6589257" y="2996196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-1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45" name="橢圓 44"/>
          <p:cNvSpPr/>
          <p:nvPr/>
        </p:nvSpPr>
        <p:spPr>
          <a:xfrm>
            <a:off x="7431086" y="2996196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-1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46" name="橢圓 45"/>
          <p:cNvSpPr/>
          <p:nvPr/>
        </p:nvSpPr>
        <p:spPr>
          <a:xfrm>
            <a:off x="4905599" y="3796296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-1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47" name="橢圓 46"/>
          <p:cNvSpPr/>
          <p:nvPr/>
        </p:nvSpPr>
        <p:spPr>
          <a:xfrm>
            <a:off x="5747428" y="3796296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-1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48" name="橢圓 47"/>
          <p:cNvSpPr/>
          <p:nvPr/>
        </p:nvSpPr>
        <p:spPr>
          <a:xfrm>
            <a:off x="6589257" y="3796296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-2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49" name="橢圓 48"/>
          <p:cNvSpPr/>
          <p:nvPr/>
        </p:nvSpPr>
        <p:spPr>
          <a:xfrm>
            <a:off x="7431086" y="3796296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1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50" name="橢圓 49"/>
          <p:cNvSpPr/>
          <p:nvPr/>
        </p:nvSpPr>
        <p:spPr>
          <a:xfrm>
            <a:off x="4905599" y="4654068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-1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51" name="橢圓 50"/>
          <p:cNvSpPr/>
          <p:nvPr/>
        </p:nvSpPr>
        <p:spPr>
          <a:xfrm>
            <a:off x="5747428" y="4654068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-1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52" name="橢圓 51"/>
          <p:cNvSpPr/>
          <p:nvPr/>
        </p:nvSpPr>
        <p:spPr>
          <a:xfrm>
            <a:off x="6589257" y="4654068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-2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53" name="橢圓 52"/>
          <p:cNvSpPr/>
          <p:nvPr/>
        </p:nvSpPr>
        <p:spPr>
          <a:xfrm>
            <a:off x="7431086" y="4654068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1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54" name="橢圓 53"/>
          <p:cNvSpPr/>
          <p:nvPr/>
        </p:nvSpPr>
        <p:spPr>
          <a:xfrm>
            <a:off x="4905599" y="5454168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-1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55" name="橢圓 54"/>
          <p:cNvSpPr/>
          <p:nvPr/>
        </p:nvSpPr>
        <p:spPr>
          <a:xfrm>
            <a:off x="5747428" y="5454168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0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56" name="橢圓 55"/>
          <p:cNvSpPr/>
          <p:nvPr/>
        </p:nvSpPr>
        <p:spPr>
          <a:xfrm>
            <a:off x="6589257" y="5454168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-4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57" name="橢圓 56"/>
          <p:cNvSpPr/>
          <p:nvPr/>
        </p:nvSpPr>
        <p:spPr>
          <a:xfrm>
            <a:off x="7431086" y="5454168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3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572000" y="1789385"/>
            <a:ext cx="37932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Do the same process for every filter</a:t>
            </a: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2415409" y="3783331"/>
            <a:ext cx="1417126" cy="1382524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167364" y="1732534"/>
            <a:ext cx="12071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s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tride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=1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315799" y="4052684"/>
            <a:ext cx="2320707" cy="972463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Feature</a:t>
            </a:r>
            <a:endParaRPr kumimoji="0" lang="en-US" altLang="zh-TW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Map</a:t>
            </a: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s.hswstatic.com/gif/whiskers-sam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03" y="1831341"/>
            <a:ext cx="1771005" cy="1204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1116284" y="3569317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Convolution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6" name="向下箭號 11"/>
          <p:cNvSpPr/>
          <p:nvPr/>
        </p:nvSpPr>
        <p:spPr>
          <a:xfrm>
            <a:off x="1735981" y="3091572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7" name="向下箭號 17"/>
          <p:cNvSpPr/>
          <p:nvPr/>
        </p:nvSpPr>
        <p:spPr>
          <a:xfrm>
            <a:off x="1735981" y="4202354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16284" y="4720707"/>
            <a:ext cx="1736724" cy="55648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Convolution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0" name="向下箭號 17"/>
          <p:cNvSpPr/>
          <p:nvPr/>
        </p:nvSpPr>
        <p:spPr>
          <a:xfrm>
            <a:off x="1735981" y="5353744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1" name="文字方塊 10"/>
          <p:cNvSpPr txBox="1"/>
          <p:nvPr/>
        </p:nvSpPr>
        <p:spPr>
          <a:xfrm rot="5400000">
            <a:off x="1747228" y="5973184"/>
            <a:ext cx="7083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……</a:t>
            </a:r>
            <a:endParaRPr kumimoji="0" lang="zh-TW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grpSp>
        <p:nvGrpSpPr>
          <p:cNvPr id="45" name="群組 44"/>
          <p:cNvGrpSpPr/>
          <p:nvPr/>
        </p:nvGrpSpPr>
        <p:grpSpPr>
          <a:xfrm>
            <a:off x="4703895" y="460517"/>
            <a:ext cx="3429024" cy="3386185"/>
            <a:chOff x="4572000" y="2134622"/>
            <a:chExt cx="3429024" cy="3386185"/>
          </a:xfrm>
        </p:grpSpPr>
        <p:sp>
          <p:nvSpPr>
            <p:cNvPr id="12" name="橢圓 11"/>
            <p:cNvSpPr/>
            <p:nvPr/>
          </p:nvSpPr>
          <p:spPr>
            <a:xfrm>
              <a:off x="4572000" y="21346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3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13" name="橢圓 12"/>
            <p:cNvSpPr/>
            <p:nvPr/>
          </p:nvSpPr>
          <p:spPr>
            <a:xfrm>
              <a:off x="5413829" y="21346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14" name="橢圓 13"/>
            <p:cNvSpPr/>
            <p:nvPr/>
          </p:nvSpPr>
          <p:spPr>
            <a:xfrm>
              <a:off x="6255658" y="21346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-3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15" name="橢圓 14"/>
            <p:cNvSpPr/>
            <p:nvPr/>
          </p:nvSpPr>
          <p:spPr>
            <a:xfrm>
              <a:off x="7097487" y="21346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16" name="橢圓 15"/>
            <p:cNvSpPr/>
            <p:nvPr/>
          </p:nvSpPr>
          <p:spPr>
            <a:xfrm>
              <a:off x="4572000" y="29347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-3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17" name="橢圓 16"/>
            <p:cNvSpPr/>
            <p:nvPr/>
          </p:nvSpPr>
          <p:spPr>
            <a:xfrm>
              <a:off x="5413829" y="29347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18" name="橢圓 17"/>
            <p:cNvSpPr/>
            <p:nvPr/>
          </p:nvSpPr>
          <p:spPr>
            <a:xfrm>
              <a:off x="6255658" y="29347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0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19" name="橢圓 18"/>
            <p:cNvSpPr/>
            <p:nvPr/>
          </p:nvSpPr>
          <p:spPr>
            <a:xfrm>
              <a:off x="7097487" y="29347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-3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20" name="橢圓 19"/>
            <p:cNvSpPr/>
            <p:nvPr/>
          </p:nvSpPr>
          <p:spPr>
            <a:xfrm>
              <a:off x="4572000" y="37924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-3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21" name="橢圓 20"/>
            <p:cNvSpPr/>
            <p:nvPr/>
          </p:nvSpPr>
          <p:spPr>
            <a:xfrm>
              <a:off x="5413829" y="37924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-3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22" name="橢圓 21"/>
            <p:cNvSpPr/>
            <p:nvPr/>
          </p:nvSpPr>
          <p:spPr>
            <a:xfrm>
              <a:off x="6255658" y="37924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0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23" name="橢圓 22"/>
            <p:cNvSpPr/>
            <p:nvPr/>
          </p:nvSpPr>
          <p:spPr>
            <a:xfrm>
              <a:off x="7097487" y="37924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24" name="橢圓 23"/>
            <p:cNvSpPr/>
            <p:nvPr/>
          </p:nvSpPr>
          <p:spPr>
            <a:xfrm>
              <a:off x="4572000" y="45925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3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25" name="橢圓 24"/>
            <p:cNvSpPr/>
            <p:nvPr/>
          </p:nvSpPr>
          <p:spPr>
            <a:xfrm>
              <a:off x="5413829" y="45925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-2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26" name="橢圓 25"/>
            <p:cNvSpPr/>
            <p:nvPr/>
          </p:nvSpPr>
          <p:spPr>
            <a:xfrm>
              <a:off x="6255658" y="45925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-2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27" name="橢圓 26"/>
            <p:cNvSpPr/>
            <p:nvPr/>
          </p:nvSpPr>
          <p:spPr>
            <a:xfrm>
              <a:off x="7097487" y="45925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28" name="橢圓 27"/>
            <p:cNvSpPr/>
            <p:nvPr/>
          </p:nvSpPr>
          <p:spPr>
            <a:xfrm>
              <a:off x="4755537" y="23428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29" name="橢圓 28"/>
            <p:cNvSpPr/>
            <p:nvPr/>
          </p:nvSpPr>
          <p:spPr>
            <a:xfrm>
              <a:off x="5597366" y="23428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30" name="橢圓 29"/>
            <p:cNvSpPr/>
            <p:nvPr/>
          </p:nvSpPr>
          <p:spPr>
            <a:xfrm>
              <a:off x="6439195" y="23428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31" name="橢圓 30"/>
            <p:cNvSpPr/>
            <p:nvPr/>
          </p:nvSpPr>
          <p:spPr>
            <a:xfrm>
              <a:off x="7281024" y="23428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32" name="橢圓 31"/>
            <p:cNvSpPr/>
            <p:nvPr/>
          </p:nvSpPr>
          <p:spPr>
            <a:xfrm>
              <a:off x="4755537" y="31429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33" name="橢圓 32"/>
            <p:cNvSpPr/>
            <p:nvPr/>
          </p:nvSpPr>
          <p:spPr>
            <a:xfrm>
              <a:off x="5597366" y="31429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34" name="橢圓 33"/>
            <p:cNvSpPr/>
            <p:nvPr/>
          </p:nvSpPr>
          <p:spPr>
            <a:xfrm>
              <a:off x="6439195" y="31429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-2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35" name="橢圓 34"/>
            <p:cNvSpPr/>
            <p:nvPr/>
          </p:nvSpPr>
          <p:spPr>
            <a:xfrm>
              <a:off x="7281024" y="31429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36" name="橢圓 35"/>
            <p:cNvSpPr/>
            <p:nvPr/>
          </p:nvSpPr>
          <p:spPr>
            <a:xfrm>
              <a:off x="4755537" y="40007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37" name="橢圓 36"/>
            <p:cNvSpPr/>
            <p:nvPr/>
          </p:nvSpPr>
          <p:spPr>
            <a:xfrm>
              <a:off x="5597366" y="40007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38" name="橢圓 37"/>
            <p:cNvSpPr/>
            <p:nvPr/>
          </p:nvSpPr>
          <p:spPr>
            <a:xfrm>
              <a:off x="6439195" y="40007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-2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39" name="橢圓 38"/>
            <p:cNvSpPr/>
            <p:nvPr/>
          </p:nvSpPr>
          <p:spPr>
            <a:xfrm>
              <a:off x="7281024" y="40007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40" name="橢圓 39"/>
            <p:cNvSpPr/>
            <p:nvPr/>
          </p:nvSpPr>
          <p:spPr>
            <a:xfrm>
              <a:off x="4755537" y="48008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41" name="橢圓 40"/>
            <p:cNvSpPr/>
            <p:nvPr/>
          </p:nvSpPr>
          <p:spPr>
            <a:xfrm>
              <a:off x="5597366" y="48008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0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42" name="橢圓 41"/>
            <p:cNvSpPr/>
            <p:nvPr/>
          </p:nvSpPr>
          <p:spPr>
            <a:xfrm>
              <a:off x="6439195" y="48008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-4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43" name="橢圓 42"/>
            <p:cNvSpPr/>
            <p:nvPr/>
          </p:nvSpPr>
          <p:spPr>
            <a:xfrm>
              <a:off x="7281024" y="48008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3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</p:grpSp>
      <p:sp>
        <p:nvSpPr>
          <p:cNvPr id="46" name="矩形: 圓角 45"/>
          <p:cNvSpPr/>
          <p:nvPr/>
        </p:nvSpPr>
        <p:spPr>
          <a:xfrm>
            <a:off x="4531114" y="368842"/>
            <a:ext cx="3825080" cy="3602678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8" name="直線接點 47"/>
          <p:cNvCxnSpPr/>
          <p:nvPr/>
        </p:nvCxnSpPr>
        <p:spPr>
          <a:xfrm>
            <a:off x="2438401" y="4423256"/>
            <a:ext cx="1107769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3546170" y="2188830"/>
            <a:ext cx="0" cy="2234426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字方塊 51"/>
          <p:cNvSpPr txBox="1"/>
          <p:nvPr/>
        </p:nvSpPr>
        <p:spPr>
          <a:xfrm>
            <a:off x="174292" y="3462667"/>
            <a:ext cx="9327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64</a:t>
            </a:r>
            <a:r>
              <a:rPr lang="en-US" altLang="zh-TW" sz="2400" dirty="0"/>
              <a:t> filters</a:t>
            </a:r>
            <a:endParaRPr lang="zh-TW" altLang="en-US" sz="2400" dirty="0"/>
          </a:p>
        </p:txBody>
      </p:sp>
      <p:sp>
        <p:nvSpPr>
          <p:cNvPr id="53" name="文字方塊 52"/>
          <p:cNvSpPr txBox="1"/>
          <p:nvPr/>
        </p:nvSpPr>
        <p:spPr>
          <a:xfrm>
            <a:off x="4365774" y="3942079"/>
            <a:ext cx="42663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“Image” with </a:t>
            </a:r>
            <a:r>
              <a:rPr lang="en-US" altLang="zh-TW" sz="2400" dirty="0">
                <a:solidFill>
                  <a:srgbClr val="FF0000"/>
                </a:solidFill>
              </a:rPr>
              <a:t>64</a:t>
            </a:r>
            <a:r>
              <a:rPr lang="en-US" altLang="zh-TW" sz="2400" dirty="0"/>
              <a:t> channels</a:t>
            </a:r>
            <a:endParaRPr lang="zh-TW" altLang="en-US" sz="2400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430110" y="552750"/>
            <a:ext cx="38250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i="1" u="sng" dirty="0"/>
              <a:t>Convolutional Layer</a:t>
            </a:r>
            <a:endParaRPr lang="zh-TW" altLang="en-US" sz="3200" b="1" i="1" u="sng" dirty="0"/>
          </a:p>
        </p:txBody>
      </p:sp>
      <p:cxnSp>
        <p:nvCxnSpPr>
          <p:cNvPr id="73" name="直線接點 72"/>
          <p:cNvCxnSpPr/>
          <p:nvPr/>
        </p:nvCxnSpPr>
        <p:spPr>
          <a:xfrm>
            <a:off x="3546170" y="2118389"/>
            <a:ext cx="872742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s.hswstatic.com/gif/whiskers-sam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03" y="1831341"/>
            <a:ext cx="1771005" cy="1204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1116284" y="3569317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Convolution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6" name="向下箭號 11"/>
          <p:cNvSpPr/>
          <p:nvPr/>
        </p:nvSpPr>
        <p:spPr>
          <a:xfrm>
            <a:off x="1735981" y="3091572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7" name="向下箭號 17"/>
          <p:cNvSpPr/>
          <p:nvPr/>
        </p:nvSpPr>
        <p:spPr>
          <a:xfrm>
            <a:off x="1735981" y="4202354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16284" y="4720707"/>
            <a:ext cx="1736724" cy="55648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Convolution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0" name="向下箭號 17"/>
          <p:cNvSpPr/>
          <p:nvPr/>
        </p:nvSpPr>
        <p:spPr>
          <a:xfrm>
            <a:off x="1735981" y="5353744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1" name="文字方塊 10"/>
          <p:cNvSpPr txBox="1"/>
          <p:nvPr/>
        </p:nvSpPr>
        <p:spPr>
          <a:xfrm rot="5400000">
            <a:off x="1747228" y="5973184"/>
            <a:ext cx="7083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……</a:t>
            </a:r>
            <a:endParaRPr kumimoji="0" lang="zh-TW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grpSp>
        <p:nvGrpSpPr>
          <p:cNvPr id="45" name="群組 44"/>
          <p:cNvGrpSpPr/>
          <p:nvPr/>
        </p:nvGrpSpPr>
        <p:grpSpPr>
          <a:xfrm>
            <a:off x="4703895" y="460517"/>
            <a:ext cx="3429024" cy="3386185"/>
            <a:chOff x="4572000" y="2134622"/>
            <a:chExt cx="3429024" cy="3386185"/>
          </a:xfrm>
        </p:grpSpPr>
        <p:sp>
          <p:nvSpPr>
            <p:cNvPr id="12" name="橢圓 11"/>
            <p:cNvSpPr/>
            <p:nvPr/>
          </p:nvSpPr>
          <p:spPr>
            <a:xfrm>
              <a:off x="4572000" y="21346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3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13" name="橢圓 12"/>
            <p:cNvSpPr/>
            <p:nvPr/>
          </p:nvSpPr>
          <p:spPr>
            <a:xfrm>
              <a:off x="5413829" y="21346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14" name="橢圓 13"/>
            <p:cNvSpPr/>
            <p:nvPr/>
          </p:nvSpPr>
          <p:spPr>
            <a:xfrm>
              <a:off x="6255658" y="21346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-3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15" name="橢圓 14"/>
            <p:cNvSpPr/>
            <p:nvPr/>
          </p:nvSpPr>
          <p:spPr>
            <a:xfrm>
              <a:off x="7097487" y="21346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16" name="橢圓 15"/>
            <p:cNvSpPr/>
            <p:nvPr/>
          </p:nvSpPr>
          <p:spPr>
            <a:xfrm>
              <a:off x="4572000" y="29347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-3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17" name="橢圓 16"/>
            <p:cNvSpPr/>
            <p:nvPr/>
          </p:nvSpPr>
          <p:spPr>
            <a:xfrm>
              <a:off x="5413829" y="29347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18" name="橢圓 17"/>
            <p:cNvSpPr/>
            <p:nvPr/>
          </p:nvSpPr>
          <p:spPr>
            <a:xfrm>
              <a:off x="6255658" y="29347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0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19" name="橢圓 18"/>
            <p:cNvSpPr/>
            <p:nvPr/>
          </p:nvSpPr>
          <p:spPr>
            <a:xfrm>
              <a:off x="7097487" y="29347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-3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20" name="橢圓 19"/>
            <p:cNvSpPr/>
            <p:nvPr/>
          </p:nvSpPr>
          <p:spPr>
            <a:xfrm>
              <a:off x="4572000" y="37924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-3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21" name="橢圓 20"/>
            <p:cNvSpPr/>
            <p:nvPr/>
          </p:nvSpPr>
          <p:spPr>
            <a:xfrm>
              <a:off x="5413829" y="37924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-3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22" name="橢圓 21"/>
            <p:cNvSpPr/>
            <p:nvPr/>
          </p:nvSpPr>
          <p:spPr>
            <a:xfrm>
              <a:off x="6255658" y="37924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0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23" name="橢圓 22"/>
            <p:cNvSpPr/>
            <p:nvPr/>
          </p:nvSpPr>
          <p:spPr>
            <a:xfrm>
              <a:off x="7097487" y="37924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24" name="橢圓 23"/>
            <p:cNvSpPr/>
            <p:nvPr/>
          </p:nvSpPr>
          <p:spPr>
            <a:xfrm>
              <a:off x="4572000" y="45925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3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25" name="橢圓 24"/>
            <p:cNvSpPr/>
            <p:nvPr/>
          </p:nvSpPr>
          <p:spPr>
            <a:xfrm>
              <a:off x="5413829" y="45925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-2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26" name="橢圓 25"/>
            <p:cNvSpPr/>
            <p:nvPr/>
          </p:nvSpPr>
          <p:spPr>
            <a:xfrm>
              <a:off x="6255658" y="45925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-2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27" name="橢圓 26"/>
            <p:cNvSpPr/>
            <p:nvPr/>
          </p:nvSpPr>
          <p:spPr>
            <a:xfrm>
              <a:off x="7097487" y="45925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28" name="橢圓 27"/>
            <p:cNvSpPr/>
            <p:nvPr/>
          </p:nvSpPr>
          <p:spPr>
            <a:xfrm>
              <a:off x="4755537" y="23428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29" name="橢圓 28"/>
            <p:cNvSpPr/>
            <p:nvPr/>
          </p:nvSpPr>
          <p:spPr>
            <a:xfrm>
              <a:off x="5597366" y="23428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30" name="橢圓 29"/>
            <p:cNvSpPr/>
            <p:nvPr/>
          </p:nvSpPr>
          <p:spPr>
            <a:xfrm>
              <a:off x="6439195" y="23428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31" name="橢圓 30"/>
            <p:cNvSpPr/>
            <p:nvPr/>
          </p:nvSpPr>
          <p:spPr>
            <a:xfrm>
              <a:off x="7281024" y="23428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32" name="橢圓 31"/>
            <p:cNvSpPr/>
            <p:nvPr/>
          </p:nvSpPr>
          <p:spPr>
            <a:xfrm>
              <a:off x="4755537" y="31429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33" name="橢圓 32"/>
            <p:cNvSpPr/>
            <p:nvPr/>
          </p:nvSpPr>
          <p:spPr>
            <a:xfrm>
              <a:off x="5597366" y="31429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34" name="橢圓 33"/>
            <p:cNvSpPr/>
            <p:nvPr/>
          </p:nvSpPr>
          <p:spPr>
            <a:xfrm>
              <a:off x="6439195" y="31429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-2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35" name="橢圓 34"/>
            <p:cNvSpPr/>
            <p:nvPr/>
          </p:nvSpPr>
          <p:spPr>
            <a:xfrm>
              <a:off x="7281024" y="31429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36" name="橢圓 35"/>
            <p:cNvSpPr/>
            <p:nvPr/>
          </p:nvSpPr>
          <p:spPr>
            <a:xfrm>
              <a:off x="4755537" y="40007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37" name="橢圓 36"/>
            <p:cNvSpPr/>
            <p:nvPr/>
          </p:nvSpPr>
          <p:spPr>
            <a:xfrm>
              <a:off x="5597366" y="40007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38" name="橢圓 37"/>
            <p:cNvSpPr/>
            <p:nvPr/>
          </p:nvSpPr>
          <p:spPr>
            <a:xfrm>
              <a:off x="6439195" y="40007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-2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39" name="橢圓 38"/>
            <p:cNvSpPr/>
            <p:nvPr/>
          </p:nvSpPr>
          <p:spPr>
            <a:xfrm>
              <a:off x="7281024" y="40007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40" name="橢圓 39"/>
            <p:cNvSpPr/>
            <p:nvPr/>
          </p:nvSpPr>
          <p:spPr>
            <a:xfrm>
              <a:off x="4755537" y="48008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41" name="橢圓 40"/>
            <p:cNvSpPr/>
            <p:nvPr/>
          </p:nvSpPr>
          <p:spPr>
            <a:xfrm>
              <a:off x="5597366" y="48008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0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42" name="橢圓 41"/>
            <p:cNvSpPr/>
            <p:nvPr/>
          </p:nvSpPr>
          <p:spPr>
            <a:xfrm>
              <a:off x="6439195" y="48008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-4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43" name="橢圓 42"/>
            <p:cNvSpPr/>
            <p:nvPr/>
          </p:nvSpPr>
          <p:spPr>
            <a:xfrm>
              <a:off x="7281024" y="48008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3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</p:grpSp>
      <p:sp>
        <p:nvSpPr>
          <p:cNvPr id="46" name="矩形: 圓角 45"/>
          <p:cNvSpPr/>
          <p:nvPr/>
        </p:nvSpPr>
        <p:spPr>
          <a:xfrm>
            <a:off x="4531114" y="368842"/>
            <a:ext cx="3825080" cy="3602678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8" name="直線接點 47"/>
          <p:cNvCxnSpPr/>
          <p:nvPr/>
        </p:nvCxnSpPr>
        <p:spPr>
          <a:xfrm>
            <a:off x="2438401" y="4423256"/>
            <a:ext cx="1107769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3546170" y="2188830"/>
            <a:ext cx="0" cy="2234426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字方塊 51"/>
          <p:cNvSpPr txBox="1"/>
          <p:nvPr/>
        </p:nvSpPr>
        <p:spPr>
          <a:xfrm>
            <a:off x="174292" y="3462667"/>
            <a:ext cx="9327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64</a:t>
            </a:r>
            <a:r>
              <a:rPr lang="en-US" altLang="zh-TW" sz="2400" dirty="0"/>
              <a:t> filters</a:t>
            </a:r>
            <a:endParaRPr lang="zh-TW" altLang="en-US" sz="2400" dirty="0"/>
          </a:p>
        </p:txBody>
      </p:sp>
      <p:sp>
        <p:nvSpPr>
          <p:cNvPr id="53" name="文字方塊 52"/>
          <p:cNvSpPr txBox="1"/>
          <p:nvPr/>
        </p:nvSpPr>
        <p:spPr>
          <a:xfrm>
            <a:off x="4365774" y="3942079"/>
            <a:ext cx="42663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“Image” with </a:t>
            </a:r>
            <a:r>
              <a:rPr lang="en-US" altLang="zh-TW" sz="2400" dirty="0">
                <a:solidFill>
                  <a:srgbClr val="FF0000"/>
                </a:solidFill>
              </a:rPr>
              <a:t>64</a:t>
            </a:r>
            <a:r>
              <a:rPr lang="en-US" altLang="zh-TW" sz="2400" dirty="0"/>
              <a:t> channels</a:t>
            </a:r>
            <a:endParaRPr lang="zh-TW" altLang="en-US" sz="2400" dirty="0"/>
          </a:p>
        </p:txBody>
      </p:sp>
      <p:grpSp>
        <p:nvGrpSpPr>
          <p:cNvPr id="76" name="群組 75"/>
          <p:cNvGrpSpPr/>
          <p:nvPr/>
        </p:nvGrpSpPr>
        <p:grpSpPr>
          <a:xfrm>
            <a:off x="7202958" y="5224576"/>
            <a:ext cx="2142061" cy="809633"/>
            <a:chOff x="6956685" y="5235328"/>
            <a:chExt cx="2142061" cy="809633"/>
          </a:xfrm>
        </p:grpSpPr>
        <p:sp>
          <p:nvSpPr>
            <p:cNvPr id="55" name="文字方塊 54"/>
            <p:cNvSpPr txBox="1"/>
            <p:nvPr/>
          </p:nvSpPr>
          <p:spPr>
            <a:xfrm>
              <a:off x="6956685" y="5235328"/>
              <a:ext cx="144812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Filter: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56" name="文字方塊 55"/>
            <p:cNvSpPr txBox="1"/>
            <p:nvPr/>
          </p:nvSpPr>
          <p:spPr>
            <a:xfrm>
              <a:off x="6956685" y="5583296"/>
              <a:ext cx="214206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altLang="zh-TW" sz="2400" dirty="0">
                  <a:solidFill>
                    <a:prstClr val="black"/>
                  </a:solidFill>
                </a:rPr>
                <a:t>3 x 3 x </a:t>
              </a:r>
              <a:r>
                <a:rPr lang="en-US" altLang="zh-TW" sz="2400" dirty="0">
                  <a:solidFill>
                    <a:srgbClr val="FF0000"/>
                  </a:solidFill>
                </a:rPr>
                <a:t>64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</a:endParaRPr>
            </a:p>
          </p:txBody>
        </p:sp>
      </p:grpSp>
      <p:graphicFrame>
        <p:nvGraphicFramePr>
          <p:cNvPr id="57" name="表格 56"/>
          <p:cNvGraphicFramePr>
            <a:graphicFrameLocks noGrp="1"/>
          </p:cNvGraphicFramePr>
          <p:nvPr/>
        </p:nvGraphicFramePr>
        <p:xfrm>
          <a:off x="5023690" y="4686883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/>
                <a:gridCol w="540718"/>
                <a:gridCol w="540718"/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8" name="表格 57"/>
          <p:cNvGraphicFramePr>
            <a:graphicFrameLocks noGrp="1"/>
          </p:cNvGraphicFramePr>
          <p:nvPr/>
        </p:nvGraphicFramePr>
        <p:xfrm>
          <a:off x="5176090" y="4839283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/>
                <a:gridCol w="540718"/>
                <a:gridCol w="540718"/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1" name="文字方塊 60"/>
          <p:cNvSpPr txBox="1"/>
          <p:nvPr/>
        </p:nvSpPr>
        <p:spPr>
          <a:xfrm>
            <a:off x="329948" y="279854"/>
            <a:ext cx="382507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i="1" u="sng" dirty="0"/>
              <a:t>Multiple Convolutional Layers</a:t>
            </a:r>
            <a:endParaRPr lang="zh-TW" altLang="en-US" sz="3200" b="1" i="1" u="sng" dirty="0"/>
          </a:p>
        </p:txBody>
      </p:sp>
      <p:graphicFrame>
        <p:nvGraphicFramePr>
          <p:cNvPr id="69" name="表格 68"/>
          <p:cNvGraphicFramePr>
            <a:graphicFrameLocks noGrp="1"/>
          </p:cNvGraphicFramePr>
          <p:nvPr/>
        </p:nvGraphicFramePr>
        <p:xfrm>
          <a:off x="5328490" y="4991683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/>
                <a:gridCol w="540718"/>
                <a:gridCol w="540718"/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73" name="直線接點 72"/>
          <p:cNvCxnSpPr/>
          <p:nvPr/>
        </p:nvCxnSpPr>
        <p:spPr>
          <a:xfrm>
            <a:off x="3546170" y="2118389"/>
            <a:ext cx="872742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9" name="表格 78"/>
          <p:cNvGraphicFramePr>
            <a:graphicFrameLocks noGrp="1"/>
          </p:cNvGraphicFramePr>
          <p:nvPr/>
        </p:nvGraphicFramePr>
        <p:xfrm>
          <a:off x="5454647" y="5117558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/>
                <a:gridCol w="540718"/>
                <a:gridCol w="540718"/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3" name="文字方塊 82"/>
          <p:cNvSpPr txBox="1"/>
          <p:nvPr/>
        </p:nvSpPr>
        <p:spPr>
          <a:xfrm>
            <a:off x="4284244" y="6210883"/>
            <a:ext cx="523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lang="en-US" altLang="zh-TW" sz="2400" dirty="0">
                <a:solidFill>
                  <a:srgbClr val="FF0000"/>
                </a:solidFill>
              </a:rPr>
              <a:t>64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</a:endParaRPr>
          </a:p>
        </p:txBody>
      </p:sp>
      <p:sp>
        <p:nvSpPr>
          <p:cNvPr id="84" name="右大括弧 83"/>
          <p:cNvSpPr/>
          <p:nvPr/>
        </p:nvSpPr>
        <p:spPr>
          <a:xfrm rot="8008147">
            <a:off x="4954798" y="5883144"/>
            <a:ext cx="322150" cy="886145"/>
          </a:xfrm>
          <a:prstGeom prst="rightBrace">
            <a:avLst>
              <a:gd name="adj1" fmla="val 31529"/>
              <a:gd name="adj2" fmla="val 68289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5" name="矩形: 圓角 84"/>
          <p:cNvSpPr/>
          <p:nvPr/>
        </p:nvSpPr>
        <p:spPr>
          <a:xfrm>
            <a:off x="4142031" y="4510363"/>
            <a:ext cx="4509049" cy="2223053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6" name="直線接點 85"/>
          <p:cNvCxnSpPr/>
          <p:nvPr/>
        </p:nvCxnSpPr>
        <p:spPr>
          <a:xfrm>
            <a:off x="2853008" y="5019614"/>
            <a:ext cx="693162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接點 87"/>
          <p:cNvCxnSpPr/>
          <p:nvPr/>
        </p:nvCxnSpPr>
        <p:spPr>
          <a:xfrm>
            <a:off x="3546170" y="5019614"/>
            <a:ext cx="0" cy="666627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接點 89"/>
          <p:cNvCxnSpPr>
            <a:endCxn id="85" idx="1"/>
          </p:cNvCxnSpPr>
          <p:nvPr/>
        </p:nvCxnSpPr>
        <p:spPr>
          <a:xfrm flipV="1">
            <a:off x="3546170" y="5621890"/>
            <a:ext cx="595861" cy="12856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投影片編號版面配置區 9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/>
      <p:bldP spid="84" grpId="0" animBg="1"/>
      <p:bldP spid="8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329948" y="279854"/>
            <a:ext cx="382507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i="1" u="sng" dirty="0"/>
              <a:t>Multiple Convolutional Layers</a:t>
            </a:r>
            <a:endParaRPr lang="zh-TW" altLang="en-US" sz="3200" b="1" i="1" u="sng" dirty="0"/>
          </a:p>
        </p:txBody>
      </p:sp>
      <p:pic>
        <p:nvPicPr>
          <p:cNvPr id="5" name="Picture 2" descr="http://s.hswstatic.com/gif/whiskers-sam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03" y="1831341"/>
            <a:ext cx="1771005" cy="1204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/>
          <p:cNvSpPr/>
          <p:nvPr/>
        </p:nvSpPr>
        <p:spPr>
          <a:xfrm>
            <a:off x="1116284" y="3569317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Convolution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7" name="向下箭號 11"/>
          <p:cNvSpPr/>
          <p:nvPr/>
        </p:nvSpPr>
        <p:spPr>
          <a:xfrm>
            <a:off x="1735981" y="3091572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8" name="向下箭號 17"/>
          <p:cNvSpPr/>
          <p:nvPr/>
        </p:nvSpPr>
        <p:spPr>
          <a:xfrm>
            <a:off x="1735981" y="4202354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16284" y="4720707"/>
            <a:ext cx="1736724" cy="55648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Convolution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0" name="向下箭號 17"/>
          <p:cNvSpPr/>
          <p:nvPr/>
        </p:nvSpPr>
        <p:spPr>
          <a:xfrm>
            <a:off x="1735981" y="5353744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1" name="文字方塊 10"/>
          <p:cNvSpPr txBox="1"/>
          <p:nvPr/>
        </p:nvSpPr>
        <p:spPr>
          <a:xfrm rot="5400000">
            <a:off x="1747228" y="5973184"/>
            <a:ext cx="7083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……</a:t>
            </a:r>
            <a:endParaRPr kumimoji="0" lang="zh-TW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174292" y="3462667"/>
            <a:ext cx="9327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64 filters</a:t>
            </a:r>
            <a:endParaRPr lang="zh-TW" altLang="en-US" sz="2400" dirty="0"/>
          </a:p>
        </p:txBody>
      </p:sp>
      <p:grpSp>
        <p:nvGrpSpPr>
          <p:cNvPr id="13" name="群組 12"/>
          <p:cNvGrpSpPr/>
          <p:nvPr/>
        </p:nvGrpSpPr>
        <p:grpSpPr>
          <a:xfrm>
            <a:off x="4615542" y="3309285"/>
            <a:ext cx="3429024" cy="3386185"/>
            <a:chOff x="4572000" y="2134622"/>
            <a:chExt cx="3429024" cy="3386185"/>
          </a:xfrm>
        </p:grpSpPr>
        <p:sp>
          <p:nvSpPr>
            <p:cNvPr id="14" name="橢圓 13"/>
            <p:cNvSpPr/>
            <p:nvPr/>
          </p:nvSpPr>
          <p:spPr>
            <a:xfrm>
              <a:off x="4572000" y="21346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3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15" name="橢圓 14"/>
            <p:cNvSpPr/>
            <p:nvPr/>
          </p:nvSpPr>
          <p:spPr>
            <a:xfrm>
              <a:off x="5413829" y="21346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16" name="橢圓 15"/>
            <p:cNvSpPr/>
            <p:nvPr/>
          </p:nvSpPr>
          <p:spPr>
            <a:xfrm>
              <a:off x="6255658" y="21346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-3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17" name="橢圓 16"/>
            <p:cNvSpPr/>
            <p:nvPr/>
          </p:nvSpPr>
          <p:spPr>
            <a:xfrm>
              <a:off x="7097487" y="21346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18" name="橢圓 17"/>
            <p:cNvSpPr/>
            <p:nvPr/>
          </p:nvSpPr>
          <p:spPr>
            <a:xfrm>
              <a:off x="4572000" y="29347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-3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19" name="橢圓 18"/>
            <p:cNvSpPr/>
            <p:nvPr/>
          </p:nvSpPr>
          <p:spPr>
            <a:xfrm>
              <a:off x="5413829" y="29347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20" name="橢圓 19"/>
            <p:cNvSpPr/>
            <p:nvPr/>
          </p:nvSpPr>
          <p:spPr>
            <a:xfrm>
              <a:off x="6255658" y="29347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0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21" name="橢圓 20"/>
            <p:cNvSpPr/>
            <p:nvPr/>
          </p:nvSpPr>
          <p:spPr>
            <a:xfrm>
              <a:off x="7097487" y="29347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-3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22" name="橢圓 21"/>
            <p:cNvSpPr/>
            <p:nvPr/>
          </p:nvSpPr>
          <p:spPr>
            <a:xfrm>
              <a:off x="4572000" y="37924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-3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23" name="橢圓 22"/>
            <p:cNvSpPr/>
            <p:nvPr/>
          </p:nvSpPr>
          <p:spPr>
            <a:xfrm>
              <a:off x="5413829" y="37924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-3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24" name="橢圓 23"/>
            <p:cNvSpPr/>
            <p:nvPr/>
          </p:nvSpPr>
          <p:spPr>
            <a:xfrm>
              <a:off x="6255658" y="37924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0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25" name="橢圓 24"/>
            <p:cNvSpPr/>
            <p:nvPr/>
          </p:nvSpPr>
          <p:spPr>
            <a:xfrm>
              <a:off x="7097487" y="37924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26" name="橢圓 25"/>
            <p:cNvSpPr/>
            <p:nvPr/>
          </p:nvSpPr>
          <p:spPr>
            <a:xfrm>
              <a:off x="4572000" y="45925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3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27" name="橢圓 26"/>
            <p:cNvSpPr/>
            <p:nvPr/>
          </p:nvSpPr>
          <p:spPr>
            <a:xfrm>
              <a:off x="5413829" y="45925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-2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28" name="橢圓 27"/>
            <p:cNvSpPr/>
            <p:nvPr/>
          </p:nvSpPr>
          <p:spPr>
            <a:xfrm>
              <a:off x="6255658" y="45925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-2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29" name="橢圓 28"/>
            <p:cNvSpPr/>
            <p:nvPr/>
          </p:nvSpPr>
          <p:spPr>
            <a:xfrm>
              <a:off x="7097487" y="45925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30" name="橢圓 29"/>
            <p:cNvSpPr/>
            <p:nvPr/>
          </p:nvSpPr>
          <p:spPr>
            <a:xfrm>
              <a:off x="4755537" y="23428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31" name="橢圓 30"/>
            <p:cNvSpPr/>
            <p:nvPr/>
          </p:nvSpPr>
          <p:spPr>
            <a:xfrm>
              <a:off x="5597366" y="23428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32" name="橢圓 31"/>
            <p:cNvSpPr/>
            <p:nvPr/>
          </p:nvSpPr>
          <p:spPr>
            <a:xfrm>
              <a:off x="6439195" y="23428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33" name="橢圓 32"/>
            <p:cNvSpPr/>
            <p:nvPr/>
          </p:nvSpPr>
          <p:spPr>
            <a:xfrm>
              <a:off x="7281024" y="23428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34" name="橢圓 33"/>
            <p:cNvSpPr/>
            <p:nvPr/>
          </p:nvSpPr>
          <p:spPr>
            <a:xfrm>
              <a:off x="4755537" y="31429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35" name="橢圓 34"/>
            <p:cNvSpPr/>
            <p:nvPr/>
          </p:nvSpPr>
          <p:spPr>
            <a:xfrm>
              <a:off x="5597366" y="31429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36" name="橢圓 35"/>
            <p:cNvSpPr/>
            <p:nvPr/>
          </p:nvSpPr>
          <p:spPr>
            <a:xfrm>
              <a:off x="6439195" y="31429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-2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37" name="橢圓 36"/>
            <p:cNvSpPr/>
            <p:nvPr/>
          </p:nvSpPr>
          <p:spPr>
            <a:xfrm>
              <a:off x="7281024" y="31429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38" name="橢圓 37"/>
            <p:cNvSpPr/>
            <p:nvPr/>
          </p:nvSpPr>
          <p:spPr>
            <a:xfrm>
              <a:off x="4755537" y="40007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39" name="橢圓 38"/>
            <p:cNvSpPr/>
            <p:nvPr/>
          </p:nvSpPr>
          <p:spPr>
            <a:xfrm>
              <a:off x="5597366" y="40007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40" name="橢圓 39"/>
            <p:cNvSpPr/>
            <p:nvPr/>
          </p:nvSpPr>
          <p:spPr>
            <a:xfrm>
              <a:off x="6439195" y="40007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-2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41" name="橢圓 40"/>
            <p:cNvSpPr/>
            <p:nvPr/>
          </p:nvSpPr>
          <p:spPr>
            <a:xfrm>
              <a:off x="7281024" y="40007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42" name="橢圓 41"/>
            <p:cNvSpPr/>
            <p:nvPr/>
          </p:nvSpPr>
          <p:spPr>
            <a:xfrm>
              <a:off x="4755537" y="48008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43" name="橢圓 42"/>
            <p:cNvSpPr/>
            <p:nvPr/>
          </p:nvSpPr>
          <p:spPr>
            <a:xfrm>
              <a:off x="5597366" y="48008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0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44" name="橢圓 43"/>
            <p:cNvSpPr/>
            <p:nvPr/>
          </p:nvSpPr>
          <p:spPr>
            <a:xfrm>
              <a:off x="6439195" y="48008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-4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45" name="橢圓 44"/>
            <p:cNvSpPr/>
            <p:nvPr/>
          </p:nvSpPr>
          <p:spPr>
            <a:xfrm>
              <a:off x="7281024" y="48008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3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</p:grpSp>
      <p:graphicFrame>
        <p:nvGraphicFramePr>
          <p:cNvPr id="47" name="內容版面配置區 3"/>
          <p:cNvGraphicFramePr>
            <a:graphicFrameLocks noGrp="1"/>
          </p:cNvGraphicFramePr>
          <p:nvPr>
            <p:ph idx="1"/>
          </p:nvPr>
        </p:nvGraphicFramePr>
        <p:xfrm>
          <a:off x="4818673" y="179831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/>
                <a:gridCol w="478995"/>
                <a:gridCol w="478995"/>
                <a:gridCol w="478995"/>
                <a:gridCol w="478995"/>
                <a:gridCol w="47899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en-US" altLang="zh-TW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8" name="矩形 47"/>
          <p:cNvSpPr/>
          <p:nvPr/>
        </p:nvSpPr>
        <p:spPr>
          <a:xfrm>
            <a:off x="4822323" y="3541755"/>
            <a:ext cx="2392221" cy="2357903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4784565" y="148016"/>
            <a:ext cx="2426983" cy="2391983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50" name="投影片編號版面配置區 4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</a:fld>
            <a:endParaRPr lang="zh-TW" altLang="en-US"/>
          </a:p>
        </p:txBody>
      </p:sp>
      <p:sp>
        <p:nvSpPr>
          <p:cNvPr id="51" name="矩形 50"/>
          <p:cNvSpPr/>
          <p:nvPr/>
        </p:nvSpPr>
        <p:spPr>
          <a:xfrm>
            <a:off x="4880434" y="3604737"/>
            <a:ext cx="576938" cy="59761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4880433" y="220846"/>
            <a:ext cx="1296937" cy="128864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6492561" y="5175370"/>
            <a:ext cx="636662" cy="64955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5832286" y="1144842"/>
            <a:ext cx="1296937" cy="128864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9" grpId="0" animBg="1"/>
      <p:bldP spid="51" grpId="0" animBg="1"/>
      <p:bldP spid="52" grpId="0" animBg="1"/>
      <p:bldP spid="53" grpId="0" animBg="1"/>
      <p:bldP spid="5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Comparison of Two Stories 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4737321" y="2888998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/>
                <a:gridCol w="540718"/>
                <a:gridCol w="540718"/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6738724" y="3261366"/>
            <a:ext cx="1448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Filter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6738724" y="3647777"/>
            <a:ext cx="21420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TW" sz="2400" dirty="0">
                <a:solidFill>
                  <a:prstClr val="black"/>
                </a:solidFill>
              </a:rPr>
              <a:t>3 x 3 x channel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4889721" y="3041398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/>
                <a:gridCol w="540718"/>
                <a:gridCol w="540718"/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0" name="文字方塊 9"/>
          <p:cNvSpPr txBox="1"/>
          <p:nvPr/>
        </p:nvSpPr>
        <p:spPr>
          <a:xfrm>
            <a:off x="6732301" y="4016238"/>
            <a:ext cx="12246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TW" sz="2400" dirty="0">
                <a:solidFill>
                  <a:prstClr val="black"/>
                </a:solidFill>
              </a:rPr>
              <a:t>tensor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graphicFrame>
        <p:nvGraphicFramePr>
          <p:cNvPr id="11" name="表格 23"/>
          <p:cNvGraphicFramePr>
            <a:graphicFrameLocks noGrp="1"/>
          </p:cNvGraphicFramePr>
          <p:nvPr/>
        </p:nvGraphicFramePr>
        <p:xfrm>
          <a:off x="1393917" y="2561234"/>
          <a:ext cx="42138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表格 23"/>
          <p:cNvGraphicFramePr>
            <a:graphicFrameLocks noGrp="1"/>
          </p:cNvGraphicFramePr>
          <p:nvPr/>
        </p:nvGraphicFramePr>
        <p:xfrm>
          <a:off x="1393917" y="3931138"/>
          <a:ext cx="42138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3" name="文字方塊 12"/>
          <p:cNvSpPr txBox="1"/>
          <p:nvPr/>
        </p:nvSpPr>
        <p:spPr>
          <a:xfrm rot="5400000">
            <a:off x="1339754" y="3379465"/>
            <a:ext cx="750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…...</a:t>
            </a:r>
            <a:endParaRPr lang="zh-TW" altLang="en-US" sz="2800" dirty="0"/>
          </a:p>
        </p:txBody>
      </p:sp>
      <p:graphicFrame>
        <p:nvGraphicFramePr>
          <p:cNvPr id="14" name="表格 23"/>
          <p:cNvGraphicFramePr>
            <a:graphicFrameLocks noGrp="1"/>
          </p:cNvGraphicFramePr>
          <p:nvPr/>
        </p:nvGraphicFramePr>
        <p:xfrm>
          <a:off x="1394441" y="4332170"/>
          <a:ext cx="42138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15" name="群組 14"/>
          <p:cNvGrpSpPr/>
          <p:nvPr/>
        </p:nvGrpSpPr>
        <p:grpSpPr>
          <a:xfrm>
            <a:off x="2981183" y="3599434"/>
            <a:ext cx="638175" cy="638175"/>
            <a:chOff x="8370546" y="1983114"/>
            <a:chExt cx="638175" cy="638175"/>
          </a:xfrm>
        </p:grpSpPr>
        <p:sp>
          <p:nvSpPr>
            <p:cNvPr id="16" name="橢圓 15"/>
            <p:cNvSpPr/>
            <p:nvPr/>
          </p:nvSpPr>
          <p:spPr>
            <a:xfrm>
              <a:off x="8370546" y="1983114"/>
              <a:ext cx="638175" cy="638175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手繪多邊形 108"/>
            <p:cNvSpPr/>
            <p:nvPr/>
          </p:nvSpPr>
          <p:spPr>
            <a:xfrm>
              <a:off x="8447407" y="2115472"/>
              <a:ext cx="469900" cy="354083"/>
            </a:xfrm>
            <a:custGeom>
              <a:avLst/>
              <a:gdLst>
                <a:gd name="connsiteX0" fmla="*/ 469900 w 469900"/>
                <a:gd name="connsiteY0" fmla="*/ 5192 h 354083"/>
                <a:gd name="connsiteX1" fmla="*/ 254000 w 469900"/>
                <a:gd name="connsiteY1" fmla="*/ 43292 h 354083"/>
                <a:gd name="connsiteX2" fmla="*/ 139700 w 469900"/>
                <a:gd name="connsiteY2" fmla="*/ 322692 h 354083"/>
                <a:gd name="connsiteX3" fmla="*/ 0 w 469900"/>
                <a:gd name="connsiteY3" fmla="*/ 335392 h 354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9900" h="354083">
                  <a:moveTo>
                    <a:pt x="469900" y="5192"/>
                  </a:moveTo>
                  <a:cubicBezTo>
                    <a:pt x="389466" y="-2217"/>
                    <a:pt x="309033" y="-9625"/>
                    <a:pt x="254000" y="43292"/>
                  </a:cubicBezTo>
                  <a:cubicBezTo>
                    <a:pt x="198967" y="96209"/>
                    <a:pt x="182033" y="274009"/>
                    <a:pt x="139700" y="322692"/>
                  </a:cubicBezTo>
                  <a:cubicBezTo>
                    <a:pt x="97367" y="371375"/>
                    <a:pt x="48683" y="353383"/>
                    <a:pt x="0" y="335392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cxnSp>
        <p:nvCxnSpPr>
          <p:cNvPr id="18" name="直線單箭頭接點 17"/>
          <p:cNvCxnSpPr/>
          <p:nvPr/>
        </p:nvCxnSpPr>
        <p:spPr>
          <a:xfrm>
            <a:off x="3633441" y="3903206"/>
            <a:ext cx="65890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>
            <a:endCxn id="16" idx="2"/>
          </p:cNvCxnSpPr>
          <p:nvPr/>
        </p:nvCxnSpPr>
        <p:spPr>
          <a:xfrm>
            <a:off x="1815306" y="2743000"/>
            <a:ext cx="1165877" cy="117552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>
            <a:endCxn id="16" idx="2"/>
          </p:cNvCxnSpPr>
          <p:nvPr/>
        </p:nvCxnSpPr>
        <p:spPr>
          <a:xfrm>
            <a:off x="1820843" y="3102236"/>
            <a:ext cx="1160340" cy="816286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>
            <a:endCxn id="16" idx="2"/>
          </p:cNvCxnSpPr>
          <p:nvPr/>
        </p:nvCxnSpPr>
        <p:spPr>
          <a:xfrm flipV="1">
            <a:off x="1820843" y="3918522"/>
            <a:ext cx="1160340" cy="19019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>
            <a:endCxn id="16" idx="2"/>
          </p:cNvCxnSpPr>
          <p:nvPr/>
        </p:nvCxnSpPr>
        <p:spPr>
          <a:xfrm flipV="1">
            <a:off x="1810104" y="3918522"/>
            <a:ext cx="1171079" cy="581372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>
            <a:endCxn id="16" idx="2"/>
          </p:cNvCxnSpPr>
          <p:nvPr/>
        </p:nvCxnSpPr>
        <p:spPr>
          <a:xfrm flipV="1">
            <a:off x="1799365" y="3918522"/>
            <a:ext cx="1181818" cy="925722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表格 31"/>
          <p:cNvGraphicFramePr>
            <a:graphicFrameLocks noGrp="1"/>
          </p:cNvGraphicFramePr>
          <p:nvPr/>
        </p:nvGraphicFramePr>
        <p:xfrm>
          <a:off x="5078140" y="3215538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/>
                <a:gridCol w="540718"/>
                <a:gridCol w="540718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3" name="橢圓 32"/>
          <p:cNvSpPr/>
          <p:nvPr/>
        </p:nvSpPr>
        <p:spPr>
          <a:xfrm>
            <a:off x="5137803" y="3236097"/>
            <a:ext cx="418120" cy="42477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橢圓 33"/>
          <p:cNvSpPr/>
          <p:nvPr/>
        </p:nvSpPr>
        <p:spPr>
          <a:xfrm>
            <a:off x="5693832" y="3229178"/>
            <a:ext cx="418120" cy="424773"/>
          </a:xfrm>
          <a:prstGeom prst="ellips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橢圓 34"/>
          <p:cNvSpPr/>
          <p:nvPr/>
        </p:nvSpPr>
        <p:spPr>
          <a:xfrm>
            <a:off x="6226615" y="4161563"/>
            <a:ext cx="418120" cy="424773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文字方塊 35"/>
          <p:cNvSpPr txBox="1"/>
          <p:nvPr/>
        </p:nvSpPr>
        <p:spPr>
          <a:xfrm>
            <a:off x="870888" y="5128118"/>
            <a:ext cx="14126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Receptive field </a:t>
            </a:r>
            <a:endParaRPr lang="zh-TW" altLang="en-US" sz="2400" dirty="0"/>
          </a:p>
        </p:txBody>
      </p:sp>
      <p:sp>
        <p:nvSpPr>
          <p:cNvPr id="3" name="文字方塊 2"/>
          <p:cNvSpPr txBox="1"/>
          <p:nvPr/>
        </p:nvSpPr>
        <p:spPr>
          <a:xfrm>
            <a:off x="3427701" y="5486400"/>
            <a:ext cx="51025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(ignore bias in this slide)</a:t>
            </a:r>
            <a:endParaRPr lang="zh-TW" alt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表格 23"/>
          <p:cNvGraphicFramePr>
            <a:graphicFrameLocks noGrp="1"/>
          </p:cNvGraphicFramePr>
          <p:nvPr/>
        </p:nvGraphicFramePr>
        <p:xfrm>
          <a:off x="5336850" y="297228"/>
          <a:ext cx="42138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表格 23"/>
          <p:cNvGraphicFramePr>
            <a:graphicFrameLocks noGrp="1"/>
          </p:cNvGraphicFramePr>
          <p:nvPr/>
        </p:nvGraphicFramePr>
        <p:xfrm>
          <a:off x="5336850" y="1667132"/>
          <a:ext cx="42138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6" name="文字方塊 15"/>
          <p:cNvSpPr txBox="1"/>
          <p:nvPr/>
        </p:nvSpPr>
        <p:spPr>
          <a:xfrm rot="5400000">
            <a:off x="5282687" y="1115459"/>
            <a:ext cx="750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…...</a:t>
            </a:r>
            <a:endParaRPr lang="zh-TW" altLang="en-US" sz="2800" dirty="0"/>
          </a:p>
        </p:txBody>
      </p:sp>
      <p:graphicFrame>
        <p:nvGraphicFramePr>
          <p:cNvPr id="17" name="表格 23"/>
          <p:cNvGraphicFramePr>
            <a:graphicFrameLocks noGrp="1"/>
          </p:cNvGraphicFramePr>
          <p:nvPr/>
        </p:nvGraphicFramePr>
        <p:xfrm>
          <a:off x="5337374" y="2068164"/>
          <a:ext cx="42138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9" name="文字方塊 18"/>
          <p:cNvSpPr txBox="1"/>
          <p:nvPr/>
        </p:nvSpPr>
        <p:spPr>
          <a:xfrm rot="5400000">
            <a:off x="5283211" y="2886395"/>
            <a:ext cx="750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…</a:t>
            </a:r>
            <a:endParaRPr lang="zh-TW" altLang="en-US" sz="2800" dirty="0"/>
          </a:p>
        </p:txBody>
      </p:sp>
      <p:grpSp>
        <p:nvGrpSpPr>
          <p:cNvPr id="25" name="群組 24"/>
          <p:cNvGrpSpPr/>
          <p:nvPr/>
        </p:nvGrpSpPr>
        <p:grpSpPr>
          <a:xfrm>
            <a:off x="6924116" y="1335428"/>
            <a:ext cx="638175" cy="638175"/>
            <a:chOff x="8370546" y="1983114"/>
            <a:chExt cx="638175" cy="638175"/>
          </a:xfrm>
        </p:grpSpPr>
        <p:sp>
          <p:nvSpPr>
            <p:cNvPr id="26" name="橢圓 25"/>
            <p:cNvSpPr/>
            <p:nvPr/>
          </p:nvSpPr>
          <p:spPr>
            <a:xfrm>
              <a:off x="8370546" y="1983114"/>
              <a:ext cx="638175" cy="638175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手繪多邊形 108"/>
            <p:cNvSpPr/>
            <p:nvPr/>
          </p:nvSpPr>
          <p:spPr>
            <a:xfrm>
              <a:off x="8447407" y="2115472"/>
              <a:ext cx="469900" cy="354083"/>
            </a:xfrm>
            <a:custGeom>
              <a:avLst/>
              <a:gdLst>
                <a:gd name="connsiteX0" fmla="*/ 469900 w 469900"/>
                <a:gd name="connsiteY0" fmla="*/ 5192 h 354083"/>
                <a:gd name="connsiteX1" fmla="*/ 254000 w 469900"/>
                <a:gd name="connsiteY1" fmla="*/ 43292 h 354083"/>
                <a:gd name="connsiteX2" fmla="*/ 139700 w 469900"/>
                <a:gd name="connsiteY2" fmla="*/ 322692 h 354083"/>
                <a:gd name="connsiteX3" fmla="*/ 0 w 469900"/>
                <a:gd name="connsiteY3" fmla="*/ 335392 h 354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9900" h="354083">
                  <a:moveTo>
                    <a:pt x="469900" y="5192"/>
                  </a:moveTo>
                  <a:cubicBezTo>
                    <a:pt x="389466" y="-2217"/>
                    <a:pt x="309033" y="-9625"/>
                    <a:pt x="254000" y="43292"/>
                  </a:cubicBezTo>
                  <a:cubicBezTo>
                    <a:pt x="198967" y="96209"/>
                    <a:pt x="182033" y="274009"/>
                    <a:pt x="139700" y="322692"/>
                  </a:cubicBezTo>
                  <a:cubicBezTo>
                    <a:pt x="97367" y="371375"/>
                    <a:pt x="48683" y="353383"/>
                    <a:pt x="0" y="335392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cxnSp>
        <p:nvCxnSpPr>
          <p:cNvPr id="28" name="直線單箭頭接點 27"/>
          <p:cNvCxnSpPr/>
          <p:nvPr/>
        </p:nvCxnSpPr>
        <p:spPr>
          <a:xfrm>
            <a:off x="7576374" y="1639200"/>
            <a:ext cx="65890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>
            <a:endCxn id="26" idx="2"/>
          </p:cNvCxnSpPr>
          <p:nvPr/>
        </p:nvCxnSpPr>
        <p:spPr>
          <a:xfrm>
            <a:off x="5758239" y="478994"/>
            <a:ext cx="1165877" cy="117552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>
            <a:endCxn id="26" idx="2"/>
          </p:cNvCxnSpPr>
          <p:nvPr/>
        </p:nvCxnSpPr>
        <p:spPr>
          <a:xfrm>
            <a:off x="5763776" y="838230"/>
            <a:ext cx="1160340" cy="816286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>
            <a:endCxn id="26" idx="2"/>
          </p:cNvCxnSpPr>
          <p:nvPr/>
        </p:nvCxnSpPr>
        <p:spPr>
          <a:xfrm flipV="1">
            <a:off x="5763776" y="1654516"/>
            <a:ext cx="1160340" cy="19019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/>
          <p:nvPr/>
        </p:nvCxnSpPr>
        <p:spPr>
          <a:xfrm flipV="1">
            <a:off x="7244044" y="1973603"/>
            <a:ext cx="0" cy="5878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 flipH="1">
            <a:off x="7094571" y="2606239"/>
            <a:ext cx="333714" cy="33371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  <a:endParaRPr lang="zh-TW" altLang="en-US" dirty="0"/>
          </a:p>
        </p:txBody>
      </p:sp>
      <p:cxnSp>
        <p:nvCxnSpPr>
          <p:cNvPr id="35" name="直線單箭頭接點 34"/>
          <p:cNvCxnSpPr>
            <a:endCxn id="26" idx="2"/>
          </p:cNvCxnSpPr>
          <p:nvPr/>
        </p:nvCxnSpPr>
        <p:spPr>
          <a:xfrm flipV="1">
            <a:off x="5753037" y="1654516"/>
            <a:ext cx="1171079" cy="581372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>
            <a:endCxn id="26" idx="2"/>
          </p:cNvCxnSpPr>
          <p:nvPr/>
        </p:nvCxnSpPr>
        <p:spPr>
          <a:xfrm flipV="1">
            <a:off x="5742298" y="1654516"/>
            <a:ext cx="1181818" cy="925722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字方塊 40"/>
          <p:cNvSpPr txBox="1"/>
          <p:nvPr/>
        </p:nvSpPr>
        <p:spPr>
          <a:xfrm>
            <a:off x="7431257" y="2066680"/>
            <a:ext cx="1194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bias</a:t>
            </a:r>
            <a:endParaRPr lang="zh-TW" altLang="en-US" sz="2400" dirty="0"/>
          </a:p>
        </p:txBody>
      </p:sp>
      <p:graphicFrame>
        <p:nvGraphicFramePr>
          <p:cNvPr id="42" name="表格 23"/>
          <p:cNvGraphicFramePr>
            <a:graphicFrameLocks noGrp="1"/>
          </p:cNvGraphicFramePr>
          <p:nvPr/>
        </p:nvGraphicFramePr>
        <p:xfrm>
          <a:off x="5337690" y="3634884"/>
          <a:ext cx="42138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" name="表格 23"/>
          <p:cNvGraphicFramePr>
            <a:graphicFrameLocks noGrp="1"/>
          </p:cNvGraphicFramePr>
          <p:nvPr/>
        </p:nvGraphicFramePr>
        <p:xfrm>
          <a:off x="5337690" y="5004788"/>
          <a:ext cx="42138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4" name="文字方塊 43"/>
          <p:cNvSpPr txBox="1"/>
          <p:nvPr/>
        </p:nvSpPr>
        <p:spPr>
          <a:xfrm rot="5400000">
            <a:off x="5283527" y="4453115"/>
            <a:ext cx="750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…...</a:t>
            </a:r>
            <a:endParaRPr lang="zh-TW" altLang="en-US" sz="2800" dirty="0"/>
          </a:p>
        </p:txBody>
      </p:sp>
      <p:graphicFrame>
        <p:nvGraphicFramePr>
          <p:cNvPr id="45" name="表格 23"/>
          <p:cNvGraphicFramePr>
            <a:graphicFrameLocks noGrp="1"/>
          </p:cNvGraphicFramePr>
          <p:nvPr/>
        </p:nvGraphicFramePr>
        <p:xfrm>
          <a:off x="5338214" y="5405820"/>
          <a:ext cx="42138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89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6" name="文字方塊 45"/>
          <p:cNvSpPr txBox="1"/>
          <p:nvPr/>
        </p:nvSpPr>
        <p:spPr>
          <a:xfrm rot="5400000">
            <a:off x="5284051" y="6224051"/>
            <a:ext cx="750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…</a:t>
            </a:r>
            <a:endParaRPr lang="zh-TW" altLang="en-US" sz="2800" dirty="0"/>
          </a:p>
        </p:txBody>
      </p:sp>
      <p:grpSp>
        <p:nvGrpSpPr>
          <p:cNvPr id="47" name="群組 46"/>
          <p:cNvGrpSpPr/>
          <p:nvPr/>
        </p:nvGrpSpPr>
        <p:grpSpPr>
          <a:xfrm>
            <a:off x="6924956" y="4673084"/>
            <a:ext cx="638175" cy="638175"/>
            <a:chOff x="8370546" y="1983114"/>
            <a:chExt cx="638175" cy="638175"/>
          </a:xfrm>
        </p:grpSpPr>
        <p:sp>
          <p:nvSpPr>
            <p:cNvPr id="48" name="橢圓 47"/>
            <p:cNvSpPr/>
            <p:nvPr/>
          </p:nvSpPr>
          <p:spPr>
            <a:xfrm>
              <a:off x="8370546" y="1983114"/>
              <a:ext cx="638175" cy="638175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" name="手繪多邊形 108"/>
            <p:cNvSpPr/>
            <p:nvPr/>
          </p:nvSpPr>
          <p:spPr>
            <a:xfrm>
              <a:off x="8447407" y="2115472"/>
              <a:ext cx="469900" cy="354083"/>
            </a:xfrm>
            <a:custGeom>
              <a:avLst/>
              <a:gdLst>
                <a:gd name="connsiteX0" fmla="*/ 469900 w 469900"/>
                <a:gd name="connsiteY0" fmla="*/ 5192 h 354083"/>
                <a:gd name="connsiteX1" fmla="*/ 254000 w 469900"/>
                <a:gd name="connsiteY1" fmla="*/ 43292 h 354083"/>
                <a:gd name="connsiteX2" fmla="*/ 139700 w 469900"/>
                <a:gd name="connsiteY2" fmla="*/ 322692 h 354083"/>
                <a:gd name="connsiteX3" fmla="*/ 0 w 469900"/>
                <a:gd name="connsiteY3" fmla="*/ 335392 h 354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9900" h="354083">
                  <a:moveTo>
                    <a:pt x="469900" y="5192"/>
                  </a:moveTo>
                  <a:cubicBezTo>
                    <a:pt x="389466" y="-2217"/>
                    <a:pt x="309033" y="-9625"/>
                    <a:pt x="254000" y="43292"/>
                  </a:cubicBezTo>
                  <a:cubicBezTo>
                    <a:pt x="198967" y="96209"/>
                    <a:pt x="182033" y="274009"/>
                    <a:pt x="139700" y="322692"/>
                  </a:cubicBezTo>
                  <a:cubicBezTo>
                    <a:pt x="97367" y="371375"/>
                    <a:pt x="48683" y="353383"/>
                    <a:pt x="0" y="335392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cxnSp>
        <p:nvCxnSpPr>
          <p:cNvPr id="50" name="直線單箭頭接點 49"/>
          <p:cNvCxnSpPr/>
          <p:nvPr/>
        </p:nvCxnSpPr>
        <p:spPr>
          <a:xfrm>
            <a:off x="7577214" y="4976856"/>
            <a:ext cx="65890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>
            <a:endCxn id="48" idx="2"/>
          </p:cNvCxnSpPr>
          <p:nvPr/>
        </p:nvCxnSpPr>
        <p:spPr>
          <a:xfrm>
            <a:off x="5759079" y="3816650"/>
            <a:ext cx="1165877" cy="117552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>
            <a:endCxn id="48" idx="2"/>
          </p:cNvCxnSpPr>
          <p:nvPr/>
        </p:nvCxnSpPr>
        <p:spPr>
          <a:xfrm>
            <a:off x="5764616" y="4175886"/>
            <a:ext cx="1160340" cy="816286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>
            <a:endCxn id="48" idx="2"/>
          </p:cNvCxnSpPr>
          <p:nvPr/>
        </p:nvCxnSpPr>
        <p:spPr>
          <a:xfrm flipV="1">
            <a:off x="5764616" y="4992172"/>
            <a:ext cx="1160340" cy="19019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/>
          <p:cNvCxnSpPr/>
          <p:nvPr/>
        </p:nvCxnSpPr>
        <p:spPr>
          <a:xfrm flipV="1">
            <a:off x="7244884" y="5311259"/>
            <a:ext cx="0" cy="5878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 flipH="1">
            <a:off x="7095411" y="5943895"/>
            <a:ext cx="333714" cy="33371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  <a:endParaRPr lang="zh-TW" altLang="en-US" dirty="0"/>
          </a:p>
        </p:txBody>
      </p:sp>
      <p:cxnSp>
        <p:nvCxnSpPr>
          <p:cNvPr id="57" name="直線單箭頭接點 56"/>
          <p:cNvCxnSpPr>
            <a:endCxn id="48" idx="2"/>
          </p:cNvCxnSpPr>
          <p:nvPr/>
        </p:nvCxnSpPr>
        <p:spPr>
          <a:xfrm flipV="1">
            <a:off x="5753877" y="4992172"/>
            <a:ext cx="1171079" cy="581372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單箭頭接點 57"/>
          <p:cNvCxnSpPr>
            <a:endCxn id="48" idx="2"/>
          </p:cNvCxnSpPr>
          <p:nvPr/>
        </p:nvCxnSpPr>
        <p:spPr>
          <a:xfrm flipV="1">
            <a:off x="5743138" y="4992172"/>
            <a:ext cx="1181818" cy="925722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字方塊 58"/>
          <p:cNvSpPr txBox="1"/>
          <p:nvPr/>
        </p:nvSpPr>
        <p:spPr>
          <a:xfrm>
            <a:off x="7432097" y="5404336"/>
            <a:ext cx="1194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bias</a:t>
            </a:r>
            <a:endParaRPr lang="zh-TW" altLang="en-US" sz="2400" dirty="0"/>
          </a:p>
        </p:txBody>
      </p:sp>
      <p:graphicFrame>
        <p:nvGraphicFramePr>
          <p:cNvPr id="71" name="內容版面配置區 3"/>
          <p:cNvGraphicFramePr/>
          <p:nvPr/>
        </p:nvGraphicFramePr>
        <p:xfrm>
          <a:off x="674229" y="2547035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/>
                <a:gridCol w="478995"/>
                <a:gridCol w="478995"/>
                <a:gridCol w="478995"/>
                <a:gridCol w="478995"/>
                <a:gridCol w="47899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en-US" altLang="zh-TW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2" name="矩形 71"/>
          <p:cNvSpPr/>
          <p:nvPr/>
        </p:nvSpPr>
        <p:spPr>
          <a:xfrm>
            <a:off x="698868" y="2584673"/>
            <a:ext cx="1412346" cy="13233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73" name="內容版面配置區 3"/>
          <p:cNvGraphicFramePr/>
          <p:nvPr/>
        </p:nvGraphicFramePr>
        <p:xfrm>
          <a:off x="829351" y="2710546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/>
                <a:gridCol w="478995"/>
                <a:gridCol w="478995"/>
                <a:gridCol w="478995"/>
                <a:gridCol w="478995"/>
                <a:gridCol w="47899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en-US" altLang="zh-TW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4" name="內容版面配置區 3"/>
          <p:cNvGraphicFramePr/>
          <p:nvPr/>
        </p:nvGraphicFramePr>
        <p:xfrm>
          <a:off x="1013572" y="2852961"/>
          <a:ext cx="287397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995"/>
                <a:gridCol w="478995"/>
                <a:gridCol w="478995"/>
                <a:gridCol w="478995"/>
                <a:gridCol w="478995"/>
                <a:gridCol w="47899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en-US" altLang="zh-TW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5" name="矩形 74"/>
          <p:cNvSpPr/>
          <p:nvPr/>
        </p:nvSpPr>
        <p:spPr>
          <a:xfrm>
            <a:off x="1028086" y="2881989"/>
            <a:ext cx="1412346" cy="13233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6" name="直線接點 75"/>
          <p:cNvCxnSpPr/>
          <p:nvPr/>
        </p:nvCxnSpPr>
        <p:spPr>
          <a:xfrm>
            <a:off x="674229" y="3893460"/>
            <a:ext cx="339343" cy="316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/>
          <p:cNvCxnSpPr/>
          <p:nvPr/>
        </p:nvCxnSpPr>
        <p:spPr>
          <a:xfrm>
            <a:off x="2087177" y="2547035"/>
            <a:ext cx="339343" cy="316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接點 77"/>
          <p:cNvCxnSpPr/>
          <p:nvPr/>
        </p:nvCxnSpPr>
        <p:spPr>
          <a:xfrm>
            <a:off x="698868" y="2604828"/>
            <a:ext cx="339343" cy="316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矩形 78"/>
          <p:cNvSpPr/>
          <p:nvPr/>
        </p:nvSpPr>
        <p:spPr>
          <a:xfrm>
            <a:off x="1942283" y="3751830"/>
            <a:ext cx="1412346" cy="13233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0" name="直線接點 79"/>
          <p:cNvCxnSpPr/>
          <p:nvPr/>
        </p:nvCxnSpPr>
        <p:spPr>
          <a:xfrm flipV="1">
            <a:off x="1525639" y="2129316"/>
            <a:ext cx="0" cy="581230"/>
          </a:xfrm>
          <a:prstGeom prst="line">
            <a:avLst/>
          </a:prstGeom>
          <a:ln w="571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>
            <a:off x="1522333" y="2100288"/>
            <a:ext cx="3688296" cy="0"/>
          </a:xfrm>
          <a:prstGeom prst="line">
            <a:avLst/>
          </a:prstGeom>
          <a:ln w="57150">
            <a:solidFill>
              <a:srgbClr val="FF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/>
          <p:cNvCxnSpPr/>
          <p:nvPr/>
        </p:nvCxnSpPr>
        <p:spPr>
          <a:xfrm>
            <a:off x="2764638" y="4510475"/>
            <a:ext cx="2445991" cy="0"/>
          </a:xfrm>
          <a:prstGeom prst="line">
            <a:avLst/>
          </a:prstGeom>
          <a:ln w="57150">
            <a:solidFill>
              <a:srgbClr val="FF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</a:fld>
            <a:endParaRPr lang="zh-TW" altLang="en-US"/>
          </a:p>
        </p:txBody>
      </p:sp>
      <p:sp>
        <p:nvSpPr>
          <p:cNvPr id="54" name="文字方塊 53"/>
          <p:cNvSpPr txBox="1"/>
          <p:nvPr/>
        </p:nvSpPr>
        <p:spPr>
          <a:xfrm>
            <a:off x="368961" y="808203"/>
            <a:ext cx="47890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The neurons with different receptive fields </a:t>
            </a:r>
            <a:r>
              <a:rPr lang="en-US" altLang="zh-TW" sz="2400" b="1" dirty="0"/>
              <a:t>share the parameters</a:t>
            </a:r>
            <a:r>
              <a:rPr lang="en-US" altLang="zh-TW" sz="2400" dirty="0"/>
              <a:t>.</a:t>
            </a:r>
            <a:endParaRPr lang="zh-TW" altLang="en-US" sz="2400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445661" y="5790919"/>
            <a:ext cx="399193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b="1" dirty="0"/>
              <a:t>Each filter convolves over the input image.</a:t>
            </a:r>
            <a:endParaRPr lang="zh-TW" altLang="en-US" sz="24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6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Convolutional Layer 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989986" y="1965792"/>
            <a:ext cx="33207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b="1" i="1" u="sng" dirty="0"/>
              <a:t>Neuron Version Story</a:t>
            </a:r>
            <a:endParaRPr lang="zh-TW" altLang="en-US" sz="2800" b="1" i="1" u="sng" dirty="0"/>
          </a:p>
        </p:txBody>
      </p:sp>
      <p:sp>
        <p:nvSpPr>
          <p:cNvPr id="5" name="文字方塊 4"/>
          <p:cNvSpPr txBox="1"/>
          <p:nvPr/>
        </p:nvSpPr>
        <p:spPr>
          <a:xfrm>
            <a:off x="5126608" y="1964009"/>
            <a:ext cx="33887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b="1" i="1" u="sng" dirty="0"/>
              <a:t>Filter Version Story</a:t>
            </a:r>
            <a:endParaRPr lang="zh-TW" altLang="en-US" sz="2800" b="1" i="1" u="sng" dirty="0"/>
          </a:p>
        </p:txBody>
      </p:sp>
      <p:sp>
        <p:nvSpPr>
          <p:cNvPr id="6" name="文字方塊 5"/>
          <p:cNvSpPr txBox="1"/>
          <p:nvPr/>
        </p:nvSpPr>
        <p:spPr>
          <a:xfrm>
            <a:off x="1187244" y="5514786"/>
            <a:ext cx="7455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They are the same story.</a:t>
            </a:r>
            <a:endParaRPr lang="zh-TW" altLang="en-US" sz="28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989987" y="2862560"/>
            <a:ext cx="35820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Each neuron only considers a receptive field.</a:t>
            </a:r>
            <a:endParaRPr lang="zh-TW" altLang="en-US" sz="24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5312498" y="2862560"/>
            <a:ext cx="33300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There are a set of filters detecting small patterns.</a:t>
            </a:r>
            <a:endParaRPr lang="zh-TW" altLang="en-US" sz="24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989986" y="4082553"/>
            <a:ext cx="35820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The neurons with different receptive fields share the parameters.</a:t>
            </a:r>
            <a:endParaRPr lang="zh-TW" altLang="en-US" sz="24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5312498" y="4249677"/>
            <a:ext cx="33300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Each filter convolves over the input image.</a:t>
            </a:r>
            <a:endParaRPr lang="zh-TW" altLang="en-US" sz="2400" dirty="0"/>
          </a:p>
        </p:txBody>
      </p:sp>
      <p:cxnSp>
        <p:nvCxnSpPr>
          <p:cNvPr id="14" name="直線接點 13"/>
          <p:cNvCxnSpPr/>
          <p:nvPr/>
        </p:nvCxnSpPr>
        <p:spPr>
          <a:xfrm>
            <a:off x="-353961" y="2632242"/>
            <a:ext cx="10397613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-353961" y="3964513"/>
            <a:ext cx="10397613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-353961" y="5355777"/>
            <a:ext cx="10397613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4959146" y="1868746"/>
            <a:ext cx="0" cy="346798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-353962" y="1868746"/>
            <a:ext cx="10397613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投影片編號版面配置區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Observation 3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Subsampling</a:t>
            </a:r>
            <a:r>
              <a:rPr lang="zh-TW" altLang="en-US" dirty="0"/>
              <a:t> </a:t>
            </a:r>
            <a:r>
              <a:rPr lang="en-US" altLang="zh-TW" dirty="0"/>
              <a:t>the pixels will not change the object</a:t>
            </a:r>
            <a:endParaRPr lang="zh-TW" altLang="en-US" dirty="0"/>
          </a:p>
          <a:p>
            <a:endParaRPr lang="zh-TW" altLang="en-US" dirty="0"/>
          </a:p>
        </p:txBody>
      </p:sp>
      <p:pic>
        <p:nvPicPr>
          <p:cNvPr id="4" name="Picture 2" descr="http://insider.si.edu/wordpress/wp-content/uploads/2016/04/Mountain_Bluebird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593" y="3330664"/>
            <a:ext cx="3336080" cy="2259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http://insider.si.edu/wordpress/wp-content/uploads/2016/04/Mountain_Bluebird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553" y="3840173"/>
            <a:ext cx="1756743" cy="1190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向右箭號 3"/>
          <p:cNvSpPr/>
          <p:nvPr/>
        </p:nvSpPr>
        <p:spPr>
          <a:xfrm>
            <a:off x="4397010" y="4033732"/>
            <a:ext cx="1860668" cy="80293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291673" y="4831383"/>
            <a:ext cx="20755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subsampling</a:t>
            </a: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1876147" y="2814820"/>
            <a:ext cx="14949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bird</a:t>
            </a: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6603438" y="3306349"/>
            <a:ext cx="14949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bird</a:t>
            </a: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Pooling – Max Pooling </a:t>
            </a:r>
            <a:endParaRPr lang="zh-TW" altLang="en-US" dirty="0"/>
          </a:p>
        </p:txBody>
      </p:sp>
      <p:sp>
        <p:nvSpPr>
          <p:cNvPr id="12" name="橢圓 11"/>
          <p:cNvSpPr/>
          <p:nvPr/>
        </p:nvSpPr>
        <p:spPr>
          <a:xfrm>
            <a:off x="895269" y="3285294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3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3" name="橢圓 12"/>
          <p:cNvSpPr/>
          <p:nvPr/>
        </p:nvSpPr>
        <p:spPr>
          <a:xfrm>
            <a:off x="1737098" y="3285294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-1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4" name="橢圓 13"/>
          <p:cNvSpPr/>
          <p:nvPr/>
        </p:nvSpPr>
        <p:spPr>
          <a:xfrm>
            <a:off x="2578927" y="3285294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-3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5" name="橢圓 14"/>
          <p:cNvSpPr/>
          <p:nvPr/>
        </p:nvSpPr>
        <p:spPr>
          <a:xfrm>
            <a:off x="3420756" y="3285294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-1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6" name="橢圓 15"/>
          <p:cNvSpPr/>
          <p:nvPr/>
        </p:nvSpPr>
        <p:spPr>
          <a:xfrm>
            <a:off x="895269" y="4085394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-3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7" name="橢圓 16"/>
          <p:cNvSpPr/>
          <p:nvPr/>
        </p:nvSpPr>
        <p:spPr>
          <a:xfrm>
            <a:off x="1737098" y="4085394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1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8" name="橢圓 17"/>
          <p:cNvSpPr/>
          <p:nvPr/>
        </p:nvSpPr>
        <p:spPr>
          <a:xfrm>
            <a:off x="2578927" y="4085394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0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9" name="橢圓 18"/>
          <p:cNvSpPr/>
          <p:nvPr/>
        </p:nvSpPr>
        <p:spPr>
          <a:xfrm>
            <a:off x="3420756" y="4085394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-3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20" name="橢圓 19"/>
          <p:cNvSpPr/>
          <p:nvPr/>
        </p:nvSpPr>
        <p:spPr>
          <a:xfrm>
            <a:off x="895269" y="4943166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-3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21" name="橢圓 20"/>
          <p:cNvSpPr/>
          <p:nvPr/>
        </p:nvSpPr>
        <p:spPr>
          <a:xfrm>
            <a:off x="1737098" y="4943166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-3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22" name="橢圓 21"/>
          <p:cNvSpPr/>
          <p:nvPr/>
        </p:nvSpPr>
        <p:spPr>
          <a:xfrm>
            <a:off x="2578927" y="4943166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0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23" name="橢圓 22"/>
          <p:cNvSpPr/>
          <p:nvPr/>
        </p:nvSpPr>
        <p:spPr>
          <a:xfrm>
            <a:off x="3420756" y="4943166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1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24" name="橢圓 23"/>
          <p:cNvSpPr/>
          <p:nvPr/>
        </p:nvSpPr>
        <p:spPr>
          <a:xfrm>
            <a:off x="895269" y="5743266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3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25" name="橢圓 24"/>
          <p:cNvSpPr/>
          <p:nvPr/>
        </p:nvSpPr>
        <p:spPr>
          <a:xfrm>
            <a:off x="1737098" y="5743266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-2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26" name="橢圓 25"/>
          <p:cNvSpPr/>
          <p:nvPr/>
        </p:nvSpPr>
        <p:spPr>
          <a:xfrm>
            <a:off x="2578927" y="5743266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-2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27" name="橢圓 26"/>
          <p:cNvSpPr/>
          <p:nvPr/>
        </p:nvSpPr>
        <p:spPr>
          <a:xfrm>
            <a:off x="3420756" y="5743266"/>
            <a:ext cx="720000" cy="720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-1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graphicFrame>
        <p:nvGraphicFramePr>
          <p:cNvPr id="35" name="表格 34"/>
          <p:cNvGraphicFramePr>
            <a:graphicFrameLocks noGrp="1"/>
          </p:cNvGraphicFramePr>
          <p:nvPr/>
        </p:nvGraphicFramePr>
        <p:xfrm>
          <a:off x="5711842" y="1617399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/>
                <a:gridCol w="540718"/>
                <a:gridCol w="54071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6" name="文字方塊 35"/>
          <p:cNvSpPr txBox="1"/>
          <p:nvPr/>
        </p:nvSpPr>
        <p:spPr>
          <a:xfrm>
            <a:off x="7200612" y="2086626"/>
            <a:ext cx="1448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Filter 2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42" name="橢圓 41"/>
          <p:cNvSpPr/>
          <p:nvPr/>
        </p:nvSpPr>
        <p:spPr>
          <a:xfrm>
            <a:off x="5064249" y="3354180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-1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43" name="橢圓 42"/>
          <p:cNvSpPr/>
          <p:nvPr/>
        </p:nvSpPr>
        <p:spPr>
          <a:xfrm>
            <a:off x="5906078" y="3354180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-1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44" name="橢圓 43"/>
          <p:cNvSpPr/>
          <p:nvPr/>
        </p:nvSpPr>
        <p:spPr>
          <a:xfrm>
            <a:off x="6747907" y="3354180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-1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45" name="橢圓 44"/>
          <p:cNvSpPr/>
          <p:nvPr/>
        </p:nvSpPr>
        <p:spPr>
          <a:xfrm>
            <a:off x="7589736" y="3354180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-1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46" name="橢圓 45"/>
          <p:cNvSpPr/>
          <p:nvPr/>
        </p:nvSpPr>
        <p:spPr>
          <a:xfrm>
            <a:off x="5064249" y="4154280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-1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47" name="橢圓 46"/>
          <p:cNvSpPr/>
          <p:nvPr/>
        </p:nvSpPr>
        <p:spPr>
          <a:xfrm>
            <a:off x="5906078" y="4154280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-1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48" name="橢圓 47"/>
          <p:cNvSpPr/>
          <p:nvPr/>
        </p:nvSpPr>
        <p:spPr>
          <a:xfrm>
            <a:off x="6747907" y="4154280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-2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49" name="橢圓 48"/>
          <p:cNvSpPr/>
          <p:nvPr/>
        </p:nvSpPr>
        <p:spPr>
          <a:xfrm>
            <a:off x="7589736" y="4154280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1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50" name="橢圓 49"/>
          <p:cNvSpPr/>
          <p:nvPr/>
        </p:nvSpPr>
        <p:spPr>
          <a:xfrm>
            <a:off x="5064249" y="5012052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-1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51" name="橢圓 50"/>
          <p:cNvSpPr/>
          <p:nvPr/>
        </p:nvSpPr>
        <p:spPr>
          <a:xfrm>
            <a:off x="5906078" y="5012052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-1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52" name="橢圓 51"/>
          <p:cNvSpPr/>
          <p:nvPr/>
        </p:nvSpPr>
        <p:spPr>
          <a:xfrm>
            <a:off x="6747907" y="5012052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-2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53" name="橢圓 52"/>
          <p:cNvSpPr/>
          <p:nvPr/>
        </p:nvSpPr>
        <p:spPr>
          <a:xfrm>
            <a:off x="7589736" y="5012052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1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54" name="橢圓 53"/>
          <p:cNvSpPr/>
          <p:nvPr/>
        </p:nvSpPr>
        <p:spPr>
          <a:xfrm>
            <a:off x="5064249" y="5812152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-1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55" name="橢圓 54"/>
          <p:cNvSpPr/>
          <p:nvPr/>
        </p:nvSpPr>
        <p:spPr>
          <a:xfrm>
            <a:off x="5906078" y="5812152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0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56" name="橢圓 55"/>
          <p:cNvSpPr/>
          <p:nvPr/>
        </p:nvSpPr>
        <p:spPr>
          <a:xfrm>
            <a:off x="6747907" y="5812152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-4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57" name="橢圓 56"/>
          <p:cNvSpPr/>
          <p:nvPr/>
        </p:nvSpPr>
        <p:spPr>
          <a:xfrm>
            <a:off x="7589736" y="5812152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3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graphicFrame>
        <p:nvGraphicFramePr>
          <p:cNvPr id="58" name="表格 57"/>
          <p:cNvGraphicFramePr>
            <a:graphicFrameLocks noGrp="1"/>
          </p:cNvGraphicFramePr>
          <p:nvPr/>
        </p:nvGraphicFramePr>
        <p:xfrm>
          <a:off x="1706936" y="1617399"/>
          <a:ext cx="162215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718"/>
                <a:gridCol w="540718"/>
                <a:gridCol w="54071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9" name="文字方塊 58"/>
          <p:cNvSpPr txBox="1"/>
          <p:nvPr/>
        </p:nvSpPr>
        <p:spPr>
          <a:xfrm>
            <a:off x="3329090" y="2072366"/>
            <a:ext cx="1448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Filter 1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95269" y="3285294"/>
            <a:ext cx="1561830" cy="15201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2578926" y="3285294"/>
            <a:ext cx="1561830" cy="15201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895269" y="4940857"/>
            <a:ext cx="1561830" cy="15201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2578926" y="4940857"/>
            <a:ext cx="1561830" cy="15201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5064250" y="3325344"/>
            <a:ext cx="1561830" cy="1520100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6747907" y="3325344"/>
            <a:ext cx="1561830" cy="1520100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5064250" y="4980907"/>
            <a:ext cx="1561830" cy="1520100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6747907" y="4980907"/>
            <a:ext cx="1561830" cy="1520100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4" grpId="0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36" grpId="0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8" grpId="0" animBg="1"/>
      <p:bldP spid="48" grpId="1" animBg="1"/>
      <p:bldP spid="49" grpId="0" animBg="1"/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53" grpId="0" animBg="1"/>
      <p:bldP spid="53" grpId="1" animBg="1"/>
      <p:bldP spid="54" grpId="0" animBg="1"/>
      <p:bldP spid="54" grpId="1" animBg="1"/>
      <p:bldP spid="55" grpId="0" animBg="1"/>
      <p:bldP spid="56" grpId="0" animBg="1"/>
      <p:bldP spid="56" grpId="1" animBg="1"/>
      <p:bldP spid="57" grpId="0" animBg="1"/>
      <p:bldP spid="59" grpId="0"/>
      <p:bldP spid="3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s.hswstatic.com/gif/whiskers-sam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03" y="1831341"/>
            <a:ext cx="1771005" cy="1204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1116284" y="3569317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Convolution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6" name="向下箭號 11"/>
          <p:cNvSpPr/>
          <p:nvPr/>
        </p:nvSpPr>
        <p:spPr>
          <a:xfrm>
            <a:off x="1735981" y="3091572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7" name="向下箭號 17"/>
          <p:cNvSpPr/>
          <p:nvPr/>
        </p:nvSpPr>
        <p:spPr>
          <a:xfrm>
            <a:off x="1735981" y="4202354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0" name="向下箭號 17"/>
          <p:cNvSpPr/>
          <p:nvPr/>
        </p:nvSpPr>
        <p:spPr>
          <a:xfrm>
            <a:off x="1735981" y="5353744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1" name="文字方塊 10"/>
          <p:cNvSpPr txBox="1"/>
          <p:nvPr/>
        </p:nvSpPr>
        <p:spPr>
          <a:xfrm rot="5400000">
            <a:off x="1747228" y="5973184"/>
            <a:ext cx="7083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……</a:t>
            </a:r>
            <a:endParaRPr kumimoji="0" lang="zh-TW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grpSp>
        <p:nvGrpSpPr>
          <p:cNvPr id="45" name="群組 44"/>
          <p:cNvGrpSpPr/>
          <p:nvPr/>
        </p:nvGrpSpPr>
        <p:grpSpPr>
          <a:xfrm>
            <a:off x="4703895" y="460517"/>
            <a:ext cx="3429024" cy="3386185"/>
            <a:chOff x="4572000" y="2134622"/>
            <a:chExt cx="3429024" cy="3386185"/>
          </a:xfrm>
        </p:grpSpPr>
        <p:sp>
          <p:nvSpPr>
            <p:cNvPr id="12" name="橢圓 11"/>
            <p:cNvSpPr/>
            <p:nvPr/>
          </p:nvSpPr>
          <p:spPr>
            <a:xfrm>
              <a:off x="4572000" y="21346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3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13" name="橢圓 12"/>
            <p:cNvSpPr/>
            <p:nvPr/>
          </p:nvSpPr>
          <p:spPr>
            <a:xfrm>
              <a:off x="5413829" y="21346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14" name="橢圓 13"/>
            <p:cNvSpPr/>
            <p:nvPr/>
          </p:nvSpPr>
          <p:spPr>
            <a:xfrm>
              <a:off x="6255658" y="21346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-3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15" name="橢圓 14"/>
            <p:cNvSpPr/>
            <p:nvPr/>
          </p:nvSpPr>
          <p:spPr>
            <a:xfrm>
              <a:off x="7097487" y="21346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16" name="橢圓 15"/>
            <p:cNvSpPr/>
            <p:nvPr/>
          </p:nvSpPr>
          <p:spPr>
            <a:xfrm>
              <a:off x="4572000" y="29347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-3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17" name="橢圓 16"/>
            <p:cNvSpPr/>
            <p:nvPr/>
          </p:nvSpPr>
          <p:spPr>
            <a:xfrm>
              <a:off x="5413829" y="29347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18" name="橢圓 17"/>
            <p:cNvSpPr/>
            <p:nvPr/>
          </p:nvSpPr>
          <p:spPr>
            <a:xfrm>
              <a:off x="6255658" y="29347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0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19" name="橢圓 18"/>
            <p:cNvSpPr/>
            <p:nvPr/>
          </p:nvSpPr>
          <p:spPr>
            <a:xfrm>
              <a:off x="7097487" y="2934722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-3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20" name="橢圓 19"/>
            <p:cNvSpPr/>
            <p:nvPr/>
          </p:nvSpPr>
          <p:spPr>
            <a:xfrm>
              <a:off x="4572000" y="37924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-3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21" name="橢圓 20"/>
            <p:cNvSpPr/>
            <p:nvPr/>
          </p:nvSpPr>
          <p:spPr>
            <a:xfrm>
              <a:off x="5413829" y="37924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-3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22" name="橢圓 21"/>
            <p:cNvSpPr/>
            <p:nvPr/>
          </p:nvSpPr>
          <p:spPr>
            <a:xfrm>
              <a:off x="6255658" y="37924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0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23" name="橢圓 22"/>
            <p:cNvSpPr/>
            <p:nvPr/>
          </p:nvSpPr>
          <p:spPr>
            <a:xfrm>
              <a:off x="7097487" y="37924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24" name="橢圓 23"/>
            <p:cNvSpPr/>
            <p:nvPr/>
          </p:nvSpPr>
          <p:spPr>
            <a:xfrm>
              <a:off x="4572000" y="45925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3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25" name="橢圓 24"/>
            <p:cNvSpPr/>
            <p:nvPr/>
          </p:nvSpPr>
          <p:spPr>
            <a:xfrm>
              <a:off x="5413829" y="45925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-2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26" name="橢圓 25"/>
            <p:cNvSpPr/>
            <p:nvPr/>
          </p:nvSpPr>
          <p:spPr>
            <a:xfrm>
              <a:off x="6255658" y="45925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-2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27" name="橢圓 26"/>
            <p:cNvSpPr/>
            <p:nvPr/>
          </p:nvSpPr>
          <p:spPr>
            <a:xfrm>
              <a:off x="7097487" y="459259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28" name="橢圓 27"/>
            <p:cNvSpPr/>
            <p:nvPr/>
          </p:nvSpPr>
          <p:spPr>
            <a:xfrm>
              <a:off x="4755537" y="23428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29" name="橢圓 28"/>
            <p:cNvSpPr/>
            <p:nvPr/>
          </p:nvSpPr>
          <p:spPr>
            <a:xfrm>
              <a:off x="5597366" y="23428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30" name="橢圓 29"/>
            <p:cNvSpPr/>
            <p:nvPr/>
          </p:nvSpPr>
          <p:spPr>
            <a:xfrm>
              <a:off x="6439195" y="23428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31" name="橢圓 30"/>
            <p:cNvSpPr/>
            <p:nvPr/>
          </p:nvSpPr>
          <p:spPr>
            <a:xfrm>
              <a:off x="7281024" y="23428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32" name="橢圓 31"/>
            <p:cNvSpPr/>
            <p:nvPr/>
          </p:nvSpPr>
          <p:spPr>
            <a:xfrm>
              <a:off x="4755537" y="31429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33" name="橢圓 32"/>
            <p:cNvSpPr/>
            <p:nvPr/>
          </p:nvSpPr>
          <p:spPr>
            <a:xfrm>
              <a:off x="5597366" y="31429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34" name="橢圓 33"/>
            <p:cNvSpPr/>
            <p:nvPr/>
          </p:nvSpPr>
          <p:spPr>
            <a:xfrm>
              <a:off x="6439195" y="31429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-2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35" name="橢圓 34"/>
            <p:cNvSpPr/>
            <p:nvPr/>
          </p:nvSpPr>
          <p:spPr>
            <a:xfrm>
              <a:off x="7281024" y="3142935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36" name="橢圓 35"/>
            <p:cNvSpPr/>
            <p:nvPr/>
          </p:nvSpPr>
          <p:spPr>
            <a:xfrm>
              <a:off x="4755537" y="40007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37" name="橢圓 36"/>
            <p:cNvSpPr/>
            <p:nvPr/>
          </p:nvSpPr>
          <p:spPr>
            <a:xfrm>
              <a:off x="5597366" y="40007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38" name="橢圓 37"/>
            <p:cNvSpPr/>
            <p:nvPr/>
          </p:nvSpPr>
          <p:spPr>
            <a:xfrm>
              <a:off x="6439195" y="40007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-2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39" name="橢圓 38"/>
            <p:cNvSpPr/>
            <p:nvPr/>
          </p:nvSpPr>
          <p:spPr>
            <a:xfrm>
              <a:off x="7281024" y="40007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40" name="橢圓 39"/>
            <p:cNvSpPr/>
            <p:nvPr/>
          </p:nvSpPr>
          <p:spPr>
            <a:xfrm>
              <a:off x="4755537" y="48008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41" name="橢圓 40"/>
            <p:cNvSpPr/>
            <p:nvPr/>
          </p:nvSpPr>
          <p:spPr>
            <a:xfrm>
              <a:off x="5597366" y="48008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0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42" name="橢圓 41"/>
            <p:cNvSpPr/>
            <p:nvPr/>
          </p:nvSpPr>
          <p:spPr>
            <a:xfrm>
              <a:off x="6439195" y="48008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-4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43" name="橢圓 42"/>
            <p:cNvSpPr/>
            <p:nvPr/>
          </p:nvSpPr>
          <p:spPr>
            <a:xfrm>
              <a:off x="7281024" y="4800807"/>
              <a:ext cx="720000" cy="72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3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</p:grpSp>
      <p:sp>
        <p:nvSpPr>
          <p:cNvPr id="46" name="矩形: 圓角 45"/>
          <p:cNvSpPr/>
          <p:nvPr/>
        </p:nvSpPr>
        <p:spPr>
          <a:xfrm>
            <a:off x="4531114" y="368842"/>
            <a:ext cx="3825080" cy="3602678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8" name="直線接點 47"/>
          <p:cNvCxnSpPr/>
          <p:nvPr/>
        </p:nvCxnSpPr>
        <p:spPr>
          <a:xfrm>
            <a:off x="2438401" y="4423256"/>
            <a:ext cx="1107769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3546170" y="2188830"/>
            <a:ext cx="0" cy="2234426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字方塊 52"/>
          <p:cNvSpPr txBox="1"/>
          <p:nvPr/>
        </p:nvSpPr>
        <p:spPr>
          <a:xfrm>
            <a:off x="4365774" y="3942079"/>
            <a:ext cx="42663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“Image” with 64 channels</a:t>
            </a:r>
            <a:endParaRPr lang="zh-TW" altLang="en-US" sz="2400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329948" y="279854"/>
            <a:ext cx="382507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i="1" u="sng" dirty="0"/>
              <a:t>Convolutional Layers</a:t>
            </a:r>
            <a:endParaRPr lang="en-US" altLang="zh-TW" sz="3200" b="1" i="1" u="sng" dirty="0"/>
          </a:p>
          <a:p>
            <a:r>
              <a:rPr lang="en-US" altLang="zh-TW" sz="3200" b="1" i="1" u="sng" dirty="0"/>
              <a:t>+ Pooling </a:t>
            </a:r>
            <a:endParaRPr lang="zh-TW" altLang="en-US" sz="3200" b="1" i="1" u="sng" dirty="0"/>
          </a:p>
        </p:txBody>
      </p:sp>
      <p:cxnSp>
        <p:nvCxnSpPr>
          <p:cNvPr id="73" name="直線接點 72"/>
          <p:cNvCxnSpPr/>
          <p:nvPr/>
        </p:nvCxnSpPr>
        <p:spPr>
          <a:xfrm>
            <a:off x="3546170" y="2118389"/>
            <a:ext cx="872742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矩形: 圓角 84"/>
          <p:cNvSpPr/>
          <p:nvPr/>
        </p:nvSpPr>
        <p:spPr>
          <a:xfrm>
            <a:off x="5225744" y="4510363"/>
            <a:ext cx="2527606" cy="2223053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0" name="直線接點 89"/>
          <p:cNvCxnSpPr>
            <a:endCxn id="85" idx="1"/>
          </p:cNvCxnSpPr>
          <p:nvPr/>
        </p:nvCxnSpPr>
        <p:spPr>
          <a:xfrm flipV="1">
            <a:off x="2476128" y="5621890"/>
            <a:ext cx="2749616" cy="20354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/>
        </p:nvSpPr>
        <p:spPr>
          <a:xfrm>
            <a:off x="1116284" y="4712197"/>
            <a:ext cx="1736724" cy="5564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Pooling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grpSp>
        <p:nvGrpSpPr>
          <p:cNvPr id="63" name="群組 62"/>
          <p:cNvGrpSpPr/>
          <p:nvPr/>
        </p:nvGrpSpPr>
        <p:grpSpPr>
          <a:xfrm>
            <a:off x="5545724" y="4703110"/>
            <a:ext cx="1947915" cy="1771562"/>
            <a:chOff x="1561968" y="1612084"/>
            <a:chExt cx="1947915" cy="1771562"/>
          </a:xfrm>
        </p:grpSpPr>
        <p:sp>
          <p:nvSpPr>
            <p:cNvPr id="64" name="橢圓 63"/>
            <p:cNvSpPr/>
            <p:nvPr/>
          </p:nvSpPr>
          <p:spPr>
            <a:xfrm>
              <a:off x="1593212" y="161208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3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65" name="橢圓 64"/>
            <p:cNvSpPr/>
            <p:nvPr/>
          </p:nvSpPr>
          <p:spPr>
            <a:xfrm>
              <a:off x="2564819" y="1612084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0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66" name="橢圓 65"/>
            <p:cNvSpPr/>
            <p:nvPr/>
          </p:nvSpPr>
          <p:spPr>
            <a:xfrm>
              <a:off x="2533575" y="2504111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67" name="橢圓 66"/>
            <p:cNvSpPr/>
            <p:nvPr/>
          </p:nvSpPr>
          <p:spPr>
            <a:xfrm>
              <a:off x="1561968" y="2504111"/>
              <a:ext cx="720000" cy="720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3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68" name="橢圓 67"/>
            <p:cNvSpPr/>
            <p:nvPr/>
          </p:nvSpPr>
          <p:spPr>
            <a:xfrm>
              <a:off x="1783304" y="1828843"/>
              <a:ext cx="720000" cy="720000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-1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70" name="橢圓 69"/>
            <p:cNvSpPr/>
            <p:nvPr/>
          </p:nvSpPr>
          <p:spPr>
            <a:xfrm>
              <a:off x="2789883" y="1806541"/>
              <a:ext cx="720000" cy="720000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71" name="橢圓 70"/>
            <p:cNvSpPr/>
            <p:nvPr/>
          </p:nvSpPr>
          <p:spPr>
            <a:xfrm>
              <a:off x="2758639" y="2661155"/>
              <a:ext cx="720000" cy="720000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3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72" name="橢圓 71"/>
            <p:cNvSpPr/>
            <p:nvPr/>
          </p:nvSpPr>
          <p:spPr>
            <a:xfrm>
              <a:off x="1766401" y="2663646"/>
              <a:ext cx="720000" cy="720000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0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</p:grpSp>
      <p:sp>
        <p:nvSpPr>
          <p:cNvPr id="47" name="文字方塊 46"/>
          <p:cNvSpPr txBox="1"/>
          <p:nvPr/>
        </p:nvSpPr>
        <p:spPr>
          <a:xfrm rot="16200000" flipH="1">
            <a:off x="-331724" y="4170347"/>
            <a:ext cx="15497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Repeat</a:t>
            </a:r>
            <a:endParaRPr lang="zh-TW" altLang="en-US" sz="2800" dirty="0"/>
          </a:p>
        </p:txBody>
      </p:sp>
      <p:sp>
        <p:nvSpPr>
          <p:cNvPr id="50" name="左大括弧 49"/>
          <p:cNvSpPr/>
          <p:nvPr/>
        </p:nvSpPr>
        <p:spPr>
          <a:xfrm>
            <a:off x="790076" y="3398042"/>
            <a:ext cx="402859" cy="2397506"/>
          </a:xfrm>
          <a:prstGeom prst="leftBrace">
            <a:avLst>
              <a:gd name="adj1" fmla="val 22744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投影片編號版面配置區 5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85" grpId="0" animBg="1"/>
      <p:bldP spid="62" grpId="0" animBg="1"/>
      <p:bldP spid="47" grpId="0"/>
      <p:bldP spid="5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whole CNN</a:t>
            </a:r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1330275" y="2341295"/>
            <a:ext cx="2906568" cy="3201477"/>
            <a:chOff x="-1626455" y="3999117"/>
            <a:chExt cx="2906568" cy="3201477"/>
          </a:xfrm>
        </p:grpSpPr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5400000" flipH="1">
              <a:off x="-1736746" y="4748962"/>
              <a:ext cx="3201477" cy="1701788"/>
            </a:xfrm>
            <a:prstGeom prst="rect">
              <a:avLst/>
            </a:prstGeom>
          </p:spPr>
        </p:pic>
        <p:sp>
          <p:nvSpPr>
            <p:cNvPr id="6" name="文字方塊 5"/>
            <p:cNvSpPr txBox="1"/>
            <p:nvPr/>
          </p:nvSpPr>
          <p:spPr>
            <a:xfrm>
              <a:off x="-1626455" y="5442856"/>
              <a:ext cx="2906568" cy="830997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Fully Connected Layers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</p:grpSp>
      <p:pic>
        <p:nvPicPr>
          <p:cNvPr id="12290" name="Picture 2" descr="http://s.hswstatic.com/gif/whiskers-sam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214" y="258477"/>
            <a:ext cx="1771005" cy="1204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字方塊 8"/>
          <p:cNvSpPr txBox="1"/>
          <p:nvPr/>
        </p:nvSpPr>
        <p:spPr>
          <a:xfrm>
            <a:off x="1858027" y="1772917"/>
            <a:ext cx="2046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cat dog ……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830495" y="1996453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Convolution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830495" y="3096465"/>
            <a:ext cx="1736724" cy="5564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Pooling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830495" y="4164678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Convolution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830495" y="5197930"/>
            <a:ext cx="1736724" cy="5564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Pooling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3904790" y="6122614"/>
            <a:ext cx="1556991" cy="461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Flatten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2" name="向下箭號 11"/>
          <p:cNvSpPr/>
          <p:nvPr/>
        </p:nvSpPr>
        <p:spPr>
          <a:xfrm>
            <a:off x="6450192" y="1518708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8" name="向下箭號 17"/>
          <p:cNvSpPr/>
          <p:nvPr/>
        </p:nvSpPr>
        <p:spPr>
          <a:xfrm>
            <a:off x="6450192" y="2629490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9" name="向下箭號 18"/>
          <p:cNvSpPr/>
          <p:nvPr/>
        </p:nvSpPr>
        <p:spPr>
          <a:xfrm>
            <a:off x="6450192" y="3721133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20" name="向下箭號 19"/>
          <p:cNvSpPr/>
          <p:nvPr/>
        </p:nvSpPr>
        <p:spPr>
          <a:xfrm>
            <a:off x="6450192" y="4756126"/>
            <a:ext cx="545690" cy="44180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7" name="右彎箭號 16"/>
          <p:cNvSpPr/>
          <p:nvPr/>
        </p:nvSpPr>
        <p:spPr>
          <a:xfrm rot="10800000">
            <a:off x="5461781" y="5820350"/>
            <a:ext cx="1378857" cy="751743"/>
          </a:xfrm>
          <a:prstGeom prst="bentArrow">
            <a:avLst>
              <a:gd name="adj1" fmla="val 36585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22" name="右彎箭號 21"/>
          <p:cNvSpPr/>
          <p:nvPr/>
        </p:nvSpPr>
        <p:spPr>
          <a:xfrm rot="16200000">
            <a:off x="2734786" y="5407860"/>
            <a:ext cx="968423" cy="1238252"/>
          </a:xfrm>
          <a:prstGeom prst="bentArrow">
            <a:avLst>
              <a:gd name="adj1" fmla="val 28061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3386687" y="2499492"/>
            <a:ext cx="14809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err="1"/>
              <a:t>softmax</a:t>
            </a:r>
            <a:endParaRPr lang="zh-TW" altLang="en-US" sz="2400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6" grpId="0" animBg="1"/>
      <p:bldP spid="17" grpId="0" animBg="1"/>
      <p:bldP spid="22" grpId="0" animBg="1"/>
      <p:bldP spid="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6" descr="http://lgs.tw/img/xp1.png.pagespeed.ic.NzL0vritbc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79519" y="1531580"/>
            <a:ext cx="2566207" cy="2765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Application: Playing Go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4066707" y="2256594"/>
            <a:ext cx="1719619" cy="124405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Network</a:t>
            </a: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7" name="向右箭號 6"/>
          <p:cNvSpPr/>
          <p:nvPr/>
        </p:nvSpPr>
        <p:spPr>
          <a:xfrm>
            <a:off x="3524348" y="2598076"/>
            <a:ext cx="423081" cy="561088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8" name="向右箭號 7"/>
          <p:cNvSpPr/>
          <p:nvPr/>
        </p:nvSpPr>
        <p:spPr>
          <a:xfrm>
            <a:off x="5956294" y="2598076"/>
            <a:ext cx="423081" cy="561088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grpSp>
        <p:nvGrpSpPr>
          <p:cNvPr id="11" name="群組 10"/>
          <p:cNvGrpSpPr/>
          <p:nvPr/>
        </p:nvGrpSpPr>
        <p:grpSpPr>
          <a:xfrm>
            <a:off x="6488008" y="2275124"/>
            <a:ext cx="1596788" cy="1234764"/>
            <a:chOff x="6737868" y="2183226"/>
            <a:chExt cx="1596788" cy="1234764"/>
          </a:xfrm>
        </p:grpSpPr>
        <p:sp>
          <p:nvSpPr>
            <p:cNvPr id="9" name="文字方塊 8"/>
            <p:cNvSpPr txBox="1"/>
            <p:nvPr/>
          </p:nvSpPr>
          <p:spPr>
            <a:xfrm>
              <a:off x="6824399" y="2586993"/>
              <a:ext cx="14097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(19 x 19 positions)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10" name="文字方塊 9"/>
            <p:cNvSpPr txBox="1"/>
            <p:nvPr/>
          </p:nvSpPr>
          <p:spPr>
            <a:xfrm>
              <a:off x="6737868" y="2183226"/>
              <a:ext cx="15967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Next move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</p:grpSp>
      <p:sp>
        <p:nvSpPr>
          <p:cNvPr id="13" name="文字方塊 12"/>
          <p:cNvSpPr txBox="1"/>
          <p:nvPr/>
        </p:nvSpPr>
        <p:spPr>
          <a:xfrm>
            <a:off x="1080076" y="4179098"/>
            <a:ext cx="2715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19 x 19 vector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1800942" y="4749867"/>
            <a:ext cx="1723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Black: 1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1800942" y="5199032"/>
            <a:ext cx="1723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white: -1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1800942" y="5648197"/>
            <a:ext cx="1723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none: 0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5956294" y="3562931"/>
            <a:ext cx="2715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19 x 19 classes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3680602" y="4623211"/>
            <a:ext cx="4929997" cy="954107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Fully-connected </a:t>
            </a:r>
            <a:endParaRPr kumimoji="0" lang="en-US" altLang="zh-TW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network can be used</a:t>
            </a: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3680603" y="5669311"/>
            <a:ext cx="4929996" cy="523220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But CNN performs much better.</a:t>
            </a: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1322810" y="3766348"/>
            <a:ext cx="1976733" cy="830997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19 x 19 matrix (image)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</a:fld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218373" y="5010095"/>
            <a:ext cx="17234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48 channels in Alpha Go</a:t>
            </a:r>
            <a:endParaRPr lang="zh-TW" alt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3" grpId="0"/>
      <p:bldP spid="14" grpId="0"/>
      <p:bldP spid="15" grpId="0"/>
      <p:bldP spid="16" grpId="0"/>
      <p:bldP spid="17" grpId="0"/>
      <p:bldP spid="18" grpId="0" animBg="1"/>
      <p:bldP spid="19" grpId="0" animBg="1"/>
      <p:bldP spid="20" grpId="0" animBg="1"/>
      <p:bldP spid="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Why CNN for Go playing?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Some patterns are much smaller than the whole image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The same patterns appear in different regions.</a:t>
            </a:r>
            <a:endParaRPr lang="zh-TW" altLang="en-US" dirty="0"/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5085" y="2336063"/>
            <a:ext cx="1306513" cy="126942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8434" name="Picture 2" descr="http://e.blog.xuite.net/e/1/b/d/15813770/blog_852349/txt/33202844/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8062" y="4301541"/>
            <a:ext cx="2067875" cy="206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http://e.blog.xuite.net/e/1/b/d/15813770/blog_852349/txt/33202844/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7433" y="4301541"/>
            <a:ext cx="2067875" cy="206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6875" y="4498905"/>
            <a:ext cx="596466" cy="57953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1116" y="5693658"/>
            <a:ext cx="596466" cy="57953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文字方塊 4"/>
          <p:cNvSpPr txBox="1"/>
          <p:nvPr/>
        </p:nvSpPr>
        <p:spPr>
          <a:xfrm>
            <a:off x="1378672" y="2938714"/>
            <a:ext cx="4909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Alpha Go uses 5 x 5 for first layer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Why CNN for Go playing?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Subsampling</a:t>
            </a:r>
            <a:r>
              <a:rPr lang="zh-TW" altLang="en-US" dirty="0"/>
              <a:t> </a:t>
            </a:r>
            <a:r>
              <a:rPr lang="en-US" altLang="zh-TW" dirty="0"/>
              <a:t>the pixels will not change the object</a:t>
            </a:r>
            <a:endParaRPr lang="zh-TW" altLang="en-US" dirty="0"/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41" y="2965713"/>
            <a:ext cx="8955117" cy="368382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文字方塊 4"/>
          <p:cNvSpPr txBox="1"/>
          <p:nvPr/>
        </p:nvSpPr>
        <p:spPr>
          <a:xfrm>
            <a:off x="1257307" y="6050170"/>
            <a:ext cx="6657521" cy="523220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Alpha Go does not use Pooling ……</a:t>
            </a: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2260002" y="2282738"/>
            <a:ext cx="2176219" cy="52322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Pooling</a:t>
            </a: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3348111" y="2287642"/>
            <a:ext cx="57958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How to explain this???</a:t>
            </a: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cxnSp>
        <p:nvCxnSpPr>
          <p:cNvPr id="10" name="直線接點 9"/>
          <p:cNvCxnSpPr/>
          <p:nvPr/>
        </p:nvCxnSpPr>
        <p:spPr>
          <a:xfrm>
            <a:off x="7566129" y="3305908"/>
            <a:ext cx="132477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146154" y="3629758"/>
            <a:ext cx="69204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7489929" y="3629758"/>
            <a:ext cx="147309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146154" y="3934558"/>
            <a:ext cx="288279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4750008" y="3944816"/>
            <a:ext cx="295571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8353425" y="3934558"/>
            <a:ext cx="60189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146154" y="4277458"/>
            <a:ext cx="16817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/>
          <p:nvPr/>
        </p:nvCxnSpPr>
        <p:spPr>
          <a:xfrm>
            <a:off x="4045158" y="4277458"/>
            <a:ext cx="230801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>
            <a:off x="89230" y="4610833"/>
            <a:ext cx="230801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/>
          <p:nvPr/>
        </p:nvCxnSpPr>
        <p:spPr>
          <a:xfrm>
            <a:off x="2441991" y="4610833"/>
            <a:ext cx="644891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/>
          <p:cNvCxnSpPr/>
          <p:nvPr/>
        </p:nvCxnSpPr>
        <p:spPr>
          <a:xfrm>
            <a:off x="2582544" y="4934683"/>
            <a:ext cx="308390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/>
          <p:cNvCxnSpPr/>
          <p:nvPr/>
        </p:nvCxnSpPr>
        <p:spPr>
          <a:xfrm>
            <a:off x="5787512" y="4934683"/>
            <a:ext cx="136532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向右箭號 33"/>
          <p:cNvSpPr/>
          <p:nvPr/>
        </p:nvSpPr>
        <p:spPr>
          <a:xfrm>
            <a:off x="1125415" y="2282738"/>
            <a:ext cx="1026942" cy="52322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</a:fld>
            <a:endParaRPr lang="zh-TW" altLang="en-US"/>
          </a:p>
        </p:txBody>
      </p:sp>
      <p:cxnSp>
        <p:nvCxnSpPr>
          <p:cNvPr id="23" name="直線接點 22"/>
          <p:cNvCxnSpPr/>
          <p:nvPr/>
        </p:nvCxnSpPr>
        <p:spPr>
          <a:xfrm>
            <a:off x="4750008" y="5955045"/>
            <a:ext cx="160316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7428291" y="5615075"/>
            <a:ext cx="92513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/>
      <p:bldP spid="3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9375" y="371834"/>
            <a:ext cx="5245552" cy="3479035"/>
          </a:xfrm>
          <a:prstGeom prst="rect">
            <a:avLst/>
          </a:prstGeom>
        </p:spPr>
      </p:pic>
      <p:sp>
        <p:nvSpPr>
          <p:cNvPr id="7" name="文字方塊 6"/>
          <p:cNvSpPr txBox="1"/>
          <p:nvPr/>
        </p:nvSpPr>
        <p:spPr>
          <a:xfrm>
            <a:off x="380096" y="157817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i="1" u="sng" dirty="0"/>
              <a:t>More Applications</a:t>
            </a:r>
            <a:endParaRPr lang="zh-TW" altLang="en-US" sz="3200" b="1" i="1" u="sng" dirty="0"/>
          </a:p>
        </p:txBody>
      </p:sp>
      <p:sp>
        <p:nvSpPr>
          <p:cNvPr id="9" name="文字方塊 8"/>
          <p:cNvSpPr txBox="1"/>
          <p:nvPr/>
        </p:nvSpPr>
        <p:spPr>
          <a:xfrm>
            <a:off x="742046" y="3007061"/>
            <a:ext cx="30289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https://dl.acm.org/doi/10.1109/TASLP.2014.2339736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742046" y="2438255"/>
            <a:ext cx="3296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/>
              <a:t>Speech</a:t>
            </a:r>
            <a:endParaRPr lang="zh-TW" altLang="en-US" sz="2800" b="1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742046" y="5546532"/>
            <a:ext cx="30289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https://www.aclweb.org/anthology/S15-2079/</a:t>
            </a:r>
            <a:endParaRPr lang="zh-TW" altLang="en-US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742046" y="4573881"/>
            <a:ext cx="329655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/>
              <a:t>Natural Language Processing</a:t>
            </a:r>
            <a:endParaRPr lang="zh-TW" altLang="en-US" sz="2800" b="1" dirty="0"/>
          </a:p>
        </p:txBody>
      </p:sp>
      <p:pic>
        <p:nvPicPr>
          <p:cNvPr id="14" name="圖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0975" y="4035540"/>
            <a:ext cx="5114925" cy="2607493"/>
          </a:xfrm>
          <a:prstGeom prst="rect">
            <a:avLst/>
          </a:prstGeom>
        </p:spPr>
      </p:pic>
      <p:sp>
        <p:nvSpPr>
          <p:cNvPr id="15" name="投影片編號版面配置區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To learn more …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CNN is not invariant to scaling and rotation (we need data augmentation </a:t>
            </a:r>
            <a:r>
              <a:rPr lang="en-US" altLang="zh-TW" dirty="0">
                <a:sym typeface="Wingdings" panose="05000000000000000000" pitchFamily="2" charset="2"/>
              </a:rPr>
              <a:t></a:t>
            </a:r>
            <a:r>
              <a:rPr lang="en-US" altLang="zh-TW" dirty="0"/>
              <a:t>). 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D78FF-708A-40C9-81BD-3756317ADA97}" type="slidenum">
              <a:rPr lang="zh-TW" altLang="en-US" smtClean="0"/>
            </a:fld>
            <a:endParaRPr lang="zh-TW" altLang="en-US"/>
          </a:p>
        </p:txBody>
      </p:sp>
      <p:pic>
        <p:nvPicPr>
          <p:cNvPr id="1026" name="Picture 2" descr="你知道狗狗的年齡該怎麼算嗎？（圖/科技報橘提供）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126" y="2828344"/>
            <a:ext cx="2469316" cy="1645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126" y="4715863"/>
            <a:ext cx="2469316" cy="1857974"/>
          </a:xfrm>
          <a:prstGeom prst="rect">
            <a:avLst/>
          </a:prstGeom>
        </p:spPr>
      </p:pic>
      <p:sp>
        <p:nvSpPr>
          <p:cNvPr id="9" name="文字方塊 8"/>
          <p:cNvSpPr txBox="1"/>
          <p:nvPr/>
        </p:nvSpPr>
        <p:spPr>
          <a:xfrm>
            <a:off x="4162718" y="2828344"/>
            <a:ext cx="41332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800" b="0" i="1" u="sng" dirty="0">
                <a:effectLst/>
              </a:rPr>
              <a:t>Spatial Transformer Layer</a:t>
            </a:r>
            <a:endParaRPr lang="en-US" altLang="zh-TW" sz="2800" b="0" i="1" u="sng" dirty="0">
              <a:effectLst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3943350" y="5807631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dirty="0"/>
              <a:t>https://youtu.be/SoCywZ1hZak</a:t>
            </a:r>
            <a:endParaRPr lang="en-US" altLang="zh-TW" dirty="0"/>
          </a:p>
          <a:p>
            <a:pPr algn="ctr"/>
            <a:r>
              <a:rPr lang="en-US" altLang="zh-TW" sz="2400" dirty="0"/>
              <a:t>(in Mandarin)</a:t>
            </a:r>
            <a:endParaRPr lang="zh-TW" altLang="en-US" sz="2400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692" y="3341342"/>
            <a:ext cx="2469316" cy="2469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1_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6337</Words>
  <Application>WPS 演示</Application>
  <PresentationFormat>如螢幕大小 (4:3)</PresentationFormat>
  <Paragraphs>3243</Paragraphs>
  <Slides>35</Slides>
  <Notes>15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35</vt:i4>
      </vt:variant>
    </vt:vector>
  </HeadingPairs>
  <TitlesOfParts>
    <vt:vector size="59" baseType="lpstr">
      <vt:lpstr>Arial</vt:lpstr>
      <vt:lpstr>宋体</vt:lpstr>
      <vt:lpstr>Wingdings</vt:lpstr>
      <vt:lpstr>Calibri</vt:lpstr>
      <vt:lpstr>Microsoft JhengHei</vt:lpstr>
      <vt:lpstr>PMingLiU</vt:lpstr>
      <vt:lpstr>PMingLiU-ExtB</vt:lpstr>
      <vt:lpstr>Cambria Math</vt:lpstr>
      <vt:lpstr>微软雅黑</vt:lpstr>
      <vt:lpstr>Arial Unicode MS</vt:lpstr>
      <vt:lpstr>Calibri Light</vt:lpstr>
      <vt:lpstr>等线</vt:lpstr>
      <vt:lpstr>Calibri</vt:lpstr>
      <vt:lpstr>PMingLiU</vt:lpstr>
      <vt:lpstr>Wingdings</vt:lpstr>
      <vt:lpstr>Segoe Print</vt:lpstr>
      <vt:lpstr>PMingLiU</vt:lpstr>
      <vt:lpstr>1_Office 佈景主題</vt:lpstr>
      <vt:lpstr>Equation.3</vt:lpstr>
      <vt:lpstr>Equation.3</vt:lpstr>
      <vt:lpstr>Equation.3</vt:lpstr>
      <vt:lpstr>Equation.3</vt:lpstr>
      <vt:lpstr>Equation.3</vt:lpstr>
      <vt:lpstr>Equation.3</vt:lpstr>
      <vt:lpstr>Convolutional Neural Network (CNN)</vt:lpstr>
      <vt:lpstr>Image Classification </vt:lpstr>
      <vt:lpstr>Image Classification </vt:lpstr>
      <vt:lpstr>PowerPoint 演示文稿</vt:lpstr>
      <vt:lpstr>Observation 1</vt:lpstr>
      <vt:lpstr>PowerPoint 演示文稿</vt:lpstr>
      <vt:lpstr>Observation 1</vt:lpstr>
      <vt:lpstr>Simplification 1 </vt:lpstr>
      <vt:lpstr>Simplification 1 </vt:lpstr>
      <vt:lpstr>Simplification 1 – Typical Setting  </vt:lpstr>
      <vt:lpstr>Observation 2</vt:lpstr>
      <vt:lpstr>Simplification 2</vt:lpstr>
      <vt:lpstr>Simplification 2</vt:lpstr>
      <vt:lpstr>Simplification 2 – Typical Setting </vt:lpstr>
      <vt:lpstr>Simplification 2 – Typical Setting </vt:lpstr>
      <vt:lpstr>Benefit of Convolutional Layer </vt:lpstr>
      <vt:lpstr>Convolutional Layer </vt:lpstr>
      <vt:lpstr>Convolutional Layer </vt:lpstr>
      <vt:lpstr>Convolutional Layer </vt:lpstr>
      <vt:lpstr>Convolutional Layer </vt:lpstr>
      <vt:lpstr>PowerPoint 演示文稿</vt:lpstr>
      <vt:lpstr>PowerPoint 演示文稿</vt:lpstr>
      <vt:lpstr>PowerPoint 演示文稿</vt:lpstr>
      <vt:lpstr>Comparison of Two Stories </vt:lpstr>
      <vt:lpstr>PowerPoint 演示文稿</vt:lpstr>
      <vt:lpstr>Convolutional Layer </vt:lpstr>
      <vt:lpstr>Observation 3</vt:lpstr>
      <vt:lpstr>Pooling – Max Pooling </vt:lpstr>
      <vt:lpstr>PowerPoint 演示文稿</vt:lpstr>
      <vt:lpstr>The whole CNN</vt:lpstr>
      <vt:lpstr>Application: Playing Go</vt:lpstr>
      <vt:lpstr>Why CNN for Go playing?</vt:lpstr>
      <vt:lpstr>Why CNN for Go playing?</vt:lpstr>
      <vt:lpstr>PowerPoint 演示文稿</vt:lpstr>
      <vt:lpstr>To learn more …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Convolutional Neural Network</dc:title>
  <dc:creator>Hung-yi Lee</dc:creator>
  <cp:lastModifiedBy>顾念</cp:lastModifiedBy>
  <cp:revision>74</cp:revision>
  <dcterms:created xsi:type="dcterms:W3CDTF">2021-03-08T17:06:00Z</dcterms:created>
  <dcterms:modified xsi:type="dcterms:W3CDTF">2026-05-15T15:08:47Z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2A4EF68AD95F41B9B8EA9266DF988436_12</vt:lpwstr>
  </property>
</Properties>
</file>