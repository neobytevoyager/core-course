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256" r:id="rId3"/>
    <p:sldId id="271" r:id="rId5"/>
    <p:sldId id="272" r:id="rId6"/>
    <p:sldId id="257" r:id="rId7"/>
    <p:sldId id="258" r:id="rId8"/>
    <p:sldId id="259" r:id="rId9"/>
    <p:sldId id="276" r:id="rId10"/>
    <p:sldId id="260" r:id="rId11"/>
    <p:sldId id="262" r:id="rId12"/>
    <p:sldId id="273" r:id="rId13"/>
    <p:sldId id="263" r:id="rId14"/>
    <p:sldId id="274" r:id="rId15"/>
    <p:sldId id="264" r:id="rId16"/>
    <p:sldId id="26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75" r:id="rId29"/>
    <p:sldId id="266" r:id="rId30"/>
    <p:sldId id="288" r:id="rId31"/>
    <p:sldId id="289" r:id="rId32"/>
  </p:sldIdLst>
  <p:sldSz cx="12192000" cy="6858000"/>
  <p:notesSz cx="6858000" cy="9144000"/>
  <p:embeddedFontLst>
    <p:embeddedFont>
      <p:font typeface="Calibri" panose="020F0502020204030204"/>
      <p:regular r:id="rId37"/>
      <p:bold r:id="rId38"/>
      <p:italic r:id="rId39"/>
      <p:boldItalic r:id="rId40"/>
    </p:embeddedFont>
    <p:embeddedFont>
      <p:font typeface="Noto Sans SC" panose="020B0200000000000000" charset="-122"/>
      <p:regular r:id="rId41"/>
      <p:bold r:id="rId42"/>
    </p:embeddedFont>
    <p:embeddedFont>
      <p:font typeface="楷体" panose="02010609060101010101" charset="-122"/>
      <p:regular r:id="rId43"/>
    </p:embeddedFont>
    <p:embeddedFont>
      <p:font typeface="微软雅黑" panose="020B0503020204020204" charset="-122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923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92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font" Target="fonts/font9.fntdata"/><Relationship Id="rId44" Type="http://schemas.openxmlformats.org/officeDocument/2006/relationships/font" Target="fonts/font8.fntdata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E8B86-B8FD-403A-AC69-6BFD13BFC9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3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40.png"/><Relationship Id="rId6" Type="http://schemas.openxmlformats.org/officeDocument/2006/relationships/tags" Target="../tags/tag27.xml"/><Relationship Id="rId5" Type="http://schemas.openxmlformats.org/officeDocument/2006/relationships/image" Target="../media/image39.png"/><Relationship Id="rId4" Type="http://schemas.openxmlformats.org/officeDocument/2006/relationships/tags" Target="../tags/tag26.xml"/><Relationship Id="rId3" Type="http://schemas.openxmlformats.org/officeDocument/2006/relationships/image" Target="../media/image38.png"/><Relationship Id="rId25" Type="http://schemas.openxmlformats.org/officeDocument/2006/relationships/notesSlide" Target="../notesSlides/notesSlide27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5.png"/><Relationship Id="rId22" Type="http://schemas.openxmlformats.org/officeDocument/2006/relationships/tags" Target="../tags/tag38.xml"/><Relationship Id="rId21" Type="http://schemas.openxmlformats.org/officeDocument/2006/relationships/image" Target="../media/image44.png"/><Relationship Id="rId20" Type="http://schemas.openxmlformats.org/officeDocument/2006/relationships/tags" Target="../tags/tag37.xml"/><Relationship Id="rId2" Type="http://schemas.openxmlformats.org/officeDocument/2006/relationships/tags" Target="../tags/tag25.xml"/><Relationship Id="rId19" Type="http://schemas.openxmlformats.org/officeDocument/2006/relationships/image" Target="../media/image43.png"/><Relationship Id="rId18" Type="http://schemas.openxmlformats.org/officeDocument/2006/relationships/tags" Target="../tags/tag36.xml"/><Relationship Id="rId17" Type="http://schemas.openxmlformats.org/officeDocument/2006/relationships/image" Target="../media/image42.png"/><Relationship Id="rId16" Type="http://schemas.openxmlformats.org/officeDocument/2006/relationships/tags" Target="../tags/tag35.xml"/><Relationship Id="rId15" Type="http://schemas.openxmlformats.org/officeDocument/2006/relationships/image" Target="../media/image41.png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95275" y="2186880"/>
            <a:ext cx="11601450" cy="1320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60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一笔画问题与欧拉路径</a:t>
            </a:r>
            <a:endParaRPr lang="en-US" sz="60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10140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 · 算法实现与复杂性深度剖析 · 现实工程应用</a:t>
            </a:r>
            <a:endParaRPr lang="en-US" sz="21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 cstate="hqprint"/>
            <a:srcRect/>
            <a:stretch>
              <a:fillRect/>
            </a:stretch>
          </p:blipFill>
          <p:spPr>
            <a:xfrm>
              <a:off x="-1" y="0"/>
              <a:ext cx="12192001" cy="6858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 cstate="hqprint"/>
            <a:srcRect/>
            <a:stretch>
              <a:fillRect/>
            </a:stretch>
          </p:blipFill>
          <p:spPr>
            <a:xfrm>
              <a:off x="-1" y="3304032"/>
              <a:ext cx="12192001" cy="3553968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1639047" y="1400613"/>
            <a:ext cx="12300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60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目录</a:t>
            </a:r>
            <a:endParaRPr kumimoji="1" lang="zh-CN" altLang="en-US" sz="6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3761217" y="1293938"/>
            <a:ext cx="587305" cy="2660299"/>
            <a:chOff x="2840560" y="1476561"/>
            <a:chExt cx="587305" cy="2660299"/>
          </a:xfrm>
        </p:grpSpPr>
        <p:sp>
          <p:nvSpPr>
            <p:cNvPr id="3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2880225" y="2198840"/>
              <a:ext cx="505517" cy="193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定义与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概述</a:t>
              </a:r>
              <a:endParaRPr kumimoji="1" lang="zh-CN" altLang="en-US" sz="2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badashanren" panose="02000600000000000000" pitchFamily="2" charset="-128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32" name="椭圆 31"/>
              <p:cNvSpPr/>
              <p:nvPr>
                <p:custDataLst>
                  <p:tags r:id="rId5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rgbClr val="917C5D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  <p:sp>
            <p:nvSpPr>
              <p:cNvPr id="33" name="文本框 1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</a:rPr>
                  <a:t>一</a:t>
                </a:r>
                <a:endParaRPr kumimoji="1" lang="zh-CN" altLang="en-US" sz="28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4877707" y="1293938"/>
            <a:ext cx="587305" cy="2290729"/>
            <a:chOff x="2840560" y="1476561"/>
            <a:chExt cx="587305" cy="2290729"/>
          </a:xfrm>
        </p:grpSpPr>
        <p:sp>
          <p:nvSpPr>
            <p:cNvPr id="26" name="文本框 9"/>
            <p:cNvSpPr txBox="1"/>
            <p:nvPr>
              <p:custDataLst>
                <p:tags r:id="rId8"/>
              </p:custDataLst>
            </p:nvPr>
          </p:nvSpPr>
          <p:spPr>
            <a:xfrm>
              <a:off x="2880225" y="2198840"/>
              <a:ext cx="505517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算法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思想</a:t>
              </a:r>
              <a:endParaRPr kumimoji="1" lang="zh-CN" altLang="en-US" sz="2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badashanren" panose="02000600000000000000" pitchFamily="2" charset="-128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28" name="椭圆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  <p:sp>
            <p:nvSpPr>
              <p:cNvPr id="29" name="文本框 1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</a:rPr>
                  <a:t>二</a:t>
                </a:r>
                <a:endParaRPr kumimoji="1" lang="zh-CN" altLang="en-US" sz="28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</p:grp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5945302" y="1302193"/>
            <a:ext cx="587305" cy="2290729"/>
            <a:chOff x="2840560" y="1476561"/>
            <a:chExt cx="587305" cy="2290729"/>
          </a:xfrm>
        </p:grpSpPr>
        <p:sp>
          <p:nvSpPr>
            <p:cNvPr id="22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2880225" y="2198840"/>
              <a:ext cx="505517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算法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实现</a:t>
              </a:r>
              <a:endParaRPr kumimoji="1" lang="zh-CN" altLang="en-US" sz="2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badashanren" panose="02000600000000000000" pitchFamily="2" charset="-128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24" name="椭圆 23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rgbClr val="917C5D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  <p:sp>
            <p:nvSpPr>
              <p:cNvPr id="25" name="文本框 12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</a:rPr>
                  <a:t>三</a:t>
                </a:r>
                <a:endParaRPr kumimoji="1" lang="zh-CN" altLang="en-US" sz="28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</p:grpSp>
      <p:grpSp>
        <p:nvGrpSpPr>
          <p:cNvPr id="17" name="组合 16"/>
          <p:cNvGrpSpPr/>
          <p:nvPr>
            <p:custDataLst>
              <p:tags r:id="rId15"/>
            </p:custDataLst>
          </p:nvPr>
        </p:nvGrpSpPr>
        <p:grpSpPr>
          <a:xfrm>
            <a:off x="7052268" y="1310448"/>
            <a:ext cx="587305" cy="2290729"/>
            <a:chOff x="2840560" y="1476561"/>
            <a:chExt cx="587305" cy="2290729"/>
          </a:xfrm>
        </p:grpSpPr>
        <p:sp>
          <p:nvSpPr>
            <p:cNvPr id="18" name="文本框 9"/>
            <p:cNvSpPr txBox="1"/>
            <p:nvPr>
              <p:custDataLst>
                <p:tags r:id="rId16"/>
              </p:custDataLst>
            </p:nvPr>
          </p:nvSpPr>
          <p:spPr>
            <a:xfrm>
              <a:off x="2880225" y="2198840"/>
              <a:ext cx="505517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求解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过程</a:t>
              </a:r>
              <a:endParaRPr kumimoji="1" lang="zh-CN" altLang="en-US" sz="2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badashanren" panose="02000600000000000000" pitchFamily="2" charset="-128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20" name="椭圆 19"/>
              <p:cNvSpPr/>
              <p:nvPr>
                <p:custDataLst>
                  <p:tags r:id="rId17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  <p:sp>
            <p:nvSpPr>
              <p:cNvPr id="21" name="文本框 1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</a:rPr>
                  <a:t>四</a:t>
                </a:r>
                <a:endParaRPr kumimoji="1" lang="zh-CN" altLang="en-US" sz="28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</p:grpSp>
      <p:grpSp>
        <p:nvGrpSpPr>
          <p:cNvPr id="2" name="组合 1"/>
          <p:cNvGrpSpPr/>
          <p:nvPr>
            <p:custDataLst>
              <p:tags r:id="rId19"/>
            </p:custDataLst>
          </p:nvPr>
        </p:nvGrpSpPr>
        <p:grpSpPr>
          <a:xfrm>
            <a:off x="8103032" y="1302193"/>
            <a:ext cx="587305" cy="2290729"/>
            <a:chOff x="2840560" y="1476561"/>
            <a:chExt cx="587305" cy="2290729"/>
          </a:xfrm>
        </p:grpSpPr>
        <p:sp>
          <p:nvSpPr>
            <p:cNvPr id="3" name="文本框 9"/>
            <p:cNvSpPr txBox="1"/>
            <p:nvPr>
              <p:custDataLst>
                <p:tags r:id="rId20"/>
              </p:custDataLst>
            </p:nvPr>
          </p:nvSpPr>
          <p:spPr>
            <a:xfrm>
              <a:off x="2880225" y="2198840"/>
              <a:ext cx="505517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性能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分析</a:t>
              </a:r>
              <a:endParaRPr kumimoji="1" lang="zh-CN" altLang="en-US" sz="2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badashanren" panose="02000600000000000000" pitchFamily="2" charset="-128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6" name="椭圆 5"/>
              <p:cNvSpPr/>
              <p:nvPr>
                <p:custDataLst>
                  <p:tags r:id="rId21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rgbClr val="917C5D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  <p:sp>
            <p:nvSpPr>
              <p:cNvPr id="12" name="文本框 12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</a:rPr>
                  <a:t>五</a:t>
                </a:r>
                <a:endParaRPr kumimoji="1" lang="zh-CN" altLang="en-US" sz="28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</p:grpSp>
      <p:sp>
        <p:nvSpPr>
          <p:cNvPr id="43" name="文本框 42"/>
          <p:cNvSpPr txBox="1"/>
          <p:nvPr/>
        </p:nvSpPr>
        <p:spPr>
          <a:xfrm>
            <a:off x="6363335" y="12674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44" name="组合 43"/>
          <p:cNvGrpSpPr/>
          <p:nvPr>
            <p:custDataLst>
              <p:tags r:id="rId23"/>
            </p:custDataLst>
          </p:nvPr>
        </p:nvGrpSpPr>
        <p:grpSpPr>
          <a:xfrm>
            <a:off x="9127448" y="1310448"/>
            <a:ext cx="587305" cy="3398804"/>
            <a:chOff x="2840560" y="1476561"/>
            <a:chExt cx="587305" cy="3398804"/>
          </a:xfrm>
        </p:grpSpPr>
        <p:sp>
          <p:nvSpPr>
            <p:cNvPr id="45" name="文本框 9"/>
            <p:cNvSpPr txBox="1"/>
            <p:nvPr>
              <p:custDataLst>
                <p:tags r:id="rId24"/>
              </p:custDataLst>
            </p:nvPr>
          </p:nvSpPr>
          <p:spPr>
            <a:xfrm>
              <a:off x="2880225" y="2198840"/>
              <a:ext cx="505517" cy="26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总结与参考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badashanren" panose="02000600000000000000" pitchFamily="2" charset="-128"/>
                </a:rPr>
                <a:t>文献</a:t>
              </a:r>
              <a:endParaRPr kumimoji="1" lang="zh-CN" altLang="en-US" sz="2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badashanren" panose="02000600000000000000" pitchFamily="2" charset="-128"/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2840560" y="1476561"/>
              <a:ext cx="587305" cy="587305"/>
              <a:chOff x="3709240" y="1966872"/>
              <a:chExt cx="587305" cy="587305"/>
            </a:xfrm>
          </p:grpSpPr>
          <p:sp>
            <p:nvSpPr>
              <p:cNvPr id="47" name="椭圆 46"/>
              <p:cNvSpPr/>
              <p:nvPr>
                <p:custDataLst>
                  <p:tags r:id="rId25"/>
                </p:custDataLst>
              </p:nvPr>
            </p:nvSpPr>
            <p:spPr>
              <a:xfrm>
                <a:off x="3709240" y="1966872"/>
                <a:ext cx="587305" cy="5873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14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  <p:sp>
            <p:nvSpPr>
              <p:cNvPr id="48" name="文本框 12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3735855" y="1975458"/>
                <a:ext cx="538480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</a:rPr>
                  <a:t>六</a:t>
                </a:r>
                <a:endParaRPr kumimoji="1" lang="zh-CN" altLang="en-US" sz="2800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</p:grpSp>
      <p:sp>
        <p:nvSpPr>
          <p:cNvPr id="49" name="文本框 48"/>
          <p:cNvSpPr txBox="1"/>
          <p:nvPr/>
        </p:nvSpPr>
        <p:spPr>
          <a:xfrm>
            <a:off x="5815330" y="12674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823215" y="2476500"/>
            <a:ext cx="4545568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一</a:t>
            </a:r>
            <a:r>
              <a:rPr lang="en-US" altLang="zh-CN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定义与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概述</a:t>
            </a:r>
            <a:endParaRPr lang="zh-CN" altLang="en-US" sz="48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619750" y="3590925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3931443" y="3933825"/>
            <a:ext cx="4329112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格尼斯</a:t>
            </a:r>
            <a:r>
              <a:rPr lang="zh-CN" alt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堡问题和数学</a:t>
            </a:r>
            <a:r>
              <a:rPr lang="zh-CN" alt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endParaRPr lang="zh-CN" alt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2"/>
          <a:srcRect l="23" r="23"/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000125" y="2076450"/>
            <a:ext cx="48577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历史背景：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18世纪的</a:t>
            </a:r>
            <a:r>
              <a:rPr lang="zh-CN" alt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格尼斯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堡有一条横贯全市的普列戈利亚河。河中有两个岛，并有七座桥将其与河岸连接。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000125" y="294513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核心疑问：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市民们提出一个消遣问题：能否从某处出发，走遍七座桥且每座桥只走一次，最后回到原处？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00125" y="374523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欧拉的抽象 (1736年)：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莱昂哈德·欧拉剥离了物理细节，将陆地抽象为</a:t>
            </a: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顶点 (Vertex)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，将桥梁抽象为连接顶点的</a:t>
            </a: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 (Edge)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485013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深远影响：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这篇关于“位置几何学”的论文标志着</a:t>
            </a: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图论 (Graph Theory)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以及拓扑学分支的正式诞生。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53175" y="2095500"/>
            <a:ext cx="524827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4205" y="2257742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24205" y="3121977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24205" y="3880802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24205" y="4959667"/>
            <a:ext cx="1778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5520690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起源：哥尼斯堡七桥问题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71500" y="1257300"/>
            <a:ext cx="52578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6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66962"/>
            <a:ext cx="3492549" cy="322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366962"/>
            <a:ext cx="3492549" cy="322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366962"/>
            <a:ext cx="3492549" cy="32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34217" y="3414712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顶点的度 (Degree)</a:t>
            </a:r>
            <a:endParaRPr lang="en-US" sz="19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09625" y="3890645"/>
            <a:ext cx="3016250" cy="160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在无向图中，与某个顶点相连的边的总数称为该顶点的“度”。如果度数为偶数，称为偶顶点；如果度数为奇数，称为奇顶点。这是判断欧拉路径的核心指标。</a:t>
            </a:r>
            <a:endParaRPr lang="en-US" sz="135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512517" y="3414712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欧拉路径 (Eulerian Path)</a:t>
            </a:r>
            <a:endParaRPr lang="en-US" sz="19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587875" y="3890645"/>
            <a:ext cx="3016250" cy="142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包含图中所有边恰好一次的路径（迹）。由于它只是路径，因此起点和终点可以是不相同的两个顶点。图被称为</a:t>
            </a:r>
            <a:r>
              <a:rPr lang="en-US" sz="135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半欧拉图</a:t>
            </a:r>
            <a:r>
              <a:rPr lang="en-US" sz="135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5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290816" y="3414712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欧拉回路 (Eulerian Circuit)</a:t>
            </a:r>
            <a:endParaRPr lang="en-US" sz="19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366125" y="3890645"/>
            <a:ext cx="3016250" cy="137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一条起止于同一个顶点的欧拉路径。它不仅遍历了图中所有的边且不重复，还形成了一个完美的闭环。包含该回路的图被称为</a:t>
            </a:r>
            <a:r>
              <a:rPr lang="en-US" sz="135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欧拉图</a:t>
            </a:r>
            <a:r>
              <a:rPr lang="en-US" sz="135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5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139850" y="2738437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918150" y="2738437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696450" y="2738437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5060632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核心数学概念严格定义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71500" y="1257300"/>
            <a:ext cx="481965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19300"/>
            <a:ext cx="5286375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2019300"/>
            <a:ext cx="52863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04875" y="2352675"/>
            <a:ext cx="485060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无向图 (Undirected Graphs)</a:t>
            </a:r>
            <a:endParaRPr lang="en-US" sz="21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667500" y="2352675"/>
            <a:ext cx="485060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有向图 (Directed Graphs)</a:t>
            </a:r>
            <a:endParaRPr lang="en-US" sz="21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333500" y="2905125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基础前提：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所有度数非零的顶点都必须属于同一个连通分量。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333500" y="3705225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欧拉回路判定：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图中</a:t>
            </a: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所有顶点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的度数都必须是偶数。 (进出完全对等)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333500" y="4505325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欧拉路径判定：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图中</a:t>
            </a: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恰好有2个顶点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的度数为奇数。这两个奇度数顶点必须作为路径的起点和终点，其余均为偶数。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096125" y="2905125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基础前提：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底图（忽略方向）必须是连通的。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7096125" y="3400425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欧拉回路判定：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对于图中的</a:t>
            </a: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每一个顶点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，其入度 (In-degree) 必须严格等于其出度 (Out-degree)。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096125" y="4200525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欧拉路径判定：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最多只有一个顶点的 (出度 - 入度 = 1) 作为起点；最多只有一个顶点的 (入度 - 出度 = 1) 作为终点；其余顶点入度等于出度。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04875" y="2928937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04875" y="3729037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04875" y="4529137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0" y="2928937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0" y="3424237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667500" y="4224337"/>
            <a:ext cx="1778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571500"/>
            <a:ext cx="4600575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存在性充要条件定理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1257300"/>
            <a:ext cx="4381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571500"/>
            <a:ext cx="4600575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示例</a:t>
            </a:r>
            <a:endParaRPr lang="zh-CN" alt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1257300"/>
            <a:ext cx="4381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17370"/>
            <a:ext cx="2228215" cy="18135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590" y="1616075"/>
            <a:ext cx="1670685" cy="2216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130" y="1616075"/>
            <a:ext cx="2239010" cy="22155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415" y="1616075"/>
            <a:ext cx="1722120" cy="22155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2125" y="4563745"/>
            <a:ext cx="11294110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图一是七桥问题抽象化后得到的模型，由四个顶点和七条边组成。由于四个顶点全是奇顶点，由奇顶点的数目正好是</a:t>
            </a:r>
            <a:r>
              <a:rPr lang="en-US" altLang="zh-CN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个或</a:t>
            </a:r>
            <a:r>
              <a:rPr lang="en-US" altLang="zh-CN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可知无法一笔画成。</a:t>
            </a:r>
            <a:endParaRPr lang="zh-CN" altLang="en-US" sz="1600" b="0" i="0">
              <a:solidFill>
                <a:srgbClr val="2021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0" i="0">
              <a:solidFill>
                <a:srgbClr val="2021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图二是中文“串”字。由于只有最上方和最下方的顶点是奇顶点，</a:t>
            </a:r>
            <a:r>
              <a:rPr lang="zh-CN" altLang="en-US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可知它可以一笔写成，图片内给出了一个例子。</a:t>
            </a:r>
            <a:endParaRPr lang="zh-CN" altLang="en-US" sz="1600" b="0" i="0">
              <a:solidFill>
                <a:srgbClr val="2021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en-US" altLang="zh-CN" sz="1600" b="0" i="0">
              <a:solidFill>
                <a:srgbClr val="2021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图三的六角星因每个顶点都是偶顶点，如上，不论是由哪个点出发，它都可以一笔画成。</a:t>
            </a:r>
            <a:endParaRPr lang="zh-CN" altLang="en-US" sz="1600" b="0" i="0">
              <a:solidFill>
                <a:srgbClr val="2021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en-US" altLang="zh-CN" sz="1600" b="0" i="0">
              <a:solidFill>
                <a:srgbClr val="2021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2021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图四（和图五）的图只有最左下方和最右下方的顶点是奇顶点，由其中一个奇顶点画到另一个奇顶点。</a:t>
            </a:r>
            <a:endParaRPr lang="zh-CN" altLang="en-US" sz="1600" b="0" i="0">
              <a:solidFill>
                <a:srgbClr val="2021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950" y="3831590"/>
            <a:ext cx="1143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图一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548505" y="3848735"/>
            <a:ext cx="1143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</a:t>
            </a:r>
            <a:r>
              <a:rPr lang="zh-CN" altLang="en-US"/>
              <a:t>二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176135" y="3848735"/>
            <a:ext cx="1143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</a:t>
            </a:r>
            <a:r>
              <a:rPr lang="zh-CN" altLang="en-US"/>
              <a:t>三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86975" y="3848735"/>
            <a:ext cx="1143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</a:t>
            </a:r>
            <a:r>
              <a:rPr lang="zh-CN" altLang="en-US"/>
              <a:t>四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823215" y="2476500"/>
            <a:ext cx="4545568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二</a:t>
            </a:r>
            <a:r>
              <a:rPr lang="en-US" altLang="zh-CN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算法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思想</a:t>
            </a:r>
            <a:endParaRPr lang="zh-CN" altLang="en-US" sz="48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619750" y="3590925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3931443" y="3933825"/>
            <a:ext cx="43291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Fleury 算法的启发 到 Hierholzer 算法的极致优化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71500" y="571500"/>
            <a:ext cx="8169302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Hierholzer 算法 (圈套圈法)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1500" y="1257300"/>
            <a:ext cx="7780287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1500" y="1610995"/>
            <a:ext cx="5471160" cy="45154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sz="16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一路狂奔：</a:t>
            </a:r>
            <a:r>
              <a:rPr 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你从起点出发，闭着眼睛随便选路走，走过就删掉。</a:t>
            </a:r>
            <a:endParaRPr 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sz="16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撞到南墙（压栈与记录）：</a:t>
            </a:r>
            <a:r>
              <a:rPr 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当你走到某个节点，发现周围的边全被你删光了，你无路可走了。别慌，这意味着你找到了这段路径的最后一个点。你把这个点记在小本子上（放入结果路径），然后往后退一步（回溯）。</a:t>
            </a:r>
            <a:endParaRPr 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sz="16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清理支线任务（处理环）：</a:t>
            </a:r>
            <a:r>
              <a:rPr 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你退回到了上一个路口。你看看四周，咦，这里还有一条没走过的边！这说明你刚才错过了一个“环形”的支线任务。于是你再次随便走，直到把这个支线环绕完，再次卡在这个路口。</a:t>
            </a:r>
            <a:endParaRPr 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sz="16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拼接结果：</a:t>
            </a:r>
            <a:r>
              <a:rPr 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你继续这个“卡住 -&gt; 记录 -&gt; 退一步 -&gt; 找新路”的过程。当你一路退回到最开始的起点，并且图上所有的边都被删光时，你的小本子上就记满了一串节点。</a:t>
            </a:r>
            <a:endParaRPr 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0" hangingPunct="1">
              <a:lnSpc>
                <a:spcPct val="120000"/>
              </a:lnSpc>
            </a:pPr>
            <a:r>
              <a:rPr lang="en-US" sz="16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倒放</a:t>
            </a:r>
            <a:r>
              <a:rPr lang="zh-CN" altLang="en-US" sz="16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</a:t>
            </a:r>
            <a:r>
              <a:rPr lang="en-US" sz="16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因为你是从“终点”开始倒着往回记的，所以最后只要把本子上的节点倒过来念，就是完美的一笔画顺序！</a:t>
            </a:r>
            <a:endParaRPr 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0" y="1520190"/>
            <a:ext cx="3750310" cy="439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823215" y="2476500"/>
            <a:ext cx="4545568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三</a:t>
            </a:r>
            <a:r>
              <a:rPr lang="en-US" altLang="zh-CN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算法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实现</a:t>
            </a:r>
            <a:endParaRPr lang="zh-CN" altLang="en-US" sz="48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619750" y="3590925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75120" y="944880"/>
            <a:ext cx="5220970" cy="583628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7004050" y="1228725"/>
            <a:ext cx="485060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代码逻辑精析</a:t>
            </a:r>
            <a:endParaRPr lang="en-US" sz="21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004050" y="1781175"/>
            <a:ext cx="4619625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数据结构准备：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使用邻接表 graph 存储图。需要两个数组：stack 模拟系统递归栈，path 存储最终答案。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004050" y="2600325"/>
            <a:ext cx="4619625" cy="141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边的一锤子买卖：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popEdge() 极其关键。无论我们走向哪里，只要走过一条边，就立刻将其从图中物理/逻辑移除。这保证了不走回头路，且均摊时间复杂度为常数。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7004050" y="4019550"/>
            <a:ext cx="4619625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回溯机制：</a:t>
            </a:r>
            <a:r>
              <a:rPr lang="en-US" sz="15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else 分支是算法灵魂。当 curr 没有任何相邻边时，说明它相关的环已被榨干，它必然是某一段的结尾，放入 path，并退回上一个节点继续检查。</a:t>
            </a:r>
            <a:endParaRPr lang="en-US" sz="15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80010"/>
            <a:ext cx="544755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Hierholzer 算法伪代码实现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1500" y="765810"/>
            <a:ext cx="5188148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Google Shape;194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3075" y="895350"/>
            <a:ext cx="5622925" cy="58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532130" y="944880"/>
            <a:ext cx="538480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Algorithm Hierholzer_EulerPath(G)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Initialize empty Stack S</a:t>
            </a:r>
            <a:endParaRPr lang="en-US" altLang="zh-CN"/>
          </a:p>
          <a:p>
            <a:r>
              <a:rPr lang="en-US" altLang="zh-CN"/>
              <a:t>    Initialize empty List Path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zh-CN" altLang="en-US"/>
              <a:t>    // 获取起点：优先选奇度数点，若全为偶度数则任选一点</a:t>
            </a:r>
            <a:endParaRPr lang="zh-CN" altLang="en-US"/>
          </a:p>
          <a:p>
            <a:r>
              <a:rPr lang="en-US" altLang="zh-CN"/>
              <a:t>    Node curr = Get_Valid_Start_Node(G)  </a:t>
            </a:r>
            <a:endParaRPr lang="en-US" altLang="zh-CN"/>
          </a:p>
          <a:p>
            <a:r>
              <a:rPr lang="en-US" altLang="zh-CN"/>
              <a:t>    S.push(curr)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While S is not empty Do</a:t>
            </a:r>
            <a:endParaRPr lang="en-US" altLang="zh-CN"/>
          </a:p>
          <a:p>
            <a:r>
              <a:rPr lang="en-US" altLang="zh-CN"/>
              <a:t>        curr = S.top()               // </a:t>
            </a:r>
            <a:r>
              <a:rPr lang="zh-CN" altLang="en-US"/>
              <a:t>查看栈顶节点</a:t>
            </a:r>
            <a:endParaRPr lang="zh-CN" altLang="en-US"/>
          </a:p>
          <a:p>
            <a:r>
              <a:rPr lang="en-US" altLang="zh-CN"/>
              <a:t>        </a:t>
            </a:r>
            <a:endParaRPr lang="en-US" altLang="zh-CN"/>
          </a:p>
          <a:p>
            <a:r>
              <a:rPr lang="en-US" altLang="zh-CN"/>
              <a:t>        If G.has_unvisited_edges(curr) Then  </a:t>
            </a:r>
            <a:endParaRPr lang="en-US" altLang="zh-CN"/>
          </a:p>
          <a:p>
            <a:r>
              <a:rPr lang="zh-CN" altLang="en-US"/>
              <a:t>            // 还有未遍历的相邻边，继续深入</a:t>
            </a:r>
            <a:endParaRPr lang="zh-CN" altLang="en-US"/>
          </a:p>
          <a:p>
            <a:r>
              <a:rPr lang="en-US" altLang="zh-CN"/>
              <a:t>            Edge e = G.get_and_remove_edge(curr)  // O(1) </a:t>
            </a:r>
            <a:r>
              <a:rPr lang="zh-CN" altLang="en-US"/>
              <a:t>获取并物理删除该边</a:t>
            </a:r>
            <a:endParaRPr lang="zh-CN" altLang="en-US"/>
          </a:p>
          <a:p>
            <a:r>
              <a:rPr lang="en-US" altLang="zh-CN"/>
              <a:t>            v = e.target_node</a:t>
            </a:r>
            <a:endParaRPr lang="en-US" altLang="zh-CN"/>
          </a:p>
          <a:p>
            <a:r>
              <a:rPr lang="en-US" altLang="zh-CN"/>
              <a:t>            S.push(v)</a:t>
            </a:r>
            <a:endParaRPr lang="en-US" altLang="zh-CN"/>
          </a:p>
          <a:p>
            <a:r>
              <a:rPr lang="en-US" altLang="zh-CN"/>
              <a:t>        Else                         </a:t>
            </a:r>
            <a:endParaRPr lang="en-US" altLang="zh-CN"/>
          </a:p>
          <a:p>
            <a:r>
              <a:rPr lang="zh-CN" altLang="en-US"/>
              <a:t>            // 该节点相关边已全部走完，陷入死胡同</a:t>
            </a:r>
            <a:endParaRPr lang="zh-CN" altLang="en-US"/>
          </a:p>
          <a:p>
            <a:r>
              <a:rPr lang="en-US" altLang="zh-CN"/>
              <a:t>            Path.append(curr)        // </a:t>
            </a:r>
            <a:r>
              <a:rPr lang="zh-CN" altLang="en-US"/>
              <a:t>记录节点</a:t>
            </a:r>
            <a:endParaRPr lang="zh-CN" altLang="en-US"/>
          </a:p>
          <a:p>
            <a:r>
              <a:rPr lang="en-US" altLang="zh-CN"/>
              <a:t>            S.pop()                  // </a:t>
            </a:r>
            <a:r>
              <a:rPr lang="zh-CN" altLang="en-US"/>
              <a:t>回溯</a:t>
            </a:r>
            <a:endParaRPr lang="zh-CN" altLang="en-US"/>
          </a:p>
          <a:p>
            <a:r>
              <a:rPr lang="en-US" altLang="zh-CN"/>
              <a:t>        End If</a:t>
            </a:r>
            <a:endParaRPr lang="en-US" altLang="zh-CN"/>
          </a:p>
          <a:p>
            <a:r>
              <a:rPr lang="en-US" altLang="zh-CN"/>
              <a:t>    End While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    // 由于是从死胡同倒退记录，最后需要逆序输出</a:t>
            </a:r>
            <a:endParaRPr lang="zh-CN" altLang="en-US"/>
          </a:p>
          <a:p>
            <a:r>
              <a:rPr lang="en-US" altLang="zh-CN"/>
              <a:t>    Return Reverse(Path)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823215" y="2476500"/>
            <a:ext cx="4545568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四</a:t>
            </a:r>
            <a:r>
              <a:rPr lang="en-US" altLang="zh-CN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求解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过程</a:t>
            </a:r>
            <a:endParaRPr lang="zh-CN" altLang="en-US" sz="48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619750" y="3590925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571500"/>
            <a:ext cx="5200650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10870" y="1348105"/>
            <a:ext cx="495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10870" y="2642235"/>
            <a:ext cx="52006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图模型分析</a:t>
            </a:r>
            <a:endParaRPr lang="en-US" sz="2400" b="1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10870" y="3124200"/>
            <a:ext cx="4953000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如右图的“信封”(或房子)图形，我们将节点标记为A(左下), B(右下), C(左上), D(右上), E(顶点)。</a:t>
            </a:r>
            <a:endParaRPr lang="en-US" sz="16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10870" y="4016375"/>
            <a:ext cx="49530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度数统计：</a:t>
            </a:r>
            <a:r>
              <a:rPr lang="en-US" sz="16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A(3), B(3), C(4), D(4), E(2)。</a:t>
            </a:r>
            <a:endParaRPr lang="en-US" sz="16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10870" y="4476115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恰好有两个奇数度顶点(A和B)，因此满足</a:t>
            </a:r>
            <a:r>
              <a:rPr lang="en-US" sz="160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存在欧拉路径，但不存在回路</a:t>
            </a:r>
            <a:r>
              <a:rPr lang="en-US" sz="160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的定理。起点必须是A或B。</a:t>
            </a:r>
            <a:endParaRPr lang="en-US" sz="160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895" y="1627505"/>
            <a:ext cx="3750310" cy="439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860" y="1788160"/>
            <a:ext cx="2884805" cy="4169410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75" y="1788160"/>
            <a:ext cx="2950210" cy="40824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0" y="1792605"/>
            <a:ext cx="3053715" cy="41529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2682"/>
          <a:stretch>
            <a:fillRect/>
          </a:stretch>
        </p:blipFill>
        <p:spPr>
          <a:xfrm>
            <a:off x="1802130" y="1792605"/>
            <a:ext cx="2971800" cy="41205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75" y="1788160"/>
            <a:ext cx="3026410" cy="406590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658610" y="431419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658610" y="431419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658610" y="403098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955" y="1851025"/>
            <a:ext cx="2895600" cy="4120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  <a:p>
            <a:r>
              <a:rPr lang="en-US" altLang="zh-CN" sz="1600"/>
              <a:t>B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658610" y="431419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770" y="1792605"/>
            <a:ext cx="2808605" cy="403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  <a:p>
            <a:r>
              <a:rPr lang="en-US" altLang="zh-CN" sz="1600"/>
              <a:t>B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658610" y="431419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70" y="1788160"/>
            <a:ext cx="2961005" cy="405511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658610" y="403098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  <a:p>
            <a:r>
              <a:rPr lang="en-US" altLang="zh-CN" sz="1600"/>
              <a:t>B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658610" y="431419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658610" y="403098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1788160"/>
            <a:ext cx="3048000" cy="409321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6658610" y="374777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E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  <a:p>
            <a:r>
              <a:rPr lang="en-US" altLang="zh-CN" sz="1600"/>
              <a:t>B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658610" y="431419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658610" y="403098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1788160"/>
            <a:ext cx="3048000" cy="409321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6658610" y="374777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E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  <a:p>
            <a:r>
              <a:rPr lang="en-US" altLang="zh-CN" sz="1600"/>
              <a:t>B</a:t>
            </a:r>
            <a:endParaRPr lang="en-US" altLang="zh-CN" sz="1600"/>
          </a:p>
        </p:txBody>
      </p:sp>
      <p:sp>
        <p:nvSpPr>
          <p:cNvPr id="8" name="矩形 7"/>
          <p:cNvSpPr/>
          <p:nvPr/>
        </p:nvSpPr>
        <p:spPr>
          <a:xfrm>
            <a:off x="6658610" y="546735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58610" y="516382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58610" y="488061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658610" y="459740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658610" y="431419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658610" y="403098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6658610" y="374777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E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45" y="1788160"/>
            <a:ext cx="2999105" cy="414210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658610" y="3464560"/>
            <a:ext cx="1147445" cy="28321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571500" y="15525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977479" y="15525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72197" y="15525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738193" y="15525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77176" y="15525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22098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977479" y="22098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772197" y="22098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738193" y="22098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077176" y="22098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317182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1977479" y="317182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72197" y="317182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738193" y="317182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077176" y="317182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3385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77479" y="413385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772197" y="413385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738193" y="413385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077176" y="413385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4791075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77479" y="4791075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772197" y="4791075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738193" y="479107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077176" y="4791075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753100"/>
            <a:ext cx="1405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977479" y="5753100"/>
            <a:ext cx="1794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772197" y="5753100"/>
            <a:ext cx="2965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38193" y="5753100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077176" y="5753100"/>
            <a:ext cx="2543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506095" y="181293"/>
            <a:ext cx="5482091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chemeClr val="tx1"/>
                </a:solidFill>
                <a:sym typeface="Arial" panose="020B0604020202020204"/>
              </a:rPr>
              <a:t>实例演算：一笔画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6095" y="867092"/>
            <a:ext cx="5221039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658610" y="1788160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799705" y="1792605"/>
            <a:ext cx="0" cy="3970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65595" y="5770880"/>
            <a:ext cx="1127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86880" y="5890895"/>
            <a:ext cx="965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当前栈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8566785" y="2280920"/>
            <a:ext cx="2280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path:</a:t>
            </a:r>
            <a:endParaRPr lang="en-US" altLang="zh-CN" sz="1600"/>
          </a:p>
          <a:p>
            <a:r>
              <a:rPr lang="en-US" altLang="zh-CN" sz="1600"/>
              <a:t>B,D,E,C,D,A,C,B,A</a:t>
            </a:r>
            <a:endParaRPr lang="en-US" altLang="zh-CN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45" y="1788160"/>
            <a:ext cx="2999105" cy="4142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823215" y="2476500"/>
            <a:ext cx="4545568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五</a:t>
            </a:r>
            <a:r>
              <a:rPr lang="en-US" altLang="zh-CN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性能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分析</a:t>
            </a:r>
            <a:endParaRPr lang="zh-CN" altLang="en-US" sz="48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619750" y="3590925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3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124075"/>
            <a:ext cx="3492549" cy="371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2124075"/>
            <a:ext cx="3492549" cy="371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28099" y="2124075"/>
            <a:ext cx="3492549" cy="3714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>
            <p:custDataLst>
              <p:tags r:id="rId8"/>
            </p:custDataLst>
          </p:nvPr>
        </p:nvSpPr>
        <p:spPr>
          <a:xfrm>
            <a:off x="734217" y="3171825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3F0D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时间复杂度</a:t>
            </a:r>
            <a:endParaRPr lang="en-US" sz="1950" b="1" i="0" u="none" strike="noStrike" cap="none">
              <a:solidFill>
                <a:srgbClr val="F3F0D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8" name="Google Shape;268;p23"/>
          <p:cNvSpPr txBox="1"/>
          <p:nvPr>
            <p:custDataLst>
              <p:tags r:id="rId9"/>
            </p:custDataLst>
          </p:nvPr>
        </p:nvSpPr>
        <p:spPr>
          <a:xfrm>
            <a:off x="809625" y="4133850"/>
            <a:ext cx="3016299" cy="166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在邻接表表示下，每次通过迭代器寻找下一条边并标记删除是 O(1) 的。每条边精确被访问并删除一次，每个顶点被压入和弹出栈各一次。这是理论上的最优下界。</a:t>
            </a:r>
            <a:endParaRPr lang="en-US" sz="1350" b="0" i="0" u="none" strike="noStrike" cap="none">
              <a:solidFill>
                <a:srgbClr val="F3F0D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9" name="Google Shape;269;p23"/>
          <p:cNvSpPr txBox="1"/>
          <p:nvPr>
            <p:custDataLst>
              <p:tags r:id="rId10"/>
            </p:custDataLst>
          </p:nvPr>
        </p:nvSpPr>
        <p:spPr>
          <a:xfrm>
            <a:off x="4512517" y="3171825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3F0D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空间复杂度</a:t>
            </a:r>
            <a:endParaRPr lang="en-US" sz="1950" b="1" i="0" u="none" strike="noStrike" cap="none">
              <a:solidFill>
                <a:srgbClr val="F3F0D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0" name="Google Shape;270;p23"/>
          <p:cNvSpPr txBox="1"/>
          <p:nvPr>
            <p:custDataLst>
              <p:tags r:id="rId11"/>
            </p:custDataLst>
          </p:nvPr>
        </p:nvSpPr>
        <p:spPr>
          <a:xfrm>
            <a:off x="4587924" y="4133850"/>
            <a:ext cx="3016299" cy="13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图结构本身占用 O(V+E)的内存。DFS 辅助栈在最坏情况（图就是一个大长环）下，深度可达到 O(E)。结果数组同样需要 O(E)空间来存储所有边组成的路径。</a:t>
            </a:r>
            <a:endParaRPr lang="en-US" sz="1350" b="0" i="0" u="none" strike="noStrike" cap="none">
              <a:solidFill>
                <a:srgbClr val="F3F0D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1" name="Google Shape;271;p23"/>
          <p:cNvSpPr txBox="1"/>
          <p:nvPr>
            <p:custDataLst>
              <p:tags r:id="rId12"/>
            </p:custDataLst>
          </p:nvPr>
        </p:nvSpPr>
        <p:spPr>
          <a:xfrm>
            <a:off x="8290816" y="3171825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3F0D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工程级数据结构优化</a:t>
            </a:r>
            <a:endParaRPr lang="en-US" sz="1950" b="1" i="0" u="none" strike="noStrike" cap="none">
              <a:solidFill>
                <a:srgbClr val="F3F0D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2" name="Google Shape;272;p23"/>
          <p:cNvSpPr txBox="1"/>
          <p:nvPr>
            <p:custDataLst>
              <p:tags r:id="rId13"/>
            </p:custDataLst>
          </p:nvPr>
        </p:nvSpPr>
        <p:spPr>
          <a:xfrm>
            <a:off x="8366224" y="3648075"/>
            <a:ext cx="3016299" cy="166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在实际刷题或工程代码中，对于有向图，常用 HashMap&gt; 替代普通数组。这不仅能在 O(\log E) 时间内自动按字典序选择下一条边，还能方便地执行移除边的操作。</a:t>
            </a:r>
            <a:endParaRPr lang="en-US" sz="1350" b="0" i="0" u="none" strike="noStrike" cap="none">
              <a:solidFill>
                <a:srgbClr val="F3F0D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3" name="Google Shape;273;p23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2139850" y="2495550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1657498" y="3695700"/>
            <a:ext cx="132040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5918150" y="2495550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>
            <p:custDataLst>
              <p:tags r:id="rId20"/>
            </p:custDataLst>
          </p:nvPr>
        </p:nvPicPr>
        <p:blipFill rotWithShape="1">
          <a:blip r:embed="rId21"/>
          <a:srcRect/>
          <a:stretch>
            <a:fillRect/>
          </a:stretch>
        </p:blipFill>
        <p:spPr>
          <a:xfrm>
            <a:off x="5435798" y="3695700"/>
            <a:ext cx="132040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>
            <p:custDataLst>
              <p:tags r:id="rId22"/>
            </p:custDataLst>
          </p:nvPr>
        </p:nvPicPr>
        <p:blipFill rotWithShape="1">
          <a:blip r:embed="rId23"/>
          <a:srcRect/>
          <a:stretch>
            <a:fillRect/>
          </a:stretch>
        </p:blipFill>
        <p:spPr>
          <a:xfrm>
            <a:off x="9696450" y="2495550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571500" y="571500"/>
            <a:ext cx="5980747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算法复杂性与优化深度分析</a:t>
            </a:r>
            <a:endParaRPr 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71500" y="1257300"/>
            <a:ext cx="569595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823335" y="2476500"/>
            <a:ext cx="514540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六</a:t>
            </a:r>
            <a:r>
              <a:rPr lang="en-US" altLang="zh-CN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总结与参考</a:t>
            </a:r>
            <a:r>
              <a:rPr lang="zh-CN" altLang="en-US" sz="48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文献</a:t>
            </a:r>
            <a:endParaRPr lang="zh-CN" altLang="en-US" sz="48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619750" y="3590925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3" descr="image.png"/>
          <p:cNvPicPr preferRelativeResize="0"/>
          <p:nvPr/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571500" y="571500"/>
            <a:ext cx="5980747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总结与参考</a:t>
            </a:r>
            <a:r>
              <a:rPr lang="zh-CN" altLang="en-US" sz="345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文献</a:t>
            </a:r>
            <a:endParaRPr lang="zh-CN" altLang="en-US" sz="345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71500" y="1257300"/>
            <a:ext cx="569595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3115" y="4501515"/>
            <a:ext cx="103886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altLang="zh-CN"/>
              <a:t>[1] Cormen T H, Leiserson C E, Rivest R L, </a:t>
            </a:r>
            <a:r>
              <a:rPr lang="zh-CN" altLang="en-US"/>
              <a:t>等. 算法导论 (原书第3版)[</a:t>
            </a:r>
            <a:r>
              <a:rPr lang="en-US" altLang="zh-CN"/>
              <a:t>M]. </a:t>
            </a:r>
            <a:r>
              <a:rPr lang="zh-CN" altLang="en-US"/>
              <a:t>殷建平, 等译. 北京: 机械工业出版社, 2012. (注：图论与算法的权威参考)</a:t>
            </a:r>
            <a:endParaRPr lang="zh-CN" altLang="en-US"/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altLang="zh-CN"/>
              <a:t>[2] Rosen K H. </a:t>
            </a:r>
            <a:r>
              <a:rPr lang="zh-CN" altLang="en-US"/>
              <a:t>离散数学及其应用 (原书第8版)[</a:t>
            </a:r>
            <a:r>
              <a:rPr lang="en-US" altLang="zh-CN"/>
              <a:t>M]. </a:t>
            </a:r>
            <a:r>
              <a:rPr lang="zh-CN" altLang="en-US"/>
              <a:t>机械工业出版社, 2019. (注：欧拉图与哈密尔顿图的经典数学定义参考)</a:t>
            </a:r>
            <a:endParaRPr lang="zh-CN" altLang="en-US"/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altLang="zh-CN"/>
              <a:t>[3] OI Wiki </a:t>
            </a:r>
            <a:r>
              <a:rPr lang="zh-CN" altLang="en-US"/>
              <a:t>贡献者. 欧拉图与 </a:t>
            </a:r>
            <a:r>
              <a:rPr lang="en-US" altLang="zh-CN"/>
              <a:t>Hierholzer </a:t>
            </a:r>
            <a:r>
              <a:rPr lang="zh-CN" altLang="en-US"/>
              <a:t>算法[</a:t>
            </a:r>
            <a:r>
              <a:rPr lang="en-US" altLang="zh-CN"/>
              <a:t>EB/OL]. OI Wiki. (2024). https://oi-wiki.org/graph/euler/.</a:t>
            </a:r>
            <a:endParaRPr lang="en-US" altLang="zh-CN"/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zh-CN" altLang="en-US"/>
              <a:t>[</a:t>
            </a:r>
            <a:r>
              <a:rPr lang="en-US" altLang="zh-CN"/>
              <a:t>4</a:t>
            </a:r>
            <a:r>
              <a:rPr lang="zh-CN" altLang="en-US"/>
              <a:t>] 维基百科编者. 一笔画问题[</a:t>
            </a:r>
            <a:r>
              <a:rPr lang="en-US" altLang="zh-CN"/>
              <a:t>EB/OL]. </a:t>
            </a:r>
            <a:r>
              <a:rPr lang="zh-CN" altLang="en-US"/>
              <a:t>维基百科, 自由的百科全书. </a:t>
            </a:r>
            <a:r>
              <a:rPr lang="en-US" altLang="zh-CN"/>
              <a:t>https://zh.wikipedia.org/zh-cn/</a:t>
            </a:r>
            <a:r>
              <a:rPr lang="zh-CN" altLang="en-US"/>
              <a:t>一笔画问题.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67410" y="4036060"/>
            <a:ext cx="1876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参考文献：</a:t>
            </a:r>
            <a:endParaRPr lang="zh-CN" altLang="en-US" sz="1600" b="1"/>
          </a:p>
        </p:txBody>
      </p:sp>
      <p:sp>
        <p:nvSpPr>
          <p:cNvPr id="3" name="文本框 2"/>
          <p:cNvSpPr txBox="1"/>
          <p:nvPr/>
        </p:nvSpPr>
        <p:spPr>
          <a:xfrm>
            <a:off x="793115" y="1585595"/>
            <a:ext cx="1275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总结：</a:t>
            </a:r>
            <a:endParaRPr lang="zh-CN" altLang="en-US" sz="1800" b="1"/>
          </a:p>
        </p:txBody>
      </p:sp>
      <p:sp>
        <p:nvSpPr>
          <p:cNvPr id="4" name="文本框 3"/>
          <p:cNvSpPr txBox="1"/>
          <p:nvPr/>
        </p:nvSpPr>
        <p:spPr>
          <a:xfrm>
            <a:off x="908050" y="2245360"/>
            <a:ext cx="1013587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50000"/>
              </a:lnSpc>
            </a:pPr>
            <a:r>
              <a:rPr lang="zh-CN" altLang="en-US" sz="1600"/>
              <a:t>一笔画问题（欧拉路径）深刻揭示了图的连通性与顶点度数奇偶性之间的严格对应关系，构成了图论与离散数学的经典基石。借助 </a:t>
            </a:r>
            <a:r>
              <a:rPr lang="zh-CN" altLang="en-US" sz="1600"/>
              <a:t>Hierholzer 等图遍历算法的核心思想，我们能够利用深度优先搜索与回溯机制，在 </a:t>
            </a:r>
            <a:endParaRPr lang="zh-CN" altLang="en-US" sz="1600"/>
          </a:p>
          <a:p>
            <a:pPr marL="0" indent="0" eaLnBrk="1" fontAlgn="auto" latinLnBrk="0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/>
              <a:t>O(V+E)</a:t>
            </a:r>
            <a:r>
              <a:rPr lang="zh-CN" altLang="en-US" sz="1600"/>
              <a:t> 的线性时间复杂度内高效完成图结构的解析与路径构造。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2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3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4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5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6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7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8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9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0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1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2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3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4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5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6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7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8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19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20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21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22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23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24.xml><?xml version="1.0" encoding="utf-8"?>
<p:tagLst xmlns:p="http://schemas.openxmlformats.org/presentationml/2006/main">
  <p:tag name="KSO_WM_DIAGRAM_VIRTUALLY_FRAME" val="{&quot;height&quot;:354.8723622047243,&quot;left&quot;:296.1588188976378,&quot;top&quot;:101.8848818897637,&quot;width&quot;:511.93236220472437}"/>
</p:tagLst>
</file>

<file path=ppt/tags/tag25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26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27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28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29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0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1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2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3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4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5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6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7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ags/tag38.xml><?xml version="1.0" encoding="utf-8"?>
<p:tagLst xmlns:p="http://schemas.openxmlformats.org/presentationml/2006/main">
  <p:tag name="KSO_WM_DIAGRAM_VIRTUALLY_FRAME" val="{&quot;height&quot;:292.48826771653546,&quot;left&quot;:45,&quot;top&quot;:167.25,&quot;width&quot;:870.0116535433069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3676</Words>
  <Application>WPS 演示</Application>
  <PresentationFormat/>
  <Paragraphs>391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宋体</vt:lpstr>
      <vt:lpstr>Wingdings</vt:lpstr>
      <vt:lpstr>Arial</vt:lpstr>
      <vt:lpstr>Calibri</vt:lpstr>
      <vt:lpstr>Noto Sans SC</vt:lpstr>
      <vt:lpstr>楷体</vt:lpstr>
      <vt:lpstr>badashanren</vt:lpstr>
      <vt:lpstr>MS UI Gothic</vt:lpstr>
      <vt:lpstr>微软雅黑</vt:lpstr>
      <vt:lpstr>Arial Unicode MS</vt:lpstr>
      <vt:lpstr>Google Sans Text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王云超0110</cp:lastModifiedBy>
  <cp:revision>3</cp:revision>
  <dcterms:created xsi:type="dcterms:W3CDTF">2026-05-17T01:47:00Z</dcterms:created>
  <dcterms:modified xsi:type="dcterms:W3CDTF">2026-05-17T03:25:28Z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66C3DA932B4B43B08CE86641F68A60C9_12</vt:lpwstr>
  </property>
</Properties>
</file>