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16.fntdata" ContentType="application/x-fontdata"/>
  <Override PartName="/ppt/fonts/font17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handoutMasterIdLst>
    <p:handoutMasterId r:id="rId12"/>
  </p:handout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9144000"/>
  <p:embeddedFontLst>
    <p:embeddedFont>
      <p:font typeface="Calibri" panose="020F0502020204030204"/>
      <p:regular r:id="rId16"/>
      <p:bold r:id="rId17"/>
      <p:italic r:id="rId18"/>
      <p:boldItalic r:id="rId19"/>
    </p:embeddedFont>
    <p:embeddedFont>
      <p:font typeface="Inter ExtraBold" panose="02000503000000020004"/>
      <p:bold r:id="rId20"/>
      <p:boldItalic r:id="rId21"/>
    </p:embeddedFont>
    <p:embeddedFont>
      <p:font typeface="Inter" panose="02000503000000020004"/>
      <p:regular r:id="rId22"/>
      <p:bold r:id="rId23"/>
      <p:italic r:id="rId24"/>
      <p:boldItalic r:id="rId25"/>
    </p:embeddedFont>
    <p:embeddedFont>
      <p:font typeface="Inter SemiBold" panose="02000503000000020004"/>
      <p:bold r:id="rId26"/>
      <p:italic r:id="rId27"/>
      <p:boldItalic r:id="rId28"/>
    </p:embeddedFont>
    <p:embeddedFont>
      <p:font typeface="Inter Medium" panose="02000503000000020004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87" userDrawn="1">
          <p15:clr>
            <a:srgbClr val="000000"/>
          </p15:clr>
        </p15:guide>
        <p15:guide id="2" pos="2896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937E"/>
    <a:srgbClr val="BE485E"/>
    <a:srgbClr val="1D4ED8"/>
    <a:srgbClr val="2563EB"/>
    <a:srgbClr val="3B82F6"/>
    <a:srgbClr val="CC185D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2187"/>
        <p:guide pos="2896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2" Type="http://schemas.openxmlformats.org/officeDocument/2006/relationships/font" Target="fonts/font17.fntdata"/><Relationship Id="rId31" Type="http://schemas.openxmlformats.org/officeDocument/2006/relationships/font" Target="fonts/font16.fntdata"/><Relationship Id="rId30" Type="http://schemas.openxmlformats.org/officeDocument/2006/relationships/font" Target="fonts/font15.fntdata"/><Relationship Id="rId3" Type="http://schemas.openxmlformats.org/officeDocument/2006/relationships/slide" Target="slides/slide1.xml"/><Relationship Id="rId29" Type="http://schemas.openxmlformats.org/officeDocument/2006/relationships/font" Target="fonts/font14.fntdata"/><Relationship Id="rId28" Type="http://schemas.openxmlformats.org/officeDocument/2006/relationships/font" Target="fonts/font13.fntdata"/><Relationship Id="rId27" Type="http://schemas.openxmlformats.org/officeDocument/2006/relationships/font" Target="fonts/font12.fntdata"/><Relationship Id="rId26" Type="http://schemas.openxmlformats.org/officeDocument/2006/relationships/font" Target="fonts/font11.fntdata"/><Relationship Id="rId25" Type="http://schemas.openxmlformats.org/officeDocument/2006/relationships/font" Target="fonts/font10.fntdata"/><Relationship Id="rId24" Type="http://schemas.openxmlformats.org/officeDocument/2006/relationships/font" Target="fonts/font9.fntdata"/><Relationship Id="rId23" Type="http://schemas.openxmlformats.org/officeDocument/2006/relationships/font" Target="fonts/font8.fntdata"/><Relationship Id="rId22" Type="http://schemas.openxmlformats.org/officeDocument/2006/relationships/font" Target="fonts/font7.fntdata"/><Relationship Id="rId21" Type="http://schemas.openxmlformats.org/officeDocument/2006/relationships/font" Target="fonts/font6.fntdata"/><Relationship Id="rId20" Type="http://schemas.openxmlformats.org/officeDocument/2006/relationships/font" Target="fonts/font5.fntdata"/><Relationship Id="rId2" Type="http://schemas.openxmlformats.org/officeDocument/2006/relationships/theme" Target="theme/theme1.xml"/><Relationship Id="rId19" Type="http://schemas.openxmlformats.org/officeDocument/2006/relationships/font" Target="fonts/font4.fntdata"/><Relationship Id="rId18" Type="http://schemas.openxmlformats.org/officeDocument/2006/relationships/font" Target="fonts/font3.fntdata"/><Relationship Id="rId17" Type="http://schemas.openxmlformats.org/officeDocument/2006/relationships/font" Target="fonts/font2.fntdata"/><Relationship Id="rId16" Type="http://schemas.openxmlformats.org/officeDocument/2006/relationships/font" Target="fonts/font1.fntdata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" name="Google Shape;82;p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" name="Google Shape;94;p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8" name="Google Shape;118;p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1" name="Google Shape;141;p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6" name="Google Shape;166;p5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5" name="Google Shape;215;p6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0" name="Google Shape;240;p7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0" name="Google Shape;240;p7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 panose="020F0502020204030204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7"/>
          <p:cNvSpPr txBox="1"/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5" name="Google Shape;45;p7"/>
          <p:cNvSpPr txBox="1"/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png"/><Relationship Id="rId8" Type="http://schemas.openxmlformats.org/officeDocument/2006/relationships/image" Target="../media/image14.png"/><Relationship Id="rId7" Type="http://schemas.openxmlformats.org/officeDocument/2006/relationships/image" Target="../media/image13.png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1" Type="http://schemas.openxmlformats.org/officeDocument/2006/relationships/notesSlide" Target="../notesSlides/notesSlide4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3.png"/><Relationship Id="rId8" Type="http://schemas.openxmlformats.org/officeDocument/2006/relationships/image" Target="../media/image22.png"/><Relationship Id="rId7" Type="http://schemas.openxmlformats.org/officeDocument/2006/relationships/tags" Target="../tags/tag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0" Type="http://schemas.openxmlformats.org/officeDocument/2006/relationships/notesSlide" Target="../notesSlides/notesSlide5.xml"/><Relationship Id="rId3" Type="http://schemas.openxmlformats.org/officeDocument/2006/relationships/image" Target="../media/image18.png"/><Relationship Id="rId29" Type="http://schemas.openxmlformats.org/officeDocument/2006/relationships/slideLayout" Target="../slideLayouts/slideLayout1.xml"/><Relationship Id="rId28" Type="http://schemas.openxmlformats.org/officeDocument/2006/relationships/tags" Target="../tags/tag7.xml"/><Relationship Id="rId27" Type="http://schemas.openxmlformats.org/officeDocument/2006/relationships/tags" Target="../tags/tag6.xml"/><Relationship Id="rId26" Type="http://schemas.openxmlformats.org/officeDocument/2006/relationships/tags" Target="../tags/tag5.xml"/><Relationship Id="rId25" Type="http://schemas.openxmlformats.org/officeDocument/2006/relationships/tags" Target="../tags/tag4.xml"/><Relationship Id="rId24" Type="http://schemas.openxmlformats.org/officeDocument/2006/relationships/image" Target="../media/image36.png"/><Relationship Id="rId23" Type="http://schemas.openxmlformats.org/officeDocument/2006/relationships/image" Target="../media/image35.png"/><Relationship Id="rId22" Type="http://schemas.openxmlformats.org/officeDocument/2006/relationships/image" Target="../media/image34.png"/><Relationship Id="rId21" Type="http://schemas.openxmlformats.org/officeDocument/2006/relationships/image" Target="../media/image33.png"/><Relationship Id="rId20" Type="http://schemas.openxmlformats.org/officeDocument/2006/relationships/image" Target="../media/image32.png"/><Relationship Id="rId2" Type="http://schemas.openxmlformats.org/officeDocument/2006/relationships/image" Target="../media/image17.png"/><Relationship Id="rId19" Type="http://schemas.openxmlformats.org/officeDocument/2006/relationships/image" Target="../media/image31.png"/><Relationship Id="rId18" Type="http://schemas.openxmlformats.org/officeDocument/2006/relationships/image" Target="../media/image30.png"/><Relationship Id="rId17" Type="http://schemas.openxmlformats.org/officeDocument/2006/relationships/image" Target="../media/image29.png"/><Relationship Id="rId16" Type="http://schemas.openxmlformats.org/officeDocument/2006/relationships/image" Target="../media/image28.png"/><Relationship Id="rId15" Type="http://schemas.openxmlformats.org/officeDocument/2006/relationships/image" Target="../media/image27.png"/><Relationship Id="rId14" Type="http://schemas.openxmlformats.org/officeDocument/2006/relationships/image" Target="../media/image26.png"/><Relationship Id="rId13" Type="http://schemas.openxmlformats.org/officeDocument/2006/relationships/image" Target="../media/image25.png"/><Relationship Id="rId12" Type="http://schemas.openxmlformats.org/officeDocument/2006/relationships/tags" Target="../tags/tag3.xml"/><Relationship Id="rId11" Type="http://schemas.openxmlformats.org/officeDocument/2006/relationships/tags" Target="../tags/tag2.xml"/><Relationship Id="rId10" Type="http://schemas.openxmlformats.org/officeDocument/2006/relationships/image" Target="../media/image24.png"/><Relationship Id="rId1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0.png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7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47.png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image" Target="../media/image4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80">
          <a:fgClr>
            <a:schemeClr val="accent5">
              <a:lumMod val="40000"/>
              <a:lumOff val="60000"/>
            </a:schemeClr>
          </a:fgClr>
          <a:bgClr>
            <a:schemeClr val="bg1"/>
          </a:bgClr>
        </a:pattFill>
        <a:effectLst/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/>
          <p:nvPr/>
        </p:nvSpPr>
        <p:spPr>
          <a:xfrm>
            <a:off x="2260520" y="1943992"/>
            <a:ext cx="7670958" cy="12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0" i="0" u="none" strike="noStrike" cap="none">
                <a:solidFill>
                  <a:srgbClr val="0F172A"/>
                </a:solidFill>
                <a:latin typeface="Inter ExtraBold" panose="02000503000000020004"/>
                <a:ea typeface="Inter ExtraBold" panose="02000503000000020004"/>
                <a:cs typeface="Inter ExtraBold" panose="02000503000000020004"/>
                <a:sym typeface="Inter ExtraBold" panose="02000503000000020004"/>
              </a:rPr>
              <a:t>多路外排序性能优化的核心：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4500" b="0" i="0" u="none" strike="noStrike" cap="none">
                <a:solidFill>
                  <a:srgbClr val="0F172A"/>
                </a:solidFill>
                <a:latin typeface="Inter ExtraBold" panose="02000503000000020004"/>
                <a:ea typeface="Inter ExtraBold" panose="02000503000000020004"/>
                <a:cs typeface="Inter ExtraBold" panose="02000503000000020004"/>
                <a:sym typeface="Inter ExtraBold" panose="02000503000000020004"/>
              </a:rPr>
              <a:t> 最佳归并树</a:t>
            </a:r>
            <a:endParaRPr lang="en-US" sz="4500" b="0" i="0" u="none" strike="noStrike" cap="none">
              <a:solidFill>
                <a:srgbClr val="0F172A"/>
              </a:solidFill>
              <a:latin typeface="Inter ExtraBold" panose="02000503000000020004"/>
              <a:ea typeface="Inter ExtraBold" panose="02000503000000020004"/>
              <a:cs typeface="Inter ExtraBold" panose="02000503000000020004"/>
              <a:sym typeface="Inter ExtraBold" panose="02000503000000020004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2857500" y="3724910"/>
            <a:ext cx="6742430" cy="516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4B5563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基于严格 K-叉哈夫曼思想的 I/O 代价最小化理论与实践</a:t>
            </a:r>
            <a:endParaRPr lang="en-US" sz="2100" b="0" i="0" u="none" strike="noStrike" cap="none">
              <a:solidFill>
                <a:srgbClr val="4B5563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2857500" y="3487042"/>
            <a:ext cx="6477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80">
          <a:fgClr>
            <a:schemeClr val="accent5">
              <a:lumMod val="40000"/>
              <a:lumOff val="60000"/>
            </a:schemeClr>
          </a:fgClr>
          <a:bgClr>
            <a:schemeClr val="bg1"/>
          </a:bgClr>
        </a:pattFill>
        <a:effectLst/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 descr="image.png"/>
          <p:cNvPicPr preferRelativeResize="0"/>
          <p:nvPr/>
        </p:nvPicPr>
        <p:blipFill rotWithShape="1">
          <a:blip r:embed="rId1"/>
          <a:srcRect l="1185"/>
          <a:stretch>
            <a:fillRect/>
          </a:stretch>
        </p:blipFill>
        <p:spPr>
          <a:xfrm>
            <a:off x="656590" y="1457325"/>
            <a:ext cx="7096760" cy="294703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571500" y="552450"/>
            <a:ext cx="11601450" cy="55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01</a:t>
            </a:r>
            <a:r>
              <a:rPr lang="en-US" sz="3000" b="1" i="0" u="none" strike="noStrike" cap="none">
                <a:solidFill>
                  <a:srgbClr val="0F172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外排序的</a:t>
            </a:r>
            <a:r>
              <a:rPr lang="zh-CN" altLang="en-US" sz="3000" b="1" i="0" u="none" strike="noStrike" cap="none">
                <a:solidFill>
                  <a:srgbClr val="0F172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瓶颈</a:t>
            </a:r>
            <a:r>
              <a:rPr lang="en-US" sz="3000" b="1" i="0" u="none" strike="noStrike" cap="none">
                <a:solidFill>
                  <a:srgbClr val="0F172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：计算极速与 I/O 极慢的博弈 </a:t>
            </a:r>
            <a:endParaRPr lang="en-US" sz="3000" b="0" i="0" u="none" strike="noStrike" cap="none">
              <a:solidFill>
                <a:srgbClr val="94A3B8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571500" y="1152525"/>
            <a:ext cx="1104900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571500" y="4642246"/>
            <a:ext cx="7540942" cy="257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B91C1C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代价灾难：盲目顺序归并的后果</a:t>
            </a:r>
            <a:endParaRPr lang="en-US" b="1" i="0" u="none" strike="noStrike" cap="none">
              <a:solidFill>
                <a:srgbClr val="B91C1C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571500" y="4967882"/>
            <a:ext cx="7181850" cy="1032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37415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若采取朴素的严格二叉/多叉顺序归并，大型的数据段可能会被在磁盘和内存之间来回搬运、读取、写入数次。</a:t>
            </a:r>
            <a:r>
              <a:rPr lang="en-US" b="0" i="0" u="none" strike="noStrike" cap="none">
                <a:solidFill>
                  <a:srgbClr val="1D4ED8"/>
                </a:solidFill>
                <a:latin typeface="Inter SemiBold" panose="02000503000000020004"/>
                <a:ea typeface="Inter SemiBold" panose="02000503000000020004"/>
                <a:cs typeface="Inter SemiBold" panose="02000503000000020004"/>
                <a:sym typeface="Inter SemiBold" panose="02000503000000020004"/>
              </a:rPr>
              <a:t>一次磁盘随机 I/O 的延迟约在 5-10ms，而 CPU 指令周期在 ns 级别，差了整整 6 个数量级。</a:t>
            </a:r>
            <a:r>
              <a:rPr lang="en-US" b="0" i="0" u="none" strike="noStrike" cap="none">
                <a:solidFill>
                  <a:srgbClr val="37415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无效的冗余 I/O 会导致系统处于严重的 I/O Wait 状态。</a:t>
            </a:r>
            <a:endParaRPr lang="en-US" b="0" i="0" u="none" strike="noStrike" cap="none">
              <a:solidFill>
                <a:srgbClr val="37415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1133475" y="1671955"/>
            <a:ext cx="6690836" cy="294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E293B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外排序的两个核心阶段</a:t>
            </a:r>
            <a:endParaRPr lang="en-US" sz="1600" b="1" i="0" u="none" strike="noStrike" cap="none">
              <a:solidFill>
                <a:srgbClr val="1E293B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pic>
        <p:nvPicPr>
          <p:cNvPr id="107" name="Google Shape;107;p14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47725" y="1724025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4"/>
          <p:cNvSpPr txBox="1"/>
          <p:nvPr/>
        </p:nvSpPr>
        <p:spPr>
          <a:xfrm>
            <a:off x="1114425" y="2171700"/>
            <a:ext cx="6391275" cy="344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1D4ED8"/>
                </a:solidFill>
                <a:latin typeface="Inter SemiBold" panose="02000503000000020004"/>
                <a:ea typeface="Inter SemiBold" panose="02000503000000020004"/>
                <a:cs typeface="Inter SemiBold" panose="02000503000000020004"/>
                <a:sym typeface="Inter SemiBold" panose="02000503000000020004"/>
              </a:rPr>
              <a:t>阶段一：内部生成初始段 </a:t>
            </a:r>
            <a:endParaRPr lang="en-US" b="0" i="0" u="none" strike="noStrike" cap="none">
              <a:solidFill>
                <a:srgbClr val="1D4ED8"/>
              </a:solidFill>
              <a:latin typeface="Inter SemiBold" panose="02000503000000020004"/>
              <a:ea typeface="Inter SemiBold" panose="02000503000000020004"/>
              <a:cs typeface="Inter SemiBold" panose="02000503000000020004"/>
              <a:sym typeface="Inter SemiBold" panose="02000503000000020004"/>
            </a:endParaRPr>
          </a:p>
        </p:txBody>
      </p:sp>
      <p:sp>
        <p:nvSpPr>
          <p:cNvPr id="109" name="Google Shape;109;p14"/>
          <p:cNvSpPr txBox="1"/>
          <p:nvPr/>
        </p:nvSpPr>
        <p:spPr>
          <a:xfrm>
            <a:off x="1114425" y="3421260"/>
            <a:ext cx="6391275" cy="344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1D4ED8"/>
                </a:solidFill>
                <a:latin typeface="Inter SemiBold" panose="02000503000000020004"/>
                <a:ea typeface="Inter SemiBold" panose="02000503000000020004"/>
                <a:cs typeface="Inter SemiBold" panose="02000503000000020004"/>
                <a:sym typeface="Inter SemiBold" panose="02000503000000020004"/>
              </a:rPr>
              <a:t>阶段二：多路归并 </a:t>
            </a:r>
            <a:endParaRPr lang="en-US" b="0" i="0" u="none" strike="noStrike" cap="none">
              <a:solidFill>
                <a:srgbClr val="1D4ED8"/>
              </a:solidFill>
              <a:latin typeface="Inter SemiBold" panose="02000503000000020004"/>
              <a:ea typeface="Inter SemiBold" panose="02000503000000020004"/>
              <a:cs typeface="Inter SemiBold" panose="02000503000000020004"/>
              <a:sym typeface="Inter SemiBold" panose="02000503000000020004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1306195" y="2651760"/>
            <a:ext cx="506730" cy="223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7415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○</a:t>
            </a:r>
            <a:endParaRPr lang="en-US" sz="1200" b="0" i="0" u="none" strike="noStrike" cap="none">
              <a:solidFill>
                <a:srgbClr val="37415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1352550" y="2506860"/>
            <a:ext cx="6153150" cy="589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7415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使用内存缓冲区读取数据，通过内部排序（如置换选择排序 ）生成多个有序的初始归并段 (Initial Runs)。</a:t>
            </a:r>
            <a:endParaRPr lang="en-US" sz="1200" b="0" i="0" u="none" strike="noStrike" cap="none">
              <a:solidFill>
                <a:srgbClr val="37415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1306195" y="3221355"/>
            <a:ext cx="260350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7415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○</a:t>
            </a:r>
            <a:endParaRPr lang="en-US" sz="1200" b="0" i="0" u="none" strike="noStrike" cap="none">
              <a:solidFill>
                <a:srgbClr val="37415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13" name="Google Shape;113;p14"/>
          <p:cNvSpPr txBox="1"/>
          <p:nvPr/>
        </p:nvSpPr>
        <p:spPr>
          <a:xfrm>
            <a:off x="1402080" y="3157100"/>
            <a:ext cx="6153150" cy="294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D4ED8"/>
                </a:solidFill>
                <a:latin typeface="Inter SemiBold" panose="02000503000000020004"/>
                <a:ea typeface="Inter SemiBold" panose="02000503000000020004"/>
                <a:cs typeface="Inter SemiBold" panose="02000503000000020004"/>
                <a:sym typeface="Inter SemiBold" panose="02000503000000020004"/>
              </a:rPr>
              <a:t>关键痛点：</a:t>
            </a:r>
            <a:r>
              <a:rPr lang="en-US" sz="1200" b="0" i="0" u="none" strike="noStrike" cap="none">
                <a:solidFill>
                  <a:srgbClr val="37415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由于数据分布的随机性，生成的各个 Run 长度（记录数）往往严重不均衡。</a:t>
            </a:r>
            <a:endParaRPr lang="en-US" sz="1200" b="0" i="0" u="none" strike="noStrike" cap="none">
              <a:solidFill>
                <a:srgbClr val="37415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14" name="Google Shape;114;p14"/>
          <p:cNvSpPr txBox="1"/>
          <p:nvPr/>
        </p:nvSpPr>
        <p:spPr>
          <a:xfrm>
            <a:off x="1266825" y="3836670"/>
            <a:ext cx="391160" cy="210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7415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○</a:t>
            </a:r>
            <a:endParaRPr lang="en-US" sz="1200" b="0" i="0" u="none" strike="noStrike" cap="none">
              <a:solidFill>
                <a:srgbClr val="37415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15" name="Google Shape;115;p14"/>
          <p:cNvSpPr txBox="1"/>
          <p:nvPr/>
        </p:nvSpPr>
        <p:spPr>
          <a:xfrm>
            <a:off x="1352550" y="3756421"/>
            <a:ext cx="6153150" cy="294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7415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将多个 Run 在内存中合并，结果写回磁盘。若 Run 数量过多，需进行多趟 归并。</a:t>
            </a:r>
            <a:endParaRPr lang="en-US" sz="1200" b="0" i="0" u="none" strike="noStrike" cap="none">
              <a:solidFill>
                <a:srgbClr val="37415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pic>
        <p:nvPicPr>
          <p:cNvPr id="2" name="Google Shape;109;p14" descr="image.png"/>
          <p:cNvPicPr preferRelativeResize="0"/>
          <p:nvPr/>
        </p:nvPicPr>
        <p:blipFill rotWithShape="1">
          <a:blip r:embed="rId3"/>
          <a:srcRect l="14451"/>
          <a:stretch>
            <a:fillRect/>
          </a:stretch>
        </p:blipFill>
        <p:spPr>
          <a:xfrm>
            <a:off x="7977505" y="2335530"/>
            <a:ext cx="4044950" cy="3031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80">
          <a:fgClr>
            <a:schemeClr val="accent5">
              <a:lumMod val="40000"/>
              <a:lumOff val="60000"/>
            </a:schemeClr>
          </a:fgClr>
          <a:bgClr>
            <a:schemeClr val="bg1"/>
          </a:bgClr>
        </a:pattFill>
        <a:effectLst/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5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571500" y="4327048"/>
            <a:ext cx="5334000" cy="1156096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5"/>
          <p:cNvSpPr txBox="1"/>
          <p:nvPr/>
        </p:nvSpPr>
        <p:spPr>
          <a:xfrm>
            <a:off x="571500" y="552450"/>
            <a:ext cx="11601450" cy="55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0F172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</a:t>
            </a:r>
            <a:r>
              <a:rPr lang="en-US" sz="3000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02</a:t>
            </a:r>
            <a:r>
              <a:rPr lang="en-US" sz="3000" b="1" i="0" u="none" strike="noStrike" cap="none">
                <a:solidFill>
                  <a:srgbClr val="0F172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外排序 I/O 代价的严格数学表达</a:t>
            </a:r>
            <a:endParaRPr lang="en-US" sz="3000" b="0" i="0" u="none" strike="noStrike" cap="none">
              <a:solidFill>
                <a:srgbClr val="94A3B8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26" name="Google Shape;126;p15"/>
          <p:cNvSpPr/>
          <p:nvPr/>
        </p:nvSpPr>
        <p:spPr>
          <a:xfrm>
            <a:off x="571500" y="1152525"/>
            <a:ext cx="1104900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8" name="Google Shape;128;p15"/>
          <p:cNvSpPr txBox="1"/>
          <p:nvPr/>
        </p:nvSpPr>
        <p:spPr>
          <a:xfrm>
            <a:off x="571500" y="5582205"/>
            <a:ext cx="5334000" cy="51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047857"/>
                </a:solidFill>
                <a:latin typeface="Inter SemiBold" panose="02000503000000020004"/>
                <a:ea typeface="Inter SemiBold" panose="02000503000000020004"/>
                <a:cs typeface="Inter SemiBold" panose="02000503000000020004"/>
                <a:sym typeface="Inter SemiBold" panose="02000503000000020004"/>
              </a:rPr>
              <a:t>结论：最小化外排序的 I/O 时间，在数学上等价于求解具有最小带权路径长度 (WPL) 的 K-叉哈夫曼树。</a:t>
            </a:r>
            <a:endParaRPr lang="en-US" sz="1275" b="0" i="0" u="none" strike="noStrike" cap="none">
              <a:solidFill>
                <a:srgbClr val="047857"/>
              </a:solidFill>
              <a:latin typeface="Inter SemiBold" panose="02000503000000020004"/>
              <a:ea typeface="Inter SemiBold" panose="02000503000000020004"/>
              <a:cs typeface="Inter SemiBold" panose="02000503000000020004"/>
              <a:sym typeface="Inter SemiBold" panose="02000503000000020004"/>
            </a:endParaRPr>
          </a:p>
        </p:txBody>
      </p:sp>
      <p:sp>
        <p:nvSpPr>
          <p:cNvPr id="129" name="Google Shape;129;p15"/>
          <p:cNvSpPr txBox="1"/>
          <p:nvPr/>
        </p:nvSpPr>
        <p:spPr>
          <a:xfrm>
            <a:off x="838200" y="1390015"/>
            <a:ext cx="5067300" cy="688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1D4ED8"/>
                </a:solidFill>
                <a:latin typeface="Inter SemiBold" panose="02000503000000020004"/>
                <a:ea typeface="Inter SemiBold" panose="02000503000000020004"/>
                <a:cs typeface="Inter SemiBold" panose="02000503000000020004"/>
                <a:sym typeface="Inter SemiBold" panose="02000503000000020004"/>
              </a:rPr>
              <a:t>同构映射建立：</a:t>
            </a:r>
            <a:r>
              <a:rPr lang="en-US" b="0" i="0" u="none" strike="noStrike" cap="none">
                <a:solidFill>
                  <a:srgbClr val="37415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外排序的多路归并过程，在拓扑结构上完美等价于一棵 </a:t>
            </a:r>
            <a:r>
              <a:rPr lang="en-US" b="0" i="0" u="none" strike="noStrike" cap="none">
                <a:solidFill>
                  <a:srgbClr val="1D4ED8"/>
                </a:solidFill>
                <a:latin typeface="Inter SemiBold" panose="02000503000000020004"/>
                <a:ea typeface="Inter SemiBold" panose="02000503000000020004"/>
                <a:cs typeface="Inter SemiBold" panose="02000503000000020004"/>
                <a:sym typeface="Inter SemiBold" panose="02000503000000020004"/>
              </a:rPr>
              <a:t>K-叉树</a:t>
            </a:r>
            <a:r>
              <a:rPr lang="en-US" b="0" i="0" u="none" strike="noStrike" cap="none">
                <a:solidFill>
                  <a:srgbClr val="37415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。</a:t>
            </a:r>
            <a:endParaRPr lang="en-US" b="0" i="0" u="none" strike="noStrike" cap="none">
              <a:solidFill>
                <a:srgbClr val="37415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30" name="Google Shape;130;p15"/>
          <p:cNvSpPr txBox="1"/>
          <p:nvPr/>
        </p:nvSpPr>
        <p:spPr>
          <a:xfrm>
            <a:off x="838200" y="3604656"/>
            <a:ext cx="5067300" cy="688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1D4ED8"/>
                </a:solidFill>
                <a:latin typeface="Inter SemiBold" panose="02000503000000020004"/>
                <a:ea typeface="Inter SemiBold" panose="02000503000000020004"/>
                <a:cs typeface="Inter SemiBold" panose="02000503000000020004"/>
                <a:sym typeface="Inter SemiBold" panose="02000503000000020004"/>
              </a:rPr>
              <a:t>总代价的推导：</a:t>
            </a:r>
            <a:r>
              <a:rPr lang="en-US" b="0" i="0" u="none" strike="noStrike" cap="none">
                <a:solidFill>
                  <a:srgbClr val="37415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一个文件每参与一次合并，就需要被完整地读取一次并写入一次。</a:t>
            </a:r>
            <a:endParaRPr lang="en-US" b="0" i="0" u="none" strike="noStrike" cap="none">
              <a:solidFill>
                <a:srgbClr val="37415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31" name="Google Shape;131;p15"/>
          <p:cNvSpPr txBox="1"/>
          <p:nvPr/>
        </p:nvSpPr>
        <p:spPr>
          <a:xfrm>
            <a:off x="771525" y="4388643"/>
            <a:ext cx="493395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 SemiBold" panose="02000503000000020004"/>
                <a:ea typeface="Inter SemiBold" panose="02000503000000020004"/>
                <a:cs typeface="Inter SemiBold" panose="02000503000000020004"/>
                <a:sym typeface="Inter SemiBold" panose="02000503000000020004"/>
              </a:rPr>
              <a:t>外排序总 I/O 次数公式</a:t>
            </a:r>
            <a:endParaRPr lang="en-US" sz="1050" b="0" i="0" u="none" strike="noStrike" cap="none">
              <a:solidFill>
                <a:srgbClr val="64748B"/>
              </a:solidFill>
              <a:latin typeface="Inter SemiBold" panose="02000503000000020004"/>
              <a:ea typeface="Inter SemiBold" panose="02000503000000020004"/>
              <a:cs typeface="Inter SemiBold" panose="02000503000000020004"/>
              <a:sym typeface="Inter SemiBold" panose="02000503000000020004"/>
            </a:endParaRPr>
          </a:p>
        </p:txBody>
      </p:sp>
      <p:pic>
        <p:nvPicPr>
          <p:cNvPr id="132" name="Google Shape;132;p15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71525" y="4664868"/>
            <a:ext cx="4933950" cy="479821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5"/>
          <p:cNvSpPr txBox="1"/>
          <p:nvPr/>
        </p:nvSpPr>
        <p:spPr>
          <a:xfrm>
            <a:off x="1076325" y="2078116"/>
            <a:ext cx="4829175" cy="344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1D4ED8"/>
                </a:solidFill>
                <a:latin typeface="Inter SemiBold" panose="02000503000000020004"/>
                <a:ea typeface="Inter SemiBold" panose="02000503000000020004"/>
                <a:cs typeface="Inter SemiBold" panose="02000503000000020004"/>
                <a:sym typeface="Inter SemiBold" panose="02000503000000020004"/>
              </a:rPr>
              <a:t>叶子节点</a:t>
            </a:r>
            <a:r>
              <a:rPr lang="zh-CN" altLang="en-US" b="0" i="0" u="none" strike="noStrike" cap="none">
                <a:solidFill>
                  <a:srgbClr val="374151"/>
                </a:solidFill>
                <a:latin typeface="Inter" panose="02000503000000020004"/>
                <a:ea typeface="宋体" panose="02010600030101010101" pitchFamily="2" charset="-122"/>
                <a:cs typeface="Inter" panose="02000503000000020004"/>
                <a:sym typeface="Inter" panose="02000503000000020004"/>
              </a:rPr>
              <a:t>：</a:t>
            </a:r>
            <a:r>
              <a:rPr lang="en-US" b="0" i="0" u="none" strike="noStrike" cap="none">
                <a:solidFill>
                  <a:srgbClr val="37415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初始归并段</a:t>
            </a:r>
            <a:endParaRPr lang="en-US" b="0" i="0" u="none" strike="noStrike" cap="none">
              <a:solidFill>
                <a:srgbClr val="37415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36" name="Google Shape;136;p15"/>
          <p:cNvSpPr txBox="1"/>
          <p:nvPr/>
        </p:nvSpPr>
        <p:spPr>
          <a:xfrm>
            <a:off x="1076325" y="2477531"/>
            <a:ext cx="4829175" cy="344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1D4ED8"/>
                </a:solidFill>
                <a:latin typeface="Inter SemiBold" panose="02000503000000020004"/>
                <a:ea typeface="Inter SemiBold" panose="02000503000000020004"/>
                <a:cs typeface="Inter SemiBold" panose="02000503000000020004"/>
                <a:sym typeface="Inter SemiBold" panose="02000503000000020004"/>
              </a:rPr>
              <a:t>权重 </a:t>
            </a:r>
            <a:r>
              <a:rPr lang="zh-CN" altLang="en-US" b="0" i="0" u="none" strike="noStrike" cap="none">
                <a:solidFill>
                  <a:srgbClr val="1D4ED8"/>
                </a:solidFill>
                <a:latin typeface="Inter SemiBold" panose="02000503000000020004"/>
                <a:ea typeface="宋体" panose="02010600030101010101" pitchFamily="2" charset="-122"/>
                <a:cs typeface="Inter SemiBold" panose="02000503000000020004"/>
                <a:sym typeface="Inter SemiBold" panose="02000503000000020004"/>
              </a:rPr>
              <a:t>：</a:t>
            </a:r>
            <a:r>
              <a:rPr lang="en-US" b="0" i="0" u="none" strike="noStrike" cap="none">
                <a:solidFill>
                  <a:srgbClr val="37415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该归并段包含的数据量（记录数或字节数）</a:t>
            </a:r>
            <a:endParaRPr lang="en-US" b="0" i="0" u="none" strike="noStrike" cap="none">
              <a:solidFill>
                <a:srgbClr val="37415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38" name="Google Shape;138;p15"/>
          <p:cNvSpPr txBox="1"/>
          <p:nvPr/>
        </p:nvSpPr>
        <p:spPr>
          <a:xfrm>
            <a:off x="1076325" y="2936636"/>
            <a:ext cx="4829175" cy="688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1D4ED8"/>
                </a:solidFill>
                <a:latin typeface="Inter SemiBold" panose="02000503000000020004"/>
                <a:ea typeface="Inter SemiBold" panose="02000503000000020004"/>
                <a:cs typeface="Inter SemiBold" panose="02000503000000020004"/>
                <a:sym typeface="Inter SemiBold" panose="02000503000000020004"/>
              </a:rPr>
              <a:t>路径长度 </a:t>
            </a:r>
            <a:r>
              <a:rPr lang="zh-CN" altLang="en-US" b="0" i="0" u="none" strike="noStrike" cap="none">
                <a:solidFill>
                  <a:srgbClr val="1D4ED8"/>
                </a:solidFill>
                <a:latin typeface="Inter SemiBold" panose="02000503000000020004"/>
                <a:ea typeface="宋体" panose="02010600030101010101" pitchFamily="2" charset="-122"/>
                <a:cs typeface="Inter SemiBold" panose="02000503000000020004"/>
                <a:sym typeface="Inter SemiBold" panose="02000503000000020004"/>
              </a:rPr>
              <a:t>：</a:t>
            </a:r>
            <a:r>
              <a:rPr lang="en-US" b="0" i="0" u="none" strike="noStrike" cap="none">
                <a:solidFill>
                  <a:srgbClr val="37415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该数据段到达最终有序文件（根节点）经历的合并趟数</a:t>
            </a:r>
            <a:endParaRPr lang="en-US" b="0" i="0" u="none" strike="noStrike" cap="none">
              <a:solidFill>
                <a:srgbClr val="37415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6160" y="1768475"/>
            <a:ext cx="5882640" cy="39223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80">
          <a:fgClr>
            <a:schemeClr val="accent5">
              <a:lumMod val="40000"/>
              <a:lumOff val="60000"/>
            </a:schemeClr>
          </a:fgClr>
          <a:bgClr>
            <a:schemeClr val="bg1"/>
          </a:bgClr>
        </a:pattFill>
        <a:effectLst/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6" descr="image.png"/>
          <p:cNvPicPr preferRelativeResize="0"/>
          <p:nvPr/>
        </p:nvPicPr>
        <p:blipFill rotWithShape="1">
          <a:blip r:embed="rId1"/>
          <a:srcRect t="1615"/>
          <a:stretch>
            <a:fillRect/>
          </a:stretch>
        </p:blipFill>
        <p:spPr>
          <a:xfrm>
            <a:off x="571500" y="2372995"/>
            <a:ext cx="4820285" cy="2745740"/>
          </a:xfrm>
          <a:prstGeom prst="rect">
            <a:avLst/>
          </a:prstGeom>
          <a:noFill/>
          <a:ln>
            <a:solidFill>
              <a:srgbClr val="BE485E"/>
            </a:solidFill>
          </a:ln>
        </p:spPr>
      </p:pic>
      <p:pic>
        <p:nvPicPr>
          <p:cNvPr id="145" name="Google Shape;145;p16" descr="image.png"/>
          <p:cNvPicPr preferRelativeResize="0"/>
          <p:nvPr/>
        </p:nvPicPr>
        <p:blipFill rotWithShape="1">
          <a:blip r:embed="rId2"/>
          <a:srcRect t="1593"/>
          <a:stretch>
            <a:fillRect/>
          </a:stretch>
        </p:blipFill>
        <p:spPr>
          <a:xfrm>
            <a:off x="5772785" y="2372360"/>
            <a:ext cx="5847715" cy="2746375"/>
          </a:xfrm>
          <a:prstGeom prst="rect">
            <a:avLst/>
          </a:prstGeom>
          <a:noFill/>
          <a:ln>
            <a:solidFill>
              <a:srgbClr val="4F937E"/>
            </a:solidFill>
          </a:ln>
        </p:spPr>
      </p:pic>
      <p:pic>
        <p:nvPicPr>
          <p:cNvPr id="146" name="Google Shape;146;p16" descr="image.png"/>
          <p:cNvPicPr preferRelativeResize="0"/>
          <p:nvPr/>
        </p:nvPicPr>
        <p:blipFill rotWithShape="1">
          <a:blip r:embed="rId3">
            <a:grayscl/>
          </a:blip>
          <a:srcRect/>
          <a:stretch>
            <a:fillRect/>
          </a:stretch>
        </p:blipFill>
        <p:spPr>
          <a:xfrm>
            <a:off x="819150" y="4261246"/>
            <a:ext cx="4325094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6" descr="image.png"/>
          <p:cNvPicPr preferRelativeResize="0"/>
          <p:nvPr/>
        </p:nvPicPr>
        <p:blipFill rotWithShape="1">
          <a:blip r:embed="rId4">
            <a:grayscl/>
          </a:blip>
          <a:srcRect/>
          <a:stretch>
            <a:fillRect/>
          </a:stretch>
        </p:blipFill>
        <p:spPr>
          <a:xfrm>
            <a:off x="6020544" y="4032646"/>
            <a:ext cx="5352305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6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571500" y="5652135"/>
            <a:ext cx="87630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6"/>
          <p:cNvSpPr txBox="1"/>
          <p:nvPr/>
        </p:nvSpPr>
        <p:spPr>
          <a:xfrm>
            <a:off x="571500" y="552450"/>
            <a:ext cx="11601450" cy="55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03</a:t>
            </a:r>
            <a:r>
              <a:rPr lang="en-US" sz="3000" b="1" i="0" u="none" strike="noStrike" cap="none">
                <a:solidFill>
                  <a:srgbClr val="0F172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K-叉树的“结构性塌陷”与虚段补齐 </a:t>
            </a:r>
            <a:endParaRPr lang="en-US" sz="3000" b="0" i="0" u="none" strike="noStrike" cap="none">
              <a:solidFill>
                <a:srgbClr val="94A3B8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51" name="Google Shape;151;p16"/>
          <p:cNvSpPr/>
          <p:nvPr/>
        </p:nvSpPr>
        <p:spPr>
          <a:xfrm>
            <a:off x="571500" y="1152525"/>
            <a:ext cx="1104900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2" name="Google Shape;152;p16"/>
          <p:cNvSpPr txBox="1"/>
          <p:nvPr/>
        </p:nvSpPr>
        <p:spPr>
          <a:xfrm>
            <a:off x="571500" y="1457325"/>
            <a:ext cx="11049000" cy="629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37415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二叉哈夫曼树的构建总能完美收敛至唯一的根。但在 K&gt;2 的多路归并中，直接贪心构建极易导致最后一次合并时节点数不足 K 个。这使得靠近根节点的高效并发归并通道被闲置，打破了最优解结构。</a:t>
            </a:r>
            <a:endParaRPr lang="en-US" sz="1275" b="0" i="0" u="none" strike="noStrike" cap="none">
              <a:solidFill>
                <a:srgbClr val="37415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53" name="Google Shape;153;p16"/>
          <p:cNvSpPr txBox="1"/>
          <p:nvPr/>
        </p:nvSpPr>
        <p:spPr>
          <a:xfrm>
            <a:off x="800100" y="5781675"/>
            <a:ext cx="1009650" cy="161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0F172A"/>
                </a:solidFill>
                <a:latin typeface="Inter SemiBold" panose="02000503000000020004"/>
                <a:ea typeface="Inter SemiBold" panose="02000503000000020004"/>
                <a:cs typeface="Inter SemiBold" panose="02000503000000020004"/>
                <a:sym typeface="Inter SemiBold" panose="02000503000000020004"/>
              </a:rPr>
              <a:t> Notes]</a:t>
            </a:r>
            <a:endParaRPr lang="en-US" sz="1050" b="0" i="0" u="none" strike="noStrike" cap="none">
              <a:solidFill>
                <a:srgbClr val="0F172A"/>
              </a:solidFill>
              <a:latin typeface="Inter SemiBold" panose="02000503000000020004"/>
              <a:ea typeface="Inter SemiBold" panose="02000503000000020004"/>
              <a:cs typeface="Inter SemiBold" panose="02000503000000020004"/>
              <a:sym typeface="Inter SemiBold" panose="02000503000000020004"/>
            </a:endParaRPr>
          </a:p>
        </p:txBody>
      </p:sp>
      <p:sp>
        <p:nvSpPr>
          <p:cNvPr id="154" name="Google Shape;154;p16"/>
          <p:cNvSpPr txBox="1"/>
          <p:nvPr/>
        </p:nvSpPr>
        <p:spPr>
          <a:xfrm>
            <a:off x="1104900" y="2603896"/>
            <a:ext cx="4241311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B91C1C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数学证明：为什么会凑不满？</a:t>
            </a:r>
            <a:endParaRPr lang="en-US" sz="1500" b="1" i="0" u="none" strike="noStrike" cap="none">
              <a:solidFill>
                <a:srgbClr val="B91C1C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55" name="Google Shape;155;p16"/>
          <p:cNvSpPr txBox="1"/>
          <p:nvPr/>
        </p:nvSpPr>
        <p:spPr>
          <a:xfrm>
            <a:off x="819150" y="2975371"/>
            <a:ext cx="4325094" cy="554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37415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每次发生 K 路合并，系统会消耗 K个节点，并生成 1 个新节点。即每次合并，节点总数净减少 (K - 1)个。</a:t>
            </a:r>
            <a:endParaRPr lang="en-US" sz="1125" b="0" i="0" u="none" strike="noStrike" cap="none">
              <a:solidFill>
                <a:srgbClr val="37415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56" name="Google Shape;156;p16"/>
          <p:cNvSpPr txBox="1"/>
          <p:nvPr/>
        </p:nvSpPr>
        <p:spPr>
          <a:xfrm>
            <a:off x="819150" y="3546871"/>
            <a:ext cx="4325094" cy="554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37415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设初始段总数为 n。为了最终收敛到 1 个根节点，需要满足：总减少量 (n - 1) 必须是 (K - 1) 的整数倍。</a:t>
            </a:r>
            <a:endParaRPr lang="en-US" sz="1125" b="0" i="0" u="none" strike="noStrike" cap="none">
              <a:solidFill>
                <a:srgbClr val="37415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57" name="Google Shape;157;p16"/>
          <p:cNvSpPr txBox="1"/>
          <p:nvPr/>
        </p:nvSpPr>
        <p:spPr>
          <a:xfrm>
            <a:off x="6287244" y="2603896"/>
            <a:ext cx="533988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47857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解决方案：精准注入 Dummy Runs</a:t>
            </a:r>
            <a:endParaRPr lang="en-US" sz="1500" b="1" i="0" u="none" strike="noStrike" cap="none">
              <a:solidFill>
                <a:srgbClr val="047857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58" name="Google Shape;158;p16"/>
          <p:cNvSpPr txBox="1"/>
          <p:nvPr/>
        </p:nvSpPr>
        <p:spPr>
          <a:xfrm>
            <a:off x="6020544" y="2975371"/>
            <a:ext cx="5352305" cy="554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37415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当条件不满足时，必须人为提前补充长度为 0 的</a:t>
            </a:r>
            <a:r>
              <a:rPr lang="en-US" sz="1125" b="0" i="0" u="none" strike="noStrike" cap="none">
                <a:solidFill>
                  <a:srgbClr val="1D4ED8"/>
                </a:solidFill>
                <a:latin typeface="Inter SemiBold" panose="02000503000000020004"/>
                <a:ea typeface="Inter SemiBold" panose="02000503000000020004"/>
                <a:cs typeface="Inter SemiBold" panose="02000503000000020004"/>
                <a:sym typeface="Inter SemiBold" panose="02000503000000020004"/>
              </a:rPr>
              <a:t>虚段 </a:t>
            </a:r>
            <a:r>
              <a:rPr lang="en-US" sz="1125" b="0" i="0" u="none" strike="noStrike" cap="none">
                <a:solidFill>
                  <a:srgbClr val="37415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，充当空占位符，强制树形结构变为严格的满 K-叉树。</a:t>
            </a:r>
            <a:endParaRPr lang="en-US" sz="1125" b="0" i="0" u="none" strike="noStrike" cap="none">
              <a:solidFill>
                <a:srgbClr val="37415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59" name="Google Shape;159;p16"/>
          <p:cNvSpPr txBox="1"/>
          <p:nvPr/>
        </p:nvSpPr>
        <p:spPr>
          <a:xfrm>
            <a:off x="6020544" y="3546871"/>
            <a:ext cx="5352305" cy="277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37415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设需补充的虚段数量为 u，推导出的严密判定公式为：</a:t>
            </a:r>
            <a:endParaRPr lang="en-US" sz="1125" b="0" i="0" u="none" strike="noStrike" cap="none">
              <a:solidFill>
                <a:srgbClr val="37415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pic>
        <p:nvPicPr>
          <p:cNvPr id="160" name="Google Shape;160;p16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819150" y="2622946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6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923925" y="4366021"/>
            <a:ext cx="4115544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6" descr="image.png"/>
          <p:cNvPicPr preferRelativeResize="0"/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6020544" y="2622946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6" descr="image.png"/>
          <p:cNvPicPr preferRelativeResize="0"/>
          <p:nvPr/>
        </p:nvPicPr>
        <p:blipFill rotWithShape="1">
          <a:blip r:embed="rId9"/>
          <a:srcRect/>
          <a:stretch>
            <a:fillRect/>
          </a:stretch>
        </p:blipFill>
        <p:spPr>
          <a:xfrm>
            <a:off x="6125319" y="4137421"/>
            <a:ext cx="5142755" cy="20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80">
          <a:fgClr>
            <a:schemeClr val="accent5">
              <a:lumMod val="40000"/>
              <a:lumOff val="60000"/>
            </a:schemeClr>
          </a:fgClr>
          <a:bgClr>
            <a:schemeClr val="bg1"/>
          </a:bgClr>
        </a:pattFill>
        <a:effectLst/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7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571500" y="1843980"/>
            <a:ext cx="11049000" cy="1346596"/>
          </a:xfrm>
          <a:prstGeom prst="rect">
            <a:avLst/>
          </a:prstGeom>
          <a:noFill/>
          <a:ln>
            <a:solidFill>
              <a:srgbClr val="3B82F6"/>
            </a:solidFill>
          </a:ln>
        </p:spPr>
      </p:pic>
      <p:pic>
        <p:nvPicPr>
          <p:cNvPr id="170" name="Google Shape;170;p17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3333452"/>
            <a:ext cx="11049000" cy="1133326"/>
          </a:xfrm>
          <a:prstGeom prst="rect">
            <a:avLst/>
          </a:prstGeom>
          <a:noFill/>
          <a:ln>
            <a:solidFill>
              <a:srgbClr val="2563EB"/>
            </a:solidFill>
          </a:ln>
        </p:spPr>
      </p:pic>
      <p:pic>
        <p:nvPicPr>
          <p:cNvPr id="171" name="Google Shape;171;p17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71500" y="4609653"/>
            <a:ext cx="11049000" cy="1304627"/>
          </a:xfrm>
          <a:prstGeom prst="rect">
            <a:avLst/>
          </a:prstGeom>
          <a:noFill/>
          <a:ln>
            <a:solidFill>
              <a:srgbClr val="1D4ED8"/>
            </a:solidFill>
          </a:ln>
        </p:spPr>
      </p:pic>
      <p:pic>
        <p:nvPicPr>
          <p:cNvPr id="172" name="Google Shape;172;p17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571500" y="6057155"/>
            <a:ext cx="110490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7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581025" y="1853505"/>
            <a:ext cx="723900" cy="13275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7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581025" y="3342977"/>
            <a:ext cx="771525" cy="111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7" descr="image.png"/>
          <p:cNvPicPr preferRelativeResize="0"/>
          <p:nvPr>
            <p:custDataLst>
              <p:tags r:id="rId7"/>
            </p:custDataLst>
          </p:nvPr>
        </p:nvPicPr>
        <p:blipFill rotWithShape="1">
          <a:blip r:embed="rId8"/>
          <a:srcRect/>
          <a:stretch>
            <a:fillRect/>
          </a:stretch>
        </p:blipFill>
        <p:spPr>
          <a:xfrm>
            <a:off x="581025" y="4619178"/>
            <a:ext cx="781050" cy="1285577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7"/>
          <p:cNvSpPr txBox="1"/>
          <p:nvPr/>
        </p:nvSpPr>
        <p:spPr>
          <a:xfrm>
            <a:off x="571500" y="552450"/>
            <a:ext cx="11601450" cy="55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0F172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</a:t>
            </a:r>
            <a:r>
              <a:rPr lang="en-US" sz="3000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04</a:t>
            </a:r>
            <a:r>
              <a:rPr lang="en-US" sz="3000" b="1" i="0" u="none" strike="noStrike" cap="none">
                <a:solidFill>
                  <a:srgbClr val="0F172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带虚段的 3-路最佳归并树构建全过程</a:t>
            </a:r>
            <a:endParaRPr lang="en-US" sz="3000" b="0" i="0" u="none" strike="noStrike" cap="none">
              <a:solidFill>
                <a:srgbClr val="94A3B8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79" name="Google Shape;179;p17"/>
          <p:cNvSpPr/>
          <p:nvPr/>
        </p:nvSpPr>
        <p:spPr>
          <a:xfrm>
            <a:off x="571500" y="1152525"/>
            <a:ext cx="1104900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81025" y="1371600"/>
            <a:ext cx="11049000" cy="294640"/>
            <a:chOff x="900" y="1924"/>
            <a:chExt cx="17400" cy="464"/>
          </a:xfrm>
        </p:grpSpPr>
        <p:sp>
          <p:nvSpPr>
            <p:cNvPr id="180" name="Google Shape;180;p17"/>
            <p:cNvSpPr txBox="1"/>
            <p:nvPr/>
          </p:nvSpPr>
          <p:spPr>
            <a:xfrm>
              <a:off x="900" y="1924"/>
              <a:ext cx="17400" cy="4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cap="none">
                  <a:solidFill>
                    <a:srgbClr val="1D4ED8"/>
                  </a:solidFill>
                  <a:latin typeface="Inter SemiBold" panose="02000503000000020004"/>
                  <a:ea typeface="Inter SemiBold" panose="02000503000000020004"/>
                  <a:cs typeface="Inter SemiBold" panose="02000503000000020004"/>
                  <a:sym typeface="Inter SemiBold" panose="02000503000000020004"/>
                </a:rPr>
                <a:t>初始状态：</a:t>
              </a:r>
              <a:r>
                <a:rPr lang="en-US" sz="1200" b="0" i="0" u="none" strike="noStrike" cap="none">
                  <a:solidFill>
                    <a:srgbClr val="374151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 给定</a:t>
              </a:r>
              <a:r>
                <a:rPr lang="en-US" sz="1200" b="0" i="0" u="none" strike="noStrike" cap="none">
                  <a:solidFill>
                    <a:srgbClr val="374151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n=6个初始段 ，其权重（长度）为                                              。执行           路归并。</a:t>
              </a:r>
              <a:endParaRPr lang="en-US" sz="1200" b="0" i="0" u="none" strike="noStrike" cap="none">
                <a:solidFill>
                  <a:srgbClr val="37415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endParaRPr>
            </a:p>
          </p:txBody>
        </p:sp>
        <p:pic>
          <p:nvPicPr>
            <p:cNvPr id="183" name="Google Shape;183;p17" descr="image.png"/>
            <p:cNvPicPr preferRelativeResize="0"/>
            <p:nvPr/>
          </p:nvPicPr>
          <p:blipFill rotWithShape="1">
            <a:blip r:embed="rId9"/>
            <a:srcRect/>
            <a:stretch>
              <a:fillRect/>
            </a:stretch>
          </p:blipFill>
          <p:spPr>
            <a:xfrm>
              <a:off x="6405" y="2160"/>
              <a:ext cx="2918" cy="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4" name="Google Shape;184;p17" descr="image.png"/>
            <p:cNvPicPr preferRelativeResize="0"/>
            <p:nvPr/>
          </p:nvPicPr>
          <p:blipFill rotWithShape="1">
            <a:blip r:embed="rId10"/>
            <a:srcRect/>
            <a:stretch>
              <a:fillRect/>
            </a:stretch>
          </p:blipFill>
          <p:spPr>
            <a:xfrm>
              <a:off x="10221" y="2160"/>
              <a:ext cx="562" cy="16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5" name="Google Shape;185;p17"/>
          <p:cNvSpPr txBox="1"/>
          <p:nvPr/>
        </p:nvSpPr>
        <p:spPr>
          <a:xfrm>
            <a:off x="1543050" y="1937960"/>
            <a:ext cx="10421302" cy="205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293B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边界检查与虚段计算</a:t>
            </a:r>
            <a:endParaRPr lang="en-US" sz="1350" b="1" i="0" u="none" strike="noStrike" cap="none">
              <a:solidFill>
                <a:srgbClr val="1E293B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87" name="Google Shape;187;p17"/>
          <p:cNvSpPr txBox="1"/>
          <p:nvPr/>
        </p:nvSpPr>
        <p:spPr>
          <a:xfrm>
            <a:off x="1543050" y="3428702"/>
            <a:ext cx="10371296" cy="205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293B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第一次 3-路合并 (出队 3 个最小元素)</a:t>
            </a:r>
            <a:endParaRPr lang="en-US" sz="1350" b="1" i="0" u="none" strike="noStrike" cap="none">
              <a:solidFill>
                <a:srgbClr val="1E293B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89" name="Google Shape;189;p17"/>
          <p:cNvSpPr txBox="1"/>
          <p:nvPr>
            <p:custDataLst>
              <p:tags r:id="rId11"/>
            </p:custDataLst>
          </p:nvPr>
        </p:nvSpPr>
        <p:spPr>
          <a:xfrm>
            <a:off x="1552575" y="4762053"/>
            <a:ext cx="10361295" cy="205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293B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第二、三次归并直至收敛</a:t>
            </a:r>
            <a:endParaRPr lang="en-US" sz="1350" b="1" i="0" u="none" strike="noStrike" cap="none">
              <a:solidFill>
                <a:srgbClr val="1E293B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90" name="Google Shape;190;p17"/>
          <p:cNvSpPr txBox="1"/>
          <p:nvPr>
            <p:custDataLst>
              <p:tags r:id="rId12"/>
            </p:custDataLst>
          </p:nvPr>
        </p:nvSpPr>
        <p:spPr>
          <a:xfrm>
            <a:off x="771525" y="6221015"/>
            <a:ext cx="2880360" cy="205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5803D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最终代价核算 (所有内部节点之和)：</a:t>
            </a:r>
            <a:endParaRPr lang="en-US" sz="1350" b="1" i="0" u="none" strike="noStrike" cap="none">
              <a:solidFill>
                <a:srgbClr val="15803D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91" name="Google Shape;191;p17"/>
          <p:cNvSpPr txBox="1"/>
          <p:nvPr/>
        </p:nvSpPr>
        <p:spPr>
          <a:xfrm>
            <a:off x="3505200" y="6294010"/>
            <a:ext cx="22002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66534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WPL = 5 + 20 + 49 = 74</a:t>
            </a:r>
            <a:endParaRPr lang="en-US" sz="1500" b="1" i="0" u="none" strike="noStrike" cap="none">
              <a:solidFill>
                <a:srgbClr val="166534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495425" y="2249805"/>
            <a:ext cx="9925050" cy="521335"/>
            <a:chOff x="2355" y="3543"/>
            <a:chExt cx="15630" cy="821"/>
          </a:xfrm>
        </p:grpSpPr>
        <p:sp>
          <p:nvSpPr>
            <p:cNvPr id="186" name="Google Shape;186;p17"/>
            <p:cNvSpPr txBox="1"/>
            <p:nvPr/>
          </p:nvSpPr>
          <p:spPr>
            <a:xfrm>
              <a:off x="2355" y="3543"/>
              <a:ext cx="15630" cy="8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0" i="0" u="none" strike="noStrike" cap="none">
                  <a:solidFill>
                    <a:srgbClr val="374151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计算                                                                     。说明不能完美合一。</a:t>
              </a:r>
              <a:br>
                <a:rPr lang="en-US" sz="24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</a:br>
              <a:r>
                <a:rPr lang="en-US" b="0" i="0" u="none" strike="noStrike" cap="none">
                  <a:solidFill>
                    <a:srgbClr val="374151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 所需虚段                                      个。构建最小堆装入数据。</a:t>
              </a:r>
              <a:endParaRPr lang="en-US" b="0" i="0" u="none" strike="noStrike" cap="none">
                <a:solidFill>
                  <a:srgbClr val="37415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endParaRPr>
            </a:p>
          </p:txBody>
        </p:sp>
        <p:pic>
          <p:nvPicPr>
            <p:cNvPr id="192" name="Google Shape;192;p17" descr="image.png"/>
            <p:cNvPicPr preferRelativeResize="0"/>
            <p:nvPr/>
          </p:nvPicPr>
          <p:blipFill rotWithShape="1">
            <a:blip r:embed="rId13"/>
            <a:srcRect/>
            <a:stretch>
              <a:fillRect/>
            </a:stretch>
          </p:blipFill>
          <p:spPr>
            <a:xfrm>
              <a:off x="3315" y="3665"/>
              <a:ext cx="4717" cy="27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3" name="Google Shape;193;p17" descr="image.png"/>
            <p:cNvPicPr preferRelativeResize="0"/>
            <p:nvPr/>
          </p:nvPicPr>
          <p:blipFill rotWithShape="1">
            <a:blip r:embed="rId14"/>
            <a:srcRect/>
            <a:stretch>
              <a:fillRect/>
            </a:stretch>
          </p:blipFill>
          <p:spPr>
            <a:xfrm>
              <a:off x="3795" y="4092"/>
              <a:ext cx="2512" cy="27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94" name="Google Shape;194;p17" descr="image.png"/>
          <p:cNvPicPr preferRelativeResize="0"/>
          <p:nvPr/>
        </p:nvPicPr>
        <p:blipFill rotWithShape="1">
          <a:blip r:embed="rId15"/>
          <a:srcRect/>
          <a:stretch>
            <a:fillRect/>
          </a:stretch>
        </p:blipFill>
        <p:spPr>
          <a:xfrm>
            <a:off x="1495425" y="2771477"/>
            <a:ext cx="6096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7" descr="image.png"/>
          <p:cNvPicPr preferRelativeResize="0"/>
          <p:nvPr/>
        </p:nvPicPr>
        <p:blipFill rotWithShape="1">
          <a:blip r:embed="rId16"/>
          <a:srcRect/>
          <a:stretch>
            <a:fillRect/>
          </a:stretch>
        </p:blipFill>
        <p:spPr>
          <a:xfrm>
            <a:off x="2152650" y="2771477"/>
            <a:ext cx="2571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7" descr="image.png"/>
          <p:cNvPicPr preferRelativeResize="0"/>
          <p:nvPr/>
        </p:nvPicPr>
        <p:blipFill rotWithShape="1">
          <a:blip r:embed="rId17"/>
          <a:srcRect/>
          <a:stretch>
            <a:fillRect/>
          </a:stretch>
        </p:blipFill>
        <p:spPr>
          <a:xfrm>
            <a:off x="2457450" y="2771477"/>
            <a:ext cx="2571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7" descr="image.png"/>
          <p:cNvPicPr preferRelativeResize="0"/>
          <p:nvPr/>
        </p:nvPicPr>
        <p:blipFill rotWithShape="1">
          <a:blip r:embed="rId18"/>
          <a:srcRect/>
          <a:stretch>
            <a:fillRect/>
          </a:stretch>
        </p:blipFill>
        <p:spPr>
          <a:xfrm>
            <a:off x="2762250" y="2771477"/>
            <a:ext cx="2571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7" descr="image.png"/>
          <p:cNvPicPr preferRelativeResize="0"/>
          <p:nvPr/>
        </p:nvPicPr>
        <p:blipFill rotWithShape="1">
          <a:blip r:embed="rId19"/>
          <a:srcRect/>
          <a:stretch>
            <a:fillRect/>
          </a:stretch>
        </p:blipFill>
        <p:spPr>
          <a:xfrm>
            <a:off x="3067050" y="2771477"/>
            <a:ext cx="2571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7" descr="image.png"/>
          <p:cNvPicPr preferRelativeResize="0"/>
          <p:nvPr/>
        </p:nvPicPr>
        <p:blipFill rotWithShape="1">
          <a:blip r:embed="rId20"/>
          <a:srcRect/>
          <a:stretch>
            <a:fillRect/>
          </a:stretch>
        </p:blipFill>
        <p:spPr>
          <a:xfrm>
            <a:off x="3371850" y="2771477"/>
            <a:ext cx="32385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7" descr="image.png"/>
          <p:cNvPicPr preferRelativeResize="0"/>
          <p:nvPr/>
        </p:nvPicPr>
        <p:blipFill rotWithShape="1">
          <a:blip r:embed="rId21"/>
          <a:srcRect/>
          <a:stretch>
            <a:fillRect/>
          </a:stretch>
        </p:blipFill>
        <p:spPr>
          <a:xfrm>
            <a:off x="3743325" y="2771477"/>
            <a:ext cx="323850" cy="266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" name="组合 2"/>
          <p:cNvGrpSpPr/>
          <p:nvPr/>
        </p:nvGrpSpPr>
        <p:grpSpPr>
          <a:xfrm>
            <a:off x="1552575" y="3634105"/>
            <a:ext cx="9876790" cy="344170"/>
            <a:chOff x="2445" y="5723"/>
            <a:chExt cx="15554" cy="542"/>
          </a:xfrm>
        </p:grpSpPr>
        <p:sp>
          <p:nvSpPr>
            <p:cNvPr id="188" name="Google Shape;188;p17"/>
            <p:cNvSpPr txBox="1"/>
            <p:nvPr/>
          </p:nvSpPr>
          <p:spPr>
            <a:xfrm>
              <a:off x="2445" y="5723"/>
              <a:ext cx="15555" cy="5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0" i="0" u="none" strike="noStrike" cap="none">
                  <a:solidFill>
                    <a:srgbClr val="374151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Pop 出：0, 2, 3。生成内部节点权重：              。将 5 重新 Push 入小顶堆并调整。</a:t>
              </a:r>
              <a:endParaRPr lang="en-US" b="0" i="0" u="none" strike="noStrike" cap="none">
                <a:solidFill>
                  <a:srgbClr val="37415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endParaRPr>
            </a:p>
          </p:txBody>
        </p:sp>
        <p:pic>
          <p:nvPicPr>
            <p:cNvPr id="201" name="Google Shape;201;p17" descr="image.png"/>
            <p:cNvPicPr preferRelativeResize="0"/>
            <p:nvPr/>
          </p:nvPicPr>
          <p:blipFill rotWithShape="1">
            <a:blip r:embed="rId22"/>
            <a:srcRect/>
            <a:stretch>
              <a:fillRect/>
            </a:stretch>
          </p:blipFill>
          <p:spPr>
            <a:xfrm>
              <a:off x="7112" y="5919"/>
              <a:ext cx="1236" cy="232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02" name="Google Shape;202;p17" descr="image.png"/>
          <p:cNvPicPr preferRelativeResize="0"/>
          <p:nvPr/>
        </p:nvPicPr>
        <p:blipFill rotWithShape="1">
          <a:blip r:embed="rId23"/>
          <a:srcRect/>
          <a:stretch>
            <a:fillRect/>
          </a:stretch>
        </p:blipFill>
        <p:spPr>
          <a:xfrm>
            <a:off x="1543050" y="4047678"/>
            <a:ext cx="6096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17" descr="image.png"/>
          <p:cNvPicPr preferRelativeResize="0"/>
          <p:nvPr/>
        </p:nvPicPr>
        <p:blipFill rotWithShape="1">
          <a:blip r:embed="rId24"/>
          <a:srcRect/>
          <a:stretch>
            <a:fillRect/>
          </a:stretch>
        </p:blipFill>
        <p:spPr>
          <a:xfrm>
            <a:off x="2200275" y="4047678"/>
            <a:ext cx="2571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7" descr="image.png"/>
          <p:cNvPicPr preferRelativeResize="0"/>
          <p:nvPr/>
        </p:nvPicPr>
        <p:blipFill rotWithShape="1">
          <a:blip r:embed="rId19"/>
          <a:srcRect/>
          <a:stretch>
            <a:fillRect/>
          </a:stretch>
        </p:blipFill>
        <p:spPr>
          <a:xfrm>
            <a:off x="2505075" y="4047678"/>
            <a:ext cx="2571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17" descr="image.png"/>
          <p:cNvPicPr preferRelativeResize="0"/>
          <p:nvPr/>
        </p:nvPicPr>
        <p:blipFill rotWithShape="1">
          <a:blip r:embed="rId20"/>
          <a:srcRect/>
          <a:stretch>
            <a:fillRect/>
          </a:stretch>
        </p:blipFill>
        <p:spPr>
          <a:xfrm>
            <a:off x="2809875" y="4047678"/>
            <a:ext cx="32385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17" descr="image.png"/>
          <p:cNvPicPr preferRelativeResize="0"/>
          <p:nvPr/>
        </p:nvPicPr>
        <p:blipFill rotWithShape="1">
          <a:blip r:embed="rId21"/>
          <a:srcRect/>
          <a:stretch>
            <a:fillRect/>
          </a:stretch>
        </p:blipFill>
        <p:spPr>
          <a:xfrm>
            <a:off x="3181350" y="4047678"/>
            <a:ext cx="32385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7"/>
          <p:cNvSpPr txBox="1"/>
          <p:nvPr>
            <p:custDataLst>
              <p:tags r:id="rId25"/>
            </p:custDataLst>
          </p:nvPr>
        </p:nvSpPr>
        <p:spPr>
          <a:xfrm>
            <a:off x="1647825" y="5016311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37415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•</a:t>
            </a:r>
            <a:endParaRPr lang="en-US" sz="1275" b="0" i="0" u="none" strike="noStrike" cap="none">
              <a:solidFill>
                <a:srgbClr val="37415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08" name="Google Shape;208;p17"/>
          <p:cNvSpPr txBox="1"/>
          <p:nvPr>
            <p:custDataLst>
              <p:tags r:id="rId26"/>
            </p:custDataLst>
          </p:nvPr>
        </p:nvSpPr>
        <p:spPr>
          <a:xfrm>
            <a:off x="1743075" y="5015358"/>
            <a:ext cx="96774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37415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Pop: 5, 6, 9-&gt; 生成 20。堆状态: {12, 17, 20}</a:t>
            </a:r>
            <a:endParaRPr lang="en-US" sz="1275" b="0" i="0" u="none" strike="noStrike" cap="none">
              <a:solidFill>
                <a:srgbClr val="37415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09" name="Google Shape;209;p17"/>
          <p:cNvSpPr txBox="1"/>
          <p:nvPr>
            <p:custDataLst>
              <p:tags r:id="rId27"/>
            </p:custDataLst>
          </p:nvPr>
        </p:nvSpPr>
        <p:spPr>
          <a:xfrm>
            <a:off x="1647825" y="5389572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37415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•</a:t>
            </a:r>
            <a:endParaRPr lang="en-US" sz="1275" b="0" i="0" u="none" strike="noStrike" cap="none">
              <a:solidFill>
                <a:srgbClr val="37415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10" name="Google Shape;210;p17"/>
          <p:cNvSpPr txBox="1"/>
          <p:nvPr>
            <p:custDataLst>
              <p:tags r:id="rId28"/>
            </p:custDataLst>
          </p:nvPr>
        </p:nvSpPr>
        <p:spPr>
          <a:xfrm>
            <a:off x="1743075" y="5388619"/>
            <a:ext cx="96774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37415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Pop: 12, 17, 20-&gt;生成49 。队列剩 1 个，结束。</a:t>
            </a:r>
            <a:endParaRPr lang="en-US" sz="1275" b="0" i="0" u="none" strike="noStrike" cap="none">
              <a:solidFill>
                <a:srgbClr val="37415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80">
          <a:fgClr>
            <a:schemeClr val="accent5">
              <a:lumMod val="40000"/>
              <a:lumOff val="60000"/>
            </a:schemeClr>
          </a:fgClr>
          <a:bgClr>
            <a:schemeClr val="bg1"/>
          </a:bgClr>
        </a:pattFill>
        <a:effectLst/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18" descr="image.png"/>
          <p:cNvPicPr preferRelativeResize="0"/>
          <p:nvPr/>
        </p:nvPicPr>
        <p:blipFill rotWithShape="1">
          <a:blip r:embed="rId1">
            <a:biLevel thresh="75000"/>
          </a:blip>
          <a:srcRect/>
          <a:stretch>
            <a:fillRect/>
          </a:stretch>
        </p:blipFill>
        <p:spPr>
          <a:xfrm>
            <a:off x="571500" y="2291655"/>
            <a:ext cx="5334000" cy="4090094"/>
          </a:xfrm>
          <a:prstGeom prst="rect">
            <a:avLst/>
          </a:prstGeom>
          <a:noFill/>
          <a:ln>
            <a:solidFill>
              <a:srgbClr val="CC185D"/>
            </a:solidFill>
          </a:ln>
        </p:spPr>
      </p:pic>
      <p:pic>
        <p:nvPicPr>
          <p:cNvPr id="219" name="Google Shape;219;p18" descr="image.png"/>
          <p:cNvPicPr preferRelativeResize="0"/>
          <p:nvPr/>
        </p:nvPicPr>
        <p:blipFill rotWithShape="1">
          <a:blip r:embed="rId2">
            <a:biLevel thresh="50000"/>
          </a:blip>
          <a:srcRect/>
          <a:stretch>
            <a:fillRect/>
          </a:stretch>
        </p:blipFill>
        <p:spPr>
          <a:xfrm>
            <a:off x="6286500" y="2291655"/>
            <a:ext cx="5334000" cy="4090094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</p:pic>
      <p:pic>
        <p:nvPicPr>
          <p:cNvPr id="220" name="Google Shape;220;p18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19150" y="5791200"/>
            <a:ext cx="48387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18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534150" y="5791200"/>
            <a:ext cx="48387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8"/>
          <p:cNvSpPr txBox="1"/>
          <p:nvPr/>
        </p:nvSpPr>
        <p:spPr>
          <a:xfrm>
            <a:off x="571500" y="552450"/>
            <a:ext cx="11601450" cy="55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05</a:t>
            </a:r>
            <a:r>
              <a:rPr lang="en-US" sz="3000" b="1" i="0" u="none" strike="noStrike" cap="none">
                <a:solidFill>
                  <a:srgbClr val="0F172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最佳归并树与败者树的分层协作 </a:t>
            </a:r>
            <a:endParaRPr lang="en-US" sz="3000" b="0" i="0" u="none" strike="noStrike" cap="none">
              <a:solidFill>
                <a:srgbClr val="94A3B8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25" name="Google Shape;225;p18"/>
          <p:cNvSpPr/>
          <p:nvPr/>
        </p:nvSpPr>
        <p:spPr>
          <a:xfrm>
            <a:off x="571500" y="1152525"/>
            <a:ext cx="1104900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6" name="Google Shape;226;p18"/>
          <p:cNvSpPr txBox="1"/>
          <p:nvPr/>
        </p:nvSpPr>
        <p:spPr>
          <a:xfrm>
            <a:off x="571500" y="1457325"/>
            <a:ext cx="11049000" cy="7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37415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单一的算法无法解决复杂的工程问题。在真实的企业级排序引擎（如关系型数据库的底层排序器）中，外排序优化是两套精妙树状结构的协同作战。</a:t>
            </a:r>
            <a:endParaRPr lang="en-US" sz="1600" b="0" i="0" u="none" strike="noStrike" cap="none">
              <a:solidFill>
                <a:srgbClr val="37415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28" name="Google Shape;228;p18"/>
          <p:cNvSpPr txBox="1"/>
          <p:nvPr/>
        </p:nvSpPr>
        <p:spPr>
          <a:xfrm>
            <a:off x="819150" y="2483108"/>
            <a:ext cx="5080635" cy="332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BE185D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宏观 I/O 调度：最佳归并树</a:t>
            </a:r>
            <a:endParaRPr lang="en-US" sz="1800" b="1" i="0" u="none" strike="noStrike" cap="none">
              <a:solidFill>
                <a:srgbClr val="BE185D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29" name="Google Shape;229;p18"/>
          <p:cNvSpPr txBox="1"/>
          <p:nvPr/>
        </p:nvSpPr>
        <p:spPr>
          <a:xfrm>
            <a:off x="6534150" y="2487553"/>
            <a:ext cx="5080635" cy="332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5803D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微观 CPU 计算：败者树</a:t>
            </a:r>
            <a:endParaRPr lang="en-US" sz="1800" b="1" i="0" u="none" strike="noStrike" cap="none">
              <a:solidFill>
                <a:srgbClr val="15803D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30" name="Google Shape;230;p18"/>
          <p:cNvSpPr txBox="1"/>
          <p:nvPr/>
        </p:nvSpPr>
        <p:spPr>
          <a:xfrm>
            <a:off x="1085850" y="3053655"/>
            <a:ext cx="4572000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D4ED8"/>
                </a:solidFill>
                <a:latin typeface="Inter SemiBold" panose="02000503000000020004"/>
                <a:ea typeface="Inter SemiBold" panose="02000503000000020004"/>
                <a:cs typeface="Inter SemiBold" panose="02000503000000020004"/>
                <a:sym typeface="Inter SemiBold" panose="02000503000000020004"/>
              </a:rPr>
              <a:t>核心职责：</a:t>
            </a:r>
            <a:r>
              <a:rPr lang="en-US" sz="1600" b="0" i="0" u="none" strike="noStrike" cap="none">
                <a:solidFill>
                  <a:srgbClr val="37415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解决文件维度的组合策略。</a:t>
            </a:r>
            <a:endParaRPr lang="en-US" sz="1600" b="0" i="0" u="none" strike="noStrike" cap="none">
              <a:solidFill>
                <a:srgbClr val="37415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31" name="Google Shape;231;p18"/>
          <p:cNvSpPr txBox="1"/>
          <p:nvPr/>
        </p:nvSpPr>
        <p:spPr>
          <a:xfrm>
            <a:off x="1085850" y="3484066"/>
            <a:ext cx="4572000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D4ED8"/>
                </a:solidFill>
                <a:latin typeface="Inter SemiBold" panose="02000503000000020004"/>
                <a:ea typeface="Inter SemiBold" panose="02000503000000020004"/>
                <a:cs typeface="Inter SemiBold" panose="02000503000000020004"/>
                <a:sym typeface="Inter SemiBold" panose="02000503000000020004"/>
              </a:rPr>
              <a:t>优化目标：</a:t>
            </a:r>
            <a:r>
              <a:rPr lang="en-US" sz="1600" b="0" i="0" u="none" strike="noStrike" cap="none">
                <a:solidFill>
                  <a:srgbClr val="37415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最小化磁盘读写总字节数。</a:t>
            </a:r>
            <a:endParaRPr lang="en-US" sz="1600" b="0" i="0" u="none" strike="noStrike" cap="none">
              <a:solidFill>
                <a:srgbClr val="37415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32" name="Google Shape;232;p18"/>
          <p:cNvSpPr txBox="1"/>
          <p:nvPr/>
        </p:nvSpPr>
        <p:spPr>
          <a:xfrm>
            <a:off x="1085850" y="3914477"/>
            <a:ext cx="4572000" cy="7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D4ED8"/>
                </a:solidFill>
                <a:latin typeface="Inter SemiBold" panose="02000503000000020004"/>
                <a:ea typeface="Inter SemiBold" panose="02000503000000020004"/>
                <a:cs typeface="Inter SemiBold" panose="02000503000000020004"/>
                <a:sym typeface="Inter SemiBold" panose="02000503000000020004"/>
              </a:rPr>
              <a:t>执行时机：</a:t>
            </a:r>
            <a:r>
              <a:rPr lang="en-US" sz="1600" b="0" i="0" u="none" strike="noStrike" cap="none">
                <a:solidFill>
                  <a:srgbClr val="37415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在多路归并正式开始前，离线计算好合并拓扑蓝图。</a:t>
            </a:r>
            <a:endParaRPr lang="en-US" sz="1600" b="0" i="0" u="none" strike="noStrike" cap="none">
              <a:solidFill>
                <a:srgbClr val="37415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33" name="Google Shape;233;p18"/>
          <p:cNvSpPr txBox="1"/>
          <p:nvPr/>
        </p:nvSpPr>
        <p:spPr>
          <a:xfrm>
            <a:off x="1085850" y="4603849"/>
            <a:ext cx="4572000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D4ED8"/>
                </a:solidFill>
                <a:latin typeface="Inter SemiBold" panose="02000503000000020004"/>
                <a:ea typeface="Inter SemiBold" panose="02000503000000020004"/>
                <a:cs typeface="Inter SemiBold" panose="02000503000000020004"/>
                <a:sym typeface="Inter SemiBold" panose="02000503000000020004"/>
              </a:rPr>
              <a:t>数据结构支撑：</a:t>
            </a:r>
            <a:r>
              <a:rPr lang="en-US" sz="1600" b="0" i="0" u="none" strike="noStrike" cap="none">
                <a:solidFill>
                  <a:srgbClr val="37415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优先队列 (Min-Heap)。</a:t>
            </a:r>
            <a:endParaRPr lang="en-US" sz="1600" b="0" i="0" u="none" strike="noStrike" cap="none">
              <a:solidFill>
                <a:srgbClr val="37415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34" name="Google Shape;234;p18"/>
          <p:cNvSpPr txBox="1"/>
          <p:nvPr/>
        </p:nvSpPr>
        <p:spPr>
          <a:xfrm>
            <a:off x="6800850" y="3053655"/>
            <a:ext cx="4572000" cy="7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D4ED8"/>
                </a:solidFill>
                <a:latin typeface="Inter SemiBold" panose="02000503000000020004"/>
                <a:ea typeface="Inter SemiBold" panose="02000503000000020004"/>
                <a:cs typeface="Inter SemiBold" panose="02000503000000020004"/>
                <a:sym typeface="Inter SemiBold" panose="02000503000000020004"/>
              </a:rPr>
              <a:t>核心职责：</a:t>
            </a:r>
            <a:r>
              <a:rPr lang="en-US" sz="1600" b="0" i="0" u="none" strike="noStrike" cap="none">
                <a:solidFill>
                  <a:srgbClr val="37415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解决内存中 K 个 Run 内部元素的比较策略。</a:t>
            </a:r>
            <a:endParaRPr lang="en-US" sz="1600" b="0" i="0" u="none" strike="noStrike" cap="none">
              <a:solidFill>
                <a:srgbClr val="37415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35" name="Google Shape;235;p18"/>
          <p:cNvSpPr txBox="1"/>
          <p:nvPr/>
        </p:nvSpPr>
        <p:spPr>
          <a:xfrm>
            <a:off x="6800850" y="3659326"/>
            <a:ext cx="4572000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D4ED8"/>
                </a:solidFill>
                <a:latin typeface="Inter SemiBold" panose="02000503000000020004"/>
                <a:ea typeface="Inter SemiBold" panose="02000503000000020004"/>
                <a:cs typeface="Inter SemiBold" panose="02000503000000020004"/>
                <a:sym typeface="Inter SemiBold" panose="02000503000000020004"/>
              </a:rPr>
              <a:t>优化目标：</a:t>
            </a:r>
            <a:r>
              <a:rPr lang="en-US" sz="1600" b="0" i="0" u="none" strike="noStrike" cap="none">
                <a:solidFill>
                  <a:srgbClr val="37415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降低选出最值所需的比较次数。</a:t>
            </a:r>
            <a:endParaRPr lang="en-US" sz="1600" b="0" i="0" u="none" strike="noStrike" cap="none">
              <a:solidFill>
                <a:srgbClr val="37415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36" name="Google Shape;236;p18"/>
          <p:cNvSpPr txBox="1"/>
          <p:nvPr/>
        </p:nvSpPr>
        <p:spPr>
          <a:xfrm>
            <a:off x="6800850" y="4075132"/>
            <a:ext cx="4572000" cy="7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D4ED8"/>
                </a:solidFill>
                <a:latin typeface="Inter SemiBold" panose="02000503000000020004"/>
                <a:ea typeface="Inter SemiBold" panose="02000503000000020004"/>
                <a:cs typeface="Inter SemiBold" panose="02000503000000020004"/>
                <a:sym typeface="Inter SemiBold" panose="02000503000000020004"/>
              </a:rPr>
              <a:t>执行时机：</a:t>
            </a:r>
            <a:r>
              <a:rPr lang="en-US" sz="1600" b="0" i="0" u="none" strike="noStrike" cap="none">
                <a:solidFill>
                  <a:srgbClr val="37415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在选定的 K 个 Run 将数据块刷入内存 Buffer 后，实时执行。</a:t>
            </a:r>
            <a:endParaRPr lang="en-US" sz="1600" b="0" i="0" u="none" strike="noStrike" cap="none">
              <a:solidFill>
                <a:srgbClr val="37415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37" name="Google Shape;237;p18"/>
          <p:cNvSpPr txBox="1"/>
          <p:nvPr/>
        </p:nvSpPr>
        <p:spPr>
          <a:xfrm>
            <a:off x="6800850" y="4852769"/>
            <a:ext cx="4572000" cy="7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D4ED8"/>
                </a:solidFill>
                <a:latin typeface="Inter SemiBold" panose="02000503000000020004"/>
                <a:ea typeface="Inter SemiBold" panose="02000503000000020004"/>
                <a:cs typeface="Inter SemiBold" panose="02000503000000020004"/>
                <a:sym typeface="Inter SemiBold" panose="02000503000000020004"/>
              </a:rPr>
              <a:t>数学优势：</a:t>
            </a:r>
            <a:r>
              <a:rPr lang="en-US" sz="1600" b="0" i="0" u="none" strike="noStrike" cap="none">
                <a:solidFill>
                  <a:srgbClr val="37415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将寻找 K 个元素最小值的比较次数从 K-1 次降低到严格的log</a:t>
            </a:r>
            <a:r>
              <a:rPr lang="en-US" sz="1600" b="0" i="0" u="none" strike="noStrike" cap="none" baseline="-25000">
                <a:solidFill>
                  <a:srgbClr val="37415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2</a:t>
            </a:r>
            <a:r>
              <a:rPr lang="en-US" sz="1600" b="0" i="0" u="none" strike="noStrike" cap="none">
                <a:solidFill>
                  <a:srgbClr val="37415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K 次。</a:t>
            </a:r>
            <a:endParaRPr lang="en-US" sz="1600" b="0" i="0" u="none" strike="noStrike" cap="none">
              <a:solidFill>
                <a:srgbClr val="37415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80">
          <a:fgClr>
            <a:schemeClr val="accent5">
              <a:lumMod val="40000"/>
              <a:lumOff val="60000"/>
            </a:schemeClr>
          </a:fgClr>
          <a:bgClr>
            <a:schemeClr val="bg1"/>
          </a:bgClr>
        </a:pattFill>
        <a:effectLst/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19" descr="image.png"/>
          <p:cNvPicPr preferRelativeResize="0"/>
          <p:nvPr/>
        </p:nvPicPr>
        <p:blipFill rotWithShape="1">
          <a:blip r:embed="rId1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571500" y="5059709"/>
            <a:ext cx="11049000" cy="1322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19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1457325"/>
            <a:ext cx="3492400" cy="32690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19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349650" y="1457325"/>
            <a:ext cx="3492549" cy="32690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19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127950" y="1457325"/>
            <a:ext cx="3492400" cy="3269009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19"/>
          <p:cNvSpPr txBox="1"/>
          <p:nvPr/>
        </p:nvSpPr>
        <p:spPr>
          <a:xfrm>
            <a:off x="571500" y="552450"/>
            <a:ext cx="11601450" cy="55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0F172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</a:t>
            </a:r>
            <a:r>
              <a:rPr lang="en-US" sz="3000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06</a:t>
            </a:r>
            <a:r>
              <a:rPr lang="en-US" sz="3000" b="1" i="0" u="none" strike="noStrike" cap="none">
                <a:solidFill>
                  <a:srgbClr val="0F172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工程启示与现代架构映射</a:t>
            </a:r>
            <a:endParaRPr lang="en-US" sz="3000" b="0" i="0" u="none" strike="noStrike" cap="none">
              <a:solidFill>
                <a:srgbClr val="94A3B8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50" name="Google Shape;250;p19"/>
          <p:cNvSpPr/>
          <p:nvPr/>
        </p:nvSpPr>
        <p:spPr>
          <a:xfrm>
            <a:off x="571500" y="1152525"/>
            <a:ext cx="1104900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2" name="Google Shape;252;p19"/>
          <p:cNvSpPr txBox="1"/>
          <p:nvPr/>
        </p:nvSpPr>
        <p:spPr>
          <a:xfrm>
            <a:off x="762000" y="5250209"/>
            <a:ext cx="10668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FFF00"/>
                </a:solidFill>
                <a:latin typeface="Inter Medium" panose="02000503000000020004"/>
                <a:ea typeface="Inter Medium" panose="02000503000000020004"/>
                <a:cs typeface="Inter Medium" panose="02000503000000020004"/>
                <a:sym typeface="Inter Medium" panose="02000503000000020004"/>
              </a:rPr>
              <a:t>💡 思考与展望</a:t>
            </a:r>
            <a:endParaRPr lang="en-US" sz="1350" b="0" i="0" u="none" strike="noStrike" cap="none">
              <a:solidFill>
                <a:srgbClr val="FFFF00"/>
              </a:solidFill>
              <a:latin typeface="Inter Medium" panose="02000503000000020004"/>
              <a:ea typeface="Inter Medium" panose="02000503000000020004"/>
              <a:cs typeface="Inter Medium" panose="02000503000000020004"/>
              <a:sym typeface="Inter Medium" panose="02000503000000020004"/>
            </a:endParaRPr>
          </a:p>
        </p:txBody>
      </p:sp>
      <p:sp>
        <p:nvSpPr>
          <p:cNvPr id="253" name="Google Shape;253;p19"/>
          <p:cNvSpPr txBox="1"/>
          <p:nvPr/>
        </p:nvSpPr>
        <p:spPr>
          <a:xfrm>
            <a:off x="762000" y="5588000"/>
            <a:ext cx="10668000" cy="554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在 NVMe 和全闪存阵列  逐渐普及的今天，由于 SSD 随机读写性能大幅提升，传统的极高 I/O 惩罚假设是否动摇？参数 K 的自适应动态调优，正成为下一代高性能存储引擎的研究热点。</a:t>
            </a:r>
            <a:endParaRPr lang="en-US" sz="1125" b="0" i="0" u="none" strike="noStrike" cap="none">
              <a:solidFill>
                <a:srgbClr val="CBD5E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54" name="Google Shape;254;p19"/>
          <p:cNvSpPr txBox="1"/>
          <p:nvPr/>
        </p:nvSpPr>
        <p:spPr>
          <a:xfrm>
            <a:off x="1133475" y="1704975"/>
            <a:ext cx="2816914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理论基石</a:t>
            </a:r>
            <a:endParaRPr lang="en-US" sz="1500" b="1" i="0" u="none" strike="noStrike" cap="none">
              <a:solidFill>
                <a:srgbClr val="1E293B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55" name="Google Shape;255;p19"/>
          <p:cNvSpPr txBox="1"/>
          <p:nvPr/>
        </p:nvSpPr>
        <p:spPr>
          <a:xfrm>
            <a:off x="819150" y="2076450"/>
            <a:ext cx="2997100" cy="1474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7415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将复杂的底层硬件 I/O 损耗问题，优雅地抽象映射为经典的 </a:t>
            </a:r>
            <a:r>
              <a:rPr lang="en-US" sz="1200" b="0" i="0" u="none" strike="noStrike" cap="none">
                <a:solidFill>
                  <a:srgbClr val="1D4ED8"/>
                </a:solidFill>
                <a:latin typeface="Inter SemiBold" panose="02000503000000020004"/>
                <a:ea typeface="Inter SemiBold" panose="02000503000000020004"/>
                <a:cs typeface="Inter SemiBold" panose="02000503000000020004"/>
                <a:sym typeface="Inter SemiBold" panose="02000503000000020004"/>
              </a:rPr>
              <a:t>严格 K-叉哈夫曼数学模型</a:t>
            </a:r>
            <a:r>
              <a:rPr lang="en-US" sz="1200" b="0" i="0" u="none" strike="noStrike" cap="none">
                <a:solidFill>
                  <a:srgbClr val="37415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。通过公式推导确立了外排序磁盘延迟的理论下界，展现了算法理论对工程实践的强大指导力。</a:t>
            </a:r>
            <a:endParaRPr lang="en-US" sz="1200" b="0" i="0" u="none" strike="noStrike" cap="none">
              <a:solidFill>
                <a:srgbClr val="37415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56" name="Google Shape;256;p19"/>
          <p:cNvSpPr txBox="1"/>
          <p:nvPr/>
        </p:nvSpPr>
        <p:spPr>
          <a:xfrm>
            <a:off x="4883050" y="1704975"/>
            <a:ext cx="2847074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边界防范</a:t>
            </a:r>
            <a:endParaRPr lang="en-US" sz="1500" b="1" i="0" u="none" strike="noStrike" cap="none">
              <a:solidFill>
                <a:srgbClr val="1E293B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57" name="Google Shape;257;p19"/>
          <p:cNvSpPr txBox="1"/>
          <p:nvPr/>
        </p:nvSpPr>
        <p:spPr>
          <a:xfrm>
            <a:off x="4597300" y="2076450"/>
            <a:ext cx="2997249" cy="1179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7415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通过深刻揭示 </a:t>
            </a:r>
            <a:r>
              <a:rPr lang="en-US" sz="1200" b="0" i="0" u="none" strike="noStrike" cap="none">
                <a:solidFill>
                  <a:srgbClr val="1D4ED8"/>
                </a:solidFill>
                <a:latin typeface="Inter SemiBold" panose="02000503000000020004"/>
                <a:ea typeface="Inter SemiBold" panose="02000503000000020004"/>
                <a:cs typeface="Inter SemiBold" panose="02000503000000020004"/>
                <a:sym typeface="Inter SemiBold" panose="02000503000000020004"/>
              </a:rPr>
              <a:t>虚段 (Dummy Runs)</a:t>
            </a:r>
            <a:r>
              <a:rPr lang="en-US" sz="1200" b="0" i="0" u="none" strike="noStrike" cap="none">
                <a:solidFill>
                  <a:srgbClr val="37415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判定机制的必要性，指出了理论贪心策略在实际受限场景下可能发生的结构性塌陷，并给出了 O(1) 时间复杂度的补齐方案。</a:t>
            </a:r>
            <a:endParaRPr lang="en-US" sz="1200" b="0" i="0" u="none" strike="noStrike" cap="none">
              <a:solidFill>
                <a:srgbClr val="37415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58" name="Google Shape;258;p19"/>
          <p:cNvSpPr txBox="1"/>
          <p:nvPr/>
        </p:nvSpPr>
        <p:spPr>
          <a:xfrm>
            <a:off x="8689925" y="1704975"/>
            <a:ext cx="2816914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现代架构映射</a:t>
            </a:r>
            <a:endParaRPr lang="en-US" sz="1500" b="1" i="0" u="none" strike="noStrike" cap="none">
              <a:solidFill>
                <a:srgbClr val="1E293B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pic>
        <p:nvPicPr>
          <p:cNvPr id="259" name="Google Shape;259;p19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819150" y="1724025"/>
            <a:ext cx="2190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19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4597300" y="1724025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19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8375600" y="1724025"/>
            <a:ext cx="2190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19"/>
          <p:cNvSpPr txBox="1"/>
          <p:nvPr/>
        </p:nvSpPr>
        <p:spPr>
          <a:xfrm>
            <a:off x="8470850" y="2172652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37415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•</a:t>
            </a:r>
            <a:endParaRPr lang="en-US" sz="1275" b="0" i="0" u="none" strike="noStrike" cap="none">
              <a:solidFill>
                <a:srgbClr val="37415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63" name="Google Shape;263;p19"/>
          <p:cNvSpPr txBox="1"/>
          <p:nvPr/>
        </p:nvSpPr>
        <p:spPr>
          <a:xfrm>
            <a:off x="8566100" y="2171700"/>
            <a:ext cx="2806600" cy="629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1D4ED8"/>
                </a:solidFill>
                <a:latin typeface="Inter SemiBold" panose="02000503000000020004"/>
                <a:ea typeface="Inter SemiBold" panose="02000503000000020004"/>
                <a:cs typeface="Inter SemiBold" panose="02000503000000020004"/>
                <a:sym typeface="Inter SemiBold" panose="02000503000000020004"/>
              </a:rPr>
              <a:t>Hadoop MapReduce:</a:t>
            </a:r>
            <a:r>
              <a:rPr lang="en-US" sz="1275" b="0" i="0" u="none" strike="noStrike" cap="none">
                <a:solidFill>
                  <a:srgbClr val="37415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Reduce 端拉取溢写文件 后的多轮 Merge。</a:t>
            </a:r>
            <a:endParaRPr lang="en-US" sz="1275" b="0" i="0" u="none" strike="noStrike" cap="none">
              <a:solidFill>
                <a:srgbClr val="37415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64" name="Google Shape;264;p19"/>
          <p:cNvSpPr txBox="1"/>
          <p:nvPr/>
        </p:nvSpPr>
        <p:spPr>
          <a:xfrm>
            <a:off x="8470850" y="302573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37415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•</a:t>
            </a:r>
            <a:endParaRPr lang="en-US" sz="1275" b="0" i="0" u="none" strike="noStrike" cap="none">
              <a:solidFill>
                <a:srgbClr val="37415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65" name="Google Shape;265;p19"/>
          <p:cNvSpPr txBox="1"/>
          <p:nvPr/>
        </p:nvSpPr>
        <p:spPr>
          <a:xfrm>
            <a:off x="8566100" y="2951757"/>
            <a:ext cx="2806600" cy="5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1D4ED8"/>
                </a:solidFill>
                <a:latin typeface="Inter SemiBold" panose="02000503000000020004"/>
                <a:ea typeface="Inter SemiBold" panose="02000503000000020004"/>
                <a:cs typeface="Inter SemiBold" panose="02000503000000020004"/>
                <a:sym typeface="Inter SemiBold" panose="02000503000000020004"/>
              </a:rPr>
              <a:t>Apache Spark:</a:t>
            </a:r>
            <a:r>
              <a:rPr lang="en-US" sz="1275" b="0" i="0" u="none" strike="noStrike" cap="none">
                <a:solidFill>
                  <a:srgbClr val="37415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Shuffle 阶段的 ExternalSorter 实现机制。</a:t>
            </a:r>
            <a:endParaRPr lang="en-US" sz="1275" b="0" i="0" u="none" strike="noStrike" cap="none">
              <a:solidFill>
                <a:srgbClr val="37415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66" name="Google Shape;266;p19"/>
          <p:cNvSpPr txBox="1"/>
          <p:nvPr/>
        </p:nvSpPr>
        <p:spPr>
          <a:xfrm>
            <a:off x="8470850" y="3622536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37415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•</a:t>
            </a:r>
            <a:endParaRPr lang="en-US" sz="1275" b="0" i="0" u="none" strike="noStrike" cap="none">
              <a:solidFill>
                <a:srgbClr val="37415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67" name="Google Shape;267;p19"/>
          <p:cNvSpPr txBox="1"/>
          <p:nvPr/>
        </p:nvSpPr>
        <p:spPr>
          <a:xfrm>
            <a:off x="8566100" y="3621583"/>
            <a:ext cx="2806600" cy="5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1D4ED8"/>
                </a:solidFill>
                <a:latin typeface="Inter SemiBold" panose="02000503000000020004"/>
                <a:ea typeface="Inter SemiBold" panose="02000503000000020004"/>
                <a:cs typeface="Inter SemiBold" panose="02000503000000020004"/>
                <a:sym typeface="Inter SemiBold" panose="02000503000000020004"/>
              </a:rPr>
              <a:t>RDBMS:</a:t>
            </a:r>
            <a:r>
              <a:rPr lang="en-US" sz="1275" b="0" i="0" u="none" strike="noStrike" cap="none">
                <a:solidFill>
                  <a:srgbClr val="37415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关系型数据库面临内存溢出时的 File Sort 归并落盘。</a:t>
            </a:r>
            <a:endParaRPr lang="en-US" sz="1275" b="0" i="0" u="none" strike="noStrike" cap="none">
              <a:solidFill>
                <a:srgbClr val="37415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80">
          <a:fgClr>
            <a:schemeClr val="accent5">
              <a:lumMod val="40000"/>
              <a:lumOff val="60000"/>
            </a:schemeClr>
          </a:fgClr>
          <a:bgClr>
            <a:schemeClr val="bg1"/>
          </a:bgClr>
        </a:pattFill>
        <a:effectLst/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9"/>
          <p:cNvSpPr txBox="1"/>
          <p:nvPr/>
        </p:nvSpPr>
        <p:spPr>
          <a:xfrm>
            <a:off x="571500" y="552450"/>
            <a:ext cx="11601450" cy="55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0F172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</a:t>
            </a:r>
            <a:r>
              <a:rPr lang="en-US" sz="3000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07</a:t>
            </a:r>
            <a:r>
              <a:rPr lang="zh-CN" altLang="en-US" sz="3000" b="1" i="0" u="none" strike="noStrike" cap="none">
                <a:solidFill>
                  <a:srgbClr val="0F172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参考文献</a:t>
            </a:r>
            <a:endParaRPr lang="zh-CN" altLang="en-US" sz="3000" b="1" i="0" u="none" strike="noStrike" cap="none">
              <a:solidFill>
                <a:srgbClr val="0F172A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50" name="Google Shape;250;p19"/>
          <p:cNvSpPr/>
          <p:nvPr/>
        </p:nvSpPr>
        <p:spPr>
          <a:xfrm>
            <a:off x="571500" y="1152525"/>
            <a:ext cx="1104900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59" name="Google Shape;259;p19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31190" y="1431925"/>
            <a:ext cx="744855" cy="3587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631190" y="1999615"/>
            <a:ext cx="10819765" cy="4246245"/>
          </a:xfrm>
          <a:prstGeom prst="rect">
            <a:avLst/>
          </a:prstGeom>
          <a:ln>
            <a:solidFill>
              <a:srgbClr val="CC185D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>
            <a:spAutoFit/>
          </a:bodyPr>
          <a:p>
            <a:pPr marL="342900" indent="-342900" eaLnBrk="1" fontAlgn="auto" latinLnBrk="0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/>
              <a:t>严蔚敏, 吴伟民. (2007). 数据结构（</a:t>
            </a:r>
            <a:r>
              <a:rPr lang="en-US" altLang="zh-CN" sz="2000"/>
              <a:t>C</a:t>
            </a:r>
            <a:r>
              <a:rPr lang="zh-CN" altLang="en-US" sz="2000"/>
              <a:t>语言版）. 清华大学出版社.</a:t>
            </a:r>
            <a:endParaRPr lang="zh-CN" altLang="en-US" sz="2000"/>
          </a:p>
          <a:p>
            <a:pPr marL="342900" indent="-342900" eaLnBrk="1" fontAlgn="auto" latinLnBrk="0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/>
              <a:t>Knuth, D. E. (1998). The Art of Computer Programming, Volume 3: Sorting and Searching (2nd ed.). Addison-Wesley Professional.</a:t>
            </a:r>
            <a:endParaRPr lang="en-US" altLang="zh-CN" sz="2000"/>
          </a:p>
          <a:p>
            <a:pPr marL="342900" indent="-342900" eaLnBrk="1" fontAlgn="auto" latinLnBrk="0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/>
              <a:t>Cormen, T. H., Leiserson, C. E., Rivest, R. L., &amp; Stein, C. (2009). Introduction to Algorithms (3rd ed.). MIT press. (</a:t>
            </a:r>
            <a:r>
              <a:rPr lang="zh-CN" altLang="en-US" sz="2000"/>
              <a:t>算法导论)</a:t>
            </a:r>
            <a:endParaRPr lang="zh-CN" altLang="en-US" sz="2000"/>
          </a:p>
          <a:p>
            <a:pPr marL="342900" indent="-342900" eaLnBrk="1" fontAlgn="auto" latinLnBrk="0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/>
              <a:t>Huffman, D. A. (1952). A Method for the Construction of Minimum-Redundancy Codes. Proceedings of the IRE, 40(9), 1098-1101.</a:t>
            </a:r>
            <a:endParaRPr lang="en-US" altLang="zh-CN" sz="2000"/>
          </a:p>
          <a:p>
            <a:pPr marL="342900" indent="-342900" eaLnBrk="1" fontAlgn="auto" latinLnBrk="0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/>
              <a:t>Dean, J., &amp; Ghemawat, S. (2008). MapReduce: simplified data processing on large clusters. Communications of the ACM, 51(1), 107-113.</a:t>
            </a:r>
            <a:endParaRPr lang="en-US" altLang="zh-CN" sz="20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42.3241732283464,&quot;left&quot;:45.75,&quot;top&quot;:363.7148031496063,&quot;width&quot;:892.35}"/>
</p:tagLst>
</file>

<file path=ppt/tags/tag2.xml><?xml version="1.0" encoding="utf-8"?>
<p:tagLst xmlns:p="http://schemas.openxmlformats.org/presentationml/2006/main">
  <p:tag name="KSO_WM_DIAGRAM_VIRTUALLY_FRAME" val="{&quot;height&quot;:142.3241732283464,&quot;left&quot;:45.75,&quot;top&quot;:363.7148031496063,&quot;width&quot;:892.35}"/>
</p:tagLst>
</file>

<file path=ppt/tags/tag3.xml><?xml version="1.0" encoding="utf-8"?>
<p:tagLst xmlns:p="http://schemas.openxmlformats.org/presentationml/2006/main">
  <p:tag name="KSO_WM_DIAGRAM_VIRTUALLY_FRAME" val="{&quot;height&quot;:142.3241732283464,&quot;left&quot;:45.75,&quot;top&quot;:363.7148031496063,&quot;width&quot;:892.35}"/>
</p:tagLst>
</file>

<file path=ppt/tags/tag4.xml><?xml version="1.0" encoding="utf-8"?>
<p:tagLst xmlns:p="http://schemas.openxmlformats.org/presentationml/2006/main">
  <p:tag name="KSO_WM_DIAGRAM_VIRTUALLY_FRAME" val="{&quot;height&quot;:142.3241732283464,&quot;left&quot;:45.75,&quot;top&quot;:363.7148031496063,&quot;width&quot;:892.35}"/>
</p:tagLst>
</file>

<file path=ppt/tags/tag5.xml><?xml version="1.0" encoding="utf-8"?>
<p:tagLst xmlns:p="http://schemas.openxmlformats.org/presentationml/2006/main">
  <p:tag name="KSO_WM_DIAGRAM_VIRTUALLY_FRAME" val="{&quot;height&quot;:142.3241732283464,&quot;left&quot;:45.75,&quot;top&quot;:363.7148031496063,&quot;width&quot;:892.35}"/>
</p:tagLst>
</file>

<file path=ppt/tags/tag6.xml><?xml version="1.0" encoding="utf-8"?>
<p:tagLst xmlns:p="http://schemas.openxmlformats.org/presentationml/2006/main">
  <p:tag name="KSO_WM_DIAGRAM_VIRTUALLY_FRAME" val="{&quot;height&quot;:142.3241732283464,&quot;left&quot;:45.75,&quot;top&quot;:363.7148031496063,&quot;width&quot;:892.35}"/>
</p:tagLst>
</file>

<file path=ppt/tags/tag7.xml><?xml version="1.0" encoding="utf-8"?>
<p:tagLst xmlns:p="http://schemas.openxmlformats.org/presentationml/2006/main">
  <p:tag name="KSO_WM_DIAGRAM_VIRTUALLY_FRAME" val="{&quot;height&quot;:142.3241732283464,&quot;left&quot;:45.75,&quot;top&quot;:363.7148031496063,&quot;width&quot;:892.35}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2737</Words>
  <Application>WPS 演示</Application>
  <PresentationFormat/>
  <Paragraphs>148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31" baseType="lpstr">
      <vt:lpstr>Arial</vt:lpstr>
      <vt:lpstr>宋体</vt:lpstr>
      <vt:lpstr>Wingdings</vt:lpstr>
      <vt:lpstr>Arial</vt:lpstr>
      <vt:lpstr>Calibri</vt:lpstr>
      <vt:lpstr>Inter ExtraBold</vt:lpstr>
      <vt:lpstr>Inter</vt:lpstr>
      <vt:lpstr>Inter SemiBold</vt:lpstr>
      <vt:lpstr>Inter Medium</vt:lpstr>
      <vt:lpstr>微软雅黑</vt:lpstr>
      <vt:lpstr>Arial Unicode MS</vt:lpstr>
      <vt:lpstr>Calibri</vt:lpstr>
      <vt:lpstr>Inter</vt:lpstr>
      <vt:lpstr>Inter ExtraBold</vt:lpstr>
      <vt:lpstr>Inter Medium</vt:lpstr>
      <vt:lpstr>Inter SemiBold</vt:lpstr>
      <vt:lpstr>Wingdings</vt:lpstr>
      <vt:lpstr>标准粗黑</vt:lpstr>
      <vt:lpstr>黑体</vt:lpstr>
      <vt:lpstr>字魂馆藏山海经体</vt:lpstr>
      <vt:lpstr>等线</vt:lpstr>
      <vt:lpstr>等线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王云超0110</cp:lastModifiedBy>
  <cp:revision>3</cp:revision>
  <dcterms:created xsi:type="dcterms:W3CDTF">2026-06-13T14:43:00Z</dcterms:created>
  <dcterms:modified xsi:type="dcterms:W3CDTF">2026-06-14T07:26:46Z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7D870EA06F884AD4ADE1F35FCE60CE11_12</vt:lpwstr>
  </property>
</Properties>
</file>