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307" r:id="rId3"/>
    <p:sldId id="309" r:id="rId5"/>
    <p:sldId id="308" r:id="rId6"/>
    <p:sldId id="325" r:id="rId7"/>
    <p:sldId id="326" r:id="rId8"/>
    <p:sldId id="327" r:id="rId9"/>
    <p:sldId id="328" r:id="rId10"/>
    <p:sldId id="334" r:id="rId11"/>
    <p:sldId id="335" r:id="rId12"/>
    <p:sldId id="336" r:id="rId13"/>
    <p:sldId id="337" r:id="rId14"/>
    <p:sldId id="338" r:id="rId15"/>
    <p:sldId id="340" r:id="rId16"/>
    <p:sldId id="341" r:id="rId17"/>
    <p:sldId id="342" r:id="rId18"/>
    <p:sldId id="348" r:id="rId19"/>
    <p:sldId id="349" r:id="rId20"/>
    <p:sldId id="350" r:id="rId21"/>
    <p:sldId id="351" r:id="rId22"/>
    <p:sldId id="352" r:id="rId23"/>
    <p:sldId id="330" r:id="rId24"/>
    <p:sldId id="331" r:id="rId25"/>
    <p:sldId id="333" r:id="rId26"/>
    <p:sldId id="332" r:id="rId27"/>
  </p:sldIdLst>
  <p:sldSz cx="12192000" cy="6858000"/>
  <p:notesSz cx="6858000" cy="9144000"/>
  <p:embeddedFontLst>
    <p:embeddedFont>
      <p:font typeface="汉仪润圆-65简" panose="00020600040101010101" pitchFamily="18" charset="-122"/>
      <p:regular r:id="rId32"/>
    </p:embeddedFont>
    <p:embeddedFont>
      <p:font typeface="微软雅黑" panose="020B0503020204020204" pitchFamily="34" charset="-122"/>
      <p:regular r:id="rId33"/>
    </p:embeddedFont>
    <p:embeddedFont>
      <p:font typeface="黑体" panose="02010609060101010101" charset="-122"/>
      <p:regular r:id="rId34"/>
    </p:embeddedFont>
  </p:embeddedFontLst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37" userDrawn="1">
          <p15:clr>
            <a:srgbClr val="A4A3A4"/>
          </p15:clr>
        </p15:guide>
        <p15:guide id="2" pos="3849" userDrawn="1">
          <p15:clr>
            <a:srgbClr val="A4A3A4"/>
          </p15:clr>
        </p15:guide>
        <p15:guide id="3" pos="416" userDrawn="1">
          <p15:clr>
            <a:srgbClr val="A4A3A4"/>
          </p15:clr>
        </p15:guide>
        <p15:guide id="4" pos="7256" userDrawn="1">
          <p15:clr>
            <a:srgbClr val="A4A3A4"/>
          </p15:clr>
        </p15:guide>
        <p15:guide id="5" orient="horz" pos="618" userDrawn="1">
          <p15:clr>
            <a:srgbClr val="A4A3A4"/>
          </p15:clr>
        </p15:guide>
        <p15:guide id="6" orient="horz" pos="712" userDrawn="1">
          <p15:clr>
            <a:srgbClr val="A4A3A4"/>
          </p15:clr>
        </p15:guide>
        <p15:guide id="7" orient="horz" pos="3929" userDrawn="1">
          <p15:clr>
            <a:srgbClr val="A4A3A4"/>
          </p15:clr>
        </p15:guide>
        <p15:guide id="8" orient="horz" pos="3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18"/>
    <a:srgbClr val="79A55B"/>
    <a:srgbClr val="B4CDA4"/>
    <a:srgbClr val="9DBD87"/>
    <a:srgbClr val="00F5D9"/>
    <a:srgbClr val="095BE2"/>
    <a:srgbClr val="08A2E1"/>
    <a:srgbClr val="41D0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026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66" y="324"/>
      </p:cViewPr>
      <p:guideLst>
        <p:guide orient="horz" pos="2337"/>
        <p:guide pos="3849"/>
        <p:guide pos="416"/>
        <p:guide pos="7256"/>
        <p:guide orient="horz" pos="618"/>
        <p:guide orient="horz" pos="712"/>
        <p:guide orient="horz" pos="3929"/>
        <p:guide orient="horz" pos="388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gs" Target="tags/tag16.xml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润圆-65简" panose="00020600040101010101" pitchFamily="18" charset="-122"/>
              <a:ea typeface="汉仪润圆-65简" panose="00020600040101010101" pitchFamily="18" charset="-122"/>
              <a:cs typeface="汉仪润圆-65简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汉仪润圆-65简" panose="00020600040101010101" pitchFamily="18" charset="-122"/>
              </a:rPr>
            </a:fld>
            <a:endParaRPr lang="zh-CN" altLang="en-US">
              <a:cs typeface="汉仪润圆-65简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润圆-65简" panose="00020600040101010101" pitchFamily="18" charset="-122"/>
              <a:ea typeface="汉仪润圆-65简" panose="00020600040101010101" pitchFamily="18" charset="-122"/>
              <a:cs typeface="汉仪润圆-65简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汉仪润圆-65简" panose="00020600040101010101" pitchFamily="18" charset="-122"/>
              </a:rPr>
            </a:fld>
            <a:endParaRPr lang="zh-CN" altLang="en-US">
              <a:cs typeface="汉仪润圆-65简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润圆-65简" panose="00020600040101010101" pitchFamily="18" charset="-122"/>
                <a:ea typeface="汉仪润圆-65简" panose="00020600040101010101" pitchFamily="18" charset="-122"/>
                <a:cs typeface="汉仪润圆-65简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润圆-65简" panose="00020600040101010101" pitchFamily="18" charset="-122"/>
                <a:ea typeface="汉仪润圆-65简" panose="00020600040101010101" pitchFamily="18" charset="-122"/>
                <a:cs typeface="汉仪润圆-65简" panose="00020600040101010101" pitchFamily="18" charset="-122"/>
              </a:defRPr>
            </a:lvl1pPr>
          </a:lstStyle>
          <a:p>
            <a:fld id="{283CE2B5-C7CF-4FCB-A687-2965513C89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润圆-65简" panose="00020600040101010101" pitchFamily="18" charset="-122"/>
                <a:ea typeface="汉仪润圆-65简" panose="00020600040101010101" pitchFamily="18" charset="-122"/>
                <a:cs typeface="汉仪润圆-65简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润圆-65简" panose="00020600040101010101" pitchFamily="18" charset="-122"/>
                <a:ea typeface="汉仪润圆-65简" panose="00020600040101010101" pitchFamily="18" charset="-122"/>
                <a:cs typeface="汉仪润圆-65简" panose="00020600040101010101" pitchFamily="18" charset="-122"/>
              </a:defRPr>
            </a:lvl1pPr>
          </a:lstStyle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润圆-65简" panose="00020600040101010101" pitchFamily="18" charset="-122"/>
        <a:ea typeface="汉仪润圆-65简" panose="00020600040101010101" pitchFamily="18" charset="-122"/>
        <a:cs typeface="汉仪润圆-65简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润圆-65简" panose="00020600040101010101" pitchFamily="18" charset="-122"/>
        <a:ea typeface="汉仪润圆-65简" panose="00020600040101010101" pitchFamily="18" charset="-122"/>
        <a:cs typeface="汉仪润圆-65简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润圆-65简" panose="00020600040101010101" pitchFamily="18" charset="-122"/>
        <a:ea typeface="汉仪润圆-65简" panose="00020600040101010101" pitchFamily="18" charset="-122"/>
        <a:cs typeface="汉仪润圆-65简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润圆-65简" panose="00020600040101010101" pitchFamily="18" charset="-122"/>
        <a:ea typeface="汉仪润圆-65简" panose="00020600040101010101" pitchFamily="18" charset="-122"/>
        <a:cs typeface="汉仪润圆-65简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润圆-65简" panose="00020600040101010101" pitchFamily="18" charset="-122"/>
        <a:ea typeface="汉仪润圆-65简" panose="00020600040101010101" pitchFamily="18" charset="-122"/>
        <a:cs typeface="汉仪润圆-65简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3" y="3"/>
            <a:ext cx="12191997" cy="6857997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153490" y="2070101"/>
            <a:ext cx="4238409" cy="24892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icture Placeholder 2"/>
          <p:cNvSpPr>
            <a:spLocks noGrp="1"/>
          </p:cNvSpPr>
          <p:nvPr>
            <p:ph type="pic" sz="quarter" idx="36"/>
          </p:nvPr>
        </p:nvSpPr>
        <p:spPr>
          <a:xfrm>
            <a:off x="5906501" y="2056660"/>
            <a:ext cx="1148347" cy="1148048"/>
          </a:xfrm>
          <a:prstGeom prst="ellipse">
            <a:avLst/>
          </a:prstGeo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defRPr>
            </a:lvl1pPr>
          </a:lstStyle>
          <a:p>
            <a:endParaRPr lang="en-US" dirty="0"/>
          </a:p>
        </p:txBody>
      </p:sp>
      <p:sp>
        <p:nvSpPr>
          <p:cNvPr id="87" name="Picture Placeholder 2"/>
          <p:cNvSpPr>
            <a:spLocks noGrp="1"/>
          </p:cNvSpPr>
          <p:nvPr>
            <p:ph type="pic" sz="quarter" idx="37"/>
          </p:nvPr>
        </p:nvSpPr>
        <p:spPr>
          <a:xfrm>
            <a:off x="5904012" y="4180981"/>
            <a:ext cx="1148347" cy="1148048"/>
          </a:xfrm>
          <a:prstGeom prst="ellipse">
            <a:avLst/>
          </a:prstGeo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defRPr>
            </a:lvl1pPr>
          </a:lstStyle>
          <a:p>
            <a:endParaRPr lang="en-US" dirty="0"/>
          </a:p>
        </p:txBody>
      </p:sp>
      <p:sp>
        <p:nvSpPr>
          <p:cNvPr id="64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850285" y="2056660"/>
            <a:ext cx="1148347" cy="1148048"/>
          </a:xfrm>
          <a:prstGeom prst="ellipse">
            <a:avLst/>
          </a:prstGeo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defRPr>
            </a:lvl1pPr>
          </a:lstStyle>
          <a:p>
            <a:endParaRPr lang="en-US" dirty="0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847796" y="4179394"/>
            <a:ext cx="1148347" cy="1148048"/>
          </a:xfrm>
          <a:prstGeom prst="ellipse">
            <a:avLst/>
          </a:prstGeom>
          <a:ln w="19050">
            <a:noFill/>
          </a:ln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7" grpId="0"/>
      <p:bldP spid="64" grpId="0"/>
      <p:bldP spid="26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 dirty="0">
              <a:cs typeface="汉仪润圆-65简" panose="00020600040101010101" pitchFamily="18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2.jpeg"/><Relationship Id="rId7" Type="http://schemas.openxmlformats.org/officeDocument/2006/relationships/image" Target="../media/image1.jpe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汉仪润圆-65简" panose="00020600040101010101" pitchFamily="18" charset="-122"/>
              </a:defRPr>
            </a:lvl1pPr>
          </a:lstStyle>
          <a:p>
            <a:fld id="{B6D21B80-9413-4EE8-A058-97DF2E8B88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汉仪润圆-65简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汉仪润圆-65简" panose="00020600040101010101" pitchFamily="18" charset="-122"/>
              </a:defRPr>
            </a:lvl1pPr>
          </a:lstStyle>
          <a:p>
            <a:fld id="{0C2F1850-6661-42FC-9D6D-89140B9F6166}" type="slidenum">
              <a:rPr lang="zh-CN" altLang="en-US" smtClean="0"/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7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528" b="13467"/>
          <a:stretch>
            <a:fillRect/>
          </a:stretch>
        </p:blipFill>
        <p:spPr>
          <a:xfrm>
            <a:off x="5" y="3"/>
            <a:ext cx="4684183" cy="3709005"/>
          </a:xfrm>
          <a:custGeom>
            <a:avLst/>
            <a:gdLst>
              <a:gd name="connsiteX0" fmla="*/ 0 w 4684183"/>
              <a:gd name="connsiteY0" fmla="*/ 0 h 3709005"/>
              <a:gd name="connsiteX1" fmla="*/ 4684183 w 4684183"/>
              <a:gd name="connsiteY1" fmla="*/ 0 h 3709005"/>
              <a:gd name="connsiteX2" fmla="*/ 4683208 w 4684183"/>
              <a:gd name="connsiteY2" fmla="*/ 592 h 3709005"/>
              <a:gd name="connsiteX3" fmla="*/ 99120 w 4684183"/>
              <a:gd name="connsiteY3" fmla="*/ 3602761 h 3709005"/>
              <a:gd name="connsiteX4" fmla="*/ 0 w 4684183"/>
              <a:gd name="connsiteY4" fmla="*/ 3709005 h 3709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4183" h="3709005">
                <a:moveTo>
                  <a:pt x="0" y="0"/>
                </a:moveTo>
                <a:lnTo>
                  <a:pt x="4684183" y="0"/>
                </a:lnTo>
                <a:lnTo>
                  <a:pt x="4683208" y="592"/>
                </a:lnTo>
                <a:cubicBezTo>
                  <a:pt x="3252874" y="885165"/>
                  <a:pt x="1090596" y="2566879"/>
                  <a:pt x="99120" y="3602761"/>
                </a:cubicBezTo>
                <a:lnTo>
                  <a:pt x="0" y="3709005"/>
                </a:lnTo>
                <a:close/>
              </a:path>
            </a:pathLst>
          </a:cu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8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19"/>
          <a:stretch>
            <a:fillRect/>
          </a:stretch>
        </p:blipFill>
        <p:spPr>
          <a:xfrm>
            <a:off x="8679172" y="4586288"/>
            <a:ext cx="3512829" cy="2271712"/>
          </a:xfrm>
          <a:custGeom>
            <a:avLst/>
            <a:gdLst>
              <a:gd name="connsiteX0" fmla="*/ 1758613 w 3512829"/>
              <a:gd name="connsiteY0" fmla="*/ 0 h 2271712"/>
              <a:gd name="connsiteX1" fmla="*/ 3512829 w 3512829"/>
              <a:gd name="connsiteY1" fmla="*/ 0 h 2271712"/>
              <a:gd name="connsiteX2" fmla="*/ 3512829 w 3512829"/>
              <a:gd name="connsiteY2" fmla="*/ 2271712 h 2271712"/>
              <a:gd name="connsiteX3" fmla="*/ 0 w 3512829"/>
              <a:gd name="connsiteY3" fmla="*/ 2271712 h 2271712"/>
              <a:gd name="connsiteX4" fmla="*/ 75495 w 3512829"/>
              <a:gd name="connsiteY4" fmla="*/ 2197894 h 2271712"/>
              <a:gd name="connsiteX5" fmla="*/ 579129 w 3512829"/>
              <a:gd name="connsiteY5" fmla="*/ 1643062 h 2271712"/>
              <a:gd name="connsiteX6" fmla="*/ 1531629 w 3512829"/>
              <a:gd name="connsiteY6" fmla="*/ 557212 h 2271712"/>
              <a:gd name="connsiteX7" fmla="*/ 1748620 w 3512829"/>
              <a:gd name="connsiteY7" fmla="*/ 43755 h 2271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2829" h="2271712">
                <a:moveTo>
                  <a:pt x="1758613" y="0"/>
                </a:moveTo>
                <a:lnTo>
                  <a:pt x="3512829" y="0"/>
                </a:lnTo>
                <a:lnTo>
                  <a:pt x="3512829" y="2271712"/>
                </a:lnTo>
                <a:lnTo>
                  <a:pt x="0" y="2271712"/>
                </a:lnTo>
                <a:lnTo>
                  <a:pt x="75495" y="2197894"/>
                </a:lnTo>
                <a:cubicBezTo>
                  <a:pt x="248135" y="2018506"/>
                  <a:pt x="410854" y="1812925"/>
                  <a:pt x="579129" y="1643062"/>
                </a:cubicBezTo>
                <a:cubicBezTo>
                  <a:pt x="915679" y="1303337"/>
                  <a:pt x="1331604" y="846137"/>
                  <a:pt x="1531629" y="557212"/>
                </a:cubicBezTo>
                <a:cubicBezTo>
                  <a:pt x="1681648" y="340519"/>
                  <a:pt x="1719152" y="182761"/>
                  <a:pt x="1748620" y="43755"/>
                </a:cubicBezTo>
                <a:close/>
              </a:path>
            </a:pathLst>
          </a:cu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汉仪润圆-65简" panose="00020600040101010101" pitchFamily="18" charset="-122"/>
          <a:ea typeface="汉仪润圆-65简" panose="00020600040101010101" pitchFamily="18" charset="-122"/>
          <a:cs typeface="汉仪润圆-65简" panose="00020600040101010101" pitchFamily="18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汉仪润圆-65简" panose="00020600040101010101" pitchFamily="18" charset="-122"/>
          <a:ea typeface="汉仪润圆-65简" panose="00020600040101010101" pitchFamily="18" charset="-122"/>
          <a:cs typeface="汉仪润圆-65简" panose="00020600040101010101" pitchFamily="18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汉仪润圆-65简" panose="00020600040101010101" pitchFamily="18" charset="-122"/>
          <a:ea typeface="汉仪润圆-65简" panose="00020600040101010101" pitchFamily="18" charset="-122"/>
          <a:cs typeface="汉仪润圆-65简" panose="00020600040101010101" pitchFamily="18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汉仪润圆-65简" panose="00020600040101010101" pitchFamily="18" charset="-122"/>
          <a:ea typeface="汉仪润圆-65简" panose="00020600040101010101" pitchFamily="18" charset="-122"/>
          <a:cs typeface="汉仪润圆-65简" panose="00020600040101010101" pitchFamily="18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汉仪润圆-65简" panose="00020600040101010101" pitchFamily="18" charset="-122"/>
          <a:ea typeface="汉仪润圆-65简" panose="00020600040101010101" pitchFamily="18" charset="-122"/>
          <a:cs typeface="汉仪润圆-65简" panose="00020600040101010101" pitchFamily="18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汉仪润圆-65简" panose="00020600040101010101" pitchFamily="18" charset="-122"/>
          <a:ea typeface="汉仪润圆-65简" panose="00020600040101010101" pitchFamily="18" charset="-122"/>
          <a:cs typeface="汉仪润圆-65简" panose="00020600040101010101" pitchFamily="18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占位符 2"/>
          <p:cNvPicPr>
            <a:picLocks noGrp="1" noChangeAspect="1"/>
          </p:cNvPicPr>
          <p:nvPr>
            <p:ph type="pic" sz="quarter" idx="10"/>
          </p:nvPr>
        </p:nvPicPr>
        <p:blipFill>
          <a:blip r:embed="rId1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3" y="15243"/>
            <a:ext cx="12191997" cy="6857997"/>
          </a:xfrm>
        </p:spPr>
      </p:pic>
      <p:pic>
        <p:nvPicPr>
          <p:cNvPr id="15" name="图片占位符 2"/>
          <p:cNvPicPr>
            <a:picLocks noChangeAspect="1"/>
          </p:cNvPicPr>
          <p:nvPr/>
        </p:nvPicPr>
        <p:blipFill>
          <a:blip r:embed="rId1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09257" y="1861458"/>
            <a:ext cx="8882743" cy="4996542"/>
          </a:xfrm>
          <a:prstGeom prst="rect">
            <a:avLst/>
          </a:prstGeom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2220686" y="1306286"/>
            <a:ext cx="5167085" cy="2547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501913" y="3007125"/>
            <a:ext cx="9238658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60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sz="44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字符串模式匹配：</a:t>
            </a:r>
            <a:r>
              <a:rPr lang="en-US" altLang="zh-CN" sz="44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Sunday </a:t>
            </a:r>
            <a:r>
              <a:rPr lang="zh-CN" altLang="en-US" sz="44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</a:t>
            </a:r>
            <a:endParaRPr lang="zh-CN" altLang="en-US" sz="4400" b="1" spc="300" dirty="0">
              <a:solidFill>
                <a:schemeClr val="tx1">
                  <a:lumMod val="75000"/>
                  <a:lumOff val="25000"/>
                </a:schemeClr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75946" y="1447278"/>
            <a:ext cx="44401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b="1" spc="300" dirty="0" smtClean="0">
                <a:solidFill>
                  <a:srgbClr val="79A55B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REPORT</a:t>
            </a:r>
            <a:endParaRPr lang="en-US" altLang="zh-CN" sz="5400" b="1" spc="300" dirty="0">
              <a:solidFill>
                <a:srgbClr val="79A55B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513445" y="4834890"/>
            <a:ext cx="1508760" cy="342900"/>
          </a:xfrm>
          <a:prstGeom prst="rect">
            <a:avLst/>
          </a:prstGeom>
        </p:spPr>
        <p:txBody>
          <a:bodyPr wrap="square" lIns="36000" rIns="36000">
            <a:noAutofit/>
          </a:bodyPr>
          <a:lstStyle/>
          <a:p>
            <a:pPr algn="ctr"/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2026.3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8819646" y="3669310"/>
            <a:ext cx="2154668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8565">
              <a:defRPr/>
            </a:pPr>
            <a:r>
              <a:rPr lang="en-US" altLang="zh-CN" sz="1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REPORT</a:t>
            </a:r>
            <a:endParaRPr lang="en-US" altLang="zh-CN" sz="1400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084562" y="2099650"/>
            <a:ext cx="36248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9600" b="1" dirty="0" smtClean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目录</a:t>
            </a:r>
            <a:endParaRPr lang="zh-CN" altLang="en-US" sz="96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7894320" y="1333500"/>
            <a:ext cx="0" cy="4191000"/>
          </a:xfrm>
          <a:prstGeom prst="line">
            <a:avLst/>
          </a:prstGeom>
          <a:ln>
            <a:solidFill>
              <a:srgbClr val="B4CD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>
            <p:custDataLst>
              <p:tags r:id="rId1"/>
            </p:custDataLst>
          </p:nvPr>
        </p:nvSpPr>
        <p:spPr>
          <a:xfrm>
            <a:off x="2042795" y="1333500"/>
            <a:ext cx="219710" cy="219710"/>
          </a:xfrm>
          <a:prstGeom prst="ellipse">
            <a:avLst/>
          </a:prstGeom>
          <a:solidFill>
            <a:srgbClr val="79A5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rgbClr val="FFFFFF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12" name="Text Placeholder 33"/>
          <p:cNvSpPr txBox="1"/>
          <p:nvPr>
            <p:custDataLst>
              <p:tags r:id="rId2"/>
            </p:custDataLst>
          </p:nvPr>
        </p:nvSpPr>
        <p:spPr>
          <a:xfrm>
            <a:off x="2392045" y="1248410"/>
            <a:ext cx="4497070" cy="903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问题背景</a:t>
            </a:r>
            <a:endParaRPr lang="zh-CN" altLang="en-US" sz="2400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  <a:p>
            <a:endParaRPr lang="zh-CN" altLang="en-US" sz="2400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32" name="椭圆 31"/>
          <p:cNvSpPr/>
          <p:nvPr>
            <p:custDataLst>
              <p:tags r:id="rId3"/>
            </p:custDataLst>
          </p:nvPr>
        </p:nvSpPr>
        <p:spPr>
          <a:xfrm>
            <a:off x="2042795" y="2040255"/>
            <a:ext cx="219710" cy="219710"/>
          </a:xfrm>
          <a:prstGeom prst="ellipse">
            <a:avLst/>
          </a:prstGeom>
          <a:solidFill>
            <a:srgbClr val="79A5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rgbClr val="FFFFFF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36" name="Text Placeholder 33"/>
          <p:cNvSpPr txBox="1"/>
          <p:nvPr>
            <p:custDataLst>
              <p:tags r:id="rId4"/>
            </p:custDataLst>
          </p:nvPr>
        </p:nvSpPr>
        <p:spPr>
          <a:xfrm>
            <a:off x="2392045" y="1955165"/>
            <a:ext cx="3766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Sunday </a:t>
            </a:r>
            <a:r>
              <a:rPr lang="zh-CN" altLang="en-US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算法核心思想</a:t>
            </a:r>
            <a:endParaRPr lang="zh-CN" altLang="en-US" sz="2400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39" name="椭圆 38"/>
          <p:cNvSpPr/>
          <p:nvPr>
            <p:custDataLst>
              <p:tags r:id="rId5"/>
            </p:custDataLst>
          </p:nvPr>
        </p:nvSpPr>
        <p:spPr>
          <a:xfrm>
            <a:off x="2042795" y="2702560"/>
            <a:ext cx="219710" cy="219710"/>
          </a:xfrm>
          <a:prstGeom prst="ellipse">
            <a:avLst/>
          </a:prstGeom>
          <a:solidFill>
            <a:srgbClr val="B4CD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rgbClr val="FFFFFF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40" name="Text Placeholder 33"/>
          <p:cNvSpPr txBox="1"/>
          <p:nvPr>
            <p:custDataLst>
              <p:tags r:id="rId6"/>
            </p:custDataLst>
          </p:nvPr>
        </p:nvSpPr>
        <p:spPr>
          <a:xfrm>
            <a:off x="2392045" y="2581275"/>
            <a:ext cx="44964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偏移表</a:t>
            </a:r>
            <a:r>
              <a:rPr lang="en-US" altLang="zh-CN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 </a:t>
            </a:r>
            <a:r>
              <a:rPr lang="zh-CN" altLang="en-US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规则详解</a:t>
            </a:r>
            <a:endParaRPr lang="zh-CN" altLang="en-US" sz="2400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41" name="椭圆 40"/>
          <p:cNvSpPr/>
          <p:nvPr>
            <p:custDataLst>
              <p:tags r:id="rId7"/>
            </p:custDataLst>
          </p:nvPr>
        </p:nvSpPr>
        <p:spPr>
          <a:xfrm>
            <a:off x="2042795" y="3373120"/>
            <a:ext cx="219710" cy="219710"/>
          </a:xfrm>
          <a:prstGeom prst="ellipse">
            <a:avLst/>
          </a:prstGeom>
          <a:solidFill>
            <a:srgbClr val="79A5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rgbClr val="FFFFFF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42" name="Text Placeholder 33"/>
          <p:cNvSpPr txBox="1"/>
          <p:nvPr>
            <p:custDataLst>
              <p:tags r:id="rId8"/>
            </p:custDataLst>
          </p:nvPr>
        </p:nvSpPr>
        <p:spPr>
          <a:xfrm>
            <a:off x="2392045" y="3288030"/>
            <a:ext cx="3766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算法执行实例演示</a:t>
            </a:r>
            <a:endParaRPr lang="zh-CN" altLang="en-US" sz="2400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44" name="椭圆 43"/>
          <p:cNvSpPr/>
          <p:nvPr>
            <p:custDataLst>
              <p:tags r:id="rId9"/>
            </p:custDataLst>
          </p:nvPr>
        </p:nvSpPr>
        <p:spPr>
          <a:xfrm>
            <a:off x="2042795" y="4035425"/>
            <a:ext cx="219710" cy="219710"/>
          </a:xfrm>
          <a:prstGeom prst="ellipse">
            <a:avLst/>
          </a:prstGeom>
          <a:solidFill>
            <a:srgbClr val="B4CD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rgbClr val="FFFFFF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45" name="Text Placeholder 33"/>
          <p:cNvSpPr txBox="1"/>
          <p:nvPr>
            <p:custDataLst>
              <p:tags r:id="rId10"/>
            </p:custDataLst>
          </p:nvPr>
        </p:nvSpPr>
        <p:spPr>
          <a:xfrm>
            <a:off x="2392045" y="3914140"/>
            <a:ext cx="38220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代码实现与数据结构</a:t>
            </a:r>
            <a:endParaRPr lang="zh-CN" altLang="en-US" sz="2400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46" name="椭圆 45"/>
          <p:cNvSpPr/>
          <p:nvPr>
            <p:custDataLst>
              <p:tags r:id="rId11"/>
            </p:custDataLst>
          </p:nvPr>
        </p:nvSpPr>
        <p:spPr>
          <a:xfrm>
            <a:off x="2042795" y="4705985"/>
            <a:ext cx="219710" cy="219710"/>
          </a:xfrm>
          <a:prstGeom prst="ellipse">
            <a:avLst/>
          </a:prstGeom>
          <a:solidFill>
            <a:srgbClr val="79A5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rgbClr val="FFFFFF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47" name="Text Placeholder 33"/>
          <p:cNvSpPr txBox="1"/>
          <p:nvPr>
            <p:custDataLst>
              <p:tags r:id="rId12"/>
            </p:custDataLst>
          </p:nvPr>
        </p:nvSpPr>
        <p:spPr>
          <a:xfrm>
            <a:off x="2392045" y="4620895"/>
            <a:ext cx="3766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复杂度分析与算法对比</a:t>
            </a:r>
            <a:endParaRPr lang="zh-CN" altLang="en-US" sz="2400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50" name="椭圆 49"/>
          <p:cNvSpPr/>
          <p:nvPr>
            <p:custDataLst>
              <p:tags r:id="rId13"/>
            </p:custDataLst>
          </p:nvPr>
        </p:nvSpPr>
        <p:spPr>
          <a:xfrm>
            <a:off x="2042795" y="5368290"/>
            <a:ext cx="219710" cy="219710"/>
          </a:xfrm>
          <a:prstGeom prst="ellipse">
            <a:avLst/>
          </a:prstGeom>
          <a:solidFill>
            <a:srgbClr val="B4CD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rgbClr val="FFFFFF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sp>
        <p:nvSpPr>
          <p:cNvPr id="54" name="Text Placeholder 33"/>
          <p:cNvSpPr txBox="1"/>
          <p:nvPr>
            <p:custDataLst>
              <p:tags r:id="rId14"/>
            </p:custDataLst>
          </p:nvPr>
        </p:nvSpPr>
        <p:spPr>
          <a:xfrm>
            <a:off x="2392045" y="5247005"/>
            <a:ext cx="3766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总结与参考文献</a:t>
            </a:r>
            <a:endParaRPr lang="zh-CN" altLang="en-US" sz="2400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780" y="698500"/>
            <a:ext cx="394716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2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问题背景</a:t>
            </a:r>
            <a:endParaRPr lang="zh-CN" altLang="en-US" sz="3200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  <a:p>
            <a:pPr defTabSz="1218565">
              <a:lnSpc>
                <a:spcPct val="100000"/>
              </a:lnSpc>
              <a:defRPr/>
            </a:pPr>
            <a:endParaRPr lang="zh-CN" altLang="en-US" sz="32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/>
          <p:cNvSpPr txBox="1"/>
          <p:nvPr/>
        </p:nvSpPr>
        <p:spPr>
          <a:xfrm>
            <a:off x="699135" y="186467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字符串模式匹配是计算机科学中最古老也是最核心的算法命题之一。它的根本诉求是在海量的数据流中，快速且精准地定位特定信息的坐标。</a:t>
            </a:r>
            <a:endParaRPr lang="zh-CN" altLang="en-US" sz="1600" b="0" i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/>
          <p:nvPr/>
        </p:nvPicPr>
        <p:blipFill>
          <a:blip r:embed="rId1"/>
          <a:stretch>
            <a:fillRect/>
          </a:stretch>
        </p:blipFill>
        <p:spPr>
          <a:xfrm>
            <a:off x="859790" y="3129598"/>
            <a:ext cx="4857750" cy="35242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99135" y="39665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主串 </a:t>
            </a:r>
            <a:r>
              <a:rPr lang="en-US" altLang="zh-CN" sz="1600" b="1" i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z="1600" b="0" i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：长度为 </a:t>
            </a:r>
            <a:r>
              <a:rPr lang="en-US" altLang="zh-CN" sz="1600" b="1" i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z="1600" b="0" i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0" i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的目标搜索长文本或数据流。</a:t>
            </a:r>
            <a:endParaRPr lang="zh-CN" altLang="en-US" sz="1600" b="0" i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99135" y="455009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模式串 </a:t>
            </a:r>
            <a:r>
              <a:rPr lang="en-US" altLang="zh-CN" sz="1600" b="1" i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zh-CN" altLang="en-US" sz="1600" b="0" i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：长度为 </a:t>
            </a:r>
            <a:r>
              <a:rPr lang="en-US" altLang="zh-CN" sz="1600" b="1" i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en-US" altLang="zh-CN" sz="1600" b="0" i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0" i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的待查找关键字或特征码。</a:t>
            </a:r>
            <a:endParaRPr lang="zh-CN" altLang="en-US" sz="1600" b="0" i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99135" y="5174932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朴素算法完全丢弃了前面已经比对过的信息，导致大量重复且无效的匹配。</a:t>
            </a:r>
            <a:endParaRPr lang="zh-CN" altLang="en-US" sz="1600" b="0" i="0">
              <a:solidFill>
                <a:srgbClr val="94A3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性能低效：最坏时间复杂度高达</a:t>
            </a:r>
            <a:r>
              <a:rPr lang="en-US" altLang="zh-CN" sz="1600" b="0" i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O(n </a:t>
            </a:r>
            <a:r>
              <a:rPr lang="en-US" altLang="en-US" sz="1600" b="0" i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×</a:t>
            </a:r>
            <a:r>
              <a:rPr lang="en-US" altLang="zh-CN" sz="1600" b="0" i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m)</a:t>
            </a:r>
            <a:r>
              <a:rPr lang="zh-CN" altLang="en-US" sz="1600" b="0" i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。面对庞大的主串数据，极其容易造成性能瓶颈。</a:t>
            </a:r>
            <a:endParaRPr lang="zh-CN" altLang="en-US" sz="1600" b="0" i="0">
              <a:solidFill>
                <a:srgbClr val="94A3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由此催生了 </a:t>
            </a:r>
            <a:r>
              <a:rPr lang="en-US" altLang="zh-CN" sz="1600" b="0" i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Sunday </a:t>
            </a:r>
            <a:r>
              <a:rPr lang="zh-CN" altLang="en-US" sz="1600" b="0" i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算法的高效跳跃机制。</a:t>
            </a:r>
            <a:endParaRPr lang="zh-CN" altLang="en-US" sz="1600" b="0" i="0">
              <a:solidFill>
                <a:srgbClr val="94A3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3" name="图片 22"/>
          <p:cNvPicPr/>
          <p:nvPr/>
        </p:nvPicPr>
        <p:blipFill>
          <a:blip r:embed="rId2"/>
          <a:stretch>
            <a:fillRect/>
          </a:stretch>
        </p:blipFill>
        <p:spPr>
          <a:xfrm>
            <a:off x="6549708" y="2052955"/>
            <a:ext cx="4543425" cy="4000500"/>
          </a:xfrm>
          <a:prstGeom prst="rect">
            <a:avLst/>
          </a:prstGeom>
        </p:spPr>
      </p:pic>
      <p:sp>
        <p:nvSpPr>
          <p:cNvPr id="24" name="圆角矩形 23"/>
          <p:cNvSpPr/>
          <p:nvPr/>
        </p:nvSpPr>
        <p:spPr>
          <a:xfrm>
            <a:off x="701040" y="2957195"/>
            <a:ext cx="5078095" cy="682625"/>
          </a:xfrm>
          <a:prstGeom prst="round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036060" y="698500"/>
            <a:ext cx="428371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en-US" altLang="zh-CN" sz="3200" b="1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Sunday</a:t>
            </a:r>
            <a:r>
              <a:rPr lang="zh-CN" altLang="en-US" sz="3200" b="1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算法核心思想</a:t>
            </a:r>
            <a:endParaRPr lang="zh-CN" altLang="en-US" sz="32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圆角矩形 1"/>
          <p:cNvSpPr/>
          <p:nvPr/>
        </p:nvSpPr>
        <p:spPr>
          <a:xfrm>
            <a:off x="1214120" y="1687830"/>
            <a:ext cx="3891915" cy="447421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16075" y="1940560"/>
            <a:ext cx="3234055" cy="4076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朴素算法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endParaRPr lang="en-US" altLang="zh-CN" sz="3200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zh-CN" altLang="en-US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×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盲目回溯：失配时丢弃已比对信息，主串指针只能极其机械地向后挪动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1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位。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/>
            <a:endParaRPr lang="zh-CN" altLang="en-US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zh-CN" altLang="en-US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×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无跳跃能力：犹如蜗牛爬行，面对海量无用字符无法大跨步略过。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/>
            <a:endParaRPr lang="zh-CN" altLang="en-US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zh-CN" altLang="en-US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×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高试错成本：导致算法时间复杂度居高不下。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/>
            <a:endParaRPr lang="zh-CN" altLang="en-US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zh-CN" altLang="en-US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最坏时间复杂度：</a:t>
            </a:r>
            <a:r>
              <a:rPr lang="en-US" altLang="zh-CN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O(n </a:t>
            </a:r>
            <a:r>
              <a:rPr lang="en-US" altLang="en-US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×</a:t>
            </a:r>
            <a:r>
              <a:rPr lang="en-US" altLang="zh-CN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m)</a:t>
            </a:r>
            <a:endParaRPr lang="en-US" altLang="zh-CN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en-US" altLang="zh-CN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206490" y="1687830"/>
            <a:ext cx="4057015" cy="447484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690360" y="2065020"/>
            <a:ext cx="3021330" cy="38461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Sunday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</a:t>
            </a:r>
            <a:endParaRPr lang="zh-CN" altLang="en-US" sz="28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b="1">
                <a:solidFill>
                  <a:srgbClr val="00B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√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预测未来：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当前窗口失败时，不再纠结过去，直接锁定主串中</a:t>
            </a:r>
            <a:r>
              <a:rPr lang="zh-CN" altLang="en-US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紧跟在窗口后的下一个未知字符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b="1">
                <a:solidFill>
                  <a:srgbClr val="00B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√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破局跳跃：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通过考察预测字符，算法获得了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安全且大跨步跳跃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跳跃能力。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b="1">
                <a:solidFill>
                  <a:srgbClr val="00B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√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降维打击：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极大减少比对次数，在工程文本检索中速度极快。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3952875" y="698500"/>
            <a:ext cx="46304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2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偏移表</a:t>
            </a:r>
            <a:r>
              <a:rPr lang="en-US" altLang="zh-CN" sz="32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 </a:t>
            </a:r>
            <a:r>
              <a:rPr lang="zh-CN" altLang="en-US" sz="32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规则详解</a:t>
            </a:r>
            <a:endParaRPr lang="zh-CN" altLang="en-US" sz="32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1834515" y="1383665"/>
            <a:ext cx="73088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量化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探测器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观察位字符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依据向后看理念，当发生失配时，我们将主串中紧挨着当前窗口右侧的那一个未知字符记为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391285" y="1282065"/>
            <a:ext cx="9737090" cy="1264285"/>
          </a:xfrm>
          <a:prstGeom prst="round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317990" y="158369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00B050"/>
                </a:solidFill>
              </a:rPr>
              <a:t>C=s[i+m]</a:t>
            </a:r>
            <a:endParaRPr lang="en-US" altLang="zh-CN" sz="2800">
              <a:solidFill>
                <a:srgbClr val="00B05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86840" y="3429000"/>
            <a:ext cx="4022090" cy="2287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规则</a:t>
            </a:r>
            <a:r>
              <a:rPr lang="en-US" altLang="zh-CN" sz="20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1</a:t>
            </a:r>
            <a:r>
              <a:rPr lang="zh-CN" altLang="en-US" sz="20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：字符</a:t>
            </a:r>
            <a:r>
              <a:rPr lang="en-US" altLang="zh-CN" sz="20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 </a:t>
            </a:r>
            <a:r>
              <a:rPr lang="zh-CN" altLang="en-US" sz="20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不在模式串中</a:t>
            </a:r>
            <a:endParaRPr lang="zh-CN" altLang="en-US" sz="20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 sz="20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32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Shift(c) = m + 1</a:t>
            </a:r>
            <a:endParaRPr lang="en-US" altLang="zh-CN" sz="32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 sz="32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模式串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中根本不存在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，任何包含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的窗口都注定失败。模式串整体越过该字符，实现最大化跳跃。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173480" y="3207385"/>
            <a:ext cx="4359275" cy="2832100"/>
          </a:xfrm>
          <a:prstGeom prst="roundRect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435735" y="4036695"/>
            <a:ext cx="3645535" cy="632460"/>
          </a:xfrm>
          <a:prstGeom prst="round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461125" y="3429000"/>
            <a:ext cx="4022090" cy="2610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规则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2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：字符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 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在模式串中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 sz="2400">
              <a:solidFill>
                <a:schemeClr val="accent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2400">
                <a:solidFill>
                  <a:schemeClr val="accent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Shift(c) = m - P.lastIndexOf(c)</a:t>
            </a:r>
            <a:endParaRPr lang="en-US" altLang="zh-CN" sz="2400">
              <a:solidFill>
                <a:schemeClr val="accent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为防止步子太大漏掉正确解，必须将模式串中</a:t>
            </a:r>
            <a:r>
              <a:rPr lang="zh-CN" altLang="en-US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最靠右侧的字符</a:t>
            </a:r>
            <a:r>
              <a:rPr lang="en-US" altLang="zh-CN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 </a:t>
            </a:r>
            <a:r>
              <a:rPr lang="zh-CN" altLang="en-US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与主串中的</a:t>
            </a:r>
            <a:r>
              <a:rPr lang="en-US" altLang="zh-CN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 </a:t>
            </a:r>
            <a:r>
              <a:rPr lang="zh-CN" altLang="en-US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对齐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。如同磁吸般精准定位。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247765" y="3207385"/>
            <a:ext cx="4359275" cy="2832100"/>
          </a:xfrm>
          <a:prstGeom prst="roundRect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510020" y="4036695"/>
            <a:ext cx="3620135" cy="1058545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698644"/>
            <a:ext cx="3758689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595" b="1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正确性</a:t>
            </a:r>
            <a:r>
              <a:rPr lang="zh-CN" altLang="en-US" sz="3595" b="1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证明</a:t>
            </a:r>
            <a:endParaRPr lang="zh-CN" altLang="en-US" sz="3595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1523365" y="1466215"/>
            <a:ext cx="9145270" cy="813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证明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Sunday 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算法正确性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的核心，在于证明其跳跃绝对不会漏掉任何一个潜在的正确匹配。我们可以通过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反证法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（安全性推演）来验证：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01470" y="2279650"/>
            <a:ext cx="897318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针对规则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1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如果字符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 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不在模式串中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假定推演：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假设我们跳跃的步长小于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m + 1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（即没有完全跨过字符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）。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反证：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那么移动后的新窗口内，必定依然包含着这个字符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。既然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 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根本不存在于模式串中，这个新窗口必定再次匹配失败！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600">
                <a:solidFill>
                  <a:schemeClr val="accent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√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结论：直接跨过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（步长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m+1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）是寻找下一个可能匹配的最小安全距离。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189990" y="2212975"/>
            <a:ext cx="9810750" cy="1987550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01470" y="4446905"/>
            <a:ext cx="897318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针对规则</a:t>
            </a:r>
            <a:r>
              <a:rPr lang="en-US" altLang="zh-CN"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2</a:t>
            </a:r>
            <a:r>
              <a:rPr lang="zh-CN" altLang="en-US"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如果字符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 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存在于模式串</a:t>
            </a:r>
            <a:endParaRPr lang="en-US" altLang="zh-CN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假定推演：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假设我们跳跃的步长小于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 - lastIndexOf(c)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（即没有让最右侧的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 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对齐）。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反证：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这意味着我们会将主串中的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，与模式串中右侧的某个位置强行对齐。但根据定义，其右侧已经没有字符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 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了，比对必定失败！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600">
                <a:solidFill>
                  <a:schemeClr val="accent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√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结论：将最右侧的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 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吸附对齐，是防止漏解的唯一安全做法。</a:t>
            </a:r>
            <a:endParaRPr lang="en-US" altLang="zh-CN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189990" y="4380230"/>
            <a:ext cx="9810750" cy="1987550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698644"/>
            <a:ext cx="375868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2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算法执行实例演示</a:t>
            </a:r>
            <a:endParaRPr lang="zh-CN" altLang="en-US" sz="32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2141855" y="1408430"/>
            <a:ext cx="68795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S: B B C B B C B B D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模式串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P: B B D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1855" y="2574290"/>
            <a:ext cx="7282180" cy="175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偏移表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(Shift Table)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预处理：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B:2 D:1(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更新最右位置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未出现的字符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H, R, S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默认偏移量：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 + 1 = 4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90131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54203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12432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C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76504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34733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98805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57034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21106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785177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D</a:t>
            </a:r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2901315" y="498475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542030" y="498475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4124325" y="498475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D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698644"/>
            <a:ext cx="375868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2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算法执行实例演示</a:t>
            </a:r>
            <a:endParaRPr lang="zh-CN" altLang="en-US" sz="32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2141855" y="1408430"/>
            <a:ext cx="68795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S: B B C B B C B B D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模式串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P: B B D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1855" y="2574290"/>
            <a:ext cx="7282180" cy="175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偏移表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(Shift Table)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预处理：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B:2 D:1(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更新最右位置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未出现的字符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H, R, S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默认偏移量：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 + 1 = 4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901315" y="442976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54203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12432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C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76504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34733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98805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57034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21106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785177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D</a:t>
            </a:r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2901315" y="498475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542030" y="498475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4124325" y="498475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D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698644"/>
            <a:ext cx="375868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2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算法执行实例演示</a:t>
            </a:r>
            <a:endParaRPr lang="zh-CN" altLang="en-US" sz="32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2141855" y="1408430"/>
            <a:ext cx="68795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S: B B C B B C B B D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模式串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P: B B D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1855" y="2574290"/>
            <a:ext cx="7282180" cy="175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偏移表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(Shift Table)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预处理：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B:2 D:1(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更新最右位置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未出现的字符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H, R, S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默认偏移量：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 + 1 = 4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901315" y="442976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542030" y="442976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12432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C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76504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34733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98805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57034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21106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785177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D</a:t>
            </a:r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2901315" y="498475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542030" y="498475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4124325" y="498475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D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698644"/>
            <a:ext cx="375868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2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算法执行实例演示</a:t>
            </a:r>
            <a:endParaRPr lang="zh-CN" altLang="en-US" sz="32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2141855" y="1408430"/>
            <a:ext cx="68795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S: B B C B B C B B D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模式串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P: B B D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1855" y="2574290"/>
            <a:ext cx="7282180" cy="175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偏移表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(Shift Table)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预处理：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B:2 D:1(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更新最右位置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未出现的字符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H, R, S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默认偏移量：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 + 1 = 4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901315" y="442976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542030" y="442976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124325" y="4429760"/>
            <a:ext cx="468630" cy="45910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C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76504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34733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98805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57034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21106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785177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D</a:t>
            </a:r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2901315" y="498475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542030" y="498475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4124325" y="4984750"/>
            <a:ext cx="468630" cy="45910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D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698644"/>
            <a:ext cx="375868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2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算法执行实例演示</a:t>
            </a:r>
            <a:endParaRPr lang="zh-CN" altLang="en-US" sz="32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2141855" y="1408430"/>
            <a:ext cx="68795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S: B B C B B C B B D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模式串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P: B B D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1855" y="2574290"/>
            <a:ext cx="7282180" cy="175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偏移表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(Shift Table)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预处理：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B:2 D:1(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更新最右位置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未出现的字符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H, R, S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默认偏移量：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 + 1 = 4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901315" y="442976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542030" y="442976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124325" y="4429760"/>
            <a:ext cx="468630" cy="45910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C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765040" y="4429760"/>
            <a:ext cx="468630" cy="45910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34733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98805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57034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21106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785177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D</a:t>
            </a:r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2901315" y="498475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542030" y="4984750"/>
            <a:ext cx="468630" cy="45910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4124325" y="4984750"/>
            <a:ext cx="468630" cy="45910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D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698644"/>
            <a:ext cx="375868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2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算法执行实例演示</a:t>
            </a:r>
            <a:endParaRPr lang="zh-CN" altLang="en-US" sz="32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2141855" y="1408430"/>
            <a:ext cx="68795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S: B B C B B C B B D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模式串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P: B B D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1855" y="2574290"/>
            <a:ext cx="7282180" cy="175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偏移表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(Shift Table)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预处理：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B:2 D:1(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更新最右位置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未出现的字符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H, R, S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默认偏移量：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 + 1 = 4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90131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54203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12432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C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765040" y="4429760"/>
            <a:ext cx="468630" cy="45910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34733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98805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57034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21106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785177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D</a:t>
            </a:r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4124325" y="498475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765040" y="4984750"/>
            <a:ext cx="468630" cy="45910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347335" y="498475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D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698644"/>
            <a:ext cx="375868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2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算法执行实例演示</a:t>
            </a:r>
            <a:endParaRPr lang="zh-CN" altLang="en-US" sz="32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2141855" y="1408430"/>
            <a:ext cx="68795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S: B B C B B C B B D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模式串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P: B B D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1855" y="2574290"/>
            <a:ext cx="7282180" cy="175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偏移表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(Shift Table)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预处理：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B:2 D:1(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更新最右位置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未出现的字符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H, R, S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默认偏移量：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 + 1 = 4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90131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54203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12432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C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76504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34733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98805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57034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21106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785177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D</a:t>
            </a:r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4124325" y="498475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765040" y="498475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347335" y="498475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D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698644"/>
            <a:ext cx="375868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2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算法执行实例演示</a:t>
            </a:r>
            <a:endParaRPr lang="zh-CN" altLang="en-US" sz="32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2141855" y="1408430"/>
            <a:ext cx="68795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S: B B C B B C B B D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模式串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P: B B D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1855" y="2574290"/>
            <a:ext cx="7282180" cy="175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偏移表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(Shift Table)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预处理：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B:2 D:1(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更新最右位置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未出现的字符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H, R, S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默认偏移量：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 + 1 = 4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90131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54203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124325" y="4429760"/>
            <a:ext cx="468630" cy="45910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C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76504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34733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98805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57034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21106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785177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D</a:t>
            </a:r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4124325" y="4984750"/>
            <a:ext cx="468630" cy="45910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765040" y="498475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347335" y="498475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D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698644"/>
            <a:ext cx="375868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2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算法执行实例演示</a:t>
            </a:r>
            <a:endParaRPr lang="zh-CN" altLang="en-US" sz="32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2141855" y="1408430"/>
            <a:ext cx="68795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S: B B C B B C B B D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模式串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P: B B D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1855" y="2574290"/>
            <a:ext cx="7282180" cy="175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偏移表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(Shift Table)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预处理：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B:2 D:1(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更新最右位置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未出现的字符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H, R, S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默认偏移量：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 + 1 = 4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90131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54203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124325" y="4429760"/>
            <a:ext cx="468630" cy="45910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C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76504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34733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988050" y="4429760"/>
            <a:ext cx="468630" cy="45910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57034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21106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785177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D</a:t>
            </a:r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4124325" y="4984750"/>
            <a:ext cx="468630" cy="45910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765040" y="498475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347335" y="498475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D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698644"/>
            <a:ext cx="375868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2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算法执行实例演示</a:t>
            </a:r>
            <a:endParaRPr lang="zh-CN" altLang="en-US" sz="32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2141855" y="1408430"/>
            <a:ext cx="68795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S: B B C B B C B B D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模式串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P: B B D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1855" y="2574290"/>
            <a:ext cx="7282180" cy="175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偏移表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(Shift Table)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预处理：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B:2 D:1(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更新最右位置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未出现的字符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H, R, S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默认偏移量：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 + 1 = 4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90131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54203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12432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C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76504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34733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98805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57034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21106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785177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D</a:t>
            </a:r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4124325" y="498475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765040" y="498475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347335" y="498475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D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698644"/>
            <a:ext cx="375868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2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算法执行实例演示</a:t>
            </a:r>
            <a:endParaRPr lang="zh-CN" altLang="en-US" sz="32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2141855" y="1408430"/>
            <a:ext cx="68795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S: B B C B B C B B D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模式串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P: B B D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1855" y="2574290"/>
            <a:ext cx="7282180" cy="175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偏移表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(Shift Table)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预处理：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B:2 D:1(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更新最右位置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未出现的字符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H, R, S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默认偏移量：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 + 1 = 4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90131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54203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12432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C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76504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34733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98805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57034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21106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785177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D</a:t>
            </a:r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6576060" y="5066665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7216775" y="5066665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799070" y="5066665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D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698644"/>
            <a:ext cx="375868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2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算法执行实例演示</a:t>
            </a:r>
            <a:endParaRPr lang="zh-CN" altLang="en-US" sz="32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2141855" y="1408430"/>
            <a:ext cx="68795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S: B B C B B C B B D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模式串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P: B B D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1855" y="2574290"/>
            <a:ext cx="7282180" cy="175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偏移表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(Shift Table)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预处理：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B:2 D:1(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更新最右位置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未出现的字符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H, R, S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默认偏移量：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 + 1 = 4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90131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54203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12432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C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76504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34733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98805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570345" y="442976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21106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785177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D</a:t>
            </a:r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6576060" y="5066665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7216775" y="5066665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799070" y="5066665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D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698644"/>
            <a:ext cx="375868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2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算法执行实例演示</a:t>
            </a:r>
            <a:endParaRPr lang="zh-CN" altLang="en-US" sz="32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2141855" y="1408430"/>
            <a:ext cx="68795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S: B B C B B C B B D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模式串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P: B B D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1855" y="2574290"/>
            <a:ext cx="7282180" cy="175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偏移表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(Shift Table)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预处理：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B:2 D:1(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更新最右位置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未出现的字符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H, R, S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默认偏移量：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 + 1 = 4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90131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54203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12432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C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76504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34733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98805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570345" y="442976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211060" y="442976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785177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D</a:t>
            </a:r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6576060" y="5066665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7216775" y="5066665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799070" y="5066665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D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698644"/>
            <a:ext cx="375868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2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算法执行实例演示</a:t>
            </a:r>
            <a:endParaRPr lang="zh-CN" altLang="en-US" sz="32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2141855" y="1408430"/>
            <a:ext cx="68795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S: B B C B B C B B D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模式串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P: B B D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1855" y="2574290"/>
            <a:ext cx="7282180" cy="175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偏移表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(Shift Table)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预处理：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B:2 D:1(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更新最右位置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未出现的字符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H, R, S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默认偏移量：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 + 1 = 4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90131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54203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12432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C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76504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347335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988050" y="4429760"/>
            <a:ext cx="468630" cy="4591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570345" y="442976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211060" y="442976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7851775" y="4429760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D</a:t>
            </a:r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6576060" y="5066665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7216775" y="5066665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799070" y="5066665"/>
            <a:ext cx="468630" cy="45910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D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698644"/>
            <a:ext cx="3758689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595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代码实现</a:t>
            </a:r>
            <a:endParaRPr lang="zh-CN" altLang="en-US" sz="3595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1904365" y="1426210"/>
            <a:ext cx="7930515" cy="4921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// </a:t>
            </a:r>
            <a:r>
              <a:rPr lang="zh-CN" altLang="en-US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预处理偏移表</a:t>
            </a:r>
            <a:r>
              <a:rPr lang="en-US" altLang="zh-CN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(ASCII </a:t>
            </a:r>
            <a:r>
              <a:rPr lang="zh-CN" altLang="en-US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字符集为例</a:t>
            </a:r>
            <a:r>
              <a:rPr lang="en-US" altLang="zh-CN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lang="en-US" altLang="zh-CN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int shift[256];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for (int i = 0; i &lt; 256; i++) shift[i] = m + 1; //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默认跳过整个串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for (int i = 0; i &lt; m; i++) shift[P[i]] = m - i; //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记录最右字符偏移量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// </a:t>
            </a:r>
            <a:r>
              <a:rPr lang="zh-CN" altLang="en-US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核心匹配逻辑</a:t>
            </a:r>
            <a:endParaRPr lang="zh-CN" altLang="en-US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int i = 0;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while (i &lt;= n - m) {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int j = 0;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while (j &lt; m &amp;&amp; S[i + j] == P[j]) j++;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if (j == m) return i; //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匹配成功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if (i + m &gt;= n) break; //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防止越界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i += shift[S[i + m]];  // </a:t>
            </a:r>
            <a:r>
              <a:rPr lang="zh-CN" altLang="en-US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核心跳跃！</a:t>
            </a:r>
            <a:endParaRPr lang="zh-CN" altLang="en-US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}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334770" y="1326515"/>
            <a:ext cx="9530715" cy="4737100"/>
          </a:xfrm>
          <a:prstGeom prst="roundRect">
            <a:avLst/>
          </a:prstGeom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720234"/>
            <a:ext cx="3758689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28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复杂度分析</a:t>
            </a:r>
            <a:endParaRPr lang="zh-CN" altLang="en-US" sz="28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2205355" y="1966595"/>
            <a:ext cx="711708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空间复杂度：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O(Σ)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Σ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为字符集大小，通常为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256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或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65536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时间复杂度：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/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预处理：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O(m + Σ)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/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/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最好情况：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O(n / m)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（每次都遇到不存在的字符，直接大跳）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/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/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最坏情况：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O(n * m)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（例如主串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BAAA...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找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模式串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AAAA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/>
            <a:endParaRPr lang="en-US" altLang="zh-CN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/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平均工程情况：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极其优秀，通常快于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KMP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BM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994535" y="1695450"/>
            <a:ext cx="7635240" cy="3818255"/>
          </a:xfrm>
          <a:prstGeom prst="roundRect">
            <a:avLst/>
          </a:prstGeom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720234"/>
            <a:ext cx="3758689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2800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算法对比</a:t>
            </a:r>
            <a:endParaRPr lang="zh-CN" altLang="en-US" sz="2800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845185" y="1877060"/>
          <a:ext cx="10495280" cy="349758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623820"/>
                <a:gridCol w="2623820"/>
                <a:gridCol w="2623820"/>
                <a:gridCol w="2623820"/>
              </a:tblGrid>
              <a:tr h="388620">
                <a:tc>
                  <a:txBody>
                    <a:bodyPr/>
                    <a:p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算法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核心机制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实现难度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适用场景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</a:tr>
              <a:tr h="777240">
                <a:tc>
                  <a:txBody>
                    <a:bodyPr/>
                    <a:p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BF (</a:t>
                      </a: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暴力</a:t>
                      </a:r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)</a:t>
                      </a:r>
                      <a:endParaRPr lang="en-US" altLang="zh-CN" sz="2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逐个回溯比对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⭐ (</a:t>
                      </a: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极简</a:t>
                      </a:r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)</a:t>
                      </a:r>
                      <a:endParaRPr lang="en-US" altLang="zh-CN" sz="2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小规模数据</a:t>
                      </a:r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/</a:t>
                      </a: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简单脚本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</a:tr>
              <a:tr h="777240">
                <a:tc>
                  <a:txBody>
                    <a:bodyPr/>
                    <a:p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</a:rPr>
                        <a:t>KMP</a:t>
                      </a:r>
                      <a:endParaRPr lang="en-US" altLang="zh-CN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PMT</a:t>
                      </a: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前缀表，主串不回溯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⭐⭐⭐⭐⭐ (</a:t>
                      </a: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较难</a:t>
                      </a:r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)</a:t>
                      </a:r>
                      <a:endParaRPr lang="en-US" altLang="zh-CN" sz="2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字符集小</a:t>
                      </a:r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/</a:t>
                      </a: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大量重复子串的极端数据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</a:tr>
              <a:tr h="777240">
                <a:tc>
                  <a:txBody>
                    <a:bodyPr/>
                    <a:p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</a:rPr>
                        <a:t>BM</a:t>
                      </a:r>
                      <a:endParaRPr lang="en-US" altLang="zh-CN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坏字符 </a:t>
                      </a:r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+ </a:t>
                      </a: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好后缀规则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⭐⭐⭐⭐ (</a:t>
                      </a: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中等</a:t>
                      </a:r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)</a:t>
                      </a:r>
                      <a:endParaRPr lang="en-US" altLang="zh-CN" sz="2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现代文本编辑器的默认实现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</a:tr>
              <a:tr h="777240">
                <a:tc>
                  <a:txBody>
                    <a:bodyPr/>
                    <a:p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</a:rPr>
                        <a:t>Sunday</a:t>
                      </a:r>
                      <a:endParaRPr lang="en-US" altLang="zh-CN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关注末尾的下一个字符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⭐⭐ (</a:t>
                      </a: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极简</a:t>
                      </a:r>
                      <a:r>
                        <a:rPr lang="en-US" altLang="zh-CN" sz="2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)</a:t>
                      </a:r>
                      <a:endParaRPr lang="en-US" altLang="zh-CN" sz="2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日常文本处理、工程应用（短平快）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208689" y="698644"/>
            <a:ext cx="3758689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3595" b="1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总结与参考</a:t>
            </a:r>
            <a:r>
              <a:rPr lang="zh-CN" altLang="en-US" sz="3595" b="1" dirty="0">
                <a:solidFill>
                  <a:srgbClr val="717C7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  <a:sym typeface="汉仪润圆-65简" panose="00020600040101010101" pitchFamily="18" charset="-122"/>
              </a:rPr>
              <a:t>文献</a:t>
            </a:r>
            <a:endParaRPr lang="zh-CN" altLang="en-US" sz="3595" b="1" dirty="0">
              <a:solidFill>
                <a:srgbClr val="717C75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+mn-ea"/>
              <a:sym typeface="汉仪润圆-6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6983" y="980763"/>
            <a:ext cx="6066607" cy="0"/>
            <a:chOff x="4615664" y="960506"/>
            <a:chExt cx="9102718" cy="0"/>
          </a:xfrm>
        </p:grpSpPr>
        <p:cxnSp>
          <p:nvCxnSpPr>
            <p:cNvPr id="18" name="77 21"/>
            <p:cNvCxnSpPr/>
            <p:nvPr/>
          </p:nvCxnSpPr>
          <p:spPr bwMode="auto">
            <a:xfrm flipH="1">
              <a:off x="4615664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7722"/>
            <p:cNvCxnSpPr/>
            <p:nvPr/>
          </p:nvCxnSpPr>
          <p:spPr bwMode="auto">
            <a:xfrm flipH="1">
              <a:off x="12403703" y="960506"/>
              <a:ext cx="1314679" cy="0"/>
            </a:xfrm>
            <a:prstGeom prst="line">
              <a:avLst/>
            </a:prstGeom>
            <a:ln>
              <a:solidFill>
                <a:srgbClr val="9AA5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2089785" y="1859915"/>
            <a:ext cx="801243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总结：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Sunday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算法展示了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跳出局部，向后看一步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的算法哲学。巧妙解决了朴素算法盲目回溯的痛点，以极小的空间代价换取了极高的跳跃效率。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参考文献：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/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[1]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严蔚敏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吴伟民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《数据结构》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(C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语言版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).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/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/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[2]Sunday, D. M. (1990). A very fast substring search algorithm. Communications of the ACM.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/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lvl="1"/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[3]Thomas H. Cormen, et al. Introduction to Algorithms.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887855" y="1810385"/>
            <a:ext cx="8365490" cy="862330"/>
          </a:xfrm>
          <a:prstGeom prst="roundRect">
            <a:avLst/>
          </a:prstGeom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1788795" y="2713990"/>
            <a:ext cx="8472805" cy="2791460"/>
          </a:xfrm>
          <a:prstGeom prst="roundRect">
            <a:avLst/>
          </a:prstGeom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93.64574803149605,&quot;left&quot;:81.5,&quot;top&quot;:166.82826771653544,&quot;width&quot;:460.7777952755905}"/>
</p:tagLst>
</file>

<file path=ppt/tags/tag2.xml><?xml version="1.0" encoding="utf-8"?>
<p:tagLst xmlns:p="http://schemas.openxmlformats.org/presentationml/2006/main">
  <p:tag name="KSO_WM_DIAGRAM_VIRTUALLY_FRAME" val="{&quot;height&quot;:293.64574803149605,&quot;left&quot;:81.5,&quot;top&quot;:166.82826771653544,&quot;width&quot;:460.7777952755905}"/>
</p:tagLst>
</file>

<file path=ppt/tags/tag3.xml><?xml version="1.0" encoding="utf-8"?>
<p:tagLst xmlns:p="http://schemas.openxmlformats.org/presentationml/2006/main">
  <p:tag name="KSO_WM_DIAGRAM_VIRTUALLY_FRAME" val="{&quot;height&quot;:293.64574803149605,&quot;left&quot;:81.5,&quot;top&quot;:166.82826771653544,&quot;width&quot;:460.7777952755905}"/>
</p:tagLst>
</file>

<file path=ppt/tags/tag4.xml><?xml version="1.0" encoding="utf-8"?>
<p:tagLst xmlns:p="http://schemas.openxmlformats.org/presentationml/2006/main">
  <p:tag name="KSO_WM_DIAGRAM_VIRTUALLY_FRAME" val="{&quot;height&quot;:293.64574803149605,&quot;left&quot;:81.5,&quot;top&quot;:166.82826771653544,&quot;width&quot;:460.7777952755905}"/>
</p:tagLst>
</file>

<file path=ppt/tags/tag5.xml><?xml version="1.0" encoding="utf-8"?>
<p:tagLst xmlns:p="http://schemas.openxmlformats.org/presentationml/2006/main">
  <p:tag name="KSO_WM_DIAGRAM_VIRTUALLY_FRAME" val="{&quot;height&quot;:318.0957480314961,&quot;left&quot;:81.5,&quot;top&quot;:142.37826771653542,&quot;width&quot;:460.9}"/>
</p:tagLst>
</file>

<file path=ppt/tags/tag6.xml><?xml version="1.0" encoding="utf-8"?>
<p:tagLst xmlns:p="http://schemas.openxmlformats.org/presentationml/2006/main">
  <p:tag name="KSO_WM_DIAGRAM_VIRTUALLY_FRAME" val="{&quot;height&quot;:318.0957480314961,&quot;left&quot;:81.5,&quot;top&quot;:142.37826771653542,&quot;width&quot;:460.9}"/>
</p:tagLst>
</file>

<file path=ppt/tags/tag7.xml><?xml version="1.0" encoding="utf-8"?>
<p:tagLst xmlns:p="http://schemas.openxmlformats.org/presentationml/2006/main">
  <p:tag name="KSO_WM_DIAGRAM_VIRTUALLY_FRAME" val="{&quot;height&quot;:318.0957480314961,&quot;left&quot;:81.5,&quot;top&quot;:142.37826771653542,&quot;width&quot;:460.9}"/>
</p:tagLst>
</file>

<file path=ppt/tags/tag8.xml><?xml version="1.0" encoding="utf-8"?>
<p:tagLst xmlns:p="http://schemas.openxmlformats.org/presentationml/2006/main">
  <p:tag name="KSO_WM_DIAGRAM_VIRTUALLY_FRAME" val="{&quot;height&quot;:318.0957480314961,&quot;left&quot;:81.5,&quot;top&quot;:142.37826771653542,&quot;width&quot;:460.9}"/>
</p:tagLst>
</file>

<file path=ppt/tags/tag9.xml><?xml version="1.0" encoding="utf-8"?>
<p:tagLst xmlns:p="http://schemas.openxmlformats.org/presentationml/2006/main">
  <p:tag name="KSO_WM_DIAGRAM_VIRTUALLY_FRAME" val="{&quot;height&quot;:318.0957480314961,&quot;left&quot;:81.5,&quot;top&quot;:142.37826771653542,&quot;width&quot;:460.9}"/>
</p:tagLst>
</file>

<file path=ppt/tags/tag10.xml><?xml version="1.0" encoding="utf-8"?>
<p:tagLst xmlns:p="http://schemas.openxmlformats.org/presentationml/2006/main">
  <p:tag name="KSO_WM_DIAGRAM_VIRTUALLY_FRAME" val="{&quot;height&quot;:318.0957480314961,&quot;left&quot;:81.5,&quot;top&quot;:142.37826771653542,&quot;width&quot;:460.9}"/>
</p:tagLst>
</file>

<file path=ppt/tags/tag11.xml><?xml version="1.0" encoding="utf-8"?>
<p:tagLst xmlns:p="http://schemas.openxmlformats.org/presentationml/2006/main">
  <p:tag name="KSO_WM_DIAGRAM_VIRTUALLY_FRAME" val="{&quot;height&quot;:318.0957480314961,&quot;left&quot;:81.5,&quot;top&quot;:142.37826771653542,&quot;width&quot;:460.9}"/>
</p:tagLst>
</file>

<file path=ppt/tags/tag12.xml><?xml version="1.0" encoding="utf-8"?>
<p:tagLst xmlns:p="http://schemas.openxmlformats.org/presentationml/2006/main">
  <p:tag name="KSO_WM_DIAGRAM_VIRTUALLY_FRAME" val="{&quot;height&quot;:318.0957480314961,&quot;left&quot;:81.5,&quot;top&quot;:142.37826771653542,&quot;width&quot;:460.9}"/>
</p:tagLst>
</file>

<file path=ppt/tags/tag13.xml><?xml version="1.0" encoding="utf-8"?>
<p:tagLst xmlns:p="http://schemas.openxmlformats.org/presentationml/2006/main">
  <p:tag name="KSO_WM_DIAGRAM_VIRTUALLY_FRAME" val="{&quot;height&quot;:318.0957480314961,&quot;left&quot;:81.5,&quot;top&quot;:142.37826771653542,&quot;width&quot;:460.9}"/>
</p:tagLst>
</file>

<file path=ppt/tags/tag14.xml><?xml version="1.0" encoding="utf-8"?>
<p:tagLst xmlns:p="http://schemas.openxmlformats.org/presentationml/2006/main">
  <p:tag name="KSO_WM_DIAGRAM_VIRTUALLY_FRAME" val="{&quot;height&quot;:318.0957480314961,&quot;left&quot;:81.5,&quot;top&quot;:142.37826771653542,&quot;width&quot;:460.9}"/>
</p:tagLst>
</file>

<file path=ppt/tags/tag15.xml><?xml version="1.0" encoding="utf-8"?>
<p:tagLst xmlns:p="http://schemas.openxmlformats.org/presentationml/2006/main">
  <p:tag name="TABLE_ENDDRAG_ORIGIN_RECT" val="826*275"/>
  <p:tag name="TABLE_ENDDRAG_RECT" val="66*147*826*275"/>
</p:tagLst>
</file>

<file path=ppt/tags/tag16.xml><?xml version="1.0" encoding="utf-8"?>
<p:tagLst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  <p:tag name="COMMONDATA" val="eyJoZGlkIjoiNmU0ZmNjMjcyNjVhYWVmODFmMDA2NGIyZTQxOWE2NzQifQ=="/>
</p:tagLst>
</file>

<file path=ppt/theme/theme1.xml><?xml version="1.0" encoding="utf-8"?>
<a:theme xmlns:a="http://schemas.openxmlformats.org/drawingml/2006/main" name="pl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4wzbpal">
      <a:majorFont>
        <a:latin typeface="汉仪润圆-65简"/>
        <a:ea typeface="汉仪润圆-65简"/>
        <a:cs typeface=""/>
      </a:majorFont>
      <a:minorFont>
        <a:latin typeface="汉仪润圆-65简"/>
        <a:ea typeface="汉仪润圆-6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润圆-6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润圆-65简"/>
        <a:ea typeface=""/>
        <a:cs typeface=""/>
        <a:font script="Jpan" typeface="ＭＳ Ｐゴシック"/>
        <a:font script="Hang" typeface="맑은 고딕"/>
        <a:font script="Hans" typeface="汉仪润圆-65简"/>
        <a:font script="Hant" typeface="新細明體"/>
        <a:font script="Arab" typeface="汉仪润圆-65简"/>
        <a:font script="Hebr" typeface="汉仪润圆-65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润圆-65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润圆-6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润圆-65简"/>
        <a:ea typeface=""/>
        <a:cs typeface=""/>
        <a:font script="Jpan" typeface="ＭＳ Ｐゴシック"/>
        <a:font script="Hang" typeface="맑은 고딕"/>
        <a:font script="Hans" typeface="汉仪润圆-65简"/>
        <a:font script="Hant" typeface="新細明體"/>
        <a:font script="Arab" typeface="汉仪润圆-65简"/>
        <a:font script="Hebr" typeface="汉仪润圆-65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润圆-65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3925</Words>
  <Application>WPS 演示</Application>
  <PresentationFormat>宽屏</PresentationFormat>
  <Paragraphs>712</Paragraphs>
  <Slides>24</Slides>
  <Notes>16</Notes>
  <HiddenSlides>1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8" baseType="lpstr">
      <vt:lpstr>Arial</vt:lpstr>
      <vt:lpstr>宋体</vt:lpstr>
      <vt:lpstr>Wingdings</vt:lpstr>
      <vt:lpstr>汉仪润圆-65简</vt:lpstr>
      <vt:lpstr>方正清刻本悦宋简体</vt:lpstr>
      <vt:lpstr>微软雅黑</vt:lpstr>
      <vt:lpstr>Calibri</vt:lpstr>
      <vt:lpstr>Roboto Slab Bold</vt:lpstr>
      <vt:lpstr>Segoe Print</vt:lpstr>
      <vt:lpstr>Roboto Slab Light</vt:lpstr>
      <vt:lpstr>Simply City Light</vt:lpstr>
      <vt:lpstr>SimSun-ExtB</vt:lpstr>
      <vt:lpstr>Yu Gothic UI Light</vt:lpstr>
      <vt:lpstr>Helvetica Light</vt:lpstr>
      <vt:lpstr>Arial Unicode MS</vt:lpstr>
      <vt:lpstr>Arial</vt:lpstr>
      <vt:lpstr>黑体</vt:lpstr>
      <vt:lpstr>Noto Sans SC</vt:lpstr>
      <vt:lpstr>华文楷体</vt:lpstr>
      <vt:lpstr>仿宋</vt:lpstr>
      <vt:lpstr>Google Sans Mono</vt:lpstr>
      <vt:lpstr>Consolas</vt:lpstr>
      <vt:lpstr>Century Gothic</vt:lpstr>
      <vt:lpstr>pl主题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顾念</cp:lastModifiedBy>
  <cp:revision>94</cp:revision>
  <dcterms:created xsi:type="dcterms:W3CDTF">2021-10-25T03:40:00Z</dcterms:created>
  <dcterms:modified xsi:type="dcterms:W3CDTF">2026-03-22T04:43:41Z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9AE47FAEEBA14965BEA4FE4603099676_11</vt:lpwstr>
  </property>
  <property fmtid="{D5CDD505-2E9C-101B-9397-08002B2CF9AE}" pid="3" name="KSOProductBuildVer">
    <vt:lpwstr>2052-12.1.0.25225</vt:lpwstr>
  </property>
  <property fmtid="{D5CDD505-2E9C-101B-9397-08002B2CF9AE}" pid="4" name="KSOTemplateUUID">
    <vt:lpwstr>v1.0_mb_knLkZY1hxWbNhF5bqycolg==</vt:lpwstr>
  </property>
</Properties>
</file>