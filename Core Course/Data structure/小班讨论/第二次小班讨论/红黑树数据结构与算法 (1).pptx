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2" r:id="rId7"/>
    <p:sldId id="259" r:id="rId8"/>
    <p:sldId id="260" r:id="rId9"/>
    <p:sldId id="261" r:id="rId10"/>
    <p:sldId id="273" r:id="rId11"/>
    <p:sldId id="274" r:id="rId12"/>
    <p:sldId id="279" r:id="rId13"/>
    <p:sldId id="278" r:id="rId14"/>
    <p:sldId id="289" r:id="rId15"/>
    <p:sldId id="290" r:id="rId16"/>
    <p:sldId id="276" r:id="rId17"/>
    <p:sldId id="263" r:id="rId18"/>
    <p:sldId id="291" r:id="rId19"/>
    <p:sldId id="292" r:id="rId20"/>
    <p:sldId id="293" r:id="rId21"/>
    <p:sldId id="294" r:id="rId22"/>
    <p:sldId id="299" r:id="rId23"/>
    <p:sldId id="300" r:id="rId24"/>
    <p:sldId id="265" r:id="rId25"/>
    <p:sldId id="266" r:id="rId26"/>
    <p:sldId id="267" r:id="rId27"/>
  </p:sldIdLst>
  <p:sldSz cx="12192000" cy="6858000"/>
  <p:notesSz cx="6858000" cy="9144000"/>
  <p:embeddedFontLst>
    <p:embeddedFont>
      <p:font typeface="Calibri" panose="020F0502020204030204"/>
      <p:regular r:id="rId31"/>
      <p:bold r:id="rId32"/>
      <p:italic r:id="rId33"/>
      <p:boldItalic r:id="rId34"/>
    </p:embeddedFont>
    <p:embeddedFont>
      <p:font typeface="Noto Sans SC" panose="020B0200000000000000" charset="-122"/>
      <p:regular r:id="rId35"/>
    </p:embeddedFont>
    <p:embeddedFont>
      <p:font typeface="黑体" panose="02010609060101010101" charset="-122"/>
      <p:regular r:id="rId36"/>
    </p:embeddedFont>
    <p:embeddedFont>
      <p:font typeface="微软雅黑" panose="020B0503020204020204" charset="-122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000000"/>
          </p15:clr>
        </p15:guide>
        <p15:guide id="2" pos="2901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25"/>
        <p:guide pos="2901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7.fntdata"/><Relationship Id="rId36" Type="http://schemas.openxmlformats.org/officeDocument/2006/relationships/font" Target="fonts/font6.fntdata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8" name="Google Shape;258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5" name="Google Shape;275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3" name="Google Shape;293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37592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1879600 h 2082800"/>
              <a:gd name="connisteX5" fmla="*/ 3251200 w 3454400"/>
              <a:gd name="connsiteY5" fmla="*/ 2082800 h 2082800"/>
              <a:gd name="connisteX6" fmla="*/ 203200 w 3454400"/>
              <a:gd name="connsiteY6" fmla="*/ 2082800 h 2082800"/>
              <a:gd name="connisteX7" fmla="*/ 0 w 3454400"/>
              <a:gd name="connsiteY7" fmla="*/ 1879600 h 2082800"/>
              <a:gd name="connisteX8" fmla="*/ 0 w 34544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1879600 h 2082800"/>
              <a:gd name="connisteX5" fmla="*/ 3251200 w 3454400"/>
              <a:gd name="connsiteY5" fmla="*/ 2082800 h 2082800"/>
              <a:gd name="connisteX6" fmla="*/ 203200 w 3454400"/>
              <a:gd name="connsiteY6" fmla="*/ 2082800 h 2082800"/>
              <a:gd name="connisteX7" fmla="*/ 0 w 3454400"/>
              <a:gd name="connsiteY7" fmla="*/ 1879600 h 2082800"/>
              <a:gd name="connisteX8" fmla="*/ 0 w 34544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736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736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1280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1879600 h 2082800"/>
              <a:gd name="connisteX5" fmla="*/ 3251200 w 3454400"/>
              <a:gd name="connsiteY5" fmla="*/ 2082800 h 2082800"/>
              <a:gd name="connisteX6" fmla="*/ 203200 w 3454400"/>
              <a:gd name="connsiteY6" fmla="*/ 2082800 h 2082800"/>
              <a:gd name="connisteX7" fmla="*/ 0 w 3454400"/>
              <a:gd name="connsiteY7" fmla="*/ 1879600 h 2082800"/>
              <a:gd name="connisteX8" fmla="*/ 0 w 34544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328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328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image" Target="../media/image17.png"/><Relationship Id="rId5" Type="http://schemas.openxmlformats.org/officeDocument/2006/relationships/tags" Target="../tags/tag14.xml"/><Relationship Id="rId4" Type="http://schemas.openxmlformats.org/officeDocument/2006/relationships/image" Target="../media/image16.png"/><Relationship Id="rId3" Type="http://schemas.openxmlformats.org/officeDocument/2006/relationships/tags" Target="../tags/tag13.xml"/><Relationship Id="rId20" Type="http://schemas.openxmlformats.org/officeDocument/2006/relationships/notesSlide" Target="../notesSlides/notesSlide6.xml"/><Relationship Id="rId2" Type="http://schemas.openxmlformats.org/officeDocument/2006/relationships/image" Target="../media/image15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20.png"/><Relationship Id="rId17" Type="http://schemas.openxmlformats.org/officeDocument/2006/relationships/tags" Target="../tags/tag23.xml"/><Relationship Id="rId16" Type="http://schemas.openxmlformats.org/officeDocument/2006/relationships/image" Target="../media/image19.png"/><Relationship Id="rId15" Type="http://schemas.openxmlformats.org/officeDocument/2006/relationships/tags" Target="../tags/tag22.xml"/><Relationship Id="rId14" Type="http://schemas.openxmlformats.org/officeDocument/2006/relationships/image" Target="../media/image18.png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29.xml"/><Relationship Id="rId7" Type="http://schemas.openxmlformats.org/officeDocument/2006/relationships/image" Target="../media/image22.png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5.png"/><Relationship Id="rId12" Type="http://schemas.openxmlformats.org/officeDocument/2006/relationships/tags" Target="../tags/tag31.xml"/><Relationship Id="rId11" Type="http://schemas.openxmlformats.org/officeDocument/2006/relationships/image" Target="../media/image24.png"/><Relationship Id="rId10" Type="http://schemas.openxmlformats.org/officeDocument/2006/relationships/tags" Target="../tags/tag30.xml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geeksforgeeks.org/deletion-in-red-black-tree/" TargetMode="Externa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132582"/>
            <a:ext cx="4800600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红黑树</a:t>
            </a:r>
            <a:endParaRPr lang="en-US" sz="5250" b="1" i="0" u="none" strike="noStrike" cap="non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62000" y="2285107"/>
            <a:ext cx="4572000" cy="1905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981200" y="2780407"/>
            <a:ext cx="21336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cap="none">
                <a:solidFill>
                  <a:srgbClr val="FCA5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第二次</a:t>
            </a:r>
            <a:r>
              <a:rPr lang="zh-CN" altLang="en-US" sz="2400" b="0" i="0" u="none" strike="noStrike" cap="none">
                <a:solidFill>
                  <a:srgbClr val="FCA5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小班</a:t>
            </a:r>
            <a:endParaRPr lang="zh-CN" altLang="en-US" sz="2400" b="0" i="0" u="none" strike="noStrike" cap="none">
              <a:solidFill>
                <a:srgbClr val="FCA5A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685800"/>
            <a:ext cx="60960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762000" y="4144267"/>
            <a:ext cx="4572000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</a:t>
            </a:r>
            <a:r>
              <a:rPr lang="zh-CN" altLang="en-US" sz="1350" b="0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350" b="0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概述</a:t>
            </a:r>
            <a:endParaRPr lang="en-US" sz="1350" b="0" i="0" u="none" strike="noStrike" cap="non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4418558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存储实现</a:t>
            </a:r>
            <a:endParaRPr lang="en-US" sz="1350" b="0" i="0" u="none" strike="noStrike" cap="non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62000" y="4692848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关键基本操作实现</a:t>
            </a:r>
            <a:endParaRPr lang="en-US" sz="1350" b="0" i="0" u="none" strike="noStrike" cap="non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62000" y="4997588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应用实例</a:t>
            </a:r>
            <a:endParaRPr lang="en-US" sz="1350" b="0" i="0" u="none" strike="noStrike" cap="non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5" name="Google Shape;95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000" y="4220467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000" y="4494758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000" y="4769048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000" y="5119508"/>
            <a:ext cx="1143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724650" y="4784030"/>
            <a:ext cx="4505325" cy="51985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962025" y="2406104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二叉搜索树 (BST) 回顾</a:t>
            </a:r>
            <a:endParaRPr lang="en-US" sz="2100" b="0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962025" y="2929979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二叉搜索树是一种二叉树，满足：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62025" y="4646265"/>
            <a:ext cx="4505325" cy="73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724650" y="2412454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红黑树 (Red-Black Tree)</a:t>
            </a:r>
            <a:endParaRPr lang="en-US" sz="2100" b="0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724650" y="2936329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红黑树是一种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自平衡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的二叉搜索树。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724650" y="3353494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通过为节点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添加颜色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（红或黑）并满足特定性质，保证树的高度始终为 O(log n)，从而保证：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028700" y="334619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1200150" y="3347144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左子树中所有节点的值均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根节点的值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028700" y="376335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200150" y="3764309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右子树中所有节点的值均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根节点的值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1028700" y="418052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1200150" y="418147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左右子树也分别为二叉搜索树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791325" y="404399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6962775" y="4044950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基本操作（查找、插入、删除）的时间复杂度稳定为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O(log n)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1" name="Google Shape;121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905625" y="4926905"/>
            <a:ext cx="4181475" cy="234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571500" y="571500"/>
            <a:ext cx="1160145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定义</a:t>
            </a:r>
            <a:r>
              <a:rPr lang="zh-CN" alt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概述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02615" y="2094230"/>
            <a:ext cx="5349875" cy="3557905"/>
          </a:xfrm>
          <a:prstGeom prst="round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7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6270625" y="2100580"/>
            <a:ext cx="5349875" cy="3557905"/>
          </a:xfrm>
          <a:prstGeom prst="round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7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1" grpId="0"/>
      <p:bldP spid="112" grpId="0"/>
      <p:bldP spid="119" grpId="0"/>
      <p:bldP spid="120" grpId="0"/>
      <p:bldP spid="2" grpId="0" bldLvl="0" animBg="1"/>
      <p:bldP spid="110" grpId="1"/>
      <p:bldP spid="111" grpId="1"/>
      <p:bldP spid="112" grpId="1"/>
      <p:bldP spid="119" grpId="1"/>
      <p:bldP spid="120" grpId="1"/>
      <p:bldP spid="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5030092"/>
            <a:ext cx="11049000" cy="1026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1848891"/>
            <a:ext cx="224028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红黑树的五大性质</a:t>
            </a:r>
            <a:endParaRPr lang="en-US" sz="2100" b="0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809625" y="5220592"/>
            <a:ext cx="111513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直观理解：</a:t>
            </a:r>
            <a:endParaRPr lang="en-US" sz="1500" b="1" i="0" u="none" strike="noStrike" cap="none">
              <a:solidFill>
                <a:srgbClr val="B4530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809625" y="5592067"/>
            <a:ext cx="10620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红黑树通过“颜色约束”避免链表退化，保证最长路径不会超过最短路径的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2倍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，从而维持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O(log n)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的高度。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952500" y="2420391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性质一：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每个节点要么是红色，要么是黑色。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952500" y="2885182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性质二：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根节点必须是黑色。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952500" y="3349972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性质三：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所有叶子节点（NIL空节点）都是黑色。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952500" y="3814762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性质四：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如果一个节点是红色的，则它的两个子节点必须都是黑色的（即不能有两个连续的红色节点）。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952500" y="4279552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性质五：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从任一节点到其每个叶子（NIL）的所有简单路径上，包含相同数目的黑色节点（即黑高一致）。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7" name="Google Shape;137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09625" y="527774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43944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90423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36902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8338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29860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571500" y="571500"/>
            <a:ext cx="1160145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定义</a:t>
            </a:r>
            <a:r>
              <a:rPr lang="zh-CN" alt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概述（续）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/>
        </p:nvSpPr>
        <p:spPr>
          <a:xfrm>
            <a:off x="571500" y="571500"/>
            <a:ext cx="1160145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定义</a:t>
            </a:r>
            <a:r>
              <a:rPr lang="zh-CN" alt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概述（续）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0" y="1818640"/>
            <a:ext cx="8888730" cy="31610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71500" y="14811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</a:rPr>
              <a:t>考虑以下红黑树：</a:t>
            </a:r>
            <a:endParaRPr lang="zh-CN" altLang="en-US" sz="1600" b="0" i="0">
              <a:solidFill>
                <a:srgbClr val="66666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6490" y="5261610"/>
            <a:ext cx="8849360" cy="15017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在这个例子中：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根（</a:t>
            </a:r>
            <a:r>
              <a:rPr lang="en-US" altLang="zh-CN" sz="1600" b="0" i="0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</a:t>
            </a:r>
            <a:r>
              <a:rPr lang="zh-CN" altLang="en-US" sz="1600" b="0" i="0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）是黑色的。</a:t>
            </a:r>
            <a:endParaRPr lang="zh-CN" altLang="en-US" sz="1600" b="0" i="0">
              <a:solidFill>
                <a:srgbClr val="37415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红色节点（</a:t>
            </a:r>
            <a:r>
              <a:rPr lang="en-US" altLang="zh-CN" sz="1600" b="0" i="0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</a:t>
            </a:r>
            <a:r>
              <a:rPr lang="zh-CN" altLang="en-US" sz="1600" b="0" i="0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 sz="1600" b="0" i="0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15</a:t>
            </a:r>
            <a:r>
              <a:rPr lang="zh-CN" altLang="en-US" sz="1600" b="0" i="0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 sz="1600" b="0" i="0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</a:t>
            </a:r>
            <a:r>
              <a:rPr lang="zh-CN" altLang="en-US" sz="1600" b="0" i="0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）没有红色子节点。</a:t>
            </a:r>
            <a:endParaRPr lang="zh-CN" altLang="en-US" sz="1600" b="0" i="0">
              <a:solidFill>
                <a:srgbClr val="37415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从根节点到叶节点的每条路径上的黑色节点数量都相同。</a:t>
            </a:r>
            <a:endParaRPr lang="zh-CN" altLang="en-US" sz="1600" b="0" i="0">
              <a:solidFill>
                <a:srgbClr val="37415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34125" y="23098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571500" y="1785937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节点结构定义（C语言）</a:t>
            </a:r>
            <a:endParaRPr lang="en-US" sz="2100" b="0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571500" y="5253037"/>
            <a:ext cx="5286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</a:t>
            </a:r>
            <a:r>
              <a:rPr lang="en-US" sz="12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使用统一的 NIL 哨兵节点代表空指针，简化边界处理。</a:t>
            </a:r>
            <a:endParaRPr lang="en-US" sz="12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201965" y="1785937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存储结构示意</a:t>
            </a:r>
            <a:endParaRPr lang="en-US" sz="2100" b="0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43650" y="231933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存储实现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9240"/>
            <a:ext cx="4953635" cy="1889125"/>
          </a:xfrm>
          <a:prstGeom prst="rect">
            <a:avLst/>
          </a:prstGeom>
          <a:effectLst>
            <a:softEdge rad="127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341215"/>
            <a:ext cx="3429000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4381500" y="2341215"/>
            <a:ext cx="3429000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8191500" y="2341215"/>
            <a:ext cx="3429000" cy="270882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3070860" y="5335905"/>
            <a:ext cx="605028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</a:t>
            </a:r>
            <a:r>
              <a:rPr lang="en-US" b="0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插入和删除后通过 “旋转 (Rotation)” + “变色 (Recoloring)” 来恢复红黑树性质。</a:t>
            </a:r>
            <a:endParaRPr lang="en-US" b="0" i="0" u="none" strike="noStrike" cap="none">
              <a:solidFill>
                <a:srgbClr val="7F1D1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5" name="Google Shape;165;p17"/>
          <p:cNvSpPr txBox="1"/>
          <p:nvPr>
            <p:custDataLst>
              <p:tags r:id="rId7"/>
            </p:custDataLst>
          </p:nvPr>
        </p:nvSpPr>
        <p:spPr>
          <a:xfrm>
            <a:off x="866775" y="3284190"/>
            <a:ext cx="1758501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旋转</a:t>
            </a:r>
            <a:r>
              <a:rPr 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(Search)</a:t>
            </a:r>
            <a:endParaRPr lang="en-US" sz="2100" b="0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6" name="Google Shape;166;p17"/>
          <p:cNvSpPr txBox="1"/>
          <p:nvPr>
            <p:custDataLst>
              <p:tags r:id="rId8"/>
            </p:custDataLst>
          </p:nvPr>
        </p:nvSpPr>
        <p:spPr>
          <a:xfrm>
            <a:off x="866775" y="3789015"/>
            <a:ext cx="283845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旋转操作是红黑树和 AVL 树等自平衡树调整平衡的核心手段。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7" name="Google Shape;167;p17"/>
          <p:cNvSpPr txBox="1"/>
          <p:nvPr>
            <p:custDataLst>
              <p:tags r:id="rId9"/>
            </p:custDataLst>
          </p:nvPr>
        </p:nvSpPr>
        <p:spPr>
          <a:xfrm>
            <a:off x="4676775" y="3284190"/>
            <a:ext cx="158707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插入 (Insert)</a:t>
            </a:r>
            <a:endParaRPr lang="en-US" sz="2100" b="0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8" name="Google Shape;168;p17"/>
          <p:cNvSpPr txBox="1"/>
          <p:nvPr>
            <p:custDataLst>
              <p:tags r:id="rId10"/>
            </p:custDataLst>
          </p:nvPr>
        </p:nvSpPr>
        <p:spPr>
          <a:xfrm>
            <a:off x="4676775" y="378901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先按 BST 规则插入新节点（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初始设为红色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），若破坏了红黑树性质，则通过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变色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旋转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进行调整恢复。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9" name="Google Shape;169;p17"/>
          <p:cNvSpPr txBox="1"/>
          <p:nvPr>
            <p:custDataLst>
              <p:tags r:id="rId11"/>
            </p:custDataLst>
          </p:nvPr>
        </p:nvSpPr>
        <p:spPr>
          <a:xfrm>
            <a:off x="8486775" y="3284190"/>
            <a:ext cx="166489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删除 (Delete)</a:t>
            </a:r>
            <a:endParaRPr lang="en-US" sz="2100" b="0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0" name="Google Shape;170;p17"/>
          <p:cNvSpPr txBox="1"/>
          <p:nvPr>
            <p:custDataLst>
              <p:tags r:id="rId12"/>
            </p:custDataLst>
          </p:nvPr>
        </p:nvSpPr>
        <p:spPr>
          <a:xfrm>
            <a:off x="8486775" y="378901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先按 BST 规则删除节点，若删除的是黑色节点，会破坏黑高一致性，需通过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变色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旋转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进行复杂调整。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1" name="Google Shape;171;p17" descr="image.png"/>
          <p:cNvPicPr preferRelativeResize="0"/>
          <p:nvPr>
            <p:custDataLst>
              <p:tags r:id="rId13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>
            <a:off x="866775" y="2693670"/>
            <a:ext cx="36322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>
            <p:custDataLst>
              <p:tags r:id="rId15"/>
            </p:custDataLst>
          </p:nvPr>
        </p:nvPicPr>
        <p:blipFill rotWithShape="1">
          <a:blip r:embed="rId16"/>
          <a:srcRect/>
          <a:stretch>
            <a:fillRect/>
          </a:stretch>
        </p:blipFill>
        <p:spPr>
          <a:xfrm>
            <a:off x="4676775" y="2693670"/>
            <a:ext cx="37338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>
            <p:custDataLst>
              <p:tags r:id="rId17"/>
            </p:custDataLst>
          </p:nvPr>
        </p:nvPicPr>
        <p:blipFill rotWithShape="1">
          <a:blip r:embed="rId18"/>
          <a:srcRect/>
          <a:stretch>
            <a:fillRect/>
          </a:stretch>
        </p:blipFill>
        <p:spPr>
          <a:xfrm>
            <a:off x="8486775" y="269364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关键基本操作的具体实现概述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34125" y="180975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71500" y="1809750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调整树结构的利器</a:t>
            </a:r>
            <a:endParaRPr lang="en-US" sz="2100" b="0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584835" y="250952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旋转操作是红黑树和 AVL 树等自平衡树调整平衡的核心手段。它的特点是：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4" name="Google Shape;184;p18"/>
          <p:cNvSpPr txBox="1"/>
          <p:nvPr>
            <p:custDataLst>
              <p:tags r:id="rId2"/>
            </p:custDataLst>
          </p:nvPr>
        </p:nvSpPr>
        <p:spPr>
          <a:xfrm>
            <a:off x="965835" y="3424495"/>
            <a:ext cx="4905375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左旋 (Left Rotate)：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逆时针旋转，使右子节点成为新的父节点。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5" name="Google Shape;185;p18"/>
          <p:cNvSpPr txBox="1"/>
          <p:nvPr>
            <p:custDataLst>
              <p:tags r:id="rId3"/>
            </p:custDataLst>
          </p:nvPr>
        </p:nvSpPr>
        <p:spPr>
          <a:xfrm>
            <a:off x="965835" y="3889285"/>
            <a:ext cx="4905375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右旋 (Right Rotate)：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顺时针旋转，使左子节点成为新的父节点。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6" name="Google Shape;186;p18"/>
          <p:cNvSpPr txBox="1"/>
          <p:nvPr>
            <p:custDataLst>
              <p:tags r:id="rId4"/>
            </p:custDataLst>
          </p:nvPr>
        </p:nvSpPr>
        <p:spPr>
          <a:xfrm>
            <a:off x="1025525" y="4424531"/>
            <a:ext cx="4905375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局部性：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仅修改相关节点的指针，时间复杂度为 </a:t>
            </a: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O(1)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7" name="Google Shape;187;p18"/>
          <p:cNvSpPr txBox="1"/>
          <p:nvPr>
            <p:custDataLst>
              <p:tags r:id="rId5"/>
            </p:custDataLst>
          </p:nvPr>
        </p:nvSpPr>
        <p:spPr>
          <a:xfrm>
            <a:off x="965835" y="4914086"/>
            <a:ext cx="4905375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保持性质：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旋转后仍严格保持二叉搜索树的有序性质。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8" name="Google Shape;188;p18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644525" y="353308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644525" y="39680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673100" y="444167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>
            <p:custDataLst>
              <p:tags r:id="rId12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673100" y="4992826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3.1 旋转操作 (Rotation)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4125" y="3271520"/>
            <a:ext cx="5297805" cy="15671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34125" y="1809115"/>
            <a:ext cx="5286375" cy="442023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71500" y="1809750"/>
            <a:ext cx="5550693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左旋</a:t>
            </a:r>
            <a:r>
              <a:rPr lang="zh-CN" alt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</a:t>
            </a:r>
            <a:endParaRPr lang="zh-CN" altLang="en-US" sz="2100" b="0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3.1 旋转操作 (Rotation)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0080" y="2546033"/>
            <a:ext cx="5080000" cy="3344545"/>
          </a:xfrm>
          <a:prstGeom prst="rect">
            <a:avLst/>
          </a:prstGeom>
        </p:spPr>
        <p:txBody>
          <a:bodyPr>
            <a:spAutoFit/>
          </a:bodyPr>
          <a:p>
            <a:pPr marL="0" indent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60000"/>
              </a:spcAft>
            </a:pPr>
            <a:r>
              <a:rPr lang="zh-CN" altLang="en-US" sz="2100" b="1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算法：</a:t>
            </a:r>
            <a:endParaRPr lang="zh-CN" altLang="en-US" sz="2100" b="1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设节点 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为不平衡发生的位置，节点 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y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 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的右子节点。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60000"/>
              </a:spcAft>
            </a:pPr>
            <a:r>
              <a:rPr lang="zh-CN" altLang="en-US" sz="2100" b="1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执行旋转：</a:t>
            </a:r>
            <a:endParaRPr lang="zh-CN" altLang="en-US" sz="2100" b="1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 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y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设为子树的新根。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 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y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的左子节点移动到 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的右子节点处。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 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y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的左子节点的父节点更新为 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调整父指针。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57175" y="2359025"/>
            <a:ext cx="5462905" cy="3870325"/>
          </a:xfrm>
          <a:prstGeom prst="round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2722" r="7213"/>
          <a:stretch>
            <a:fillRect/>
          </a:stretch>
        </p:blipFill>
        <p:spPr>
          <a:xfrm>
            <a:off x="7667625" y="1856105"/>
            <a:ext cx="2541905" cy="18599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25" y="4333875"/>
            <a:ext cx="2538095" cy="18637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100060" y="6296025"/>
            <a:ext cx="1640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示例：左旋</a:t>
            </a:r>
            <a:r>
              <a:rPr lang="en-US" altLang="zh-CN"/>
              <a:t>9</a:t>
            </a:r>
            <a:endParaRPr lang="en-US" altLang="zh-CN"/>
          </a:p>
        </p:txBody>
      </p:sp>
      <p:cxnSp>
        <p:nvCxnSpPr>
          <p:cNvPr id="7" name="直接箭头连接符 6"/>
          <p:cNvCxnSpPr>
            <a:stCxn id="4" idx="2"/>
            <a:endCxn id="5" idx="0"/>
          </p:cNvCxnSpPr>
          <p:nvPr/>
        </p:nvCxnSpPr>
        <p:spPr>
          <a:xfrm flipH="1">
            <a:off x="8936990" y="3716020"/>
            <a:ext cx="1905" cy="617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34125" y="1809115"/>
            <a:ext cx="5286375" cy="442023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71500" y="1809750"/>
            <a:ext cx="5550693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右旋</a:t>
            </a:r>
            <a:r>
              <a:rPr lang="zh-CN" alt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</a:t>
            </a:r>
            <a:endParaRPr lang="zh-CN" altLang="en-US" sz="2100" b="0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3.1 旋转操作 (Rotation)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7390" y="2799080"/>
            <a:ext cx="4561840" cy="30372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eaLnBrk="1" fontAlgn="auto" latinLnBrk="0" hangingPunct="1">
              <a:lnSpc>
                <a:spcPct val="120000"/>
              </a:lnSpc>
              <a:spcAft>
                <a:spcPct val="60000"/>
              </a:spcAft>
              <a:buSzTx/>
            </a:pPr>
            <a:r>
              <a:rPr lang="zh-CN" altLang="en-US" sz="2100" b="1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算法：</a:t>
            </a:r>
            <a:endParaRPr lang="zh-CN" altLang="en-US" sz="2100" b="1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设节点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x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为不平衡发生的位置，节点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y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x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的左子节点。</a:t>
            </a:r>
            <a:endParaRPr lang="en-US" altLang="zh-CN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ct val="60000"/>
              </a:spcAft>
              <a:buSzTx/>
            </a:pPr>
            <a:r>
              <a:rPr lang="zh-CN" altLang="en-US" sz="2100" b="1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执行旋转：</a:t>
            </a:r>
            <a:endParaRPr lang="zh-CN" altLang="en-US" sz="2100" b="1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y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设为子树的新根。</a:t>
            </a:r>
            <a:endParaRPr lang="en-US" altLang="zh-CN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y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的右子节点移动到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x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的左子节点处。</a:t>
            </a:r>
            <a:endParaRPr lang="en-US" altLang="zh-CN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y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的右子节点的父节点更新为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x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en-US" altLang="zh-CN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调整父指针。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57175" y="2359025"/>
            <a:ext cx="5462905" cy="3870325"/>
          </a:xfrm>
          <a:prstGeom prst="round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2722" r="7213"/>
          <a:stretch>
            <a:fillRect/>
          </a:stretch>
        </p:blipFill>
        <p:spPr>
          <a:xfrm>
            <a:off x="7667625" y="1856105"/>
            <a:ext cx="2541905" cy="18599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25" y="4333875"/>
            <a:ext cx="2538095" cy="18637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100060" y="6296025"/>
            <a:ext cx="1640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示例：</a:t>
            </a:r>
            <a:r>
              <a:rPr lang="zh-CN" altLang="en-US"/>
              <a:t>右旋</a:t>
            </a:r>
            <a:r>
              <a:rPr lang="en-US" altLang="zh-CN"/>
              <a:t>12</a:t>
            </a:r>
            <a:endParaRPr lang="en-US" altLang="zh-CN"/>
          </a:p>
        </p:txBody>
      </p:sp>
      <p:cxnSp>
        <p:nvCxnSpPr>
          <p:cNvPr id="7" name="直接箭头连接符 6"/>
          <p:cNvCxnSpPr>
            <a:stCxn id="5" idx="0"/>
            <a:endCxn id="4" idx="2"/>
          </p:cNvCxnSpPr>
          <p:nvPr/>
        </p:nvCxnSpPr>
        <p:spPr>
          <a:xfrm flipV="1">
            <a:off x="8936990" y="3716020"/>
            <a:ext cx="1905" cy="617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3.2 插入 (Insert)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5450" y="2087245"/>
            <a:ext cx="8682990" cy="42087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eaLnBrk="1" fontAlgn="auto" latinLnBrk="0" hangingPunct="1">
              <a:lnSpc>
                <a:spcPct val="150000"/>
              </a:lnSpc>
            </a:pPr>
            <a:r>
              <a:rPr lang="en-US" altLang="zh-CN" sz="2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2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按照二叉检索树的规则，找到插入的位置 </a:t>
            </a:r>
            <a:endParaRPr lang="zh-CN" altLang="en-US" sz="2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fontAlgn="auto" latinLnBrk="0" hangingPunct="1">
              <a:lnSpc>
                <a:spcPct val="150000"/>
              </a:lnSpc>
            </a:pPr>
            <a:r>
              <a:rPr lang="en-US" altLang="zh-CN" sz="2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在插入位置插入一个</a:t>
            </a:r>
            <a:r>
              <a:rPr lang="zh-CN" altLang="en-US" sz="2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红色的结点</a:t>
            </a:r>
            <a:endParaRPr lang="zh-CN" altLang="en-US" sz="22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50000"/>
              </a:lnSpc>
            </a:pPr>
            <a:r>
              <a:rPr lang="en-US" altLang="zh-CN" sz="19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插入黑色结点</a:t>
            </a:r>
            <a:r>
              <a:rPr lang="zh-CN" altLang="en-US" sz="19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肯定会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影响到黑高相等性质，每次都需要调整</a:t>
            </a:r>
            <a:endParaRPr lang="zh-CN" altLang="en-US" sz="19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50000"/>
              </a:lnSpc>
            </a:pPr>
            <a:r>
              <a:rPr lang="en-US" altLang="zh-CN" sz="19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插入红色结点</a:t>
            </a:r>
            <a:r>
              <a:rPr lang="zh-CN" altLang="en-US" sz="19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可能会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影响着色性质，不一定每次都需调整</a:t>
            </a:r>
            <a:endParaRPr lang="zh-CN" altLang="en-US" sz="19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fontAlgn="auto" latinLnBrk="0" hangingPunct="1">
              <a:lnSpc>
                <a:spcPct val="150000"/>
              </a:lnSpc>
            </a:pP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	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红色结点不能相邻</a:t>
            </a:r>
            <a:endParaRPr lang="zh-CN" altLang="en-US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fontAlgn="auto" latinLnBrk="0" hangingPunct="1">
              <a:lnSpc>
                <a:spcPct val="150000"/>
              </a:lnSpc>
            </a:pPr>
            <a:r>
              <a:rPr lang="en-US" altLang="zh-CN" sz="2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检查是否符合红黑树的规则，若违反规则，则进行调整 </a:t>
            </a:r>
            <a:endParaRPr lang="zh-CN" altLang="en-US" sz="2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50000"/>
              </a:lnSpc>
            </a:pPr>
            <a:r>
              <a:rPr lang="en-US" altLang="zh-CN" sz="19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只会影响着色性质，因此只需检查</a:t>
            </a:r>
            <a:r>
              <a:rPr lang="zh-CN" altLang="en-US" sz="19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父结点是否为红色结点</a:t>
            </a:r>
            <a:endParaRPr lang="zh-CN" altLang="en-US" sz="19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50000"/>
              </a:lnSpc>
            </a:pPr>
            <a:r>
              <a:rPr lang="en-US" altLang="zh-CN" sz="19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若父结点为黑色结点，不需调整</a:t>
            </a:r>
            <a:endParaRPr lang="zh-CN" altLang="en-US" sz="19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50000"/>
              </a:lnSpc>
            </a:pPr>
            <a:r>
              <a:rPr lang="en-US" altLang="zh-CN" sz="19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9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若父结点为红色结点，需要调整</a:t>
            </a:r>
            <a:endParaRPr lang="zh-CN" altLang="en-US" sz="19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6470" y="1143000"/>
            <a:ext cx="4410075" cy="2122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3.2 插入 (Insert)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1500" y="1535430"/>
            <a:ext cx="10337165" cy="26365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fontAlgn="auto" latinLnBrk="0" hangingPunct="1">
              <a:lnSpc>
                <a:spcPct val="120000"/>
              </a:lnSpc>
            </a:pPr>
            <a:r>
              <a:rPr lang="en-US" altLang="zh-CN" sz="28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800" b="0">
                <a:solidFill>
                  <a:srgbClr val="0047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若父亲结点为红色，则出现连续的红色结点，违反了着色性质 </a:t>
            </a:r>
            <a:endParaRPr lang="zh-CN" altLang="en-US" sz="2800" b="0">
              <a:solidFill>
                <a:srgbClr val="0047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fontAlgn="auto" latinLnBrk="0" hangingPunct="1">
              <a:lnSpc>
                <a:spcPct val="120000"/>
              </a:lnSpc>
            </a:pPr>
            <a:r>
              <a:rPr lang="en-US" altLang="zh-CN" sz="21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约定：</a:t>
            </a:r>
            <a:r>
              <a:rPr lang="en-US" altLang="zh-CN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为当前结点，</a:t>
            </a:r>
            <a:r>
              <a:rPr lang="en-US" altLang="zh-CN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为父结点，</a:t>
            </a:r>
            <a:r>
              <a:rPr lang="en-US" altLang="zh-CN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为祖父结点，</a:t>
            </a:r>
            <a:r>
              <a:rPr lang="en-US" altLang="zh-CN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为叔叔结点 </a:t>
            </a:r>
            <a:endParaRPr lang="zh-CN" altLang="en-US" sz="2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fontAlgn="auto" latinLnBrk="0" hangingPunct="1">
              <a:lnSpc>
                <a:spcPct val="120000"/>
              </a:lnSpc>
            </a:pPr>
            <a:r>
              <a:rPr lang="en-US" altLang="zh-CN" sz="21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</a:t>
            </a:r>
            <a:r>
              <a:rPr lang="en-US" altLang="zh-CN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：叔叔结点存在且为</a:t>
            </a:r>
            <a:r>
              <a:rPr lang="zh-CN" altLang="en-US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红色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为红，</a:t>
            </a:r>
            <a:r>
              <a:rPr lang="en-US" altLang="zh-CN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为红，</a:t>
            </a:r>
            <a:r>
              <a:rPr lang="en-US" altLang="zh-CN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为黑，</a:t>
            </a:r>
            <a:r>
              <a:rPr lang="en-US" altLang="zh-CN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为红）</a:t>
            </a:r>
            <a:endParaRPr lang="zh-CN" altLang="en-US" sz="2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20000"/>
              </a:lnSpc>
            </a:pPr>
            <a:r>
              <a:rPr lang="en-US" altLang="zh-CN" sz="18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8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将父亲结点和叔叔结点的颜色改为黑色，</a:t>
            </a:r>
            <a:r>
              <a:rPr lang="zh-CN" altLang="en-US" sz="1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祖父结点改为红色 </a:t>
            </a:r>
            <a:endParaRPr lang="zh-CN" altLang="en-US" sz="1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fontAlgn="auto" latinLnBrk="0" hangingPunct="1">
              <a:lnSpc>
                <a:spcPct val="120000"/>
              </a:lnSpc>
            </a:pP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	• </a:t>
            </a:r>
            <a:r>
              <a:rPr lang="zh-CN" altLang="en-US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红色改为黑色，不会违反不能出现连续红色的规则 </a:t>
            </a:r>
            <a:endParaRPr lang="zh-CN" altLang="en-US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fontAlgn="auto" latinLnBrk="0" hangingPunct="1">
              <a:lnSpc>
                <a:spcPct val="120000"/>
              </a:lnSpc>
            </a:pP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	• </a:t>
            </a:r>
            <a:r>
              <a:rPr lang="zh-CN" altLang="en-US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父亲结点和叔叔结点同时修改，不会影响左右子树的黑高 </a:t>
            </a:r>
            <a:endParaRPr lang="zh-CN" altLang="en-US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20000"/>
              </a:lnSpc>
            </a:pPr>
            <a:r>
              <a:rPr lang="en-US" altLang="zh-CN" sz="18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8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</a:t>
            </a:r>
            <a:r>
              <a:rPr lang="en-US" altLang="zh-CN" sz="18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18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结点的</a:t>
            </a:r>
            <a:r>
              <a:rPr lang="zh-CN" altLang="en-US" sz="1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父亲结点为红色</a:t>
            </a:r>
            <a:r>
              <a:rPr lang="zh-CN" altLang="en-US" sz="18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</a:t>
            </a:r>
            <a:r>
              <a:rPr lang="zh-CN" altLang="en-US" sz="1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继续向上调整；</a:t>
            </a:r>
            <a:r>
              <a:rPr lang="zh-CN" altLang="en-US" sz="18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</a:t>
            </a:r>
            <a:r>
              <a:rPr lang="en-US" altLang="zh-CN" sz="18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18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结点为</a:t>
            </a:r>
            <a:r>
              <a:rPr lang="zh-CN" altLang="en-US" sz="1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根结点，</a:t>
            </a:r>
            <a:r>
              <a:rPr lang="zh-CN" altLang="en-US" sz="18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改为</a:t>
            </a:r>
            <a:r>
              <a:rPr lang="zh-CN" altLang="en-US" sz="1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黑色</a:t>
            </a:r>
            <a:endParaRPr lang="zh-CN" altLang="en-US" sz="1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372610"/>
            <a:ext cx="2341245" cy="2128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660" y="4372610"/>
            <a:ext cx="2283460" cy="22028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220" y="4224655"/>
            <a:ext cx="2209800" cy="2424430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3065145" y="5247005"/>
            <a:ext cx="1539875" cy="40513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6875145" y="5247005"/>
            <a:ext cx="1539875" cy="40513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96920" y="4909820"/>
            <a:ext cx="96520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0">
                <a:solidFill>
                  <a:srgbClr val="000000"/>
                </a:solidFill>
                <a:latin typeface="MicrosoftYaHei"/>
                <a:ea typeface="MicrosoftYaHei"/>
              </a:rPr>
              <a:t>变色</a:t>
            </a:r>
            <a:endParaRPr lang="zh-CN" altLang="en-US" sz="1600" b="0">
              <a:solidFill>
                <a:srgbClr val="000000"/>
              </a:solidFill>
              <a:latin typeface="MicrosoftYaHei"/>
              <a:ea typeface="MicrosoftYaHei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30695" y="4469130"/>
            <a:ext cx="188087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0">
                <a:solidFill>
                  <a:srgbClr val="000000"/>
                </a:solidFill>
                <a:latin typeface="MicrosoftYaHei"/>
                <a:ea typeface="MicrosoftYaHei"/>
              </a:rPr>
              <a:t>两个红色结点连在一起， 需要继续向上调整</a:t>
            </a:r>
            <a:endParaRPr lang="zh-CN" altLang="en-US" sz="1600" b="0">
              <a:solidFill>
                <a:srgbClr val="000000"/>
              </a:solidFill>
              <a:latin typeface="MicrosoftYaHei"/>
              <a:ea typeface="MicrosoftYa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 animBg="1"/>
      <p:bldP spid="10" grpId="1"/>
      <p:bldP spid="6" grpId="1" animBg="1"/>
      <p:bldP spid="11" grpId="0"/>
      <p:bldP spid="7" grpId="0" animBg="1"/>
      <p:bldP spid="11" grpId="1"/>
      <p:bldP spid="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3.2 插入 (Insert)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2950" y="1478280"/>
            <a:ext cx="8923020" cy="187515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2100" b="0">
                <a:solidFill>
                  <a:srgbClr val="0047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</a:t>
            </a:r>
            <a:r>
              <a:rPr lang="en-US" altLang="zh-CN" sz="2100" b="0">
                <a:solidFill>
                  <a:srgbClr val="0047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100" b="0">
                <a:solidFill>
                  <a:srgbClr val="0047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：叔叔结点不存在或为黑色，</a:t>
            </a:r>
            <a:r>
              <a:rPr lang="en-US" altLang="zh-CN" sz="2100" b="0">
                <a:solidFill>
                  <a:srgbClr val="1C9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100" b="0">
                <a:solidFill>
                  <a:srgbClr val="1C9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100" b="0">
                <a:solidFill>
                  <a:srgbClr val="1C9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2100" b="0">
                <a:solidFill>
                  <a:srgbClr val="1C9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的左孩子 </a:t>
            </a:r>
            <a:endParaRPr lang="zh-CN" altLang="en-US" sz="2100" b="0">
              <a:solidFill>
                <a:srgbClr val="1C9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4" indent="457200"/>
            <a:r>
              <a:rPr lang="en-US" altLang="zh-CN" sz="19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en-US" altLang="zh-CN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为红，</a:t>
            </a:r>
            <a:r>
              <a:rPr lang="en-US" altLang="zh-CN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为红，</a:t>
            </a:r>
            <a:r>
              <a:rPr lang="en-US" altLang="zh-CN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为黑，</a:t>
            </a:r>
            <a:r>
              <a:rPr lang="en-US" altLang="zh-CN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不存在或为黑色</a:t>
            </a:r>
            <a:endParaRPr lang="zh-CN" altLang="en-US" sz="19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4" indent="457200"/>
            <a:r>
              <a:rPr lang="en-US" altLang="zh-CN" sz="21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1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</a:t>
            </a:r>
            <a:r>
              <a:rPr lang="en-US" altLang="zh-CN" sz="21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的左孩子（</a:t>
            </a:r>
            <a:r>
              <a:rPr lang="en-US" altLang="zh-CN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</a:t>
            </a:r>
            <a:r>
              <a:rPr lang="zh-CN" altLang="en-US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型）</a:t>
            </a:r>
            <a:endParaRPr lang="zh-CN" altLang="en-US" sz="21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en-US" altLang="zh-CN" sz="16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对结点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绕结点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zh-CN" altLang="en-US" sz="1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右旋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，并将</a:t>
            </a:r>
            <a:r>
              <a:rPr lang="en-US" altLang="zh-CN" sz="1600" b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的颜色改为黑色，</a:t>
            </a:r>
            <a:r>
              <a:rPr lang="en-US" altLang="zh-CN" sz="1600" b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的颜色改为红色</a:t>
            </a:r>
            <a:endParaRPr lang="zh-CN" altLang="en-US"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315" y="3863975"/>
            <a:ext cx="2491740" cy="25755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595" y="3863975"/>
            <a:ext cx="2811780" cy="29457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735" y="3863975"/>
            <a:ext cx="2649220" cy="2884170"/>
          </a:xfrm>
          <a:prstGeom prst="rect">
            <a:avLst/>
          </a:prstGeom>
        </p:spPr>
      </p:pic>
      <p:sp>
        <p:nvSpPr>
          <p:cNvPr id="13" name="右箭头 12"/>
          <p:cNvSpPr/>
          <p:nvPr/>
        </p:nvSpPr>
        <p:spPr>
          <a:xfrm>
            <a:off x="3609340" y="5027930"/>
            <a:ext cx="1247775" cy="2921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7339330" y="5027930"/>
            <a:ext cx="1247775" cy="2921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669030" y="4643120"/>
            <a:ext cx="816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</a:t>
            </a:r>
            <a:r>
              <a:rPr lang="zh-CN" altLang="en-US"/>
              <a:t>右旋转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39990" y="4643120"/>
            <a:ext cx="9359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变色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3" grpId="1" animBg="1"/>
      <p:bldP spid="15" grpId="1"/>
      <p:bldP spid="14" grpId="0" animBg="1"/>
      <p:bldP spid="16" grpId="0"/>
      <p:bldP spid="14" grpId="1" animBg="1"/>
      <p:bldP spid="1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3.2 插入 (Insert)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3609340" y="5027930"/>
            <a:ext cx="1247775" cy="2921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7339330" y="5027930"/>
            <a:ext cx="1247775" cy="2921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669030" y="4643120"/>
            <a:ext cx="816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</a:t>
            </a:r>
            <a:r>
              <a:rPr lang="zh-CN" altLang="en-US"/>
              <a:t>左旋转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39990" y="4643120"/>
            <a:ext cx="9359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</a:t>
            </a:r>
            <a:r>
              <a:rPr lang="zh-CN" altLang="en-US"/>
              <a:t>右</a:t>
            </a:r>
            <a:r>
              <a:rPr lang="zh-CN" altLang="en-US"/>
              <a:t>旋转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22300" y="1409065"/>
            <a:ext cx="8731250" cy="152209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100" b="0">
                <a:solidFill>
                  <a:srgbClr val="0047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</a:t>
            </a:r>
            <a:r>
              <a:rPr lang="en-US" altLang="zh-CN" sz="2100" b="0">
                <a:solidFill>
                  <a:srgbClr val="0047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100" b="0">
                <a:solidFill>
                  <a:srgbClr val="0047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：叔叔结点不存在或为黑色，</a:t>
            </a:r>
            <a:r>
              <a:rPr lang="en-US" altLang="zh-CN" sz="2100" b="0">
                <a:solidFill>
                  <a:srgbClr val="1C9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100" b="0">
                <a:solidFill>
                  <a:srgbClr val="1C9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100" b="0">
                <a:solidFill>
                  <a:srgbClr val="1C9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2100" b="0">
                <a:solidFill>
                  <a:srgbClr val="1C9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的左孩子</a:t>
            </a:r>
            <a:endParaRPr lang="zh-CN" altLang="en-US" sz="2100" b="0">
              <a:solidFill>
                <a:srgbClr val="1C9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en-US" altLang="zh-CN" sz="19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en-US" altLang="zh-CN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为红，</a:t>
            </a:r>
            <a:r>
              <a:rPr lang="en-US" altLang="zh-CN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为红，</a:t>
            </a:r>
            <a:r>
              <a:rPr lang="en-US" altLang="zh-CN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为黑，</a:t>
            </a:r>
            <a:r>
              <a:rPr lang="en-US" altLang="zh-CN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19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不存在或为黑色 </a:t>
            </a:r>
            <a:endParaRPr lang="zh-CN" altLang="en-US" sz="19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en-US" altLang="zh-CN" sz="21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1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</a:t>
            </a:r>
            <a:r>
              <a:rPr lang="en-US" altLang="zh-CN" sz="21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1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的右孩子（</a:t>
            </a:r>
            <a:r>
              <a:rPr lang="en-US" altLang="zh-CN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</a:t>
            </a:r>
            <a:r>
              <a:rPr lang="zh-CN" altLang="en-US" sz="21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型）</a:t>
            </a:r>
            <a:endParaRPr lang="zh-CN" altLang="en-US" sz="21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en-US" altLang="zh-CN" sz="16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先对结点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绕结点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进行左旋，则转换为情况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en-US" altLang="zh-CN" sz="16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利用情况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的规则继续调整：对结点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绕结点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右旋，并交换</a:t>
            </a:r>
            <a:r>
              <a:rPr lang="en-US" altLang="zh-CN" sz="1600" b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600" b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的颜色</a:t>
            </a:r>
            <a:endParaRPr lang="zh-CN" altLang="en-US"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790" y="3948430"/>
            <a:ext cx="2372360" cy="27374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2666"/>
          <a:stretch>
            <a:fillRect/>
          </a:stretch>
        </p:blipFill>
        <p:spPr>
          <a:xfrm>
            <a:off x="4952365" y="4116070"/>
            <a:ext cx="2287905" cy="2402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490" y="3948430"/>
            <a:ext cx="2492375" cy="2637790"/>
          </a:xfrm>
          <a:prstGeom prst="rect">
            <a:avLst/>
          </a:prstGeom>
        </p:spPr>
      </p:pic>
      <p:sp>
        <p:nvSpPr>
          <p:cNvPr id="1" name="文本框 0"/>
          <p:cNvSpPr txBox="1"/>
          <p:nvPr/>
        </p:nvSpPr>
        <p:spPr>
          <a:xfrm>
            <a:off x="5979160" y="6518910"/>
            <a:ext cx="756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情况</a:t>
            </a:r>
            <a:r>
              <a:rPr lang="en-US" altLang="zh-CN"/>
              <a:t>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3" grpId="0" animBg="1"/>
      <p:bldP spid="1" grpId="0"/>
      <p:bldP spid="15" grpId="1"/>
      <p:bldP spid="13" grpId="1" animBg="1"/>
      <p:bldP spid="1" grpId="1"/>
      <p:bldP spid="16" grpId="0"/>
      <p:bldP spid="14" grpId="0" animBg="1"/>
      <p:bldP spid="16" grpId="1"/>
      <p:bldP spid="1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3.2 插入 (Insert)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" name="图片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0" y="1542415"/>
            <a:ext cx="7990840" cy="23368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" y="4371975"/>
            <a:ext cx="7990840" cy="22529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43120" y="1314450"/>
            <a:ext cx="2283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RR</a:t>
            </a:r>
            <a:r>
              <a:rPr lang="zh-CN" altLang="en-US"/>
              <a:t>型（和情况</a:t>
            </a:r>
            <a:r>
              <a:rPr lang="en-US" altLang="zh-CN"/>
              <a:t>2</a:t>
            </a:r>
            <a:r>
              <a:rPr lang="zh-CN" altLang="en-US"/>
              <a:t>类似）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643120" y="3996055"/>
            <a:ext cx="2283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RL</a:t>
            </a:r>
            <a:r>
              <a:rPr lang="zh-CN" altLang="en-US"/>
              <a:t>型（和情况</a:t>
            </a:r>
            <a:r>
              <a:rPr lang="en-US" altLang="zh-CN"/>
              <a:t>3</a:t>
            </a:r>
            <a:r>
              <a:rPr lang="zh-CN" altLang="en-US"/>
              <a:t>类似）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3.3 删除 (Delete)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1500" y="1480820"/>
            <a:ext cx="762254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红黑树的删除操作比插入操作要更为复杂，因为需要考虑的因素比节点插入要多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1500" y="1892935"/>
            <a:ext cx="9998710" cy="28841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ts val="300"/>
              </a:spcAft>
            </a:pPr>
            <a:r>
              <a:rPr lang="zh-CN" altLang="en-US" sz="20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对于一个节点的删除，我们可以从如下两个方面去考虑：</a:t>
            </a:r>
            <a:endParaRPr lang="zh-CN" altLang="en-US" sz="2000" b="1" i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ts val="300"/>
              </a:spcAft>
            </a:pPr>
            <a:r>
              <a:rPr lang="zh-CN" altLang="en-US" sz="16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</a:t>
            </a:r>
            <a:r>
              <a:rPr lang="en-US" altLang="zh-CN" sz="16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删除节点的构造</a:t>
            </a:r>
            <a:endParaRPr lang="zh-CN" altLang="en-US" sz="16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>
              <a:spcBef>
                <a:spcPct val="0"/>
              </a:spcBef>
              <a:spcAft>
                <a:spcPts val="300"/>
              </a:spcAft>
              <a:buAutoNum type="arabicPeriod"/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如果要删除的节点没有子节点，只需将其删除并更新父节点即可。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0"/>
              </a:spcBef>
              <a:spcAft>
                <a:spcPts val="300"/>
              </a:spcAft>
              <a:buAutoNum type="arabicPeriod"/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如果要删除的节点只有一个子节点，则用该子节点替换该节点。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0"/>
              </a:spcBef>
              <a:spcAft>
                <a:spcPts val="300"/>
              </a:spcAft>
              <a:buAutoNum type="arabicPeriod"/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如果要删除的节点有两个子节点，则</a:t>
            </a:r>
            <a:r>
              <a:rPr lang="zh-CN" altLang="en-US" sz="1600" b="0" i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将其替换为其中序后继节点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，即右子树中最左边的节点。然后删除该中序后继节点，就好像它最多只有一个子节点一样。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ts val="300"/>
              </a:spcAft>
            </a:pPr>
            <a:r>
              <a:rPr lang="zh-CN" altLang="en-US" sz="1600" b="0" i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lang="en-US" altLang="zh-CN" sz="1600" b="0" i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b="0" i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删除节点的颜色</a:t>
            </a:r>
            <a:endParaRPr lang="zh-CN" altLang="en-US" sz="1600" b="0" i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spcBef>
                <a:spcPct val="0"/>
              </a:spcBef>
              <a:spcAft>
                <a:spcPts val="3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节点删除后，其红黑属性可能会被破坏。为了恢复这些属性，需要</a:t>
            </a:r>
            <a:r>
              <a:rPr lang="zh-CN" altLang="en-US" sz="1600" b="0" i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对树中的节点进行一些颜色更改和旋转操作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。这些更改与插入节点时的操作类似，但条件有所不同。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ts val="300"/>
              </a:spcAft>
            </a:pPr>
            <a:endParaRPr lang="zh-CN" altLang="en-US" sz="16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rcRect b="9964"/>
          <a:stretch>
            <a:fillRect/>
          </a:stretch>
        </p:blipFill>
        <p:spPr>
          <a:xfrm>
            <a:off x="1129030" y="4616450"/>
            <a:ext cx="3670935" cy="20770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96000" y="4871085"/>
            <a:ext cx="5249545" cy="18148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后继结点的判断可以使用左图的方式，将节点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落入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轴中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实质是中序排序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</a:t>
            </a:r>
            <a:r>
              <a:rPr lang="zh-CN" altLang="en-US" sz="1600" b="0" i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后一个结点就是后继节点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那么我们看一下后继节点替代删除的方案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比如删除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，那么可以将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替换到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的位置，然后删除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，这样就回到情况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16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再比如删除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，那么使用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来代替，然后删除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，这样就回到了情况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3.3 删除 (Delete)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" name="文本框 0"/>
          <p:cNvSpPr txBox="1"/>
          <p:nvPr/>
        </p:nvSpPr>
        <p:spPr>
          <a:xfrm>
            <a:off x="575945" y="1416050"/>
            <a:ext cx="10720705" cy="25533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执行标准的二叉搜索树删除操作</a:t>
            </a:r>
            <a:endParaRPr lang="zh-CN" altLang="en-US" sz="24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在二叉搜索树中执行标准删除操作时，我们总是会删除一个叶节点或只有一个子节点的节点（对于内部节点，我们会复制其后继节点</a:t>
            </a:r>
            <a:endParaRPr lang="zh-CN" altLang="en-US"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然后递归地对后继节点调用删除操作，后继节点始终是叶节点或只有一个子节点的节点）。</a:t>
            </a:r>
            <a:endParaRPr lang="zh-CN" altLang="en-US"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因此，我们只需要处理节点是叶节点或只有一个子节点的情况。设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为要删除的节点，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为替换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的子节点（注意，当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为叶节点时，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NULL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NULL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的颜色被视为黑色）。</a:t>
            </a:r>
            <a:endParaRPr lang="zh-CN" altLang="en-US"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 b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2400" b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简单情况：</a:t>
            </a:r>
            <a:endParaRPr lang="zh-CN" altLang="en-US" sz="2400" b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 </a:t>
            </a:r>
            <a:r>
              <a:rPr lang="zh-CN" altLang="en-US" sz="16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16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 </a:t>
            </a:r>
            <a:r>
              <a:rPr lang="zh-CN" altLang="en-US" sz="16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为红色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，我们将替换的子节点标记为黑色（黑色高度不变）。注意，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不能同时为红色，因为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的父节点，而红黑树中不允许出现两个连续的红色节点。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1528446" y="3669665"/>
            <a:ext cx="8381999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3.3 删除 (Delete)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1500" y="1469390"/>
            <a:ext cx="10654665" cy="15068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 b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2400" b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</a:t>
            </a:r>
            <a:r>
              <a:rPr lang="en-US" altLang="zh-CN" sz="2400" b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 </a:t>
            </a:r>
            <a:r>
              <a:rPr lang="zh-CN" altLang="en-US" sz="2400" b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 </a:t>
            </a:r>
            <a:r>
              <a:rPr lang="zh-CN" altLang="en-US" sz="2400" b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均为黑色</a:t>
            </a:r>
            <a:endParaRPr lang="zh-CN" altLang="en-US" sz="2400" b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buSzTx/>
            </a:pPr>
            <a:r>
              <a:rPr lang="en-US" altLang="zh-CN" sz="18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2.1如果 u 是根节点，则将其变为单个黑色并返回（完整树的黑色高度减少 1）</a:t>
            </a:r>
            <a:endParaRPr lang="en-US" altLang="zh-CN" sz="1800" b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en-US" altLang="zh-CN" sz="18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</a:t>
            </a:r>
            <a:r>
              <a:rPr lang="zh-CN" altLang="en-US" sz="18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8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 </a:t>
            </a:r>
            <a:r>
              <a:rPr lang="zh-CN" altLang="en-US" sz="18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着色为双黑</a:t>
            </a:r>
            <a:endParaRPr lang="zh-CN" altLang="en-US" sz="1800" b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现在我们的任务简化为将双黑转换为单黑。注意，如果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是叶子节点，则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NULL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NULL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的颜色被视为黑色。因此，删除黑色叶子节点也会导致出现双黑。</a:t>
            </a:r>
            <a:endParaRPr lang="zh-CN" altLang="en-US"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555750" y="2930208"/>
            <a:ext cx="8553450" cy="3686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3.3 删除 (Delete)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" name="文本框 0"/>
          <p:cNvSpPr txBox="1"/>
          <p:nvPr/>
        </p:nvSpPr>
        <p:spPr>
          <a:xfrm>
            <a:off x="571500" y="1423035"/>
            <a:ext cx="10548620" cy="20612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2.3</a:t>
            </a:r>
            <a:r>
              <a:rPr lang="zh-CN" altLang="en-US" sz="16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当当前节点</a:t>
            </a:r>
            <a:r>
              <a:rPr lang="en-US" altLang="zh-CN" sz="16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 </a:t>
            </a:r>
            <a:r>
              <a:rPr lang="zh-CN" altLang="en-US" sz="16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为双黑且不是根节点时，执行以下操作。</a:t>
            </a:r>
            <a:endParaRPr lang="zh-CN" altLang="en-US" sz="1600" b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设节点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的兄弟节点为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：如果兄弟节点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为黑色且其至少一个子节点为红色，则执行旋转操作。设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的红色子节点为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。根据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的位置，这种情况可以分为四种子情况。</a:t>
            </a:r>
            <a:endParaRPr lang="zh-CN" altLang="en-US"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(i)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左左情况（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是其父节点的左子节点，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的左子节点，或者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的两个子节点均为红色）。这是下图所示的右右情况的镜像。</a:t>
            </a:r>
            <a:endParaRPr lang="zh-CN" altLang="en-US"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	(ii)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左右情况（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是其父节点的左子节点，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是其父节点的右子节点）。这是下图所示的右左情况的镜像。</a:t>
            </a:r>
            <a:endParaRPr lang="zh-CN" altLang="en-US"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(iii)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右右情况（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是其父节点的右子节点，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的右子节点，或者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的两个子节点均为红色）。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355600" y="3505200"/>
            <a:ext cx="1122045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3.3 删除 (Delete)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1500" y="1557020"/>
            <a:ext cx="671258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(iv)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左右关系（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是其父节点的右子节点，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 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的左子节点）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600" b="0" i="0">
              <a:solidFill>
                <a:srgbClr val="2732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628015" y="1894205"/>
            <a:ext cx="10787380" cy="49523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3.3 删除 (Delete)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1500" y="1457325"/>
            <a:ext cx="998410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）：如果兄弟节点是黑色，并且它的两个子节点都是黑色，则执行重新着色，如果父节点是黑色，则对父节点重复此操作。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600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989330" y="2040890"/>
            <a:ext cx="10027920" cy="38728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68070" y="6121400"/>
            <a:ext cx="987044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在这种情况下，如果父节点是红色，那么我们不需要对父节点进行递归操作，可以直接将其变为黑色（红色 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双黑 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单黑）</a:t>
            </a:r>
            <a:endParaRPr lang="zh-CN" altLang="en-US" sz="1600" b="0" i="0">
              <a:solidFill>
                <a:srgbClr val="2732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3.3 删除 (Delete)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1500" y="1497965"/>
            <a:ext cx="1049655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）：如果兄弟节点是红色，则执行旋转操作，将原兄弟节点向上移动，并重新着色原兄弟节点和父节点。新的兄弟节点始终为黑色（参见下图）。这主要将树转换为黑色兄弟节点的情况（通过旋转），并导致情况 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 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 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(b)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。这种情况可以分为两个子情况。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600" b="0" i="0">
              <a:solidFill>
                <a:srgbClr val="2732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algn="l"/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）左情况（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是其父节点的左子节点）。这是下图所示的右情况的镜像。我们将父节点 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向右旋转。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600" b="0" i="0">
              <a:solidFill>
                <a:srgbClr val="2732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algn="l"/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ii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）右情况（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是其父节点的右子节点）。我们将父节点 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lang="zh-CN" altLang="en-US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向左旋转。</a:t>
            </a:r>
            <a:r>
              <a:rPr lang="en-US" altLang="zh-CN" sz="1600" b="0" i="0">
                <a:solidFill>
                  <a:srgbClr val="273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600" b="0" i="0">
              <a:solidFill>
                <a:srgbClr val="2732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282190" y="2872740"/>
            <a:ext cx="6887845" cy="38538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/>
        </p:nvSpPr>
        <p:spPr>
          <a:xfrm>
            <a:off x="571500" y="2408039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红黑树应用广泛，作为基础组件支撑着大量系统级功能：</a:t>
            </a:r>
            <a:endParaRPr lang="en-US" sz="18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952500" y="3154709"/>
            <a:ext cx="10668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关联容器底层实现：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如 C++ STL 中的 std::map、std::set，Java 中的 TreeMap、TreeSet。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952500" y="3638550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操作系统进程调度：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Linux 内核的 CFS（完全公平调度器）使用红黑树管理进程上下文，以 O(log n) 快速挑选虚拟运行时间最小的进程。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952500" y="4103340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内存管理：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操作系统内核（如 Linux）的虚拟内存管理模块中，用红黑树来管理 VMA（虚拟内存区域），快速定位地址区间。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952500" y="4568130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数据库与索引：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很多数据库的高级索引机制，以及各类需动态维护有序数据的中间件。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952500" y="5032920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网络路由：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路由表的快速更新与查找匹配。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6" name="Google Shape;266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3178522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662362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12239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58718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505197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571500" y="571500"/>
            <a:ext cx="1160145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典型应用场景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571500" y="179546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动态顺序统计树 (Order-Statistic Tree)</a:t>
            </a:r>
            <a:endParaRPr lang="en-US" sz="2100" b="0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571500" y="2300287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实现一个支持动态插入、删除和区间统计/排名查询的数据结构。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571500" y="299174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思路与改造：</a:t>
            </a:r>
            <a:endParaRPr lang="en-US" sz="1350" b="1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81" name="Google Shape;281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982319"/>
            <a:ext cx="5286375" cy="7390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752475" y="340795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809625" y="3408908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在红黑树节点中增加一个 size 属性，记录以该节点为根的子树的节点总数。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752475" y="409941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809625" y="4100363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维护性质：size[x] = size[x.left] + size[x.right] + 1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752475" y="451657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809625" y="4517528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在进行插入、删除及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旋转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操作时，同步更新 size 值。</a:t>
            </a:r>
            <a:endParaRPr lang="en-US" sz="13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88" name="Google Shape;288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43650" y="1804987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 txBox="1"/>
          <p:nvPr/>
        </p:nvSpPr>
        <p:spPr>
          <a:xfrm>
            <a:off x="571500" y="571500"/>
            <a:ext cx="1160145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基于红黑树求解具体问题示例</a:t>
            </a:r>
            <a:endParaRPr 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" name="组合 0"/>
          <p:cNvGrpSpPr/>
          <p:nvPr/>
        </p:nvGrpSpPr>
        <p:grpSpPr>
          <a:xfrm>
            <a:off x="571500" y="1486535"/>
            <a:ext cx="11049000" cy="2640330"/>
            <a:chOff x="900" y="4124"/>
            <a:chExt cx="17400" cy="4158"/>
          </a:xfrm>
        </p:grpSpPr>
        <p:pic>
          <p:nvPicPr>
            <p:cNvPr id="295" name="Google Shape;295;p24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900" y="4124"/>
              <a:ext cx="17400" cy="41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24"/>
            <p:cNvSpPr txBox="1"/>
            <p:nvPr/>
          </p:nvSpPr>
          <p:spPr>
            <a:xfrm>
              <a:off x="2115" y="4739"/>
              <a:ext cx="15570" cy="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红黑树是一种自平衡的二叉搜索树，通过</a:t>
              </a:r>
              <a:r>
                <a:rPr lang="en-US" sz="1350" b="1" i="0" u="none" strike="noStrike" cap="none">
                  <a:solidFill>
                    <a:srgbClr val="7F1D1D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颜色约束</a:t>
              </a:r>
              <a:r>
                <a:rPr lang="en-US" sz="1350" b="0" i="0" u="none" strike="noStrike" cap="none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和</a:t>
              </a:r>
              <a:r>
                <a:rPr lang="en-US" sz="1350" b="1" i="0" u="none" strike="noStrike" cap="none">
                  <a:solidFill>
                    <a:srgbClr val="7F1D1D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旋转</a:t>
              </a:r>
              <a:r>
                <a:rPr lang="en-US" sz="1350" b="0" i="0" u="none" strike="noStrike" cap="none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保持平衡。</a:t>
              </a:r>
              <a:endPara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97" name="Google Shape;297;p24"/>
            <p:cNvSpPr txBox="1"/>
            <p:nvPr/>
          </p:nvSpPr>
          <p:spPr>
            <a:xfrm>
              <a:off x="2115" y="5471"/>
              <a:ext cx="15570" cy="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所有基本操作（查找、插入、删除）的最坏时间复杂度均为严格的 </a:t>
              </a:r>
              <a:r>
                <a:rPr lang="en-US" sz="1350" b="1" i="0" u="none" strike="noStrike" cap="none">
                  <a:solidFill>
                    <a:srgbClr val="7F1D1D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O(log n)</a:t>
              </a:r>
              <a:r>
                <a:rPr lang="en-US" sz="1350" b="0" i="0" u="none" strike="noStrike" cap="none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98" name="Google Shape;298;p24"/>
            <p:cNvSpPr txBox="1"/>
            <p:nvPr/>
          </p:nvSpPr>
          <p:spPr>
            <a:xfrm>
              <a:off x="2115" y="6202"/>
              <a:ext cx="15570" cy="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相比于严格的 AVL 树，红黑树在实际应用中</a:t>
              </a:r>
              <a:r>
                <a:rPr lang="en-US" sz="1350" b="1" i="0" u="none" strike="noStrike" cap="none">
                  <a:solidFill>
                    <a:srgbClr val="7F1D1D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维护成本更低</a:t>
              </a:r>
              <a:r>
                <a:rPr lang="en-US" sz="1350" b="0" i="0" u="none" strike="noStrike" cap="none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，尤其擅长处理频繁变动的数据。</a:t>
              </a:r>
              <a:endPara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99" name="Google Shape;299;p24"/>
            <p:cNvSpPr txBox="1"/>
            <p:nvPr/>
          </p:nvSpPr>
          <p:spPr>
            <a:xfrm>
              <a:off x="2115" y="6934"/>
              <a:ext cx="15570" cy="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它是工程界应用最广泛的底层数据结构之一（语言标准库、内核系统等）。</a:t>
              </a:r>
              <a:endPara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300" name="Google Shape;300;p2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442" y="4754"/>
              <a:ext cx="400" cy="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2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442" y="5486"/>
              <a:ext cx="400" cy="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2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442" y="6217"/>
              <a:ext cx="400" cy="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2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442" y="6949"/>
              <a:ext cx="400" cy="4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4" name="Google Shape;304;p24"/>
          <p:cNvSpPr txBox="1"/>
          <p:nvPr/>
        </p:nvSpPr>
        <p:spPr>
          <a:xfrm>
            <a:off x="571500" y="571500"/>
            <a:ext cx="1160145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5.总结</a:t>
            </a:r>
            <a:r>
              <a:rPr lang="zh-CN" alt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与参考</a:t>
            </a:r>
            <a:r>
              <a:rPr lang="zh-CN" altLang="en-US" sz="3000" b="1" i="0" u="none" strike="noStrike" cap="non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文献</a:t>
            </a:r>
            <a:endParaRPr lang="zh-CN" altLang="en-US" sz="3000" b="1" i="0" u="none" strike="noStrike" cap="none">
              <a:solidFill>
                <a:srgbClr val="991B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1990" y="4353560"/>
            <a:ext cx="10828020" cy="18764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参考文献：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zh-CN" sz="1600"/>
              <a:t>Cormen, T. H., Leiserson, C. E., Rivest, R. L., &amp; Stein, C. (2009). Introduction to Algorithms (3rd ed.). The MIT Press. 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en-US" altLang="zh-CN" sz="1600"/>
              <a:t>Knuth, D. E. (1998). The Art of Computer Programming, Volume 3: Sorting and Searching. Addison-Wesley. </a:t>
            </a:r>
            <a:endParaRPr lang="en-US" altLang="zh-CN" sz="1600"/>
          </a:p>
          <a:p>
            <a:pPr marL="342900" indent="-342900">
              <a:buAutoNum type="arabicPeriod"/>
            </a:pPr>
            <a:r>
              <a:rPr lang="en-US" altLang="zh-CN" sz="1600"/>
              <a:t>GeeksforGeeks (2021). Deletion in Red-Black Tree. Retrieved from </a:t>
            </a:r>
            <a:r>
              <a:rPr lang="en-US" altLang="zh-CN" sz="1600">
                <a:hlinkClick r:id="rId3"/>
              </a:rPr>
              <a:t>https://www.geeksforgeeks.org/deletion-in-red-black-tree/</a:t>
            </a:r>
            <a:endParaRPr lang="en-US" altLang="zh-CN" sz="1600">
              <a:hlinkClick r:id="rId3"/>
            </a:endParaRPr>
          </a:p>
          <a:p>
            <a:pPr marL="342900" indent="-342900">
              <a:buAutoNum type="arabicPeriod"/>
            </a:pPr>
            <a:r>
              <a:rPr lang="en-US" altLang="zh-CN" sz="1600"/>
              <a:t>Sedgewick, R., &amp; Wayne, K. (2011). Algorithms (4th ed.). Addison-Wesley.</a:t>
            </a:r>
            <a:endParaRPr lang="en-US" altLang="zh-CN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a584243f3d32c103db04774793f0a9b25faf955"/>
  <p:tag name="KSO_WM_NEWLAYOUT_GROUP_ID" val="layout_59"/>
  <p:tag name="KSO_WM_NEWLAYOUT_ID" val="slide_c9a808dc05b7f5bd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.xml><?xml version="1.0" encoding="utf-8"?>
<p:tagLst xmlns:p="http://schemas.openxmlformats.org/presentationml/2006/main">
  <p:tag name="KSO_WM_DIAGRAM_VIRTUALLY_FRAME" val="{&quot;height&quot;:213.2929133858268,&quot;left&quot;:45,&quot;top&quot;:184.3476377952756,&quot;width&quot;:870}"/>
</p:tagLst>
</file>

<file path=ppt/tags/tag13.xml><?xml version="1.0" encoding="utf-8"?>
<p:tagLst xmlns:p="http://schemas.openxmlformats.org/presentationml/2006/main">
  <p:tag name="KSO_WM_DIAGRAM_VIRTUALLY_FRAME" val="{&quot;height&quot;:213.2929133858268,&quot;left&quot;:45,&quot;top&quot;:184.3476377952756,&quot;width&quot;:870}"/>
</p:tagLst>
</file>

<file path=ppt/tags/tag14.xml><?xml version="1.0" encoding="utf-8"?>
<p:tagLst xmlns:p="http://schemas.openxmlformats.org/presentationml/2006/main">
  <p:tag name="KSO_WM_DIAGRAM_VIRTUALLY_FRAME" val="{&quot;height&quot;:213.2929133858268,&quot;left&quot;:45,&quot;top&quot;:184.3476377952756,&quot;width&quot;:870}"/>
</p:tagLst>
</file>

<file path=ppt/tags/tag15.xml><?xml version="1.0" encoding="utf-8"?>
<p:tagLst xmlns:p="http://schemas.openxmlformats.org/presentationml/2006/main">
  <p:tag name="KSO_WM_DIAGRAM_VIRTUALLY_FRAME" val="{&quot;height&quot;:213.2929133858268,&quot;left&quot;:45,&quot;top&quot;:184.3476377952756,&quot;width&quot;:870}"/>
</p:tagLst>
</file>

<file path=ppt/tags/tag16.xml><?xml version="1.0" encoding="utf-8"?>
<p:tagLst xmlns:p="http://schemas.openxmlformats.org/presentationml/2006/main">
  <p:tag name="KSO_WM_DIAGRAM_VIRTUALLY_FRAME" val="{&quot;height&quot;:213.2929133858268,&quot;left&quot;:45,&quot;top&quot;:184.3476377952756,&quot;width&quot;:870}"/>
</p:tagLst>
</file>

<file path=ppt/tags/tag17.xml><?xml version="1.0" encoding="utf-8"?>
<p:tagLst xmlns:p="http://schemas.openxmlformats.org/presentationml/2006/main">
  <p:tag name="KSO_WM_DIAGRAM_VIRTUALLY_FRAME" val="{&quot;height&quot;:213.2929133858268,&quot;left&quot;:45,&quot;top&quot;:184.3476377952756,&quot;width&quot;:870}"/>
</p:tagLst>
</file>

<file path=ppt/tags/tag18.xml><?xml version="1.0" encoding="utf-8"?>
<p:tagLst xmlns:p="http://schemas.openxmlformats.org/presentationml/2006/main">
  <p:tag name="KSO_WM_DIAGRAM_VIRTUALLY_FRAME" val="{&quot;height&quot;:213.2929133858268,&quot;left&quot;:45,&quot;top&quot;:184.3476377952756,&quot;width&quot;:870}"/>
</p:tagLst>
</file>

<file path=ppt/tags/tag19.xml><?xml version="1.0" encoding="utf-8"?>
<p:tagLst xmlns:p="http://schemas.openxmlformats.org/presentationml/2006/main">
  <p:tag name="KSO_WM_DIAGRAM_VIRTUALLY_FRAME" val="{&quot;height&quot;:213.2929133858268,&quot;left&quot;:45,&quot;top&quot;:184.3476377952756,&quot;width&quot;:870}"/>
</p:tagLst>
</file>

<file path=ppt/tags/tag20.xml><?xml version="1.0" encoding="utf-8"?>
<p:tagLst xmlns:p="http://schemas.openxmlformats.org/presentationml/2006/main">
  <p:tag name="KSO_WM_DIAGRAM_VIRTUALLY_FRAME" val="{&quot;height&quot;:213.2929133858268,&quot;left&quot;:45,&quot;top&quot;:184.3476377952756,&quot;width&quot;:870}"/>
</p:tagLst>
</file>

<file path=ppt/tags/tag21.xml><?xml version="1.0" encoding="utf-8"?>
<p:tagLst xmlns:p="http://schemas.openxmlformats.org/presentationml/2006/main">
  <p:tag name="KSO_WM_DIAGRAM_VIRTUALLY_FRAME" val="{&quot;height&quot;:213.2929133858268,&quot;left&quot;:45,&quot;top&quot;:184.3476377952756,&quot;width&quot;:870}"/>
</p:tagLst>
</file>

<file path=ppt/tags/tag22.xml><?xml version="1.0" encoding="utf-8"?>
<p:tagLst xmlns:p="http://schemas.openxmlformats.org/presentationml/2006/main">
  <p:tag name="KSO_WM_DIAGRAM_VIRTUALLY_FRAME" val="{&quot;height&quot;:213.2929133858268,&quot;left&quot;:45,&quot;top&quot;:184.3476377952756,&quot;width&quot;:870}"/>
</p:tagLst>
</file>

<file path=ppt/tags/tag23.xml><?xml version="1.0" encoding="utf-8"?>
<p:tagLst xmlns:p="http://schemas.openxmlformats.org/presentationml/2006/main">
  <p:tag name="KSO_WM_DIAGRAM_VIRTUALLY_FRAME" val="{&quot;height&quot;:213.2929133858268,&quot;left&quot;:45,&quot;top&quot;:184.3476377952756,&quot;width&quot;:870}"/>
</p:tagLst>
</file>

<file path=ppt/tags/tag24.xml><?xml version="1.0" encoding="utf-8"?>
<p:tagLst xmlns:p="http://schemas.openxmlformats.org/presentationml/2006/main">
  <p:tag name="KSO_WM_DIAGRAM_VIRTUALLY_FRAME" val="{&quot;height&quot;:152.98826771653543,&quot;left&quot;:46.05,&quot;top&quot;:269.6452755905512,&quot;width&quot;:420.95}"/>
</p:tagLst>
</file>

<file path=ppt/tags/tag25.xml><?xml version="1.0" encoding="utf-8"?>
<p:tagLst xmlns:p="http://schemas.openxmlformats.org/presentationml/2006/main">
  <p:tag name="KSO_WM_DIAGRAM_VIRTUALLY_FRAME" val="{&quot;height&quot;:152.98826771653543,&quot;left&quot;:46.05,&quot;top&quot;:269.6452755905512,&quot;width&quot;:420.95}"/>
</p:tagLst>
</file>

<file path=ppt/tags/tag26.xml><?xml version="1.0" encoding="utf-8"?>
<p:tagLst xmlns:p="http://schemas.openxmlformats.org/presentationml/2006/main">
  <p:tag name="KSO_WM_DIAGRAM_VIRTUALLY_FRAME" val="{&quot;height&quot;:152.98826771653543,&quot;left&quot;:46.05,&quot;top&quot;:269.6452755905512,&quot;width&quot;:420.95}"/>
</p:tagLst>
</file>

<file path=ppt/tags/tag27.xml><?xml version="1.0" encoding="utf-8"?>
<p:tagLst xmlns:p="http://schemas.openxmlformats.org/presentationml/2006/main">
  <p:tag name="KSO_WM_DIAGRAM_VIRTUALLY_FRAME" val="{&quot;height&quot;:152.98826771653543,&quot;left&quot;:46.05,&quot;top&quot;:269.6452755905512,&quot;width&quot;:420.95}"/>
</p:tagLst>
</file>

<file path=ppt/tags/tag28.xml><?xml version="1.0" encoding="utf-8"?>
<p:tagLst xmlns:p="http://schemas.openxmlformats.org/presentationml/2006/main">
  <p:tag name="KSO_WM_DIAGRAM_VIRTUALLY_FRAME" val="{&quot;height&quot;:152.98826771653543,&quot;left&quot;:46.05,&quot;top&quot;:269.6452755905512,&quot;width&quot;:420.95}"/>
</p:tagLst>
</file>

<file path=ppt/tags/tag29.xml><?xml version="1.0" encoding="utf-8"?>
<p:tagLst xmlns:p="http://schemas.openxmlformats.org/presentationml/2006/main">
  <p:tag name="KSO_WM_DIAGRAM_VIRTUALLY_FRAME" val="{&quot;height&quot;:152.98826771653543,&quot;left&quot;:46.05,&quot;top&quot;:269.6452755905512,&quot;width&quot;:420.95}"/>
</p:tagLst>
</file>

<file path=ppt/tags/tag30.xml><?xml version="1.0" encoding="utf-8"?>
<p:tagLst xmlns:p="http://schemas.openxmlformats.org/presentationml/2006/main">
  <p:tag name="KSO_WM_DIAGRAM_VIRTUALLY_FRAME" val="{&quot;height&quot;:152.98826771653543,&quot;left&quot;:46.05,&quot;top&quot;:269.6452755905512,&quot;width&quot;:420.95}"/>
</p:tagLst>
</file>

<file path=ppt/tags/tag31.xml><?xml version="1.0" encoding="utf-8"?>
<p:tagLst xmlns:p="http://schemas.openxmlformats.org/presentationml/2006/main">
  <p:tag name="KSO_WM_DIAGRAM_VIRTUALLY_FRAME" val="{&quot;height&quot;:152.98826771653543,&quot;left&quot;:46.05,&quot;top&quot;:269.6452755905512,&quot;width&quot;:420.9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4744</Words>
  <Application>WPS 演示</Application>
  <PresentationFormat/>
  <Paragraphs>299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9" baseType="lpstr">
      <vt:lpstr>Arial</vt:lpstr>
      <vt:lpstr>宋体</vt:lpstr>
      <vt:lpstr>Wingdings</vt:lpstr>
      <vt:lpstr>Arial</vt:lpstr>
      <vt:lpstr>Calibri</vt:lpstr>
      <vt:lpstr>Noto Sans SC</vt:lpstr>
      <vt:lpstr>黑体</vt:lpstr>
      <vt:lpstr>Wingdings</vt:lpstr>
      <vt:lpstr>微软雅黑</vt:lpstr>
      <vt:lpstr>Arial Unicode MS</vt:lpstr>
      <vt:lpstr>MicrosoftYaHei</vt:lpstr>
      <vt:lpstr>Segoe Print</vt:lpstr>
      <vt:lpstr>pingfang SC</vt:lpstr>
      <vt:lpstr>Calibri</vt:lpstr>
      <vt:lpstr>MicrosoftYaHei</vt:lpstr>
      <vt:lpstr>pingfang SC</vt:lpstr>
      <vt:lpstr>MicrosoftYaHei-Bold</vt:lpstr>
      <vt:lpstr>ArialMT</vt:lpstr>
      <vt:lpstr>ArialMT</vt:lpstr>
      <vt:lpstr>MicrosoftYaHei-Bold</vt:lpstr>
      <vt:lpstr>Calibri-Bold</vt:lpstr>
      <vt:lpstr>Calibri-Bold</vt:lpstr>
      <vt:lpstr>Nunito</vt:lpstr>
      <vt:lpstr>Nunito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王云超0110</cp:lastModifiedBy>
  <cp:revision>7</cp:revision>
  <dcterms:created xsi:type="dcterms:W3CDTF">2026-04-18T12:01:00Z</dcterms:created>
  <dcterms:modified xsi:type="dcterms:W3CDTF">2026-04-19T03:24:55Z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5D1404217B404D4FAD5A1BF360ECE531_12</vt:lpwstr>
  </property>
</Properties>
</file>