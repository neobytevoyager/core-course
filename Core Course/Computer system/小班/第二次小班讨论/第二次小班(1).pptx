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2" r:id="rId5"/>
    <p:sldId id="259" r:id="rId6"/>
    <p:sldId id="263" r:id="rId7"/>
    <p:sldId id="271" r:id="rId8"/>
    <p:sldId id="273" r:id="rId9"/>
    <p:sldId id="274" r:id="rId10"/>
    <p:sldId id="272" r:id="rId11"/>
    <p:sldId id="266" r:id="rId12"/>
    <p:sldId id="260" r:id="rId13"/>
    <p:sldId id="264" r:id="rId14"/>
    <p:sldId id="265" r:id="rId15"/>
    <p:sldId id="268" r:id="rId16"/>
    <p:sldId id="261" r:id="rId17"/>
    <p:sldId id="267" r:id="rId18"/>
    <p:sldId id="275" r:id="rId19"/>
    <p:sldId id="276" r:id="rId20"/>
    <p:sldId id="277" r:id="rId21"/>
    <p:sldId id="280" r:id="rId22"/>
    <p:sldId id="279" r:id="rId23"/>
    <p:sldId id="270" r:id="rId24"/>
  </p:sldIdLst>
  <p:sldSz cx="12192000" cy="6858000"/>
  <p:notesSz cx="6858000" cy="9144000"/>
  <p:embeddedFontLst>
    <p:embeddedFont>
      <p:font typeface="等线" panose="02010600030101010101" pitchFamily="2" charset="-122"/>
      <p:regular r:id="rId26"/>
      <p:bold r:id="rId27"/>
    </p:embeddedFont>
    <p:embeddedFont>
      <p:font typeface="等线 Light" panose="02010600030101010101" pitchFamily="2" charset="-122"/>
      <p:regular r:id="rId28"/>
    </p:embeddedFont>
    <p:embeddedFont>
      <p:font typeface="华文楷体" panose="02010600040101010101" pitchFamily="2" charset="-122"/>
      <p:regular r:id="rId29"/>
    </p:embeddedFont>
    <p:embeddedFont>
      <p:font typeface="楷体" panose="02010609060101010101" pitchFamily="49" charset="-122"/>
      <p:regular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7255"/>
    <a:srgbClr val="AB987D"/>
    <a:srgbClr val="A08B6C"/>
    <a:srgbClr val="917C5D"/>
    <a:srgbClr val="655D5C"/>
    <a:srgbClr val="B5B6B3"/>
    <a:srgbClr val="DD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8" autoAdjust="0"/>
    <p:restoredTop sz="72926" autoAdjust="0"/>
  </p:normalViewPr>
  <p:slideViewPr>
    <p:cSldViewPr snapToGrid="0" showGuides="1">
      <p:cViewPr varScale="1">
        <p:scale>
          <a:sx n="74" d="100"/>
          <a:sy n="74" d="100"/>
        </p:scale>
        <p:origin x="17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5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01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9A399-B9D1-454D-B79C-2F699687FAB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E8B86-B8FD-403A-AC69-6BFD13BFC9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573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278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732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8706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还有：</a:t>
            </a:r>
            <a:endParaRPr lang="en-US" altLang="zh-CN" dirty="0"/>
          </a:p>
          <a:p>
            <a:r>
              <a:rPr lang="en-US" altLang="zh-CN" dirty="0"/>
              <a:t>1. Unix </a:t>
            </a:r>
            <a:r>
              <a:rPr lang="zh-CN" altLang="en-US" dirty="0"/>
              <a:t>权限模型 </a:t>
            </a:r>
            <a:r>
              <a:rPr lang="en-US" altLang="zh-CN" dirty="0"/>
              <a:t>+ </a:t>
            </a:r>
            <a:r>
              <a:rPr lang="zh-CN" altLang="en-US" dirty="0"/>
              <a:t>用户态</a:t>
            </a:r>
            <a:r>
              <a:rPr lang="en-US" altLang="zh-CN" dirty="0"/>
              <a:t>/</a:t>
            </a:r>
            <a:r>
              <a:rPr lang="zh-CN" altLang="en-US" dirty="0"/>
              <a:t>内核态边界：病毒严格受当前进程的 </a:t>
            </a:r>
            <a:r>
              <a:rPr lang="en-US" altLang="zh-CN" b="0" dirty="0"/>
              <a:t>UID/GID</a:t>
            </a:r>
            <a:r>
              <a:rPr lang="zh-CN" altLang="en-US" b="0" dirty="0"/>
              <a:t>、文件权限位、目录权限位 </a:t>
            </a:r>
            <a:r>
              <a:rPr lang="zh-CN" altLang="en-US" dirty="0"/>
              <a:t>限制。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进程隔离与虚拟地址空间：每个进程有自己的</a:t>
            </a:r>
            <a:r>
              <a:rPr lang="zh-CN" altLang="en-US" b="0" dirty="0"/>
              <a:t>私有虚拟地址空间，不能直接伸手去改另一个正在运行的进程的代码和数据</a:t>
            </a:r>
            <a:r>
              <a:rPr lang="zh-CN" altLang="en-US" dirty="0"/>
              <a:t>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94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7D65-3AA4-45A4-A6E2-ABCE29FF7D5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BECE8-91DB-4B6D-9A05-6D533AA15E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E7D65-3AA4-45A4-A6E2-ABCE29FF7D5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BECE8-91DB-4B6D-9A05-6D533AA15E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2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4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12" name="文本框 4"/>
          <p:cNvSpPr txBox="1"/>
          <p:nvPr/>
        </p:nvSpPr>
        <p:spPr>
          <a:xfrm>
            <a:off x="3746639" y="1859847"/>
            <a:ext cx="309880" cy="1445260"/>
          </a:xfrm>
          <a:prstGeom prst="rect">
            <a:avLst/>
          </a:prstGeom>
          <a:noFill/>
          <a:ln w="12700">
            <a:noFill/>
            <a:prstDash val="lg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CN" sz="8800" dirty="0">
              <a:solidFill>
                <a:srgbClr val="857255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3" name="文本框 8"/>
          <p:cNvSpPr txBox="1"/>
          <p:nvPr/>
        </p:nvSpPr>
        <p:spPr>
          <a:xfrm>
            <a:off x="3597365" y="3252461"/>
            <a:ext cx="437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宣传画册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|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国风古韵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|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古典文化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|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教学课件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496310" y="1351915"/>
            <a:ext cx="57892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第二次小班</a:t>
            </a:r>
            <a:r>
              <a:rPr lang="zh-CN" altLang="en-US" sz="8000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4800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选题三</a:t>
            </a:r>
            <a:endParaRPr lang="en-US" altLang="zh-CN" sz="4800" dirty="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60126" y="4370402"/>
            <a:ext cx="61119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第七组：</a:t>
            </a:r>
          </a:p>
          <a:p>
            <a:pPr lvl="1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周雨健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负责整场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PPT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主讲</a:t>
            </a:r>
          </a:p>
          <a:p>
            <a:pPr lvl="1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王云超：负责题目介绍和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(1)(2)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小问制作</a:t>
            </a:r>
          </a:p>
          <a:p>
            <a:pPr lvl="1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张一龙：负责第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小问、总结、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Q&amp;A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制作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7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8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1639047" y="1400613"/>
            <a:ext cx="12300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60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3761217" y="1293938"/>
            <a:ext cx="587305" cy="2290729"/>
            <a:chOff x="2840560" y="1476561"/>
            <a:chExt cx="587305" cy="2290729"/>
          </a:xfrm>
        </p:grpSpPr>
        <p:sp>
          <p:nvSpPr>
            <p:cNvPr id="30" name="文本框 9"/>
            <p:cNvSpPr txBox="1"/>
            <p:nvPr>
              <p:custDataLst>
                <p:tags r:id="rId22"/>
              </p:custDataLst>
            </p:nvPr>
          </p:nvSpPr>
          <p:spPr>
            <a:xfrm>
              <a:off x="2880225" y="2198840"/>
              <a:ext cx="505517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rgbClr val="857255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badashanren" panose="02000600000000000000" pitchFamily="2" charset="-128"/>
                </a:rPr>
                <a:t>题目介绍</a:t>
              </a: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32" name="椭圆 31"/>
              <p:cNvSpPr/>
              <p:nvPr>
                <p:custDataLst>
                  <p:tags r:id="rId23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rgbClr val="917C5D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rgbClr val="917C5D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3" name="文本框 12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</a:t>
                </a:r>
              </a:p>
            </p:txBody>
          </p:sp>
        </p:grpSp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4877707" y="1293938"/>
            <a:ext cx="587305" cy="2290729"/>
            <a:chOff x="2840560" y="1476561"/>
            <a:chExt cx="587305" cy="2290729"/>
          </a:xfrm>
        </p:grpSpPr>
        <p:sp>
          <p:nvSpPr>
            <p:cNvPr id="26" name="文本框 9"/>
            <p:cNvSpPr txBox="1"/>
            <p:nvPr>
              <p:custDataLst>
                <p:tags r:id="rId19"/>
              </p:custDataLst>
            </p:nvPr>
          </p:nvSpPr>
          <p:spPr>
            <a:xfrm>
              <a:off x="2880225" y="2198840"/>
              <a:ext cx="505517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rgbClr val="857255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badashanren" panose="02000600000000000000" pitchFamily="2" charset="-128"/>
                </a:rPr>
                <a:t>病毒实现</a:t>
              </a: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28" name="椭圆 27"/>
              <p:cNvSpPr/>
              <p:nvPr>
                <p:custDataLst>
                  <p:tags r:id="rId20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rgbClr val="917C5D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9" name="文本框 12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rgbClr val="857255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二</a:t>
                </a:r>
              </a:p>
            </p:txBody>
          </p:sp>
        </p:grpSp>
      </p:grp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5945302" y="1302193"/>
            <a:ext cx="587305" cy="2290729"/>
            <a:chOff x="2840560" y="1476561"/>
            <a:chExt cx="587305" cy="2290729"/>
          </a:xfrm>
        </p:grpSpPr>
        <p:sp>
          <p:nvSpPr>
            <p:cNvPr id="22" name="文本框 9"/>
            <p:cNvSpPr txBox="1"/>
            <p:nvPr>
              <p:custDataLst>
                <p:tags r:id="rId16"/>
              </p:custDataLst>
            </p:nvPr>
          </p:nvSpPr>
          <p:spPr>
            <a:xfrm>
              <a:off x="2880225" y="2198840"/>
              <a:ext cx="505517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rgbClr val="857255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badashanren" panose="02000600000000000000" pitchFamily="2" charset="-128"/>
                </a:rPr>
                <a:t>查杀病毒</a:t>
              </a: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24" name="椭圆 23"/>
              <p:cNvSpPr/>
              <p:nvPr>
                <p:custDataLst>
                  <p:tags r:id="rId17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rgbClr val="917C5D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rgbClr val="917C5D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文本框 1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三</a:t>
                </a:r>
              </a:p>
            </p:txBody>
          </p:sp>
        </p:grpSp>
      </p:grpSp>
      <p:grpSp>
        <p:nvGrpSpPr>
          <p:cNvPr id="17" name="组合 16"/>
          <p:cNvGrpSpPr/>
          <p:nvPr>
            <p:custDataLst>
              <p:tags r:id="rId4"/>
            </p:custDataLst>
          </p:nvPr>
        </p:nvGrpSpPr>
        <p:grpSpPr>
          <a:xfrm>
            <a:off x="7052268" y="1310448"/>
            <a:ext cx="587305" cy="3399935"/>
            <a:chOff x="2840560" y="1476561"/>
            <a:chExt cx="587305" cy="3399935"/>
          </a:xfrm>
        </p:grpSpPr>
        <p:sp>
          <p:nvSpPr>
            <p:cNvPr id="18" name="文本框 9"/>
            <p:cNvSpPr txBox="1"/>
            <p:nvPr>
              <p:custDataLst>
                <p:tags r:id="rId13"/>
              </p:custDataLst>
            </p:nvPr>
          </p:nvSpPr>
          <p:spPr>
            <a:xfrm>
              <a:off x="2880225" y="2198840"/>
              <a:ext cx="505517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rgbClr val="857255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badashanren" panose="02000600000000000000" pitchFamily="2" charset="-128"/>
                </a:rPr>
                <a:t>感染可执行文件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20" name="椭圆 19"/>
              <p:cNvSpPr/>
              <p:nvPr>
                <p:custDataLst>
                  <p:tags r:id="rId14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rgbClr val="917C5D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1" name="文本框 1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rgbClr val="857255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四</a:t>
                </a:r>
              </a:p>
            </p:txBody>
          </p:sp>
        </p:grpSp>
      </p:grpSp>
      <p:grpSp>
        <p:nvGrpSpPr>
          <p:cNvPr id="2" name="组合 1"/>
          <p:cNvGrpSpPr/>
          <p:nvPr>
            <p:custDataLst>
              <p:tags r:id="rId5"/>
            </p:custDataLst>
          </p:nvPr>
        </p:nvGrpSpPr>
        <p:grpSpPr>
          <a:xfrm>
            <a:off x="8103032" y="1302193"/>
            <a:ext cx="587305" cy="1552224"/>
            <a:chOff x="2840560" y="1476561"/>
            <a:chExt cx="587305" cy="1552224"/>
          </a:xfrm>
        </p:grpSpPr>
        <p:sp>
          <p:nvSpPr>
            <p:cNvPr id="3" name="文本框 9"/>
            <p:cNvSpPr txBox="1"/>
            <p:nvPr>
              <p:custDataLst>
                <p:tags r:id="rId10"/>
              </p:custDataLst>
            </p:nvPr>
          </p:nvSpPr>
          <p:spPr>
            <a:xfrm>
              <a:off x="2880225" y="2198840"/>
              <a:ext cx="505517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rgbClr val="857255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badashanren" panose="02000600000000000000" pitchFamily="2" charset="-128"/>
                </a:rPr>
                <a:t>总结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6" name="椭圆 5"/>
              <p:cNvSpPr/>
              <p:nvPr>
                <p:custDataLst>
                  <p:tags r:id="rId11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rgbClr val="917C5D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rgbClr val="917C5D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" name="文本框 1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五</a:t>
                </a:r>
              </a:p>
            </p:txBody>
          </p:sp>
        </p:grp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9209998" y="1310448"/>
            <a:ext cx="587305" cy="1182654"/>
            <a:chOff x="2840560" y="1476561"/>
            <a:chExt cx="587305" cy="1182654"/>
          </a:xfrm>
        </p:grpSpPr>
        <p:sp>
          <p:nvSpPr>
            <p:cNvPr id="14" name="文本框 9"/>
            <p:cNvSpPr txBox="1"/>
            <p:nvPr>
              <p:custDataLst>
                <p:tags r:id="rId7"/>
              </p:custDataLst>
            </p:nvPr>
          </p:nvSpPr>
          <p:spPr>
            <a:xfrm>
              <a:off x="2880225" y="2198840"/>
              <a:ext cx="50551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2400" dirty="0">
                  <a:solidFill>
                    <a:srgbClr val="857255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badashanren" panose="02000600000000000000" pitchFamily="2" charset="-128"/>
                </a:rPr>
                <a:t>QA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34" name="椭圆 33"/>
              <p:cNvSpPr/>
              <p:nvPr>
                <p:custDataLst>
                  <p:tags r:id="rId8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rgbClr val="917C5D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5" name="文本框 1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rgbClr val="857255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六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4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43" name="文本框 173"/>
          <p:cNvSpPr txBox="1"/>
          <p:nvPr/>
        </p:nvSpPr>
        <p:spPr>
          <a:xfrm>
            <a:off x="3769038" y="2159672"/>
            <a:ext cx="1954381" cy="156709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5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壹</a:t>
            </a:r>
          </a:p>
        </p:txBody>
      </p:sp>
      <p:sp>
        <p:nvSpPr>
          <p:cNvPr id="44" name="文本框 175"/>
          <p:cNvSpPr txBox="1"/>
          <p:nvPr/>
        </p:nvSpPr>
        <p:spPr>
          <a:xfrm>
            <a:off x="5596218" y="2650895"/>
            <a:ext cx="1808480" cy="5835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题目介绍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 rotWithShape="1">
          <a:blip r:embed="rId5" cstate="print"/>
          <a:srcRect l="20464" t="16719" r="69336" b="53532"/>
          <a:stretch>
            <a:fillRect/>
          </a:stretch>
        </p:blipFill>
        <p:spPr>
          <a:xfrm>
            <a:off x="9015416" y="1068252"/>
            <a:ext cx="1045879" cy="140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9" name="文本框 109"/>
          <p:cNvSpPr txBox="1"/>
          <p:nvPr/>
        </p:nvSpPr>
        <p:spPr>
          <a:xfrm>
            <a:off x="862016" y="46392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题目介绍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44575" y="3429000"/>
            <a:ext cx="1065466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核心目标：</a:t>
            </a:r>
          </a:p>
          <a:p>
            <a:r>
              <a:rPr lang="zh-CN" altLang="en-US" sz="2000" dirty="0"/>
              <a:t>编写</a:t>
            </a:r>
            <a:r>
              <a:rPr lang="en-US" altLang="zh-CN" sz="2000" dirty="0"/>
              <a:t> </a:t>
            </a:r>
            <a:r>
              <a:rPr lang="en-US" altLang="zh-CN" sz="2000" dirty="0" err="1"/>
              <a:t>virus.c</a:t>
            </a:r>
            <a:r>
              <a:rPr lang="zh-CN" altLang="en-US" sz="2000" dirty="0"/>
              <a:t>：编译运行后，自动寻找同目录</a:t>
            </a:r>
            <a:r>
              <a:rPr lang="en-US" altLang="zh-CN" sz="2000" dirty="0"/>
              <a:t> .c </a:t>
            </a:r>
            <a:r>
              <a:rPr lang="zh-CN" altLang="en-US" sz="2000" dirty="0"/>
              <a:t>文件。</a:t>
            </a:r>
            <a:endParaRPr lang="en-US" altLang="zh-CN" sz="2000" dirty="0"/>
          </a:p>
          <a:p>
            <a:r>
              <a:rPr lang="zh-CN" altLang="en-US" sz="2000" dirty="0"/>
              <a:t>实施感染：在不破坏受害者原有业务逻辑的前提下，使其先打印指定口号，并获得继续感染他人的能力。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13130" y="1274445"/>
            <a:ext cx="10527665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计算机病毒最重要的特点是能够自我复制和感染其他文件。小明决定用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C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语言写一个“病毒”，在编译运行后，会感染本目录下所有 的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.c 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文件，被感染的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.c 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文件在编译运行后会</a:t>
            </a:r>
            <a:r>
              <a:rPr lang="zh-CN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先打印一行“</a:t>
            </a:r>
            <a:r>
              <a:rPr lang="en-US" altLang="zh-CN" b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/>
                <a:ea typeface="Times New Roman" panose="02020603050405020304"/>
              </a:rPr>
              <a:t>Welcome to HNU CSAPP!</a:t>
            </a:r>
            <a:r>
              <a:rPr lang="en-US" altLang="zh-CN" b="0" dirty="0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后再执行后续的功能，同时</a:t>
            </a:r>
            <a:r>
              <a:rPr lang="zh-CN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会检测同目录下的所有</a:t>
            </a:r>
            <a:r>
              <a:rPr lang="zh-CN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/>
                <a:ea typeface="Times New Roman" panose="02020603050405020304"/>
              </a:rPr>
              <a:t>.c</a:t>
            </a:r>
            <a:r>
              <a:rPr lang="zh-CN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，如果有 未被感染的就进行感染。</a:t>
            </a:r>
          </a:p>
          <a:p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）请帮小明实现这个“病毒”；</a:t>
            </a:r>
          </a:p>
          <a:p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）请写出查杀这个“病毒”的程序。</a:t>
            </a:r>
          </a:p>
          <a:p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）如果要求感染可执行文件，思路是什么？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051877" y="4876446"/>
            <a:ext cx="10250170" cy="16884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</a:rPr>
              <a:t>技术挑战：</a:t>
            </a:r>
            <a:endParaRPr lang="zh-CN" altLang="en-US" sz="2800" b="1" dirty="0"/>
          </a:p>
          <a:p>
            <a:r>
              <a:rPr lang="zh-CN" altLang="en-US" sz="2000" dirty="0"/>
              <a:t>语法破坏：如何在别人写好的 C 代码中强行插入逻辑，而不引发编译报错？</a:t>
            </a:r>
          </a:p>
          <a:p>
            <a:r>
              <a:rPr lang="zh-CN" altLang="en-US" sz="2000" dirty="0"/>
              <a:t>无限膨胀：如何判断文件已被感染，避免陷入死循环追加？</a:t>
            </a:r>
          </a:p>
          <a:p>
            <a:r>
              <a:rPr lang="zh-CN" altLang="en-US" sz="2000" dirty="0"/>
              <a:t>自我复制：病毒程序如何把“复杂的自身源码”传递给下一个受害者？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4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43" name="文本框 173"/>
          <p:cNvSpPr txBox="1"/>
          <p:nvPr/>
        </p:nvSpPr>
        <p:spPr>
          <a:xfrm>
            <a:off x="3769038" y="2159672"/>
            <a:ext cx="1954381" cy="156709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5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贰</a:t>
            </a:r>
          </a:p>
        </p:txBody>
      </p:sp>
      <p:sp>
        <p:nvSpPr>
          <p:cNvPr id="44" name="文本框 175"/>
          <p:cNvSpPr txBox="1"/>
          <p:nvPr/>
        </p:nvSpPr>
        <p:spPr>
          <a:xfrm>
            <a:off x="5641938" y="2650895"/>
            <a:ext cx="2011680" cy="5835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病毒实现</a:t>
            </a:r>
            <a:r>
              <a:rPr lang="en-US" altLang="zh-CN" sz="32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 cstate="print"/>
          <a:srcRect l="20464" t="16719" r="69336" b="53532"/>
          <a:stretch>
            <a:fillRect/>
          </a:stretch>
        </p:blipFill>
        <p:spPr>
          <a:xfrm>
            <a:off x="9015416" y="1068252"/>
            <a:ext cx="1045879" cy="140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1" name="文本框 109"/>
          <p:cNvSpPr txBox="1"/>
          <p:nvPr/>
        </p:nvSpPr>
        <p:spPr>
          <a:xfrm>
            <a:off x="862016" y="46392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病毒实现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0380" y="1207135"/>
            <a:ext cx="71164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/>
              <a:t>核心技术 </a:t>
            </a:r>
            <a:r>
              <a:rPr lang="en-US" altLang="zh-CN" sz="2000" b="1"/>
              <a:t>(</a:t>
            </a:r>
            <a:r>
              <a:rPr lang="zh-CN" altLang="en-US" sz="2000" b="1"/>
              <a:t>一</a:t>
            </a:r>
            <a:r>
              <a:rPr lang="en-US" altLang="zh-CN" sz="2000" b="1"/>
              <a:t>) —— </a:t>
            </a:r>
            <a:r>
              <a:rPr lang="zh-CN" altLang="en-US" sz="2000" b="1"/>
              <a:t>入口接管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" y="1800225"/>
            <a:ext cx="5600065" cy="186118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00380" y="3724275"/>
            <a:ext cx="5541010" cy="313436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>
              <a:buFont typeface="Arial" panose="020B0604020202020204"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这么做的意义：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宿主原本的 </a:t>
            </a:r>
            <a:r>
              <a:rPr lang="en-US" altLang="zh-CN" sz="2000" dirty="0"/>
              <a:t>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在预处理阶段被改名为 </a:t>
            </a:r>
            <a:r>
              <a:rPr lang="en-US" altLang="zh-CN" sz="2000" dirty="0" err="1"/>
              <a:t>real_main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病毒自己再定义新的 </a:t>
            </a:r>
            <a:r>
              <a:rPr lang="en-US" altLang="zh-CN" sz="2000" dirty="0"/>
              <a:t>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新的 </a:t>
            </a:r>
            <a:r>
              <a:rPr lang="en-US" altLang="zh-CN" sz="2000" dirty="0"/>
              <a:t>main </a:t>
            </a:r>
            <a:r>
              <a:rPr lang="zh-CN" altLang="en-US" sz="2000" dirty="0"/>
              <a:t>先执行病毒逻辑，再调用 </a:t>
            </a:r>
            <a:r>
              <a:rPr lang="en-US" altLang="zh-CN" sz="2000" dirty="0" err="1"/>
              <a:t>real_main</a:t>
            </a:r>
            <a:endParaRPr lang="en-US" altLang="zh-CN" sz="2000" dirty="0"/>
          </a:p>
          <a:p>
            <a:r>
              <a:rPr lang="zh-CN" altLang="en-US" sz="2000" dirty="0"/>
              <a:t>所以控制流变成：</a:t>
            </a:r>
          </a:p>
          <a:p>
            <a:r>
              <a:rPr lang="en-US" altLang="zh-CN" sz="2000" dirty="0" err="1"/>
              <a:t>main</a:t>
            </a:r>
            <a:r>
              <a:rPr lang="en-US" altLang="zh-CN" sz="2000" baseline="-25000" dirty="0" err="1"/>
              <a:t>virus</a:t>
            </a:r>
            <a:r>
              <a:rPr lang="en-US" altLang="zh-CN" sz="2000" dirty="0" err="1"/>
              <a:t>→real_main</a:t>
            </a:r>
            <a:r>
              <a:rPr lang="en-US" altLang="zh-CN" sz="2000" baseline="-25000" dirty="0" err="1"/>
              <a:t>host</a:t>
            </a:r>
            <a:endParaRPr lang="en-US" altLang="zh-CN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6442075" y="1827212"/>
            <a:ext cx="5080000" cy="33178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zh-CN" altLang="en-US" sz="2800" b="1" dirty="0">
                <a:solidFill>
                  <a:srgbClr val="00B050"/>
                </a:solidFill>
              </a:rPr>
              <a:t>为什么必须这么做</a:t>
            </a:r>
          </a:p>
          <a:p>
            <a:r>
              <a:rPr lang="zh-CN" altLang="en-US" sz="2000" dirty="0"/>
              <a:t>因为如果不接管入口，就无法保证“先打印，再执行原程序”。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  <a:p>
            <a:pPr>
              <a:spcAft>
                <a:spcPct val="60000"/>
              </a:spcAft>
            </a:pPr>
            <a:r>
              <a:rPr lang="zh-CN" altLang="en-US" sz="2800" b="1" dirty="0">
                <a:solidFill>
                  <a:srgbClr val="00B050"/>
                </a:solidFill>
              </a:rPr>
              <a:t>为什么这比“追加 </a:t>
            </a:r>
            <a:r>
              <a:rPr lang="en-US" altLang="zh-CN" sz="2800" b="1" dirty="0" err="1">
                <a:solidFill>
                  <a:srgbClr val="00B050"/>
                </a:solidFill>
              </a:rPr>
              <a:t>printf</a:t>
            </a:r>
            <a:r>
              <a:rPr lang="en-US" altLang="zh-CN" sz="2800" b="1" dirty="0">
                <a:solidFill>
                  <a:srgbClr val="00B050"/>
                </a:solidFill>
              </a:rPr>
              <a:t>”</a:t>
            </a:r>
            <a:r>
              <a:rPr lang="zh-CN" altLang="en-US" sz="2800" b="1" dirty="0">
                <a:solidFill>
                  <a:srgbClr val="00B050"/>
                </a:solidFill>
              </a:rPr>
              <a:t>高明</a:t>
            </a:r>
          </a:p>
          <a:p>
            <a:r>
              <a:rPr lang="zh-CN" altLang="en-US" sz="2000" dirty="0"/>
              <a:t>因为追加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</a:t>
            </a:r>
            <a:r>
              <a:rPr lang="zh-CN" altLang="en-US" sz="2000" dirty="0"/>
              <a:t>到文件末尾会破坏 </a:t>
            </a:r>
            <a:r>
              <a:rPr lang="en-US" altLang="zh-CN" sz="2000" dirty="0"/>
              <a:t>C </a:t>
            </a:r>
            <a:r>
              <a:rPr lang="zh-CN" altLang="en-US" sz="2000" dirty="0"/>
              <a:t>语法，而入口接管不会。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1" name="文本框 109"/>
          <p:cNvSpPr txBox="1"/>
          <p:nvPr/>
        </p:nvSpPr>
        <p:spPr>
          <a:xfrm>
            <a:off x="862016" y="46392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病毒实现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0380" y="1207135"/>
            <a:ext cx="84937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核心攻防技术</a:t>
            </a:r>
            <a:r>
              <a:rPr lang="en-US" altLang="zh-CN" sz="2000" b="1" dirty="0"/>
              <a:t> (</a:t>
            </a:r>
            <a:r>
              <a:rPr lang="zh-CN" altLang="en-US" sz="2000" b="1" dirty="0"/>
              <a:t>二</a:t>
            </a:r>
            <a:r>
              <a:rPr lang="en-US" altLang="zh-CN" sz="2000" b="1" dirty="0"/>
              <a:t>) —— </a:t>
            </a:r>
            <a:r>
              <a:rPr lang="zh-CN" altLang="en-US" sz="2000" b="1" dirty="0"/>
              <a:t>感染判定</a:t>
            </a:r>
          </a:p>
        </p:txBody>
      </p:sp>
      <p:pic>
        <p:nvPicPr>
          <p:cNvPr id="4" name="图片 3"/>
          <p:cNvPicPr/>
          <p:nvPr/>
        </p:nvPicPr>
        <p:blipFill>
          <a:blip r:embed="rId5"/>
          <a:stretch>
            <a:fillRect/>
          </a:stretch>
        </p:blipFill>
        <p:spPr>
          <a:xfrm>
            <a:off x="337820" y="2517775"/>
            <a:ext cx="5497195" cy="11188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5155" y="1877695"/>
            <a:ext cx="291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确定是否为</a:t>
            </a:r>
            <a:r>
              <a:rPr lang="en-US" altLang="zh-CN" dirty="0"/>
              <a:t>C</a:t>
            </a:r>
            <a:r>
              <a:rPr lang="zh-CN" altLang="en-US" dirty="0"/>
              <a:t>文件：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05155" y="4398962"/>
            <a:ext cx="5080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/>
              <a:t>严格判断是否以 </a:t>
            </a:r>
            <a:r>
              <a:rPr lang="en-US" altLang="zh-CN" sz="2000" dirty="0"/>
              <a:t>.c </a:t>
            </a:r>
            <a:r>
              <a:rPr lang="zh-CN" altLang="en-US" sz="2000" dirty="0"/>
              <a:t>结尾，而不是用 </a:t>
            </a:r>
            <a:r>
              <a:rPr lang="en-US" altLang="zh-CN" sz="2000" dirty="0" err="1"/>
              <a:t>strstr</a:t>
            </a:r>
            <a:r>
              <a:rPr lang="en-US" altLang="zh-CN" sz="2000" dirty="0"/>
              <a:t> </a:t>
            </a:r>
            <a:r>
              <a:rPr lang="zh-CN" altLang="en-US" sz="2000" dirty="0"/>
              <a:t>做子串匹配。</a:t>
            </a:r>
          </a:p>
        </p:txBody>
      </p:sp>
      <p:pic>
        <p:nvPicPr>
          <p:cNvPr id="16" name="图片 15"/>
          <p:cNvPicPr/>
          <p:nvPr/>
        </p:nvPicPr>
        <p:blipFill>
          <a:blip r:embed="rId6"/>
          <a:stretch>
            <a:fillRect/>
          </a:stretch>
        </p:blipFill>
        <p:spPr>
          <a:xfrm>
            <a:off x="6451600" y="2517775"/>
            <a:ext cx="5255895" cy="30289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539230" y="1874838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通过首行特征码判断文件是否已感染：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539230" y="5851843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同一个文件不会无限膨胀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1" name="文本框 109"/>
          <p:cNvSpPr txBox="1"/>
          <p:nvPr/>
        </p:nvSpPr>
        <p:spPr>
          <a:xfrm>
            <a:off x="862016" y="46392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病毒实现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0380" y="1239838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b="1" dirty="0"/>
              <a:t>核心机制三——感染过程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53" y="2542858"/>
            <a:ext cx="10800000" cy="104879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1340" y="1638935"/>
            <a:ext cx="8997315" cy="8972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zh-CN" altLang="en-US" b="1" dirty="0"/>
              <a:t>步骤</a:t>
            </a:r>
            <a:r>
              <a:rPr lang="en-US" altLang="zh-CN" b="1" dirty="0"/>
              <a:t> A</a:t>
            </a:r>
            <a:r>
              <a:rPr lang="zh-CN" altLang="en-US" b="1" dirty="0"/>
              <a:t>：注入病毒头部</a:t>
            </a:r>
          </a:p>
          <a:p>
            <a:pPr>
              <a:spcAft>
                <a:spcPct val="60000"/>
              </a:spcAft>
            </a:pPr>
            <a:r>
              <a:rPr lang="zh-CN" altLang="en-US" dirty="0"/>
              <a:t>写入标记、头文件、</a:t>
            </a:r>
            <a:r>
              <a:rPr lang="en-US" altLang="zh-CN" dirty="0"/>
              <a:t>#define main </a:t>
            </a:r>
            <a:r>
              <a:rPr lang="en-US" altLang="zh-CN" dirty="0" err="1"/>
              <a:t>real_main</a:t>
            </a:r>
            <a:endParaRPr lang="en-US" altLang="zh-CN" dirty="0"/>
          </a:p>
          <a:p>
            <a:pPr>
              <a:spcAft>
                <a:spcPct val="60000"/>
              </a:spcAft>
            </a:pP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53" y="4569778"/>
            <a:ext cx="10800000" cy="140066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10870" y="3642995"/>
            <a:ext cx="8386445" cy="964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ct val="60000"/>
              </a:spcAft>
            </a:pPr>
            <a:r>
              <a:rPr lang="zh-CN" altLang="en-US" b="1" dirty="0">
                <a:sym typeface="+mn-ea"/>
              </a:rPr>
              <a:t>步骤</a:t>
            </a:r>
            <a:r>
              <a:rPr lang="en-US" altLang="zh-CN" b="1" dirty="0">
                <a:sym typeface="+mn-ea"/>
              </a:rPr>
              <a:t> B</a:t>
            </a:r>
            <a:r>
              <a:rPr lang="zh-CN" altLang="en-US" b="1" dirty="0">
                <a:sym typeface="+mn-ea"/>
              </a:rPr>
              <a:t>：复制宿主原始内容</a:t>
            </a:r>
          </a:p>
          <a:p>
            <a:pPr>
              <a:spcAft>
                <a:spcPct val="60000"/>
              </a:spcAft>
            </a:pPr>
            <a:r>
              <a:rPr lang="zh-CN" altLang="en-US" dirty="0">
                <a:sym typeface="+mn-ea"/>
              </a:rPr>
              <a:t>把原文件内容完整写回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1" name="文本框 109"/>
          <p:cNvSpPr txBox="1"/>
          <p:nvPr/>
        </p:nvSpPr>
        <p:spPr>
          <a:xfrm>
            <a:off x="862016" y="46392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病毒实现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0380" y="1207135"/>
            <a:ext cx="84937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>
                <a:sym typeface="+mn-ea"/>
              </a:rPr>
              <a:t>核心机制三——感染过程</a:t>
            </a:r>
            <a:endParaRPr lang="zh-CN" altLang="en-US" sz="2000" b="1"/>
          </a:p>
        </p:txBody>
      </p:sp>
      <p:sp>
        <p:nvSpPr>
          <p:cNvPr id="3" name="文本框 2"/>
          <p:cNvSpPr txBox="1"/>
          <p:nvPr/>
        </p:nvSpPr>
        <p:spPr>
          <a:xfrm>
            <a:off x="500380" y="1826895"/>
            <a:ext cx="6096000" cy="742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ct val="60000"/>
              </a:spcAft>
            </a:pPr>
            <a:r>
              <a:rPr lang="zh-CN" altLang="en-US" sz="1600" b="1">
                <a:sym typeface="+mn-ea"/>
              </a:rPr>
              <a:t>步骤</a:t>
            </a:r>
            <a:r>
              <a:rPr lang="en-US" altLang="zh-CN" sz="1600" b="1">
                <a:sym typeface="+mn-ea"/>
              </a:rPr>
              <a:t> C</a:t>
            </a:r>
            <a:r>
              <a:rPr lang="zh-CN" altLang="en-US" sz="1600" b="1">
                <a:sym typeface="+mn-ea"/>
              </a:rPr>
              <a:t>：注入病毒尾部</a:t>
            </a:r>
            <a:endParaRPr lang="zh-CN" altLang="en-US" sz="1600" b="1"/>
          </a:p>
          <a:p>
            <a:pPr>
              <a:spcAft>
                <a:spcPct val="60000"/>
              </a:spcAft>
            </a:pPr>
            <a:r>
              <a:rPr lang="zh-CN" altLang="en-US" sz="1600">
                <a:sym typeface="+mn-ea"/>
              </a:rPr>
              <a:t>从当前源文件</a:t>
            </a:r>
            <a:r>
              <a:rPr lang="en-US" altLang="zh-CN" sz="1600">
                <a:sym typeface="+mn-ea"/>
              </a:rPr>
              <a:t> __FILE__ </a:t>
            </a:r>
            <a:r>
              <a:rPr lang="zh-CN" altLang="en-US" sz="1600">
                <a:sym typeface="+mn-ea"/>
              </a:rPr>
              <a:t>中找到病毒代码，复制到目标文件末尾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8" y="2716848"/>
            <a:ext cx="7200000" cy="39441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82000" y="3939540"/>
            <a:ext cx="27279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</a:rPr>
              <a:t>copy</a:t>
            </a:r>
            <a:r>
              <a:rPr lang="zh-CN" altLang="en-US" sz="2400">
                <a:solidFill>
                  <a:srgbClr val="FF0000"/>
                </a:solidFill>
              </a:rPr>
              <a:t>整个病毒，实现病毒源码的传播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1" name="文本框 109"/>
          <p:cNvSpPr txBox="1"/>
          <p:nvPr/>
        </p:nvSpPr>
        <p:spPr>
          <a:xfrm>
            <a:off x="862016" y="46392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病毒实现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0380" y="1229360"/>
            <a:ext cx="254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总体架构图：</a:t>
            </a:r>
          </a:p>
        </p:txBody>
      </p:sp>
      <p:sp>
        <p:nvSpPr>
          <p:cNvPr id="6" name="矩形 5"/>
          <p:cNvSpPr/>
          <p:nvPr/>
        </p:nvSpPr>
        <p:spPr>
          <a:xfrm>
            <a:off x="636270" y="2108835"/>
            <a:ext cx="2268220" cy="1022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242310" y="2108835"/>
            <a:ext cx="2268220" cy="1022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39155" y="2108835"/>
            <a:ext cx="2268220" cy="1022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559800" y="2108835"/>
            <a:ext cx="2268220" cy="1022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559800" y="3700780"/>
            <a:ext cx="2268220" cy="1022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939155" y="3700780"/>
            <a:ext cx="2268220" cy="1022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75995" y="2381250"/>
            <a:ext cx="1624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宿主源文件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524250" y="2297430"/>
            <a:ext cx="17729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头部注入（标记</a:t>
            </a:r>
            <a:r>
              <a:rPr lang="en-US" altLang="zh-CN"/>
              <a:t> + </a:t>
            </a:r>
            <a:r>
              <a:rPr lang="zh-CN" altLang="en-US"/>
              <a:t>宏替换）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151880" y="2451735"/>
            <a:ext cx="17665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ym typeface="+mn-ea"/>
              </a:rPr>
              <a:t>复制原宿主代码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754745" y="2451735"/>
            <a:ext cx="20307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ym typeface="+mn-ea"/>
              </a:rPr>
              <a:t>尾部注入（病毒载荷）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903335" y="4043045"/>
            <a:ext cx="18821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ym typeface="+mn-ea"/>
              </a:rPr>
              <a:t>生成被感染文件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292215" y="3914775"/>
            <a:ext cx="17665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ym typeface="+mn-ea"/>
              </a:rPr>
              <a:t>编译运行后：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打印信息</a:t>
            </a:r>
          </a:p>
        </p:txBody>
      </p:sp>
      <p:sp>
        <p:nvSpPr>
          <p:cNvPr id="27" name="矩形 26"/>
          <p:cNvSpPr/>
          <p:nvPr/>
        </p:nvSpPr>
        <p:spPr>
          <a:xfrm>
            <a:off x="3242310" y="3700780"/>
            <a:ext cx="2268220" cy="1022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36270" y="3700780"/>
            <a:ext cx="2268220" cy="1022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486150" y="3920490"/>
            <a:ext cx="18891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ym typeface="+mn-ea"/>
              </a:rPr>
              <a:t>扫描目录 </a:t>
            </a:r>
          </a:p>
          <a:p>
            <a:r>
              <a:rPr lang="zh-CN" altLang="en-US" sz="1600">
                <a:sym typeface="+mn-ea"/>
              </a:rPr>
              <a:t>感染其他未感染</a:t>
            </a:r>
            <a:r>
              <a:rPr lang="en-US" altLang="zh-CN" sz="1600">
                <a:sym typeface="+mn-ea"/>
              </a:rPr>
              <a:t>.c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862330" y="4043045"/>
            <a:ext cx="17462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ym typeface="+mn-ea"/>
              </a:rPr>
              <a:t>调用 </a:t>
            </a:r>
            <a:r>
              <a:rPr lang="en-US" altLang="zh-CN" sz="1600">
                <a:sym typeface="+mn-ea"/>
              </a:rPr>
              <a:t>real_main</a:t>
            </a: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2904490" y="2620010"/>
            <a:ext cx="3378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5555615" y="2620010"/>
            <a:ext cx="3378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8218805" y="2620010"/>
            <a:ext cx="3378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15" idx="2"/>
            <a:endCxn id="16" idx="0"/>
          </p:cNvCxnSpPr>
          <p:nvPr/>
        </p:nvCxnSpPr>
        <p:spPr>
          <a:xfrm>
            <a:off x="9693910" y="3131185"/>
            <a:ext cx="0" cy="5695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>
            <a:off x="8207375" y="4211955"/>
            <a:ext cx="3524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5586730" y="4211955"/>
            <a:ext cx="3524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2922905" y="4211955"/>
            <a:ext cx="3524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3524250" y="5091430"/>
            <a:ext cx="4478020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/>
              <a:t>头部负责“接管入口” </a:t>
            </a:r>
          </a:p>
          <a:p>
            <a:r>
              <a:rPr lang="zh-CN" altLang="en-US" sz="2800"/>
              <a:t>中间保留“宿主原功能” </a:t>
            </a:r>
          </a:p>
          <a:p>
            <a:r>
              <a:rPr lang="zh-CN" altLang="en-US" sz="2800"/>
              <a:t>尾部负责“传播逻辑”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文本框 109"/>
          <p:cNvSpPr txBox="1"/>
          <p:nvPr/>
        </p:nvSpPr>
        <p:spPr>
          <a:xfrm>
            <a:off x="862016" y="46392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病毒实现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1406843"/>
            <a:ext cx="9000000" cy="54507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2330" y="1025525"/>
            <a:ext cx="2531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运行展示：</a:t>
            </a:r>
          </a:p>
        </p:txBody>
      </p:sp>
      <p:sp>
        <p:nvSpPr>
          <p:cNvPr id="7" name="矩形 6"/>
          <p:cNvSpPr/>
          <p:nvPr/>
        </p:nvSpPr>
        <p:spPr>
          <a:xfrm>
            <a:off x="6427470" y="1531620"/>
            <a:ext cx="2836545" cy="2476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427470" y="1845945"/>
            <a:ext cx="2836545" cy="158305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427470" y="3716655"/>
            <a:ext cx="2836545" cy="2476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27470" y="4311015"/>
            <a:ext cx="2836545" cy="19373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669145" y="1424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编译病毒文件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669145" y="2042795"/>
            <a:ext cx="2258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展示两个未被感染的文件的初始内容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669145" y="3517900"/>
            <a:ext cx="225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运行病毒文件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669145" y="4796155"/>
            <a:ext cx="22580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展示两个被感染后的文件的输出内容</a:t>
            </a:r>
          </a:p>
          <a:p>
            <a:r>
              <a:rPr lang="zh-CN" altLang="en-US"/>
              <a:t>先输出：</a:t>
            </a:r>
          </a:p>
          <a:p>
            <a:r>
              <a:rPr lang="en-US" altLang="zh-CN"/>
              <a:t>Welcome to HNU CSAPP!</a:t>
            </a:r>
          </a:p>
          <a:p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4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43" name="文本框 173"/>
          <p:cNvSpPr txBox="1"/>
          <p:nvPr/>
        </p:nvSpPr>
        <p:spPr>
          <a:xfrm>
            <a:off x="3769038" y="2159672"/>
            <a:ext cx="1954381" cy="156709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5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</a:p>
        </p:txBody>
      </p:sp>
      <p:sp>
        <p:nvSpPr>
          <p:cNvPr id="44" name="文本框 175"/>
          <p:cNvSpPr txBox="1"/>
          <p:nvPr/>
        </p:nvSpPr>
        <p:spPr>
          <a:xfrm>
            <a:off x="5600663" y="2720110"/>
            <a:ext cx="1808480" cy="5835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查杀病毒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 cstate="print"/>
          <a:srcRect l="20464" t="16719" r="69336" b="53532"/>
          <a:stretch>
            <a:fillRect/>
          </a:stretch>
        </p:blipFill>
        <p:spPr>
          <a:xfrm>
            <a:off x="9015416" y="1068252"/>
            <a:ext cx="1045879" cy="1405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文本框 109"/>
          <p:cNvSpPr txBox="1"/>
          <p:nvPr/>
        </p:nvSpPr>
        <p:spPr>
          <a:xfrm>
            <a:off x="862016" y="46392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查杀病毒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8165" y="1075055"/>
            <a:ext cx="111817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/>
              <a:t>解铃还须系铃人。既然感染逻辑是我们设计的，杀毒软件的逻辑自然就是</a:t>
            </a:r>
            <a:r>
              <a:rPr lang="zh-CN" altLang="en-US" sz="2000">
                <a:highlight>
                  <a:srgbClr val="FFFF00"/>
                </a:highlight>
              </a:rPr>
              <a:t>“反向外科手术”。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848" y="1883728"/>
            <a:ext cx="9000000" cy="243084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5155" y="1465580"/>
            <a:ext cx="6951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扫描：</a:t>
            </a:r>
            <a:r>
              <a:rPr lang="zh-CN" altLang="en-US"/>
              <a:t>寻找带有</a:t>
            </a:r>
            <a:r>
              <a:rPr lang="en-US" altLang="zh-CN"/>
              <a:t> [HNU_CSAPP_VIRUS_V1.0] </a:t>
            </a:r>
            <a:r>
              <a:rPr lang="zh-CN" altLang="en-US"/>
              <a:t>的</a:t>
            </a:r>
            <a:r>
              <a:rPr lang="en-US" altLang="zh-CN"/>
              <a:t>c</a:t>
            </a:r>
            <a:r>
              <a:rPr lang="zh-CN" altLang="en-US"/>
              <a:t>文件。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848" y="5079048"/>
            <a:ext cx="9000000" cy="1631047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58165" y="4528185"/>
            <a:ext cx="762762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/>
              <a:t>切头部</a:t>
            </a:r>
            <a:r>
              <a:rPr lang="zh-CN" altLang="en-US"/>
              <a:t>：直接跳过文件前 </a:t>
            </a:r>
            <a:r>
              <a:rPr lang="en-US" altLang="zh-CN"/>
              <a:t>7 </a:t>
            </a:r>
            <a:r>
              <a:rPr lang="zh-CN" altLang="en-US"/>
              <a:t>行（丢弃特征码、头文件和宏劫持）。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文本框 109"/>
          <p:cNvSpPr txBox="1"/>
          <p:nvPr/>
        </p:nvSpPr>
        <p:spPr>
          <a:xfrm>
            <a:off x="862016" y="46392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查杀病毒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13" y="2343468"/>
            <a:ext cx="7200000" cy="43410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62330" y="1204595"/>
            <a:ext cx="100355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抄健康代码：</a:t>
            </a:r>
            <a:r>
              <a:rPr lang="zh-CN" altLang="en-US"/>
              <a:t>开始抄写中间正常的源码。</a:t>
            </a:r>
            <a:endParaRPr lang="en-US" altLang="zh-CN"/>
          </a:p>
          <a:p>
            <a:r>
              <a:rPr lang="zh-CN" altLang="en-US" b="1"/>
              <a:t>切尾巴：</a:t>
            </a:r>
            <a:r>
              <a:rPr lang="zh-CN" altLang="en-US"/>
              <a:t>监控每一行，一旦遇到</a:t>
            </a:r>
            <a:r>
              <a:rPr lang="en-US" altLang="zh-CN"/>
              <a:t> --- VIRUS PAYLOAD START --- </a:t>
            </a:r>
            <a:r>
              <a:rPr lang="zh-CN" altLang="en-US"/>
              <a:t>标记，立刻停止抄写并丢弃后续所有内容。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文本框 109"/>
          <p:cNvSpPr txBox="1"/>
          <p:nvPr/>
        </p:nvSpPr>
        <p:spPr>
          <a:xfrm>
            <a:off x="862016" y="46392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查杀病毒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1486218"/>
            <a:ext cx="9000000" cy="404204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989955" y="1539875"/>
            <a:ext cx="3447415" cy="5276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989955" y="3726180"/>
            <a:ext cx="3447415" cy="153225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733915" y="1486535"/>
            <a:ext cx="1896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编译并运行查杀病毒程序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821545" y="3726180"/>
            <a:ext cx="1591310" cy="1951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重新编译并运行查杀过病毒的程序</a:t>
            </a:r>
          </a:p>
          <a:p>
            <a:r>
              <a:rPr lang="zh-CN" altLang="en-US"/>
              <a:t>不再输出：</a:t>
            </a:r>
          </a:p>
          <a:p>
            <a:r>
              <a:rPr lang="en-US" altLang="zh-CN">
                <a:sym typeface="+mn-ea"/>
              </a:rPr>
              <a:t>Welcome to HNU CSAPP!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4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43" name="文本框 173"/>
          <p:cNvSpPr txBox="1"/>
          <p:nvPr/>
        </p:nvSpPr>
        <p:spPr>
          <a:xfrm>
            <a:off x="3769038" y="2159672"/>
            <a:ext cx="1954381" cy="156709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5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肆</a:t>
            </a:r>
          </a:p>
        </p:txBody>
      </p:sp>
      <p:sp>
        <p:nvSpPr>
          <p:cNvPr id="44" name="文本框 175"/>
          <p:cNvSpPr txBox="1"/>
          <p:nvPr/>
        </p:nvSpPr>
        <p:spPr>
          <a:xfrm>
            <a:off x="5452920" y="2623895"/>
            <a:ext cx="2339102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感染可执行文件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 cstate="print"/>
          <a:srcRect l="20464" t="16719" r="69336" b="53532"/>
          <a:stretch>
            <a:fillRect/>
          </a:stretch>
        </p:blipFill>
        <p:spPr>
          <a:xfrm>
            <a:off x="9015416" y="1068252"/>
            <a:ext cx="1045879" cy="1405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文本框 109"/>
          <p:cNvSpPr txBox="1"/>
          <p:nvPr/>
        </p:nvSpPr>
        <p:spPr>
          <a:xfrm>
            <a:off x="862016" y="46392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感染可执行文件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D225E58-3F2C-A630-891B-8548046FD8A3}"/>
              </a:ext>
            </a:extLst>
          </p:cNvPr>
          <p:cNvSpPr txBox="1"/>
          <p:nvPr/>
        </p:nvSpPr>
        <p:spPr>
          <a:xfrm>
            <a:off x="681041" y="1070134"/>
            <a:ext cx="10082753" cy="1281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差异：</a:t>
            </a:r>
            <a:r>
              <a:rPr lang="zh-CN" altLang="en-US" sz="2400" dirty="0"/>
              <a:t>感染</a:t>
            </a:r>
            <a:r>
              <a:rPr lang="en-US" altLang="zh-CN" sz="2400" dirty="0"/>
              <a:t>.c</a:t>
            </a:r>
            <a:r>
              <a:rPr lang="zh-CN" altLang="en-US" sz="2400" dirty="0"/>
              <a:t>文件是字符串层面的拼接；感染可执行文件是对二进制结构的精准解剖与修改。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FAC571-A69D-E698-A576-211D974C0F6E}"/>
              </a:ext>
            </a:extLst>
          </p:cNvPr>
          <p:cNvSpPr txBox="1"/>
          <p:nvPr/>
        </p:nvSpPr>
        <p:spPr>
          <a:xfrm>
            <a:off x="406063" y="2149866"/>
            <a:ext cx="782353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准备病毒载荷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/>
              <a:t>病毒的逻辑应当被编译成纯粹的、位置无关的机器指令（通常称为 </a:t>
            </a:r>
            <a:r>
              <a:rPr lang="en-US" altLang="zh-CN" sz="2400" dirty="0"/>
              <a:t>Shellcode</a:t>
            </a:r>
            <a:r>
              <a:rPr lang="zh-CN" altLang="en-US" sz="2400" dirty="0"/>
              <a:t>）。</a:t>
            </a:r>
          </a:p>
          <a:p>
            <a:endParaRPr lang="en-US" altLang="zh-CN" sz="2400" dirty="0"/>
          </a:p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寻找或开辟空间注入代码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/>
              <a:t>常见注入策略：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代码洞 </a:t>
            </a:r>
            <a:r>
              <a:rPr lang="en-US" altLang="zh-CN" sz="2400" dirty="0"/>
              <a:t>(Code Cave) </a:t>
            </a:r>
            <a:r>
              <a:rPr lang="zh-CN" altLang="en-US" sz="2400" dirty="0"/>
              <a:t>注入：利用 </a:t>
            </a:r>
            <a:r>
              <a:rPr lang="en-US" altLang="zh-CN" sz="2400" dirty="0"/>
              <a:t>ELF </a:t>
            </a:r>
            <a:r>
              <a:rPr lang="zh-CN" altLang="en-US" sz="2400" dirty="0"/>
              <a:t>文件中各个段之间因为内存页对齐而产生的空隙。如果病毒载荷足够小，可以直接塞进这些空隙中。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节区扩展</a:t>
            </a:r>
            <a:r>
              <a:rPr lang="en-US" altLang="zh-CN" sz="2400" dirty="0"/>
              <a:t>/</a:t>
            </a:r>
            <a:r>
              <a:rPr lang="zh-CN" altLang="en-US" sz="2400" dirty="0"/>
              <a:t>追加注入：将病毒代码附加到可执行文件的末尾。</a:t>
            </a:r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F6FB3C-44C7-EB51-78F6-A81CF2CA184F}"/>
              </a:ext>
            </a:extLst>
          </p:cNvPr>
          <p:cNvSpPr txBox="1"/>
          <p:nvPr/>
        </p:nvSpPr>
        <p:spPr>
          <a:xfrm>
            <a:off x="8229601" y="2351703"/>
            <a:ext cx="3962399" cy="193899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>
                <a:ea typeface="楷体" panose="02010609060101010101" pitchFamily="49" charset="-122"/>
              </a:rPr>
              <a:t>Q: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为什么不能像刚才那样直接写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代码？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000" dirty="0"/>
              <a:t>A: </a:t>
            </a:r>
            <a:r>
              <a:rPr lang="zh-CN" altLang="en-US" sz="2000" dirty="0"/>
              <a:t>因为在病毒代码运行时，</a:t>
            </a:r>
            <a:r>
              <a:rPr lang="en-US" altLang="zh-CN" sz="2000" dirty="0"/>
              <a:t>C </a:t>
            </a:r>
            <a:r>
              <a:rPr lang="zh-CN" altLang="en-US" sz="2000" dirty="0"/>
              <a:t>语言的运行环境（如 </a:t>
            </a:r>
            <a:r>
              <a:rPr lang="en-US" altLang="zh-CN" sz="2000" dirty="0" err="1"/>
              <a:t>libc</a:t>
            </a:r>
            <a:r>
              <a:rPr lang="en-US" altLang="zh-CN" sz="2000" dirty="0"/>
              <a:t> </a:t>
            </a:r>
            <a:r>
              <a:rPr lang="zh-CN" altLang="en-US" sz="2000" dirty="0"/>
              <a:t>库）可能还没有正确初始化，所以需要通过机器码来执行。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861759-80B1-D549-D686-07963B35621D}"/>
              </a:ext>
            </a:extLst>
          </p:cNvPr>
          <p:cNvSpPr/>
          <p:nvPr/>
        </p:nvSpPr>
        <p:spPr>
          <a:xfrm>
            <a:off x="8229601" y="2351703"/>
            <a:ext cx="3962399" cy="1938992"/>
          </a:xfrm>
          <a:prstGeom prst="rect">
            <a:avLst/>
          </a:prstGeom>
          <a:noFill/>
          <a:ln>
            <a:solidFill>
              <a:schemeClr val="accent4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文本框 109"/>
          <p:cNvSpPr txBox="1"/>
          <p:nvPr/>
        </p:nvSpPr>
        <p:spPr>
          <a:xfrm>
            <a:off x="862016" y="46392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感染可执行文件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A131954-BE64-13C3-FE9B-9F3133AD37F7}"/>
              </a:ext>
            </a:extLst>
          </p:cNvPr>
          <p:cNvSpPr txBox="1"/>
          <p:nvPr/>
        </p:nvSpPr>
        <p:spPr>
          <a:xfrm>
            <a:off x="862016" y="1161780"/>
            <a:ext cx="1046357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劫持控制流</a:t>
            </a:r>
          </a:p>
          <a:p>
            <a:r>
              <a:rPr lang="zh-CN" altLang="en-US" sz="2400" dirty="0"/>
              <a:t>读取</a:t>
            </a:r>
            <a:r>
              <a:rPr lang="en-US" altLang="zh-CN" sz="2400" dirty="0"/>
              <a:t>ELF</a:t>
            </a:r>
            <a:r>
              <a:rPr lang="zh-CN" altLang="en-US" sz="2400" dirty="0"/>
              <a:t>头，记录下原始的 </a:t>
            </a:r>
            <a:r>
              <a:rPr lang="en-US" altLang="zh-CN" sz="2400" dirty="0" err="1"/>
              <a:t>e_entry</a:t>
            </a:r>
            <a:r>
              <a:rPr lang="en-US" altLang="zh-CN" sz="2400" dirty="0"/>
              <a:t> </a:t>
            </a:r>
            <a:r>
              <a:rPr lang="zh-CN" altLang="en-US" sz="2400" dirty="0"/>
              <a:t>地址，将 </a:t>
            </a:r>
            <a:r>
              <a:rPr lang="en-US" altLang="zh-CN" sz="2400" dirty="0" err="1"/>
              <a:t>e_entry</a:t>
            </a:r>
            <a:r>
              <a:rPr lang="en-US" altLang="zh-CN" sz="2400" dirty="0"/>
              <a:t> </a:t>
            </a:r>
            <a:r>
              <a:rPr lang="zh-CN" altLang="en-US" sz="2400" dirty="0"/>
              <a:t>修改为病毒代码在内存中的起始虚拟地址。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536782-B4D6-E345-044C-8411FFFC9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383" y="2423663"/>
            <a:ext cx="6294393" cy="238300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8931520-E51B-D5D8-365F-BD53B6D91DC0}"/>
              </a:ext>
            </a:extLst>
          </p:cNvPr>
          <p:cNvSpPr/>
          <p:nvPr/>
        </p:nvSpPr>
        <p:spPr>
          <a:xfrm>
            <a:off x="1413057" y="4296795"/>
            <a:ext cx="3683725" cy="229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6369A4-2A80-1175-2954-EFBB8EF193C8}"/>
              </a:ext>
            </a:extLst>
          </p:cNvPr>
          <p:cNvSpPr txBox="1"/>
          <p:nvPr/>
        </p:nvSpPr>
        <p:spPr>
          <a:xfrm>
            <a:off x="1051948" y="4928637"/>
            <a:ext cx="1027364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控制流恢复</a:t>
            </a:r>
          </a:p>
          <a:p>
            <a:r>
              <a:rPr lang="zh-CN" altLang="en-US" sz="2400" dirty="0"/>
              <a:t>病毒在执行完打印 </a:t>
            </a:r>
            <a:r>
              <a:rPr lang="en-US" altLang="zh-CN" sz="2400" dirty="0"/>
              <a:t>"Welcome to HNU CSAPP!" </a:t>
            </a:r>
            <a:r>
              <a:rPr lang="zh-CN" altLang="en-US" sz="2400" dirty="0"/>
              <a:t>并寻找下一个感染目标后</a:t>
            </a:r>
          </a:p>
          <a:p>
            <a:r>
              <a:rPr lang="zh-CN" altLang="en-US" sz="2400" dirty="0"/>
              <a:t>，需把执行权交还给原程序。</a:t>
            </a:r>
          </a:p>
          <a:p>
            <a:r>
              <a:rPr lang="zh-CN" altLang="en-US" sz="2400" dirty="0"/>
              <a:t>硬编码一条跳转指令（如 </a:t>
            </a:r>
            <a:r>
              <a:rPr lang="en-US" altLang="zh-CN" sz="2400" dirty="0" err="1"/>
              <a:t>jmp</a:t>
            </a:r>
            <a:r>
              <a:rPr lang="zh-CN" altLang="en-US" sz="2400" dirty="0"/>
              <a:t>），目标地址是原始的 </a:t>
            </a:r>
            <a:r>
              <a:rPr lang="en-US" altLang="zh-CN" sz="2400" dirty="0" err="1"/>
              <a:t>e_entry</a:t>
            </a:r>
            <a:r>
              <a:rPr lang="zh-CN" altLang="en-US" sz="2400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7653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4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43" name="文本框 173"/>
          <p:cNvSpPr txBox="1"/>
          <p:nvPr/>
        </p:nvSpPr>
        <p:spPr>
          <a:xfrm>
            <a:off x="3769038" y="2159672"/>
            <a:ext cx="1954381" cy="156709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5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</a:t>
            </a:r>
          </a:p>
        </p:txBody>
      </p:sp>
      <p:sp>
        <p:nvSpPr>
          <p:cNvPr id="44" name="文本框 175"/>
          <p:cNvSpPr txBox="1"/>
          <p:nvPr/>
        </p:nvSpPr>
        <p:spPr>
          <a:xfrm>
            <a:off x="5452920" y="2623895"/>
            <a:ext cx="800219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 cstate="print"/>
          <a:srcRect l="20464" t="16719" r="69336" b="53532"/>
          <a:stretch>
            <a:fillRect/>
          </a:stretch>
        </p:blipFill>
        <p:spPr>
          <a:xfrm>
            <a:off x="9015416" y="1068252"/>
            <a:ext cx="1045879" cy="14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22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文本框 109"/>
          <p:cNvSpPr txBox="1"/>
          <p:nvPr/>
        </p:nvSpPr>
        <p:spPr>
          <a:xfrm>
            <a:off x="862016" y="46392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A8C6E3F-C2FD-D43E-C573-95F0180E19E4}"/>
              </a:ext>
            </a:extLst>
          </p:cNvPr>
          <p:cNvSpPr txBox="1"/>
          <p:nvPr/>
        </p:nvSpPr>
        <p:spPr>
          <a:xfrm>
            <a:off x="862016" y="1038104"/>
            <a:ext cx="9763054" cy="5067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一、 回归本质：“程序即数据”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/>
              <a:t>从修改</a:t>
            </a:r>
            <a:r>
              <a:rPr lang="en-US" altLang="zh-CN" sz="2000" dirty="0"/>
              <a:t>.c</a:t>
            </a:r>
            <a:r>
              <a:rPr lang="zh-CN" altLang="en-US" sz="2000" dirty="0"/>
              <a:t>源码到探讨修改可执行文件，印证了</a:t>
            </a:r>
            <a:r>
              <a:rPr lang="en-US" altLang="zh-CN" sz="2000" dirty="0"/>
              <a:t>CSAPP</a:t>
            </a:r>
            <a:r>
              <a:rPr lang="zh-CN" altLang="en-US" sz="2000" dirty="0"/>
              <a:t>的核心理念：无论是易读的</a:t>
            </a:r>
            <a:r>
              <a:rPr lang="en-US" altLang="zh-CN" sz="2000" dirty="0"/>
              <a:t>ASCII</a:t>
            </a:r>
            <a:r>
              <a:rPr lang="zh-CN" altLang="en-US" sz="2000" dirty="0"/>
              <a:t>码文本，还是机器指令构成的二进制文件，本质上都是特定格式的上下文</a:t>
            </a:r>
            <a:r>
              <a:rPr lang="en-US" altLang="zh-CN" sz="2000" dirty="0"/>
              <a:t>+ </a:t>
            </a:r>
            <a:r>
              <a:rPr lang="zh-CN" altLang="en-US" sz="2000" dirty="0"/>
              <a:t>字节序列。</a:t>
            </a:r>
            <a:endParaRPr lang="en-US" altLang="zh-CN" sz="2000" dirty="0"/>
          </a:p>
          <a:p>
            <a:pPr>
              <a:lnSpc>
                <a:spcPct val="114000"/>
              </a:lnSpc>
            </a:pPr>
            <a:endParaRPr lang="en-US" altLang="zh-CN" sz="2000" dirty="0"/>
          </a:p>
          <a:p>
            <a:pPr>
              <a:lnSpc>
                <a:spcPct val="114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二、 深入底层：链接与加载的真实试炼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/>
              <a:t>常规编程只关注业务逻辑，而编写可执行文件“病毒” 要求我们跳出代码本身，从整体视角</a:t>
            </a:r>
            <a:r>
              <a:rPr lang="en-US" altLang="zh-CN" sz="2000" dirty="0"/>
              <a:t>ELF</a:t>
            </a:r>
            <a:r>
              <a:rPr lang="zh-CN" altLang="en-US" sz="2000" dirty="0"/>
              <a:t>文件格式。</a:t>
            </a:r>
            <a:endParaRPr lang="en-US" altLang="zh-CN" sz="2000" dirty="0"/>
          </a:p>
          <a:p>
            <a:pPr>
              <a:lnSpc>
                <a:spcPct val="114000"/>
              </a:lnSpc>
            </a:pPr>
            <a:endParaRPr lang="en-US" altLang="zh-CN" sz="2000" dirty="0"/>
          </a:p>
          <a:p>
            <a:pPr>
              <a:lnSpc>
                <a:spcPct val="114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三、 攻防视角：建立系统级安全思维</a:t>
            </a:r>
          </a:p>
          <a:p>
            <a:pPr>
              <a:lnSpc>
                <a:spcPct val="114000"/>
              </a:lnSpc>
            </a:pPr>
            <a:r>
              <a:rPr lang="zh-CN" altLang="en-US" sz="2000" dirty="0"/>
              <a:t>实现“病毒”与“专杀”是一场不断博弈的游戏。在提升系统级编程能力的同时，也要要防范恶意代码对执行流的篡改，理解现代操作系统安全机制（如代码签名、</a:t>
            </a:r>
            <a:r>
              <a:rPr lang="en-US" altLang="zh-CN" sz="2000" dirty="0"/>
              <a:t>ASLR</a:t>
            </a:r>
            <a:r>
              <a:rPr lang="zh-CN" altLang="en-US" sz="2000" dirty="0"/>
              <a:t>机制等）的必要性。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7085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4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43" name="文本框 173"/>
          <p:cNvSpPr txBox="1"/>
          <p:nvPr/>
        </p:nvSpPr>
        <p:spPr>
          <a:xfrm>
            <a:off x="3769038" y="2159672"/>
            <a:ext cx="1954381" cy="156709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5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</a:t>
            </a:r>
          </a:p>
        </p:txBody>
      </p:sp>
      <p:sp>
        <p:nvSpPr>
          <p:cNvPr id="44" name="文本框 175"/>
          <p:cNvSpPr txBox="1"/>
          <p:nvPr/>
        </p:nvSpPr>
        <p:spPr>
          <a:xfrm>
            <a:off x="5452920" y="2623895"/>
            <a:ext cx="646331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Q&amp;A</a:t>
            </a:r>
            <a:endParaRPr lang="zh-CN" altLang="en-US" sz="2400" dirty="0">
              <a:solidFill>
                <a:srgbClr val="85725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 cstate="print"/>
          <a:srcRect l="20464" t="16719" r="69336" b="53532"/>
          <a:stretch>
            <a:fillRect/>
          </a:stretch>
        </p:blipFill>
        <p:spPr>
          <a:xfrm>
            <a:off x="9015416" y="1068252"/>
            <a:ext cx="1045879" cy="14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81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文本框 109"/>
          <p:cNvSpPr txBox="1"/>
          <p:nvPr/>
        </p:nvSpPr>
        <p:spPr>
          <a:xfrm>
            <a:off x="862016" y="46392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rgbClr val="85725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Q&amp;A</a:t>
            </a:r>
            <a:endParaRPr lang="zh-CN" altLang="en-US" sz="2800" dirty="0">
              <a:solidFill>
                <a:srgbClr val="85725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00066" y="438438"/>
            <a:ext cx="361950" cy="57418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14C8AA4-9F6D-2BEA-4619-6CBC2552EC2D}"/>
              </a:ext>
            </a:extLst>
          </p:cNvPr>
          <p:cNvSpPr txBox="1"/>
          <p:nvPr/>
        </p:nvSpPr>
        <p:spPr>
          <a:xfrm>
            <a:off x="862016" y="1038104"/>
            <a:ext cx="9833888" cy="749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如果我们将这个病毒放在运行着现代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Linux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内核的机器上，即使我们成功修改了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.c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源码或二进制文件， 有哪些现代系统机制会成为该病毒传播的‘天敌’？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520B85-5CFD-7A63-DF50-4E5F5B495BC6}"/>
              </a:ext>
            </a:extLst>
          </p:cNvPr>
          <p:cNvSpPr txBox="1"/>
          <p:nvPr/>
        </p:nvSpPr>
        <p:spPr>
          <a:xfrm>
            <a:off x="862016" y="2207946"/>
            <a:ext cx="92478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答案有很多，这里举出两个‘天敌’ ：</a:t>
            </a:r>
            <a:endParaRPr lang="en-US" altLang="zh-CN" sz="2000" dirty="0"/>
          </a:p>
          <a:p>
            <a:r>
              <a:rPr lang="en-US" altLang="zh-CN" sz="2000" b="1" dirty="0"/>
              <a:t>NX Bit (</a:t>
            </a:r>
            <a:r>
              <a:rPr lang="zh-CN" altLang="en-US" sz="2000" b="1" dirty="0"/>
              <a:t>不可执行位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：</a:t>
            </a:r>
            <a:r>
              <a:rPr lang="zh-CN" altLang="en-US" sz="2000" dirty="0"/>
              <a:t>是一种内存页保护机制。现代操作系统将某些内存页（如栈、堆）标记为“可写但不可执行”。这样，病毒或攻击者即使把恶意代码写入这些区域，也不能直接把这些数据当作指令执行。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/>
              <a:t>ASLR</a:t>
            </a:r>
            <a:r>
              <a:rPr lang="zh-CN" altLang="en-US" sz="2000" b="1" dirty="0"/>
              <a:t>（地址空间布局随机化）：</a:t>
            </a:r>
            <a:r>
              <a:rPr lang="zh-CN" altLang="en-US" sz="2000" dirty="0"/>
              <a:t>是指操作系统在每次程序运行时，随机化栈、堆、共享库以及部分代码段的装载地址。如果病毒试图依赖固定地址来插入、跳转或劫持程序执行流程，那么在 </a:t>
            </a:r>
            <a:r>
              <a:rPr lang="en-US" altLang="zh-CN" sz="2000" dirty="0"/>
              <a:t>ASLR </a:t>
            </a:r>
            <a:r>
              <a:rPr lang="zh-CN" altLang="en-US" sz="2000" dirty="0"/>
              <a:t>存在时，这些地址会在不同运行中发生变化，导致病毒代码难以稳定定位目标位置并成功执行。</a:t>
            </a:r>
          </a:p>
        </p:txBody>
      </p:sp>
    </p:spTree>
    <p:extLst>
      <p:ext uri="{BB962C8B-B14F-4D97-AF65-F5344CB8AC3E}">
        <p14:creationId xmlns:p14="http://schemas.microsoft.com/office/powerpoint/2010/main" val="339293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4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12" name="文本框 4"/>
          <p:cNvSpPr txBox="1"/>
          <p:nvPr/>
        </p:nvSpPr>
        <p:spPr>
          <a:xfrm>
            <a:off x="3746639" y="1859847"/>
            <a:ext cx="4698722" cy="1446550"/>
          </a:xfrm>
          <a:prstGeom prst="rect">
            <a:avLst/>
          </a:prstGeom>
          <a:noFill/>
          <a:ln w="12700">
            <a:noFill/>
            <a:prstDash val="lg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8800" dirty="0">
                <a:solidFill>
                  <a:srgbClr val="857255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感谢聆听</a:t>
            </a:r>
          </a:p>
        </p:txBody>
      </p:sp>
      <p:sp>
        <p:nvSpPr>
          <p:cNvPr id="13" name="文本框 8"/>
          <p:cNvSpPr txBox="1"/>
          <p:nvPr/>
        </p:nvSpPr>
        <p:spPr>
          <a:xfrm>
            <a:off x="3597365" y="3252461"/>
            <a:ext cx="437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宣传画册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|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国风古韵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|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古典文化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|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教学课件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77123" y="2888215"/>
            <a:ext cx="383707" cy="74319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8723622047243,&quot;left&quot;:296.1588188976378,&quot;top&quot;:101.8848818897637,&quot;width&quot;:506.7823622047243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1501</Words>
  <Application>Microsoft Office PowerPoint</Application>
  <PresentationFormat>宽屏</PresentationFormat>
  <Paragraphs>171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华文楷体</vt:lpstr>
      <vt:lpstr>等线</vt:lpstr>
      <vt:lpstr>楷体</vt:lpstr>
      <vt:lpstr>Wingdings</vt:lpstr>
      <vt:lpstr>Times New Roman</vt:lpstr>
      <vt:lpstr>宋体</vt:lpstr>
      <vt:lpstr>Arial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星 易</dc:creator>
  <cp:lastModifiedBy>zyl</cp:lastModifiedBy>
  <cp:revision>40</cp:revision>
  <dcterms:created xsi:type="dcterms:W3CDTF">2020-06-28T06:46:00Z</dcterms:created>
  <dcterms:modified xsi:type="dcterms:W3CDTF">2026-04-21T09:26:31Z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v1.0_mb_AQQ73wPveV6pR2jls4ZSLg==</vt:lpwstr>
  </property>
  <property fmtid="{D5CDD505-2E9C-101B-9397-08002B2CF9AE}" pid="4" name="ICV">
    <vt:lpwstr>947860F124DA42789AFC460866628430_12</vt:lpwstr>
  </property>
</Properties>
</file>