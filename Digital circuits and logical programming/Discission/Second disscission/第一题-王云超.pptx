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6"/>
  </p:notesMasterIdLst>
  <p:sldIdLst>
    <p:sldId id="301" r:id="rId3"/>
    <p:sldId id="273" r:id="rId4"/>
    <p:sldId id="279" r:id="rId5"/>
    <p:sldId id="280" r:id="rId6"/>
    <p:sldId id="281" r:id="rId7"/>
    <p:sldId id="282" r:id="rId8"/>
    <p:sldId id="283" r:id="rId9"/>
    <p:sldId id="284" r:id="rId10"/>
    <p:sldId id="285" r:id="rId11"/>
    <p:sldId id="286" r:id="rId12"/>
    <p:sldId id="287" r:id="rId13"/>
    <p:sldId id="288" r:id="rId14"/>
    <p:sldId id="289" r:id="rId15"/>
    <p:sldId id="290" r:id="rId16"/>
    <p:sldId id="291" r:id="rId17"/>
    <p:sldId id="292" r:id="rId18"/>
    <p:sldId id="293" r:id="rId19"/>
    <p:sldId id="294" r:id="rId20"/>
    <p:sldId id="296" r:id="rId21"/>
    <p:sldId id="297" r:id="rId22"/>
    <p:sldId id="298" r:id="rId23"/>
    <p:sldId id="299" r:id="rId24"/>
    <p:sldId id="300" r:id="rId2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96" userDrawn="1">
          <p15:clr>
            <a:srgbClr val="A4A3A4"/>
          </p15:clr>
        </p15:guide>
        <p15:guide id="2" pos="377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FF"/>
    <a:srgbClr val="FFD3FF"/>
    <a:srgbClr val="CFEAF1"/>
    <a:srgbClr val="59BBD8"/>
    <a:srgbClr val="7AC3D7"/>
    <a:srgbClr val="00A7FF"/>
    <a:srgbClr val="EDB519"/>
    <a:srgbClr val="82BED0"/>
    <a:srgbClr val="FFD800"/>
    <a:srgbClr val="F3D21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65" d="100"/>
          <a:sy n="65" d="100"/>
        </p:scale>
        <p:origin x="62" y="350"/>
      </p:cViewPr>
      <p:guideLst>
        <p:guide orient="horz" pos="2296"/>
        <p:guide pos="377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3067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9" Type="http://schemas.openxmlformats.org/officeDocument/2006/relationships/tableStyles" Target="tableStyles.xml"/><Relationship Id="rId28" Type="http://schemas.openxmlformats.org/officeDocument/2006/relationships/viewProps" Target="viewProps.xml"/><Relationship Id="rId27" Type="http://schemas.openxmlformats.org/officeDocument/2006/relationships/presProps" Target="presProps.xml"/><Relationship Id="rId26" Type="http://schemas.openxmlformats.org/officeDocument/2006/relationships/notesMaster" Target="notesMasters/notesMaster1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.wmf"/><Relationship Id="rId1" Type="http://schemas.openxmlformats.org/officeDocument/2006/relationships/image" Target="../media/image11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1C9835-4086-4070-A39D-A86AECB33F1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375D47-66F3-4157-852A-5EA0D72A89E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矩形 313" hidden="1"/>
          <p:cNvSpPr/>
          <p:nvPr userDrawn="1"/>
        </p:nvSpPr>
        <p:spPr>
          <a:xfrm>
            <a:off x="123461" y="346497"/>
            <a:ext cx="11953078" cy="639604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自定义版式"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5" Type="http://schemas.openxmlformats.org/officeDocument/2006/relationships/theme" Target="../theme/theme1.xml"/><Relationship Id="rId4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形 1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0" y="-2"/>
            <a:ext cx="12192000" cy="6858001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347983" y="332504"/>
            <a:ext cx="11522678" cy="61763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  <a:cs typeface="+mn-ea"/>
              <a:sym typeface="+mn-lt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image" Target="../media/image4.png"/><Relationship Id="rId3" Type="http://schemas.openxmlformats.org/officeDocument/2006/relationships/tags" Target="../tags/tag2.xml"/><Relationship Id="rId2" Type="http://schemas.openxmlformats.org/officeDocument/2006/relationships/image" Target="../media/image3.png"/><Relationship Id="rId13" Type="http://schemas.openxmlformats.org/officeDocument/2006/relationships/slideLayout" Target="../slideLayouts/slideLayout1.xml"/><Relationship Id="rId12" Type="http://schemas.openxmlformats.org/officeDocument/2006/relationships/tags" Target="../tags/tag10.xml"/><Relationship Id="rId11" Type="http://schemas.openxmlformats.org/officeDocument/2006/relationships/tags" Target="../tags/tag9.xml"/><Relationship Id="rId10" Type="http://schemas.openxmlformats.org/officeDocument/2006/relationships/tags" Target="../tags/tag8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wmf"/><Relationship Id="rId1" Type="http://schemas.openxmlformats.org/officeDocument/2006/relationships/oleObject" Target="../embeddings/oleObject1.bin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.v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wmf"/><Relationship Id="rId1" Type="http://schemas.openxmlformats.org/officeDocument/2006/relationships/oleObject" Target="../embeddings/oleObject2.bin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3.v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2.wmf"/><Relationship Id="rId3" Type="http://schemas.openxmlformats.org/officeDocument/2006/relationships/oleObject" Target="../embeddings/oleObject4.bin"/><Relationship Id="rId2" Type="http://schemas.openxmlformats.org/officeDocument/2006/relationships/image" Target="../media/image11.wmf"/><Relationship Id="rId1" Type="http://schemas.openxmlformats.org/officeDocument/2006/relationships/oleObject" Target="../embeddings/oleObject3.bin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4.v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4.wmf"/><Relationship Id="rId1" Type="http://schemas.openxmlformats.org/officeDocument/2006/relationships/oleObject" Target="../embeddings/oleObject5.bin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5.v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6.wmf"/><Relationship Id="rId1" Type="http://schemas.openxmlformats.org/officeDocument/2006/relationships/oleObject" Target="../embeddings/oleObject6.bin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tags" Target="../tags/tag18.xml"/><Relationship Id="rId8" Type="http://schemas.openxmlformats.org/officeDocument/2006/relationships/tags" Target="../tags/tag17.xml"/><Relationship Id="rId7" Type="http://schemas.openxmlformats.org/officeDocument/2006/relationships/tags" Target="../tags/tag16.xml"/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4" Type="http://schemas.openxmlformats.org/officeDocument/2006/relationships/slideLayout" Target="../slideLayouts/slideLayout1.xml"/><Relationship Id="rId13" Type="http://schemas.openxmlformats.org/officeDocument/2006/relationships/tags" Target="../tags/tag22.xml"/><Relationship Id="rId12" Type="http://schemas.openxmlformats.org/officeDocument/2006/relationships/tags" Target="../tags/tag21.xml"/><Relationship Id="rId11" Type="http://schemas.openxmlformats.org/officeDocument/2006/relationships/tags" Target="../tags/tag20.xml"/><Relationship Id="rId10" Type="http://schemas.openxmlformats.org/officeDocument/2006/relationships/tags" Target="../tags/tag19.xml"/><Relationship Id="rId1" Type="http://schemas.openxmlformats.org/officeDocument/2006/relationships/image" Target="../media/image18.png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6.v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9.wmf"/><Relationship Id="rId1" Type="http://schemas.openxmlformats.org/officeDocument/2006/relationships/oleObject" Target="../embeddings/oleObject7.bin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tags" Target="../tags/tag30.xml"/><Relationship Id="rId8" Type="http://schemas.openxmlformats.org/officeDocument/2006/relationships/tags" Target="../tags/tag29.xml"/><Relationship Id="rId7" Type="http://schemas.openxmlformats.org/officeDocument/2006/relationships/tags" Target="../tags/tag28.xml"/><Relationship Id="rId6" Type="http://schemas.openxmlformats.org/officeDocument/2006/relationships/tags" Target="../tags/tag27.xml"/><Relationship Id="rId5" Type="http://schemas.openxmlformats.org/officeDocument/2006/relationships/tags" Target="../tags/tag26.xml"/><Relationship Id="rId4" Type="http://schemas.openxmlformats.org/officeDocument/2006/relationships/tags" Target="../tags/tag25.xml"/><Relationship Id="rId3" Type="http://schemas.openxmlformats.org/officeDocument/2006/relationships/tags" Target="../tags/tag24.xml"/><Relationship Id="rId2" Type="http://schemas.openxmlformats.org/officeDocument/2006/relationships/tags" Target="../tags/tag23.xml"/><Relationship Id="rId14" Type="http://schemas.openxmlformats.org/officeDocument/2006/relationships/slideLayout" Target="../slideLayouts/slideLayout1.xml"/><Relationship Id="rId13" Type="http://schemas.openxmlformats.org/officeDocument/2006/relationships/tags" Target="../tags/tag34.xml"/><Relationship Id="rId12" Type="http://schemas.openxmlformats.org/officeDocument/2006/relationships/tags" Target="../tags/tag33.xml"/><Relationship Id="rId11" Type="http://schemas.openxmlformats.org/officeDocument/2006/relationships/tags" Target="../tags/tag32.xml"/><Relationship Id="rId10" Type="http://schemas.openxmlformats.org/officeDocument/2006/relationships/tags" Target="../tags/tag31.xml"/><Relationship Id="rId1" Type="http://schemas.openxmlformats.org/officeDocument/2006/relationships/image" Target="../media/image20.png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7.v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1.wmf"/><Relationship Id="rId1" Type="http://schemas.openxmlformats.org/officeDocument/2006/relationships/oleObject" Target="../embeddings/oleObject8.bin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圆角矩形 9"/>
          <p:cNvSpPr/>
          <p:nvPr/>
        </p:nvSpPr>
        <p:spPr>
          <a:xfrm>
            <a:off x="46991" y="55881"/>
            <a:ext cx="1612991" cy="472997"/>
          </a:xfrm>
          <a:prstGeom prst="roundRect">
            <a:avLst/>
          </a:prstGeom>
          <a:solidFill>
            <a:srgbClr val="59BBD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sz="2600" b="1" dirty="0">
                <a:solidFill>
                  <a:schemeClr val="bg1"/>
                </a:solidFill>
              </a:rPr>
              <a:t>第一题</a:t>
            </a:r>
            <a:endParaRPr lang="zh-CN" sz="2600" b="1" dirty="0">
              <a:solidFill>
                <a:schemeClr val="bg1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080770" y="771525"/>
            <a:ext cx="9441180" cy="58356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sz="1600"/>
              <a:t>以半加器为例，系统阐述在</a:t>
            </a:r>
            <a:r>
              <a:rPr lang="en-US" altLang="zh-CN" sz="1600"/>
              <a:t>Quartus II</a:t>
            </a:r>
            <a:r>
              <a:rPr lang="zh-CN" altLang="en-US" sz="1600"/>
              <a:t>平台采用原理图输入方式完成</a:t>
            </a:r>
            <a:r>
              <a:rPr lang="zh-CN" altLang="en-US" sz="1600" b="1"/>
              <a:t>电路设计、工程编译与波形仿真验证</a:t>
            </a:r>
            <a:r>
              <a:rPr lang="zh-CN" altLang="en-US" sz="1600"/>
              <a:t>的完整过程与实践要点。 </a:t>
            </a:r>
            <a:endParaRPr lang="zh-CN" altLang="en-US" sz="160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rcRect r="993"/>
          <a:stretch>
            <a:fillRect/>
          </a:stretch>
        </p:blipFill>
        <p:spPr>
          <a:xfrm>
            <a:off x="1850390" y="1420495"/>
            <a:ext cx="8221345" cy="486029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圆角矩形 9"/>
          <p:cNvSpPr/>
          <p:nvPr/>
        </p:nvSpPr>
        <p:spPr>
          <a:xfrm>
            <a:off x="46991" y="55881"/>
            <a:ext cx="1612991" cy="472997"/>
          </a:xfrm>
          <a:prstGeom prst="roundRect">
            <a:avLst/>
          </a:prstGeom>
          <a:solidFill>
            <a:srgbClr val="59BBD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sz="2600" b="1" dirty="0">
                <a:solidFill>
                  <a:schemeClr val="bg1"/>
                </a:solidFill>
              </a:rPr>
              <a:t>第一题</a:t>
            </a:r>
            <a:endParaRPr lang="zh-CN" sz="2600" b="1" dirty="0">
              <a:solidFill>
                <a:schemeClr val="bg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04850" y="608965"/>
            <a:ext cx="27673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/>
              <a:t>一、创建项目</a:t>
            </a:r>
            <a:endParaRPr lang="zh-CN" altLang="en-US" sz="2000" b="1"/>
          </a:p>
        </p:txBody>
      </p:sp>
      <p:sp>
        <p:nvSpPr>
          <p:cNvPr id="4" name="文本框 3"/>
          <p:cNvSpPr txBox="1"/>
          <p:nvPr/>
        </p:nvSpPr>
        <p:spPr>
          <a:xfrm>
            <a:off x="1216025" y="5784850"/>
            <a:ext cx="869569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spcBef>
                <a:spcPct val="50000"/>
              </a:spcBef>
            </a:pPr>
            <a:r>
              <a:rPr lang="en-US" altLang="zh-CN" sz="1600" dirty="0">
                <a:latin typeface="Times New Roman" panose="02020603050405020304" pitchFamily="18" charset="0"/>
                <a:sym typeface="+mn-ea"/>
              </a:rPr>
              <a:t>Quartus2</a:t>
            </a:r>
            <a:r>
              <a:rPr lang="zh-CN" altLang="en-US" sz="1600" dirty="0">
                <a:solidFill>
                  <a:srgbClr val="0033CC"/>
                </a:solidFill>
                <a:latin typeface="Times New Roman" panose="02020603050405020304" pitchFamily="18" charset="0"/>
                <a:sym typeface="+mn-ea"/>
              </a:rPr>
              <a:t>只对项目</a:t>
            </a:r>
            <a:r>
              <a:rPr lang="zh-CN" altLang="en-US" sz="1600" dirty="0">
                <a:latin typeface="Times New Roman" panose="02020603050405020304" pitchFamily="18" charset="0"/>
                <a:sym typeface="+mn-ea"/>
              </a:rPr>
              <a:t>进行编译，模拟，编程</a:t>
            </a:r>
            <a:r>
              <a:rPr lang="en-US" altLang="zh-CN" sz="1600" dirty="0">
                <a:latin typeface="Times New Roman" panose="02020603050405020304" pitchFamily="18" charset="0"/>
                <a:sym typeface="+mn-ea"/>
              </a:rPr>
              <a:t>…..</a:t>
            </a:r>
            <a:r>
              <a:rPr lang="zh-CN" altLang="en-US" sz="1600" dirty="0">
                <a:latin typeface="Times New Roman" panose="02020603050405020304" pitchFamily="18" charset="0"/>
                <a:sym typeface="+mn-ea"/>
              </a:rPr>
              <a:t>而</a:t>
            </a:r>
            <a:r>
              <a:rPr lang="zh-CN" altLang="en-US" sz="1600" dirty="0">
                <a:solidFill>
                  <a:srgbClr val="0033CC"/>
                </a:solidFill>
                <a:latin typeface="Times New Roman" panose="02020603050405020304" pitchFamily="18" charset="0"/>
                <a:sym typeface="+mn-ea"/>
              </a:rPr>
              <a:t>不对单独的文件</a:t>
            </a:r>
            <a:r>
              <a:rPr lang="zh-CN" altLang="en-US" sz="1600" dirty="0">
                <a:latin typeface="Times New Roman" panose="02020603050405020304" pitchFamily="18" charset="0"/>
                <a:sym typeface="+mn-ea"/>
              </a:rPr>
              <a:t>，除非把该文件设置为</a:t>
            </a:r>
            <a:r>
              <a:rPr lang="zh-CN" altLang="en-US" sz="1600" dirty="0">
                <a:solidFill>
                  <a:srgbClr val="0033CC"/>
                </a:solidFill>
                <a:latin typeface="Times New Roman" panose="02020603050405020304" pitchFamily="18" charset="0"/>
                <a:sym typeface="+mn-ea"/>
              </a:rPr>
              <a:t>项目</a:t>
            </a:r>
            <a:endParaRPr lang="zh-CN" altLang="en-US" sz="1600" dirty="0">
              <a:solidFill>
                <a:srgbClr val="0033CC"/>
              </a:solidFill>
              <a:latin typeface="Times New Roman" panose="02020603050405020304" pitchFamily="18" charset="0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04850" y="1170940"/>
            <a:ext cx="507492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85750" indent="-285750">
              <a:spcBef>
                <a:spcPct val="50000"/>
              </a:spcBef>
              <a:buFont typeface="Wingdings" panose="05000000000000000000" charset="0"/>
              <a:buChar char="u"/>
            </a:pPr>
            <a:r>
              <a:rPr lang="zh-CN" altLang="sv-SE" sz="16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</a:t>
            </a:r>
            <a:r>
              <a:rPr lang="zh-CN" altLang="sv-SE" sz="1600" dirty="0">
                <a:latin typeface="Times New Roman" panose="02020603050405020304" pitchFamily="18" charset="0"/>
                <a:sym typeface="+mn-ea"/>
              </a:rPr>
              <a:t>选择命令</a:t>
            </a:r>
            <a:r>
              <a:rPr lang="sv-SE" altLang="zh-CN" sz="1600" dirty="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File | New Project Wizard   </a:t>
            </a:r>
            <a:r>
              <a:rPr lang="zh-CN" altLang="en-US" sz="1600" dirty="0">
                <a:latin typeface="黑体" panose="02010609060101010101" pitchFamily="49" charset="-122"/>
                <a:sym typeface="+mn-ea"/>
              </a:rPr>
              <a:t>在对话框中操作：    </a:t>
            </a:r>
            <a:endParaRPr lang="zh-CN" altLang="en-US" sz="1600" dirty="0">
              <a:latin typeface="黑体" panose="02010609060101010101" pitchFamily="49" charset="-122"/>
              <a:sym typeface="+mn-ea"/>
            </a:endParaRPr>
          </a:p>
        </p:txBody>
      </p:sp>
      <p:pic>
        <p:nvPicPr>
          <p:cNvPr id="16" name="图片 1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280160" y="1671320"/>
            <a:ext cx="3413125" cy="3950335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文本框 7"/>
          <p:cNvSpPr txBox="1"/>
          <p:nvPr/>
        </p:nvSpPr>
        <p:spPr>
          <a:xfrm>
            <a:off x="6957060" y="1170940"/>
            <a:ext cx="2971165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85750" indent="-285750" eaLnBrk="1" hangingPunct="1">
              <a:buFont typeface="Wingdings" panose="05000000000000000000" charset="0"/>
              <a:buChar char="u"/>
            </a:pPr>
            <a:r>
              <a:rPr lang="zh-CN" altLang="en-US" sz="1600" dirty="0">
                <a:latin typeface="黑体" panose="02010609060101010101" pitchFamily="49" charset="-122"/>
                <a:sym typeface="+mn-ea"/>
              </a:rPr>
              <a:t>为本项目指定目标器件</a:t>
            </a:r>
            <a:endParaRPr lang="zh-CN" altLang="en-US" sz="1600" dirty="0">
              <a:latin typeface="黑体" panose="02010609060101010101" pitchFamily="49" charset="-122"/>
              <a:sym typeface="+mn-ea"/>
            </a:endParaRPr>
          </a:p>
        </p:txBody>
      </p:sp>
      <p:pic>
        <p:nvPicPr>
          <p:cNvPr id="9" name="图片 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6957060" y="1724660"/>
            <a:ext cx="3332480" cy="384365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" name="直接箭头连接符 10"/>
          <p:cNvCxnSpPr/>
          <p:nvPr>
            <p:custDataLst>
              <p:tags r:id="rId5"/>
            </p:custDataLst>
          </p:nvPr>
        </p:nvCxnSpPr>
        <p:spPr>
          <a:xfrm flipV="1">
            <a:off x="3227705" y="1889760"/>
            <a:ext cx="1285240" cy="27749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>
            <p:custDataLst>
              <p:tags r:id="rId6"/>
            </p:custDataLst>
          </p:nvPr>
        </p:nvSpPr>
        <p:spPr>
          <a:xfrm>
            <a:off x="4601845" y="1739900"/>
            <a:ext cx="1329690" cy="245110"/>
          </a:xfrm>
          <a:prstGeom prst="rect">
            <a:avLst/>
          </a:prstGeom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p>
            <a:r>
              <a:rPr lang="zh-CN" altLang="en-US" sz="1000"/>
              <a:t>（</a:t>
            </a:r>
            <a:r>
              <a:rPr lang="en-US" altLang="zh-CN" sz="1000"/>
              <a:t>1</a:t>
            </a:r>
            <a:r>
              <a:rPr lang="zh-CN" altLang="en-US" sz="1000"/>
              <a:t>）制定工作目录</a:t>
            </a:r>
            <a:endParaRPr lang="zh-CN" altLang="en-US" sz="1000"/>
          </a:p>
        </p:txBody>
      </p:sp>
      <p:cxnSp>
        <p:nvCxnSpPr>
          <p:cNvPr id="13" name="直接箭头连接符 12"/>
          <p:cNvCxnSpPr/>
          <p:nvPr>
            <p:custDataLst>
              <p:tags r:id="rId7"/>
            </p:custDataLst>
          </p:nvPr>
        </p:nvCxnSpPr>
        <p:spPr>
          <a:xfrm flipV="1">
            <a:off x="3228340" y="2291715"/>
            <a:ext cx="1290320" cy="26352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4" name="文本框 13"/>
          <p:cNvSpPr txBox="1"/>
          <p:nvPr>
            <p:custDataLst>
              <p:tags r:id="rId8"/>
            </p:custDataLst>
          </p:nvPr>
        </p:nvSpPr>
        <p:spPr>
          <a:xfrm>
            <a:off x="4601845" y="2174875"/>
            <a:ext cx="1329690" cy="24511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>
            <a:spAutoFit/>
          </a:bodyPr>
          <a:p>
            <a:r>
              <a:rPr lang="zh-CN" altLang="en-US" sz="1000"/>
              <a:t>（</a:t>
            </a:r>
            <a:r>
              <a:rPr lang="en-US" altLang="zh-CN" sz="1000"/>
              <a:t>2)</a:t>
            </a:r>
            <a:r>
              <a:rPr lang="zh-CN" altLang="en-US" sz="1000"/>
              <a:t>指定项目名称</a:t>
            </a:r>
            <a:endParaRPr lang="zh-CN" altLang="en-US" sz="1000"/>
          </a:p>
        </p:txBody>
      </p:sp>
      <p:cxnSp>
        <p:nvCxnSpPr>
          <p:cNvPr id="15" name="直接箭头连接符 14"/>
          <p:cNvCxnSpPr/>
          <p:nvPr>
            <p:custDataLst>
              <p:tags r:id="rId9"/>
            </p:custDataLst>
          </p:nvPr>
        </p:nvCxnSpPr>
        <p:spPr>
          <a:xfrm>
            <a:off x="3953510" y="3107690"/>
            <a:ext cx="577850" cy="16700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8" name="文本框 17"/>
          <p:cNvSpPr txBox="1"/>
          <p:nvPr>
            <p:custDataLst>
              <p:tags r:id="rId10"/>
            </p:custDataLst>
          </p:nvPr>
        </p:nvSpPr>
        <p:spPr>
          <a:xfrm>
            <a:off x="4601845" y="3117215"/>
            <a:ext cx="1329690" cy="39878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>
            <a:spAutoFit/>
          </a:bodyPr>
          <a:p>
            <a:r>
              <a:rPr lang="zh-CN" altLang="en-US" sz="1000"/>
              <a:t>（</a:t>
            </a:r>
            <a:r>
              <a:rPr lang="en-US" altLang="zh-CN" sz="1000"/>
              <a:t>3</a:t>
            </a:r>
            <a:r>
              <a:rPr lang="zh-CN" altLang="en-US" sz="1000"/>
              <a:t>）本项目顶层</a:t>
            </a:r>
            <a:r>
              <a:rPr lang="en-US" altLang="zh-CN" sz="1000"/>
              <a:t>Entity</a:t>
            </a:r>
            <a:r>
              <a:rPr lang="zh-CN" altLang="en-US" sz="1000"/>
              <a:t>名称</a:t>
            </a:r>
            <a:endParaRPr lang="zh-CN" altLang="en-US" sz="1000"/>
          </a:p>
        </p:txBody>
      </p:sp>
      <p:sp>
        <p:nvSpPr>
          <p:cNvPr id="19" name="文本框 18"/>
          <p:cNvSpPr txBox="1"/>
          <p:nvPr/>
        </p:nvSpPr>
        <p:spPr>
          <a:xfrm>
            <a:off x="2131060" y="4161790"/>
            <a:ext cx="2138680" cy="39878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>
            <a:spAutoFit/>
          </a:bodyPr>
          <a:p>
            <a:r>
              <a:rPr lang="zh-CN" altLang="en-US" sz="1000"/>
              <a:t>建议顶层文件与顶层</a:t>
            </a:r>
            <a:r>
              <a:rPr lang="en-US" altLang="zh-CN" sz="1000"/>
              <a:t>Entity</a:t>
            </a:r>
            <a:r>
              <a:rPr lang="zh-CN" altLang="en-US" sz="1000"/>
              <a:t>同名</a:t>
            </a:r>
            <a:endParaRPr lang="zh-CN" altLang="en-US" sz="1000"/>
          </a:p>
          <a:p>
            <a:r>
              <a:rPr lang="zh-CN" altLang="en-US" sz="1000"/>
              <a:t>建议顶层文件与项目名称</a:t>
            </a:r>
            <a:r>
              <a:rPr lang="zh-CN" altLang="en-US" sz="1000"/>
              <a:t>同名</a:t>
            </a:r>
            <a:endParaRPr lang="zh-CN" altLang="en-US" sz="1000"/>
          </a:p>
        </p:txBody>
      </p:sp>
      <p:cxnSp>
        <p:nvCxnSpPr>
          <p:cNvPr id="20" name="直接箭头连接符 19"/>
          <p:cNvCxnSpPr/>
          <p:nvPr/>
        </p:nvCxnSpPr>
        <p:spPr>
          <a:xfrm flipV="1">
            <a:off x="8230235" y="1899920"/>
            <a:ext cx="1155700" cy="43053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1" name="文本框 20"/>
          <p:cNvSpPr txBox="1"/>
          <p:nvPr>
            <p:custDataLst>
              <p:tags r:id="rId11"/>
            </p:custDataLst>
          </p:nvPr>
        </p:nvSpPr>
        <p:spPr>
          <a:xfrm>
            <a:off x="9435465" y="1739900"/>
            <a:ext cx="1329690" cy="245110"/>
          </a:xfrm>
          <a:prstGeom prst="rect">
            <a:avLst/>
          </a:prstGeom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p>
            <a:r>
              <a:rPr lang="zh-CN" altLang="en-US" sz="1000"/>
              <a:t>（</a:t>
            </a:r>
            <a:r>
              <a:rPr lang="en-US" altLang="zh-CN" sz="1000"/>
              <a:t>1</a:t>
            </a:r>
            <a:r>
              <a:rPr lang="zh-CN" altLang="en-US" sz="1000"/>
              <a:t>）选择器件</a:t>
            </a:r>
            <a:r>
              <a:rPr lang="zh-CN" altLang="en-US" sz="1000"/>
              <a:t>系列</a:t>
            </a:r>
            <a:endParaRPr lang="zh-CN" altLang="en-US" sz="1000"/>
          </a:p>
        </p:txBody>
      </p:sp>
      <p:cxnSp>
        <p:nvCxnSpPr>
          <p:cNvPr id="22" name="直接箭头连接符 21"/>
          <p:cNvCxnSpPr/>
          <p:nvPr/>
        </p:nvCxnSpPr>
        <p:spPr>
          <a:xfrm>
            <a:off x="7466330" y="3100705"/>
            <a:ext cx="1977390" cy="21209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3" name="直接箭头连接符 22"/>
          <p:cNvCxnSpPr/>
          <p:nvPr/>
        </p:nvCxnSpPr>
        <p:spPr>
          <a:xfrm flipV="1">
            <a:off x="8442325" y="3467100"/>
            <a:ext cx="924560" cy="12827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4" name="文本框 23"/>
          <p:cNvSpPr txBox="1"/>
          <p:nvPr>
            <p:custDataLst>
              <p:tags r:id="rId12"/>
            </p:custDataLst>
          </p:nvPr>
        </p:nvSpPr>
        <p:spPr>
          <a:xfrm>
            <a:off x="9589770" y="3270885"/>
            <a:ext cx="1329690" cy="245110"/>
          </a:xfrm>
          <a:prstGeom prst="rect">
            <a:avLst/>
          </a:prstGeom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p>
            <a:r>
              <a:rPr lang="zh-CN" altLang="en-US" sz="1000"/>
              <a:t>（</a:t>
            </a:r>
            <a:r>
              <a:rPr lang="en-US" altLang="zh-CN" sz="1000"/>
              <a:t>2</a:t>
            </a:r>
            <a:r>
              <a:rPr lang="zh-CN" altLang="en-US" sz="1000"/>
              <a:t>）选择具体</a:t>
            </a:r>
            <a:r>
              <a:rPr lang="zh-CN" altLang="en-US" sz="1000"/>
              <a:t>器件</a:t>
            </a:r>
            <a:endParaRPr lang="zh-CN" altLang="en-US" sz="1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圆角矩形 9"/>
          <p:cNvSpPr/>
          <p:nvPr/>
        </p:nvSpPr>
        <p:spPr>
          <a:xfrm>
            <a:off x="46991" y="55881"/>
            <a:ext cx="1612991" cy="472997"/>
          </a:xfrm>
          <a:prstGeom prst="roundRect">
            <a:avLst/>
          </a:prstGeom>
          <a:solidFill>
            <a:srgbClr val="59BBD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sz="2600" b="1" dirty="0">
                <a:solidFill>
                  <a:schemeClr val="bg1"/>
                </a:solidFill>
              </a:rPr>
              <a:t>第一题</a:t>
            </a:r>
            <a:endParaRPr lang="zh-CN" sz="2600" b="1" dirty="0">
              <a:solidFill>
                <a:schemeClr val="bg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04850" y="608965"/>
            <a:ext cx="27673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/>
              <a:t>二、</a:t>
            </a:r>
            <a:r>
              <a:rPr lang="zh-CN" altLang="sv-SE" sz="2000" b="1" dirty="0">
                <a:sym typeface="+mn-ea"/>
              </a:rPr>
              <a:t>设计的原理图</a:t>
            </a:r>
            <a:endParaRPr lang="en-US" altLang="zh-CN" sz="2000" b="1"/>
          </a:p>
        </p:txBody>
      </p:sp>
      <p:graphicFrame>
        <p:nvGraphicFramePr>
          <p:cNvPr id="25604" name="Object 6"/>
          <p:cNvGraphicFramePr>
            <a:graphicFrameLocks noChangeAspect="1"/>
          </p:cNvGraphicFramePr>
          <p:nvPr/>
        </p:nvGraphicFramePr>
        <p:xfrm>
          <a:off x="2706370" y="1007745"/>
          <a:ext cx="6290945" cy="5010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5" name="" r:id="rId1" imgW="4785360" imgH="3810000" progId="Word.Picture.8">
                  <p:embed/>
                </p:oleObj>
              </mc:Choice>
              <mc:Fallback>
                <p:oleObj name="" r:id="rId1" imgW="4785360" imgH="3810000" progId="Word.Picture.8">
                  <p:embed/>
                  <p:pic>
                    <p:nvPicPr>
                      <p:cNvPr id="0" name="图片 3084"/>
                      <p:cNvPicPr/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>
                      <a:xfrm>
                        <a:off x="2706370" y="1007745"/>
                        <a:ext cx="6290945" cy="5010150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圆角矩形 9"/>
          <p:cNvSpPr/>
          <p:nvPr/>
        </p:nvSpPr>
        <p:spPr>
          <a:xfrm>
            <a:off x="46991" y="55881"/>
            <a:ext cx="1612991" cy="472997"/>
          </a:xfrm>
          <a:prstGeom prst="roundRect">
            <a:avLst/>
          </a:prstGeom>
          <a:solidFill>
            <a:srgbClr val="59BBD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sz="2600" b="1" dirty="0">
                <a:solidFill>
                  <a:schemeClr val="bg1"/>
                </a:solidFill>
              </a:rPr>
              <a:t>第一题</a:t>
            </a:r>
            <a:endParaRPr lang="zh-CN" sz="2600" b="1" dirty="0">
              <a:solidFill>
                <a:schemeClr val="bg1"/>
              </a:solidFill>
            </a:endParaRPr>
          </a:p>
        </p:txBody>
      </p:sp>
      <p:graphicFrame>
        <p:nvGraphicFramePr>
          <p:cNvPr id="26628" name="Object 5"/>
          <p:cNvGraphicFramePr>
            <a:graphicFrameLocks noChangeAspect="1"/>
          </p:cNvGraphicFramePr>
          <p:nvPr/>
        </p:nvGraphicFramePr>
        <p:xfrm>
          <a:off x="1659573" y="1240790"/>
          <a:ext cx="8207375" cy="487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4" name="" r:id="rId1" imgW="6233160" imgH="3703320" progId="Word.Picture.8">
                  <p:embed/>
                </p:oleObj>
              </mc:Choice>
              <mc:Fallback>
                <p:oleObj name="" r:id="rId1" imgW="6233160" imgH="3703320" progId="Word.Picture.8">
                  <p:embed/>
                  <p:pic>
                    <p:nvPicPr>
                      <p:cNvPr id="0" name="图片 3083"/>
                      <p:cNvPicPr/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>
                      <a:xfrm>
                        <a:off x="1659573" y="1240790"/>
                        <a:ext cx="8207375" cy="4876800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704850" y="608965"/>
            <a:ext cx="27673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eaLnBrk="1" hangingPunct="1"/>
            <a:r>
              <a:rPr lang="zh-CN" altLang="sv-SE" sz="2000" b="1" dirty="0">
                <a:sym typeface="+mn-ea"/>
              </a:rPr>
              <a:t>原理图编辑器窗口</a:t>
            </a:r>
            <a:endParaRPr lang="en-US" altLang="zh-CN" sz="2000" b="1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圆角矩形 9"/>
          <p:cNvSpPr/>
          <p:nvPr/>
        </p:nvSpPr>
        <p:spPr>
          <a:xfrm>
            <a:off x="46991" y="55881"/>
            <a:ext cx="1612991" cy="472997"/>
          </a:xfrm>
          <a:prstGeom prst="roundRect">
            <a:avLst/>
          </a:prstGeom>
          <a:solidFill>
            <a:srgbClr val="59BBD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sz="2600" b="1" dirty="0">
                <a:solidFill>
                  <a:schemeClr val="bg1"/>
                </a:solidFill>
              </a:rPr>
              <a:t>第一题</a:t>
            </a:r>
            <a:endParaRPr lang="zh-CN" sz="2600" b="1" dirty="0">
              <a:solidFill>
                <a:schemeClr val="bg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04850" y="608965"/>
            <a:ext cx="45707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eaLnBrk="1" hangingPunct="1"/>
            <a:r>
              <a:rPr lang="zh-CN" altLang="sv-SE" sz="2000" b="1" dirty="0">
                <a:sym typeface="+mn-ea"/>
              </a:rPr>
              <a:t>从库中调入元件及引脚符号</a:t>
            </a:r>
            <a:endParaRPr lang="en-US" altLang="zh-CN" sz="2000" b="1"/>
          </a:p>
        </p:txBody>
      </p:sp>
      <p:pic>
        <p:nvPicPr>
          <p:cNvPr id="3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15820" y="1890395"/>
            <a:ext cx="6657340" cy="457327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Rectangle 4"/>
          <p:cNvSpPr>
            <a:spLocks noGrp="1"/>
          </p:cNvSpPr>
          <p:nvPr/>
        </p:nvSpPr>
        <p:spPr>
          <a:xfrm>
            <a:off x="1659890" y="1087755"/>
            <a:ext cx="8229600" cy="51054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u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l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SzPct val="85000"/>
              <a:buFont typeface="Wingdings" panose="05000000000000000000" pitchFamily="2" charset="2"/>
              <a:buChar char="Ø"/>
              <a:defRPr kumimoji="1"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SzPct val="85000"/>
              <a:buFont typeface="Symbol" panose="05050102010706020507" pitchFamily="18" charset="2"/>
              <a:buChar char="ª"/>
              <a:defRPr kumimoji="1"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zh-CN" altLang="sv-SE" sz="2000" b="0" dirty="0"/>
              <a:t>在原理图编辑器的空白处选择一个适当位置          双击鼠标左键</a:t>
            </a:r>
            <a:r>
              <a:rPr lang="zh-CN" altLang="en-US" sz="2000" b="0" dirty="0"/>
              <a:t> </a:t>
            </a:r>
            <a:endParaRPr lang="zh-CN" altLang="sv-SE" sz="2000" b="0" dirty="0"/>
          </a:p>
          <a:p>
            <a:pPr eaLnBrk="1" hangingPunct="1"/>
            <a:r>
              <a:rPr lang="zh-CN" altLang="sv-SE" sz="2000" b="0" dirty="0"/>
              <a:t>选择库名</a:t>
            </a:r>
            <a:r>
              <a:rPr lang="zh-CN" altLang="en-US" sz="2000" b="0" dirty="0"/>
              <a:t>             选择库元件名              调入该元件符号</a:t>
            </a:r>
            <a:endParaRPr lang="zh-CN" altLang="en-US" sz="2000" b="0" dirty="0"/>
          </a:p>
        </p:txBody>
      </p:sp>
      <p:sp>
        <p:nvSpPr>
          <p:cNvPr id="12" name="AutoShape 6"/>
          <p:cNvSpPr/>
          <p:nvPr/>
        </p:nvSpPr>
        <p:spPr>
          <a:xfrm>
            <a:off x="3288665" y="1489393"/>
            <a:ext cx="533400" cy="304800"/>
          </a:xfrm>
          <a:prstGeom prst="rightArrow">
            <a:avLst>
              <a:gd name="adj1" fmla="val 50000"/>
              <a:gd name="adj2" fmla="val 43750"/>
            </a:avLst>
          </a:prstGeom>
          <a:solidFill>
            <a:schemeClr val="accent1"/>
          </a:solidFill>
          <a:ln w="9525" cap="flat" cmpd="sng">
            <a:solidFill>
              <a:schemeClr val="accent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>
              <a:spcBef>
                <a:spcPct val="50000"/>
              </a:spcBef>
            </a:pPr>
            <a:endParaRPr lang="zh-CN" altLang="en-US" dirty="0">
              <a:latin typeface="黑体" panose="02010609060101010101" pitchFamily="49" charset="-122"/>
            </a:endParaRPr>
          </a:p>
        </p:txBody>
      </p:sp>
      <p:sp>
        <p:nvSpPr>
          <p:cNvPr id="13" name="AutoShape 7"/>
          <p:cNvSpPr/>
          <p:nvPr/>
        </p:nvSpPr>
        <p:spPr>
          <a:xfrm>
            <a:off x="7028815" y="1116330"/>
            <a:ext cx="533400" cy="304800"/>
          </a:xfrm>
          <a:prstGeom prst="rightArrow">
            <a:avLst>
              <a:gd name="adj1" fmla="val 50000"/>
              <a:gd name="adj2" fmla="val 43750"/>
            </a:avLst>
          </a:prstGeom>
          <a:solidFill>
            <a:schemeClr val="accent1"/>
          </a:solidFill>
          <a:ln w="9525" cap="flat" cmpd="sng">
            <a:solidFill>
              <a:schemeClr val="accent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>
              <a:spcBef>
                <a:spcPct val="50000"/>
              </a:spcBef>
            </a:pPr>
            <a:endParaRPr lang="zh-CN" altLang="en-US" dirty="0">
              <a:latin typeface="黑体" panose="02010609060101010101" pitchFamily="49" charset="-122"/>
            </a:endParaRPr>
          </a:p>
        </p:txBody>
      </p:sp>
      <p:sp>
        <p:nvSpPr>
          <p:cNvPr id="14" name="AutoShape 8"/>
          <p:cNvSpPr/>
          <p:nvPr/>
        </p:nvSpPr>
        <p:spPr>
          <a:xfrm>
            <a:off x="5836603" y="1468755"/>
            <a:ext cx="533400" cy="304800"/>
          </a:xfrm>
          <a:prstGeom prst="rightArrow">
            <a:avLst>
              <a:gd name="adj1" fmla="val 50000"/>
              <a:gd name="adj2" fmla="val 43750"/>
            </a:avLst>
          </a:prstGeom>
          <a:solidFill>
            <a:schemeClr val="accent1"/>
          </a:solidFill>
          <a:ln w="9525" cap="flat" cmpd="sng">
            <a:solidFill>
              <a:schemeClr val="accent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>
              <a:spcBef>
                <a:spcPct val="50000"/>
              </a:spcBef>
            </a:pPr>
            <a:endParaRPr lang="zh-CN" altLang="en-US" dirty="0">
              <a:latin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圆角矩形 9"/>
          <p:cNvSpPr/>
          <p:nvPr/>
        </p:nvSpPr>
        <p:spPr>
          <a:xfrm>
            <a:off x="46991" y="55881"/>
            <a:ext cx="1612991" cy="472997"/>
          </a:xfrm>
          <a:prstGeom prst="roundRect">
            <a:avLst/>
          </a:prstGeom>
          <a:solidFill>
            <a:srgbClr val="59BBD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sz="2600" b="1" dirty="0">
                <a:solidFill>
                  <a:schemeClr val="bg1"/>
                </a:solidFill>
              </a:rPr>
              <a:t>第一题</a:t>
            </a:r>
            <a:endParaRPr lang="zh-CN" sz="2600" b="1" dirty="0">
              <a:solidFill>
                <a:schemeClr val="bg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04850" y="608965"/>
            <a:ext cx="45707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eaLnBrk="1" hangingPunct="1"/>
            <a:r>
              <a:rPr lang="zh-CN" altLang="sv-SE" sz="2000" b="1" dirty="0">
                <a:sym typeface="+mn-ea"/>
              </a:rPr>
              <a:t>从库中调入元件及引脚符号</a:t>
            </a:r>
            <a:endParaRPr lang="en-US" altLang="zh-CN" sz="2000" b="1"/>
          </a:p>
        </p:txBody>
      </p:sp>
      <p:sp>
        <p:nvSpPr>
          <p:cNvPr id="28676" name="Rectangle 3"/>
          <p:cNvSpPr>
            <a:spLocks noGrp="1"/>
          </p:cNvSpPr>
          <p:nvPr/>
        </p:nvSpPr>
        <p:spPr>
          <a:xfrm>
            <a:off x="2390140" y="1231900"/>
            <a:ext cx="7215505" cy="48768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u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l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SzPct val="85000"/>
              <a:buFont typeface="Wingdings" panose="05000000000000000000" pitchFamily="2" charset="2"/>
              <a:buChar char="Ø"/>
              <a:defRPr kumimoji="1"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SzPct val="85000"/>
              <a:buFont typeface="Symbol" panose="05050102010706020507" pitchFamily="18" charset="2"/>
              <a:buChar char="ª"/>
              <a:defRPr kumimoji="1"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zh-CN" altLang="sv-SE" sz="1800" b="0" dirty="0"/>
              <a:t>选择引脚符号名</a:t>
            </a:r>
            <a:r>
              <a:rPr lang="zh-CN" altLang="en-US" sz="1800" b="0" dirty="0"/>
              <a:t>          调入该引脚符号</a:t>
            </a:r>
            <a:r>
              <a:rPr lang="zh-CN" altLang="sv-SE" sz="1800" dirty="0">
                <a:sym typeface="+mn-ea"/>
              </a:rPr>
              <a:t> </a:t>
            </a:r>
            <a:endParaRPr lang="zh-CN" altLang="sv-SE" sz="1800" dirty="0"/>
          </a:p>
          <a:p>
            <a:pPr eaLnBrk="1" hangingPunct="1"/>
            <a:endParaRPr lang="zh-CN" altLang="en-US" sz="1800" b="0" dirty="0"/>
          </a:p>
        </p:txBody>
      </p:sp>
      <p:sp>
        <p:nvSpPr>
          <p:cNvPr id="28679" name="AutoShape 7"/>
          <p:cNvSpPr/>
          <p:nvPr/>
        </p:nvSpPr>
        <p:spPr>
          <a:xfrm>
            <a:off x="4592955" y="1271905"/>
            <a:ext cx="401320" cy="2286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9525" cap="flat" cmpd="sng">
            <a:solidFill>
              <a:schemeClr val="accent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>
              <a:spcBef>
                <a:spcPct val="50000"/>
              </a:spcBef>
            </a:pPr>
            <a:endParaRPr lang="zh-CN" altLang="en-US" dirty="0">
              <a:latin typeface="黑体" panose="02010609060101010101" pitchFamily="49" charset="-122"/>
            </a:endParaRPr>
          </a:p>
        </p:txBody>
      </p:sp>
      <p:pic>
        <p:nvPicPr>
          <p:cNvPr id="2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95930" y="2292985"/>
            <a:ext cx="6200140" cy="237426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AutoShape 7"/>
          <p:cNvSpPr/>
          <p:nvPr/>
        </p:nvSpPr>
        <p:spPr>
          <a:xfrm>
            <a:off x="6819265" y="1271905"/>
            <a:ext cx="401320" cy="2286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9525" cap="flat" cmpd="sng">
            <a:solidFill>
              <a:schemeClr val="accent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>
              <a:spcBef>
                <a:spcPct val="50000"/>
              </a:spcBef>
            </a:pPr>
            <a:endParaRPr lang="zh-CN" altLang="en-US" dirty="0">
              <a:latin typeface="黑体" panose="02010609060101010101" pitchFamily="49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346950" y="1202055"/>
            <a:ext cx="7886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连线</a:t>
            </a:r>
            <a:r>
              <a:rPr lang="en-US" altLang="zh-CN"/>
              <a:t>        </a:t>
            </a:r>
            <a:endParaRPr lang="zh-CN" altLang="en-US"/>
          </a:p>
        </p:txBody>
      </p:sp>
      <p:sp>
        <p:nvSpPr>
          <p:cNvPr id="9" name="AutoShape 7"/>
          <p:cNvSpPr/>
          <p:nvPr/>
        </p:nvSpPr>
        <p:spPr>
          <a:xfrm>
            <a:off x="8082915" y="1271905"/>
            <a:ext cx="401320" cy="2286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9525" cap="flat" cmpd="sng">
            <a:solidFill>
              <a:schemeClr val="accent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>
              <a:spcBef>
                <a:spcPct val="50000"/>
              </a:spcBef>
            </a:pPr>
            <a:endParaRPr lang="zh-CN" altLang="en-US" dirty="0">
              <a:latin typeface="黑体" panose="02010609060101010101" pitchFamily="49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8573770" y="1202055"/>
            <a:ext cx="16427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给引脚命名</a:t>
            </a:r>
            <a:r>
              <a:rPr lang="en-US" altLang="zh-CN"/>
              <a:t>        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圆角矩形 9"/>
          <p:cNvSpPr/>
          <p:nvPr/>
        </p:nvSpPr>
        <p:spPr>
          <a:xfrm>
            <a:off x="46991" y="55881"/>
            <a:ext cx="1612991" cy="472997"/>
          </a:xfrm>
          <a:prstGeom prst="roundRect">
            <a:avLst/>
          </a:prstGeom>
          <a:solidFill>
            <a:srgbClr val="59BBD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sz="2600" b="1" dirty="0">
                <a:solidFill>
                  <a:schemeClr val="bg1"/>
                </a:solidFill>
              </a:rPr>
              <a:t>第一题</a:t>
            </a:r>
            <a:endParaRPr lang="zh-CN" sz="2600" b="1" dirty="0">
              <a:solidFill>
                <a:schemeClr val="bg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04850" y="608965"/>
            <a:ext cx="45707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eaLnBrk="1" hangingPunct="1"/>
            <a:r>
              <a:rPr lang="zh-CN" altLang="sv-SE" sz="2000" b="1" dirty="0">
                <a:sym typeface="+mn-ea"/>
              </a:rPr>
              <a:t>绘制原理图中的其他操作</a:t>
            </a:r>
            <a:endParaRPr lang="en-US" altLang="zh-CN" sz="2000" b="1"/>
          </a:p>
        </p:txBody>
      </p:sp>
      <p:sp>
        <p:nvSpPr>
          <p:cNvPr id="30724" name="Rectangle 3"/>
          <p:cNvSpPr>
            <a:spLocks noGrp="1"/>
          </p:cNvSpPr>
          <p:nvPr/>
        </p:nvSpPr>
        <p:spPr>
          <a:xfrm>
            <a:off x="1450975" y="1393825"/>
            <a:ext cx="8229600" cy="368617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u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l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SzPct val="85000"/>
              <a:buFont typeface="Wingdings" panose="05000000000000000000" pitchFamily="2" charset="2"/>
              <a:buChar char="Ø"/>
              <a:defRPr kumimoji="1"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SzPct val="85000"/>
              <a:buFont typeface="Symbol" panose="05050102010706020507" pitchFamily="18" charset="2"/>
              <a:buChar char="ª"/>
              <a:defRPr kumimoji="1"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zh-CN" altLang="sv-SE" sz="2000" b="0" dirty="0"/>
              <a:t> 删除符号或连线；</a:t>
            </a:r>
            <a:endParaRPr lang="zh-CN" altLang="sv-SE" sz="2000" b="0" dirty="0"/>
          </a:p>
          <a:p>
            <a:pPr eaLnBrk="1" hangingPunct="1"/>
            <a:endParaRPr lang="zh-CN" altLang="sv-SE" sz="2000" b="0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zh-CN" altLang="sv-SE" sz="2000" b="0" dirty="0">
                <a:latin typeface="Times New Roman" panose="02020603050405020304" pitchFamily="18" charset="0"/>
              </a:rPr>
              <a:t>复制元件符号</a:t>
            </a:r>
            <a:r>
              <a:rPr lang="zh-CN" altLang="en-US" sz="2000" b="0" dirty="0"/>
              <a:t> ；</a:t>
            </a:r>
            <a:endParaRPr lang="zh-CN" altLang="en-US" sz="2000" b="0" dirty="0"/>
          </a:p>
          <a:p>
            <a:pPr eaLnBrk="1" hangingPunct="1"/>
            <a:endParaRPr lang="zh-CN" altLang="sv-SE" sz="2000" b="0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zh-CN" altLang="sv-SE" sz="2000" b="0" dirty="0">
                <a:latin typeface="Times New Roman" panose="02020603050405020304" pitchFamily="18" charset="0"/>
              </a:rPr>
              <a:t>橡皮筋功能</a:t>
            </a:r>
            <a:r>
              <a:rPr lang="zh-CN" altLang="en-US" sz="2000" b="0" dirty="0">
                <a:latin typeface="Times New Roman" panose="02020603050405020304" pitchFamily="18" charset="0"/>
              </a:rPr>
              <a:t>：打开</a:t>
            </a:r>
            <a:r>
              <a:rPr lang="zh-CN" altLang="sv-SE" sz="2000" b="0" dirty="0">
                <a:latin typeface="Times New Roman" panose="02020603050405020304" pitchFamily="18" charset="0"/>
              </a:rPr>
              <a:t>橡皮筋功能时，</a:t>
            </a:r>
            <a:r>
              <a:rPr lang="zh-CN" altLang="en-US" sz="2000" b="0" dirty="0">
                <a:latin typeface="Times New Roman" panose="02020603050405020304" pitchFamily="18" charset="0"/>
              </a:rPr>
              <a:t>拖动元件符号或连线时，原理图拓扑关系保持不变。</a:t>
            </a:r>
            <a:endParaRPr lang="zh-CN" altLang="sv-SE" sz="2000" b="0" dirty="0"/>
          </a:p>
          <a:p>
            <a:pPr eaLnBrk="1" hangingPunct="1">
              <a:buNone/>
            </a:pPr>
            <a:endParaRPr lang="zh-CN" altLang="sv-SE" sz="2000" b="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圆角矩形 9"/>
          <p:cNvSpPr/>
          <p:nvPr/>
        </p:nvSpPr>
        <p:spPr>
          <a:xfrm>
            <a:off x="46991" y="55881"/>
            <a:ext cx="1612991" cy="472997"/>
          </a:xfrm>
          <a:prstGeom prst="roundRect">
            <a:avLst/>
          </a:prstGeom>
          <a:solidFill>
            <a:srgbClr val="59BBD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sz="2600" b="1" dirty="0">
                <a:solidFill>
                  <a:schemeClr val="bg1"/>
                </a:solidFill>
              </a:rPr>
              <a:t>第一题</a:t>
            </a:r>
            <a:endParaRPr lang="zh-CN" sz="2600" b="1" dirty="0">
              <a:solidFill>
                <a:schemeClr val="bg1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60400" y="615950"/>
            <a:ext cx="225806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eaLnBrk="1" hangingPunct="1">
              <a:buClrTx/>
              <a:buSzTx/>
              <a:buFontTx/>
            </a:pPr>
            <a:r>
              <a:rPr kumimoji="1" lang="zh-CN" altLang="en-US" sz="2000" b="1" dirty="0">
                <a:latin typeface="+mj-lt"/>
                <a:ea typeface="+mj-ea"/>
                <a:cs typeface="+mj-cs"/>
                <a:sym typeface="+mn-ea"/>
              </a:rPr>
              <a:t>三、工程编译</a:t>
            </a:r>
            <a:endParaRPr kumimoji="1" lang="zh-CN" altLang="en-US" sz="2000" b="1" dirty="0">
              <a:latin typeface="+mj-lt"/>
              <a:ea typeface="+mj-ea"/>
              <a:cs typeface="+mj-cs"/>
              <a:sym typeface="+mn-ea"/>
            </a:endParaRPr>
          </a:p>
        </p:txBody>
      </p:sp>
      <p:pic>
        <p:nvPicPr>
          <p:cNvPr id="5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18460" y="1741805"/>
            <a:ext cx="6233160" cy="3007360"/>
          </a:xfrm>
          <a:prstGeom prst="rect">
            <a:avLst/>
          </a:prstGeom>
          <a:noFill/>
          <a:ln>
            <a:noFill/>
          </a:ln>
        </p:spPr>
      </p:pic>
      <p:sp>
        <p:nvSpPr>
          <p:cNvPr id="43012" name="Rectangle 3"/>
          <p:cNvSpPr>
            <a:spLocks noGrp="1"/>
          </p:cNvSpPr>
          <p:nvPr/>
        </p:nvSpPr>
        <p:spPr>
          <a:xfrm>
            <a:off x="1844040" y="1234440"/>
            <a:ext cx="8382000" cy="48768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u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l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SzPct val="85000"/>
              <a:buFont typeface="Wingdings" panose="05000000000000000000" pitchFamily="2" charset="2"/>
              <a:buChar char="Ø"/>
              <a:defRPr kumimoji="1"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SzPct val="85000"/>
              <a:buFont typeface="Symbol" panose="05050102010706020507" pitchFamily="18" charset="2"/>
              <a:buChar char="ª"/>
              <a:defRPr kumimoji="1"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zh-CN" altLang="sv-SE" sz="2000" dirty="0">
                <a:latin typeface="宋体" panose="02010600030101010101" pitchFamily="2" charset="-122"/>
                <a:ea typeface="宋体" panose="02010600030101010101" pitchFamily="2" charset="-122"/>
              </a:rPr>
              <a:t>选择命令</a:t>
            </a:r>
            <a:r>
              <a:rPr lang="sv-SE" altLang="zh-CN" sz="2000" b="0" dirty="0">
                <a:ea typeface="宋体" panose="02010600030101010101" pitchFamily="2" charset="-122"/>
              </a:rPr>
              <a:t>Processing</a:t>
            </a:r>
            <a:r>
              <a:rPr lang="sv-SE" altLang="zh-CN" sz="2000" b="0" dirty="0">
                <a:latin typeface="宋体" panose="02010600030101010101" pitchFamily="2" charset="-122"/>
                <a:ea typeface="宋体" panose="02010600030101010101" pitchFamily="2" charset="-122"/>
              </a:rPr>
              <a:t>︱</a:t>
            </a:r>
            <a:r>
              <a:rPr lang="sv-SE" altLang="zh-CN" sz="2000" b="0" dirty="0">
                <a:ea typeface="宋体" panose="02010600030101010101" pitchFamily="2" charset="-122"/>
              </a:rPr>
              <a:t>Compiler Tool</a:t>
            </a:r>
            <a:r>
              <a:rPr lang="en-US" altLang="zh-CN" sz="2000" b="0" dirty="0"/>
              <a:t> </a:t>
            </a:r>
            <a:r>
              <a:rPr lang="zh-CN" altLang="en-US" sz="2000" b="0" dirty="0"/>
              <a:t>，打开编译器窗口：</a:t>
            </a:r>
            <a:endParaRPr lang="zh-CN" altLang="en-US" sz="2000" b="0" dirty="0"/>
          </a:p>
          <a:p>
            <a:pPr eaLnBrk="1" hangingPunct="1"/>
            <a:endParaRPr lang="zh-CN" altLang="en-US" sz="2000" b="0" dirty="0"/>
          </a:p>
          <a:p>
            <a:pPr eaLnBrk="1" hangingPunct="1"/>
            <a:endParaRPr lang="zh-CN" altLang="en-US" sz="2000" b="0" dirty="0"/>
          </a:p>
          <a:p>
            <a:pPr eaLnBrk="1" hangingPunct="1"/>
            <a:endParaRPr lang="zh-CN" altLang="en-US" sz="2000" b="0" dirty="0"/>
          </a:p>
          <a:p>
            <a:pPr eaLnBrk="1" hangingPunct="1"/>
            <a:endParaRPr lang="zh-CN" altLang="en-US" sz="2000" b="0" dirty="0"/>
          </a:p>
          <a:p>
            <a:pPr eaLnBrk="1" hangingPunct="1"/>
            <a:endParaRPr lang="zh-CN" altLang="en-US" sz="2000" b="0" dirty="0"/>
          </a:p>
          <a:p>
            <a:pPr eaLnBrk="1" hangingPunct="1"/>
            <a:endParaRPr lang="zh-CN" altLang="en-US" sz="2000" b="0" dirty="0"/>
          </a:p>
          <a:p>
            <a:pPr eaLnBrk="1" hangingPunct="1"/>
            <a:endParaRPr lang="zh-CN" altLang="en-US" sz="2000" b="0" dirty="0"/>
          </a:p>
          <a:p>
            <a:pPr eaLnBrk="1" hangingPunct="1"/>
            <a:endParaRPr lang="zh-CN" altLang="en-US" sz="2000" b="0" dirty="0"/>
          </a:p>
          <a:p>
            <a:pPr eaLnBrk="1" hangingPunct="1"/>
            <a:endParaRPr lang="zh-CN" altLang="en-US" sz="2000" b="0" dirty="0"/>
          </a:p>
          <a:p>
            <a:pPr eaLnBrk="1" hangingPunct="1"/>
            <a:r>
              <a:rPr lang="zh-CN" altLang="en-US" sz="2000" b="0" dirty="0"/>
              <a:t>编译器包含</a:t>
            </a:r>
            <a:r>
              <a:rPr lang="en-US" altLang="zh-CN" sz="2000" b="0" dirty="0"/>
              <a:t>5</a:t>
            </a:r>
            <a:r>
              <a:rPr lang="zh-CN" altLang="en-US" sz="2000" b="0" dirty="0"/>
              <a:t>个主模块，可以连续运行</a:t>
            </a:r>
            <a:r>
              <a:rPr lang="en-US" altLang="zh-CN" sz="2000" b="0" dirty="0"/>
              <a:t>5</a:t>
            </a:r>
            <a:r>
              <a:rPr lang="zh-CN" altLang="en-US" sz="2000" b="0" dirty="0"/>
              <a:t>个模块，也可以单独运行某模块。</a:t>
            </a:r>
            <a:endParaRPr lang="zh-CN" altLang="en-US" sz="2000" b="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圆角矩形 9"/>
          <p:cNvSpPr/>
          <p:nvPr/>
        </p:nvSpPr>
        <p:spPr>
          <a:xfrm>
            <a:off x="46991" y="55881"/>
            <a:ext cx="1612991" cy="472997"/>
          </a:xfrm>
          <a:prstGeom prst="roundRect">
            <a:avLst/>
          </a:prstGeom>
          <a:solidFill>
            <a:srgbClr val="59BBD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sz="2600" b="1" dirty="0">
                <a:solidFill>
                  <a:schemeClr val="bg1"/>
                </a:solidFill>
              </a:rPr>
              <a:t>第一题</a:t>
            </a:r>
            <a:endParaRPr lang="zh-CN" sz="2600" b="1" dirty="0">
              <a:solidFill>
                <a:schemeClr val="bg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30225" y="632460"/>
            <a:ext cx="60960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eaLnBrk="1" hangingPunct="1"/>
            <a:r>
              <a:rPr lang="zh-CN" altLang="en-US" sz="2000" b="1" dirty="0">
                <a:sym typeface="+mn-ea"/>
              </a:rPr>
              <a:t>编译器的 </a:t>
            </a:r>
            <a:r>
              <a:rPr lang="en-US" altLang="zh-CN" sz="2000" b="1" dirty="0">
                <a:sym typeface="+mn-ea"/>
              </a:rPr>
              <a:t>5 </a:t>
            </a:r>
            <a:r>
              <a:rPr lang="zh-CN" altLang="en-US" sz="2000" b="1" dirty="0">
                <a:sym typeface="+mn-ea"/>
              </a:rPr>
              <a:t>个主模块</a:t>
            </a:r>
            <a:endParaRPr lang="zh-CN" altLang="en-US" sz="2000" b="1" dirty="0">
              <a:sym typeface="+mn-ea"/>
            </a:endParaRPr>
          </a:p>
        </p:txBody>
      </p:sp>
      <p:sp>
        <p:nvSpPr>
          <p:cNvPr id="44036" name="Rectangle 3"/>
          <p:cNvSpPr>
            <a:spLocks noGrp="1"/>
          </p:cNvSpPr>
          <p:nvPr/>
        </p:nvSpPr>
        <p:spPr>
          <a:xfrm>
            <a:off x="1407795" y="1404620"/>
            <a:ext cx="8229600" cy="404939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u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l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SzPct val="85000"/>
              <a:buFont typeface="Wingdings" panose="05000000000000000000" pitchFamily="2" charset="2"/>
              <a:buChar char="Ø"/>
              <a:defRPr kumimoji="1"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SzPct val="85000"/>
              <a:buFont typeface="Symbol" panose="05050102010706020507" pitchFamily="18" charset="2"/>
              <a:buChar char="ª"/>
              <a:defRPr kumimoji="1"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sv-SE" sz="2000" b="0" dirty="0">
                <a:latin typeface="Times New Roman" panose="02020603050405020304" pitchFamily="18" charset="0"/>
              </a:rPr>
              <a:t>分析和综合（</a:t>
            </a:r>
            <a:r>
              <a:rPr lang="sv-SE" altLang="zh-CN" sz="2000" b="0" dirty="0">
                <a:latin typeface="Times New Roman" panose="02020603050405020304" pitchFamily="18" charset="0"/>
              </a:rPr>
              <a:t>Analysis &amp; Synthesis）</a:t>
            </a:r>
            <a:r>
              <a:rPr lang="zh-CN" altLang="sv-SE" sz="2000" b="0" dirty="0">
                <a:latin typeface="Times New Roman" panose="02020603050405020304" pitchFamily="18" charset="0"/>
              </a:rPr>
              <a:t>模块：</a:t>
            </a:r>
            <a:r>
              <a:rPr lang="zh-CN" altLang="en-US" sz="2000" b="0" dirty="0">
                <a:latin typeface="Times New Roman" panose="02020603050405020304" pitchFamily="18" charset="0"/>
              </a:rPr>
              <a:t>把原始描述转化为逻辑电路，映射到所选定的可编程器件。</a:t>
            </a:r>
            <a:endParaRPr lang="zh-CN" altLang="en-US" sz="2000" b="0" dirty="0">
              <a:latin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sv-SE" sz="2000" b="0" dirty="0">
                <a:latin typeface="Times New Roman" panose="02020603050405020304" pitchFamily="18" charset="0"/>
              </a:rPr>
              <a:t>装配（</a:t>
            </a:r>
            <a:r>
              <a:rPr lang="sv-SE" altLang="zh-CN" sz="2000" b="0" dirty="0">
                <a:latin typeface="Times New Roman" panose="02020603050405020304" pitchFamily="18" charset="0"/>
              </a:rPr>
              <a:t>Fitter）</a:t>
            </a:r>
            <a:r>
              <a:rPr lang="zh-CN" altLang="sv-SE" sz="2000" b="0" dirty="0">
                <a:latin typeface="Times New Roman" panose="02020603050405020304" pitchFamily="18" charset="0"/>
              </a:rPr>
              <a:t>模块：将前一步确定的逻辑元件在目标芯片上布局、布线</a:t>
            </a:r>
            <a:r>
              <a:rPr lang="sv-SE" altLang="zh-CN" sz="2000" b="0" dirty="0">
                <a:latin typeface="Times New Roman" panose="02020603050405020304" pitchFamily="18" charset="0"/>
              </a:rPr>
              <a:t>；</a:t>
            </a:r>
            <a:r>
              <a:rPr lang="zh-CN" altLang="en-US" sz="2000" b="0" dirty="0">
                <a:latin typeface="Times New Roman" panose="02020603050405020304" pitchFamily="18" charset="0"/>
              </a:rPr>
              <a:t> </a:t>
            </a:r>
            <a:endParaRPr lang="zh-CN" altLang="en-US" sz="2000" b="0" dirty="0">
              <a:latin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sv-SE" sz="2000" b="0" dirty="0">
                <a:latin typeface="Times New Roman" panose="02020603050405020304" pitchFamily="18" charset="0"/>
              </a:rPr>
              <a:t>组装（</a:t>
            </a:r>
            <a:r>
              <a:rPr lang="sv-SE" altLang="zh-CN" sz="2000" b="0" dirty="0">
                <a:latin typeface="Times New Roman" panose="02020603050405020304" pitchFamily="18" charset="0"/>
              </a:rPr>
              <a:t>Assembler）</a:t>
            </a:r>
            <a:r>
              <a:rPr lang="zh-CN" altLang="sv-SE" sz="2000" b="0" dirty="0">
                <a:latin typeface="Times New Roman" panose="02020603050405020304" pitchFamily="18" charset="0"/>
              </a:rPr>
              <a:t>模块：</a:t>
            </a:r>
            <a:r>
              <a:rPr lang="zh-CN" altLang="en-US" sz="2000" b="0" dirty="0">
                <a:latin typeface="Times New Roman" panose="02020603050405020304" pitchFamily="18" charset="0"/>
              </a:rPr>
              <a:t>形成编程文件；</a:t>
            </a:r>
            <a:endParaRPr lang="zh-CN" altLang="en-US" sz="2000" b="0" dirty="0">
              <a:latin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sv-SE" sz="2000" b="0" dirty="0">
                <a:latin typeface="Times New Roman" panose="02020603050405020304" pitchFamily="18" charset="0"/>
              </a:rPr>
              <a:t>时序分析（</a:t>
            </a:r>
            <a:r>
              <a:rPr lang="sv-SE" altLang="zh-CN" sz="2000" b="0" dirty="0">
                <a:latin typeface="Times New Roman" panose="02020603050405020304" pitchFamily="18" charset="0"/>
              </a:rPr>
              <a:t>Timing Analyzer）</a:t>
            </a:r>
            <a:r>
              <a:rPr lang="zh-CN" altLang="sv-SE" sz="2000" b="0" dirty="0">
                <a:latin typeface="Times New Roman" panose="02020603050405020304" pitchFamily="18" charset="0"/>
              </a:rPr>
              <a:t>模块</a:t>
            </a:r>
            <a:r>
              <a:rPr lang="en-US" altLang="zh-CN" sz="2000" b="0" dirty="0">
                <a:latin typeface="Times New Roman" panose="02020603050405020304" pitchFamily="18" charset="0"/>
              </a:rPr>
              <a:t>;</a:t>
            </a:r>
            <a:r>
              <a:rPr lang="zh-CN" altLang="sv-SE" sz="2000" b="0" dirty="0">
                <a:latin typeface="Times New Roman" panose="02020603050405020304" pitchFamily="18" charset="0"/>
              </a:rPr>
              <a:t>  </a:t>
            </a:r>
            <a:endParaRPr lang="zh-CN" altLang="sv-SE" sz="2000" b="0" dirty="0">
              <a:latin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sv-SE" sz="2000" b="0" dirty="0">
                <a:latin typeface="Times New Roman" panose="02020603050405020304" pitchFamily="18" charset="0"/>
              </a:rPr>
              <a:t>产生</a:t>
            </a:r>
            <a:r>
              <a:rPr lang="sv-SE" altLang="zh-CN" sz="2000" b="0" dirty="0">
                <a:latin typeface="Times New Roman" panose="02020603050405020304" pitchFamily="18" charset="0"/>
              </a:rPr>
              <a:t>EDA</a:t>
            </a:r>
            <a:r>
              <a:rPr lang="zh-CN" altLang="sv-SE" sz="2000" b="0" dirty="0">
                <a:latin typeface="Times New Roman" panose="02020603050405020304" pitchFamily="18" charset="0"/>
              </a:rPr>
              <a:t>工具网表（</a:t>
            </a:r>
            <a:r>
              <a:rPr lang="sv-SE" altLang="zh-CN" sz="2000" b="0" dirty="0">
                <a:latin typeface="Times New Roman" panose="02020603050405020304" pitchFamily="18" charset="0"/>
              </a:rPr>
              <a:t>EDA Netlist Writer）</a:t>
            </a:r>
            <a:r>
              <a:rPr lang="zh-CN" altLang="sv-SE" sz="2000" b="0" dirty="0">
                <a:latin typeface="Times New Roman" panose="02020603050405020304" pitchFamily="18" charset="0"/>
              </a:rPr>
              <a:t>模块</a:t>
            </a:r>
            <a:r>
              <a:rPr lang="zh-CN" altLang="en-US" sz="2000" b="0" dirty="0">
                <a:latin typeface="Times New Roman" panose="02020603050405020304" pitchFamily="18" charset="0"/>
              </a:rPr>
              <a:t>：目的是与其他</a:t>
            </a:r>
            <a:r>
              <a:rPr lang="en-US" altLang="zh-CN" sz="2000" b="0" dirty="0">
                <a:latin typeface="Times New Roman" panose="02020603050405020304" pitchFamily="18" charset="0"/>
              </a:rPr>
              <a:t>EDA</a:t>
            </a:r>
            <a:r>
              <a:rPr lang="zh-CN" altLang="en-US" sz="2000" b="0" dirty="0">
                <a:latin typeface="Times New Roman" panose="02020603050405020304" pitchFamily="18" charset="0"/>
              </a:rPr>
              <a:t>工具相衔接。 </a:t>
            </a:r>
            <a:endParaRPr lang="zh-CN" altLang="en-US" sz="2000" b="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圆角矩形 9"/>
          <p:cNvSpPr/>
          <p:nvPr/>
        </p:nvSpPr>
        <p:spPr>
          <a:xfrm>
            <a:off x="46991" y="55881"/>
            <a:ext cx="1612991" cy="472997"/>
          </a:xfrm>
          <a:prstGeom prst="roundRect">
            <a:avLst/>
          </a:prstGeom>
          <a:solidFill>
            <a:srgbClr val="59BBD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sz="2600" b="1" dirty="0">
                <a:solidFill>
                  <a:schemeClr val="bg1"/>
                </a:solidFill>
              </a:rPr>
              <a:t>第一题</a:t>
            </a:r>
            <a:endParaRPr lang="zh-CN" sz="2600" b="1" dirty="0">
              <a:solidFill>
                <a:schemeClr val="bg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01015" y="639445"/>
            <a:ext cx="60960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eaLnBrk="1" hangingPunct="1"/>
            <a:r>
              <a:rPr lang="zh-CN" altLang="sv-SE" sz="2000" b="1" dirty="0">
                <a:sym typeface="+mn-ea"/>
              </a:rPr>
              <a:t>编译结果的报告</a:t>
            </a:r>
            <a:endParaRPr lang="zh-CN" altLang="sv-SE" sz="2000" b="1" dirty="0">
              <a:sym typeface="+mn-ea"/>
            </a:endParaRPr>
          </a:p>
        </p:txBody>
      </p:sp>
      <p:sp>
        <p:nvSpPr>
          <p:cNvPr id="45060" name="Rectangle 3"/>
          <p:cNvSpPr>
            <a:spLocks noGrp="1"/>
          </p:cNvSpPr>
          <p:nvPr/>
        </p:nvSpPr>
        <p:spPr>
          <a:xfrm>
            <a:off x="1276985" y="1219200"/>
            <a:ext cx="8229600" cy="48768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u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l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SzPct val="85000"/>
              <a:buFont typeface="Wingdings" panose="05000000000000000000" pitchFamily="2" charset="2"/>
              <a:buChar char="Ø"/>
              <a:defRPr kumimoji="1"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SzPct val="85000"/>
              <a:buFont typeface="Symbol" panose="05050102010706020507" pitchFamily="18" charset="2"/>
              <a:buChar char="ª"/>
              <a:defRPr kumimoji="1"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zh-CN" altLang="en-US" sz="2000" b="0" dirty="0"/>
              <a:t>本例为半加器的编译结果：</a:t>
            </a:r>
            <a:endParaRPr lang="zh-CN" altLang="en-US" sz="2000" b="0" dirty="0"/>
          </a:p>
        </p:txBody>
      </p:sp>
      <p:pic>
        <p:nvPicPr>
          <p:cNvPr id="3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29460" y="2098040"/>
            <a:ext cx="7352665" cy="34080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圆角矩形 9"/>
          <p:cNvSpPr/>
          <p:nvPr/>
        </p:nvSpPr>
        <p:spPr>
          <a:xfrm>
            <a:off x="46991" y="55881"/>
            <a:ext cx="1612991" cy="472997"/>
          </a:xfrm>
          <a:prstGeom prst="roundRect">
            <a:avLst/>
          </a:prstGeom>
          <a:solidFill>
            <a:srgbClr val="59BBD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sz="2600" b="1" dirty="0">
                <a:solidFill>
                  <a:schemeClr val="bg1"/>
                </a:solidFill>
              </a:rPr>
              <a:t>第一题</a:t>
            </a:r>
            <a:endParaRPr lang="zh-CN" sz="2600" b="1" dirty="0">
              <a:solidFill>
                <a:schemeClr val="bg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65785" y="654050"/>
            <a:ext cx="60960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eaLnBrk="1" hangingPunct="1"/>
            <a:r>
              <a:rPr lang="zh-CN" altLang="sv-SE" sz="2000" b="1" dirty="0">
                <a:sym typeface="+mn-ea"/>
              </a:rPr>
              <a:t>发现并纠正原理图中的错误</a:t>
            </a:r>
            <a:r>
              <a:rPr lang="zh-CN" altLang="en-US" sz="2000" b="1" dirty="0">
                <a:sym typeface="+mn-ea"/>
              </a:rPr>
              <a:t> </a:t>
            </a:r>
            <a:endParaRPr lang="zh-CN" altLang="en-US" sz="2000" b="1" dirty="0">
              <a:sym typeface="+mn-ea"/>
            </a:endParaRPr>
          </a:p>
        </p:txBody>
      </p:sp>
      <p:sp>
        <p:nvSpPr>
          <p:cNvPr id="47108" name="Rectangle 7"/>
          <p:cNvSpPr>
            <a:spLocks noGrp="1"/>
          </p:cNvSpPr>
          <p:nvPr/>
        </p:nvSpPr>
        <p:spPr>
          <a:xfrm>
            <a:off x="1640840" y="990600"/>
            <a:ext cx="8159115" cy="456946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u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l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SzPct val="85000"/>
              <a:buFont typeface="Wingdings" panose="05000000000000000000" pitchFamily="2" charset="2"/>
              <a:buChar char="Ø"/>
              <a:defRPr kumimoji="1"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SzPct val="85000"/>
              <a:buFont typeface="Symbol" panose="05050102010706020507" pitchFamily="18" charset="2"/>
              <a:buChar char="ª"/>
              <a:defRPr kumimoji="1"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zh-CN" altLang="sv-SE" sz="1800" b="0" dirty="0"/>
              <a:t>故意制造 1 个错误（断开1条连线）           编译           出错报告</a:t>
            </a:r>
            <a:endParaRPr lang="zh-CN" altLang="sv-SE" sz="1800" b="0" dirty="0"/>
          </a:p>
          <a:p>
            <a:pPr eaLnBrk="1" hangingPunct="1"/>
            <a:r>
              <a:rPr lang="zh-CN" altLang="sv-SE" sz="1800" b="0" dirty="0"/>
              <a:t>鼠标</a:t>
            </a:r>
            <a:r>
              <a:rPr lang="zh-CN" altLang="en-US" sz="1800" b="0" dirty="0"/>
              <a:t>双击第一个出错信息             出错位置加亮显示           纠错</a:t>
            </a:r>
            <a:endParaRPr lang="zh-CN" altLang="sv-SE" sz="1800" b="0" dirty="0"/>
          </a:p>
          <a:p>
            <a:pPr eaLnBrk="1" hangingPunct="1">
              <a:buNone/>
            </a:pPr>
            <a:endParaRPr lang="zh-CN" altLang="sv-SE" sz="1800" b="0" dirty="0"/>
          </a:p>
        </p:txBody>
      </p:sp>
      <p:sp>
        <p:nvSpPr>
          <p:cNvPr id="47110" name="AutoShape 8"/>
          <p:cNvSpPr/>
          <p:nvPr/>
        </p:nvSpPr>
        <p:spPr>
          <a:xfrm>
            <a:off x="6963410" y="1066800"/>
            <a:ext cx="604520" cy="214630"/>
          </a:xfrm>
          <a:prstGeom prst="rightArrow">
            <a:avLst>
              <a:gd name="adj1" fmla="val 50000"/>
              <a:gd name="adj2" fmla="val 66666"/>
            </a:avLst>
          </a:prstGeom>
          <a:solidFill>
            <a:schemeClr val="accent1"/>
          </a:solidFill>
          <a:ln w="9525" cap="flat" cmpd="sng">
            <a:solidFill>
              <a:schemeClr val="accent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>
              <a:spcBef>
                <a:spcPct val="50000"/>
              </a:spcBef>
            </a:pPr>
            <a:endParaRPr lang="zh-CN" altLang="en-US" dirty="0">
              <a:latin typeface="黑体" panose="02010609060101010101" pitchFamily="49" charset="-122"/>
            </a:endParaRPr>
          </a:p>
        </p:txBody>
      </p:sp>
      <p:graphicFrame>
        <p:nvGraphicFramePr>
          <p:cNvPr id="47111" name="Object 9"/>
          <p:cNvGraphicFramePr>
            <a:graphicFrameLocks noChangeAspect="1"/>
          </p:cNvGraphicFramePr>
          <p:nvPr/>
        </p:nvGraphicFramePr>
        <p:xfrm>
          <a:off x="1497965" y="1657350"/>
          <a:ext cx="8658225" cy="19926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1" name="" r:id="rId1" imgW="6972300" imgH="1379220" progId="Word.Picture.8">
                  <p:embed/>
                </p:oleObj>
              </mc:Choice>
              <mc:Fallback>
                <p:oleObj name="" r:id="rId1" imgW="6972300" imgH="1379220" progId="Word.Picture.8">
                  <p:embed/>
                  <p:pic>
                    <p:nvPicPr>
                      <p:cNvPr id="0" name="图片 3090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497965" y="1657350"/>
                        <a:ext cx="8658225" cy="199263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12" name="Object 10"/>
          <p:cNvGraphicFramePr>
            <a:graphicFrameLocks noChangeAspect="1"/>
          </p:cNvGraphicFramePr>
          <p:nvPr/>
        </p:nvGraphicFramePr>
        <p:xfrm>
          <a:off x="1869440" y="3648075"/>
          <a:ext cx="7554595" cy="28536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2" name="" r:id="rId3" imgW="4953000" imgH="2080260" progId="Word.Picture.8">
                  <p:embed/>
                </p:oleObj>
              </mc:Choice>
              <mc:Fallback>
                <p:oleObj name="" r:id="rId3" imgW="4953000" imgH="2080260" progId="Word.Picture.8">
                  <p:embed/>
                  <p:pic>
                    <p:nvPicPr>
                      <p:cNvPr id="0" name="图片 309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869440" y="3648075"/>
                        <a:ext cx="7554595" cy="285369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113" name="AutoShape 11"/>
          <p:cNvSpPr/>
          <p:nvPr/>
        </p:nvSpPr>
        <p:spPr>
          <a:xfrm>
            <a:off x="5610225" y="1066800"/>
            <a:ext cx="604520" cy="214630"/>
          </a:xfrm>
          <a:prstGeom prst="rightArrow">
            <a:avLst>
              <a:gd name="adj1" fmla="val 50000"/>
              <a:gd name="adj2" fmla="val 66666"/>
            </a:avLst>
          </a:prstGeom>
          <a:solidFill>
            <a:schemeClr val="accent1"/>
          </a:solidFill>
          <a:ln w="9525" cap="flat" cmpd="sng">
            <a:solidFill>
              <a:schemeClr val="accent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>
              <a:spcBef>
                <a:spcPct val="50000"/>
              </a:spcBef>
            </a:pPr>
            <a:r>
              <a:rPr lang="en-US" altLang="zh-CN" dirty="0">
                <a:latin typeface="黑体" panose="02010609060101010101" pitchFamily="49" charset="-122"/>
              </a:rPr>
              <a:t> </a:t>
            </a:r>
            <a:endParaRPr lang="en-US" altLang="zh-CN" dirty="0">
              <a:latin typeface="黑体" panose="02010609060101010101" pitchFamily="49" charset="-122"/>
            </a:endParaRPr>
          </a:p>
        </p:txBody>
      </p:sp>
      <p:sp>
        <p:nvSpPr>
          <p:cNvPr id="47114" name="AutoShape 12"/>
          <p:cNvSpPr/>
          <p:nvPr/>
        </p:nvSpPr>
        <p:spPr>
          <a:xfrm>
            <a:off x="4713605" y="1421130"/>
            <a:ext cx="604520" cy="214630"/>
          </a:xfrm>
          <a:prstGeom prst="rightArrow">
            <a:avLst>
              <a:gd name="adj1" fmla="val 50000"/>
              <a:gd name="adj2" fmla="val 66666"/>
            </a:avLst>
          </a:prstGeom>
          <a:solidFill>
            <a:schemeClr val="accent1"/>
          </a:solidFill>
          <a:ln w="9525" cap="flat" cmpd="sng">
            <a:solidFill>
              <a:schemeClr val="accent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>
              <a:spcBef>
                <a:spcPct val="50000"/>
              </a:spcBef>
            </a:pPr>
            <a:endParaRPr lang="zh-CN" altLang="en-US" dirty="0">
              <a:latin typeface="黑体" panose="02010609060101010101" pitchFamily="49" charset="-122"/>
            </a:endParaRPr>
          </a:p>
        </p:txBody>
      </p:sp>
      <p:sp>
        <p:nvSpPr>
          <p:cNvPr id="47115" name="AutoShape 13"/>
          <p:cNvSpPr/>
          <p:nvPr/>
        </p:nvSpPr>
        <p:spPr>
          <a:xfrm>
            <a:off x="7412990" y="1421130"/>
            <a:ext cx="604520" cy="214630"/>
          </a:xfrm>
          <a:prstGeom prst="rightArrow">
            <a:avLst>
              <a:gd name="adj1" fmla="val 50000"/>
              <a:gd name="adj2" fmla="val 66666"/>
            </a:avLst>
          </a:prstGeom>
          <a:solidFill>
            <a:schemeClr val="accent1"/>
          </a:solidFill>
          <a:ln w="9525" cap="flat" cmpd="sng">
            <a:solidFill>
              <a:schemeClr val="accent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>
              <a:spcBef>
                <a:spcPct val="50000"/>
              </a:spcBef>
            </a:pPr>
            <a:endParaRPr lang="zh-CN" altLang="en-US" dirty="0">
              <a:latin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圆角矩形 9"/>
          <p:cNvSpPr/>
          <p:nvPr/>
        </p:nvSpPr>
        <p:spPr>
          <a:xfrm>
            <a:off x="46991" y="55881"/>
            <a:ext cx="1612991" cy="472997"/>
          </a:xfrm>
          <a:prstGeom prst="roundRect">
            <a:avLst/>
          </a:prstGeom>
          <a:solidFill>
            <a:srgbClr val="59BBD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sz="2600" b="1" dirty="0">
                <a:solidFill>
                  <a:schemeClr val="bg1"/>
                </a:solidFill>
              </a:rPr>
              <a:t>第一题</a:t>
            </a:r>
            <a:endParaRPr lang="zh-CN" sz="2600" b="1" dirty="0">
              <a:solidFill>
                <a:schemeClr val="bg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94995" y="658495"/>
            <a:ext cx="60960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eaLnBrk="1" hangingPunct="1">
              <a:buClrTx/>
              <a:buSzTx/>
              <a:buFontTx/>
            </a:pPr>
            <a:r>
              <a:rPr kumimoji="1" lang="zh-CN" altLang="sv-SE" sz="2000" b="1" dirty="0">
                <a:latin typeface="+mj-lt"/>
                <a:ea typeface="+mj-ea"/>
                <a:cs typeface="+mj-cs"/>
                <a:sym typeface="+mn-ea"/>
              </a:rPr>
              <a:t>四、模拟验证</a:t>
            </a:r>
            <a:r>
              <a:rPr kumimoji="1" lang="zh-CN" altLang="en-US" sz="2000" b="1" dirty="0">
                <a:latin typeface="+mj-lt"/>
                <a:ea typeface="+mj-ea"/>
                <a:cs typeface="+mj-cs"/>
                <a:sym typeface="+mn-ea"/>
              </a:rPr>
              <a:t> </a:t>
            </a:r>
            <a:endParaRPr kumimoji="1" lang="zh-CN" altLang="en-US" sz="2000" b="1" dirty="0">
              <a:latin typeface="+mj-lt"/>
              <a:ea typeface="+mj-ea"/>
              <a:cs typeface="+mj-cs"/>
              <a:sym typeface="+mn-ea"/>
            </a:endParaRPr>
          </a:p>
        </p:txBody>
      </p:sp>
      <p:sp>
        <p:nvSpPr>
          <p:cNvPr id="49156" name="Rectangle 3"/>
          <p:cNvSpPr>
            <a:spLocks noGrp="1"/>
          </p:cNvSpPr>
          <p:nvPr/>
        </p:nvSpPr>
        <p:spPr>
          <a:xfrm>
            <a:off x="1096010" y="1299845"/>
            <a:ext cx="9485630" cy="446341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u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l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SzPct val="85000"/>
              <a:buFont typeface="Wingdings" panose="05000000000000000000" pitchFamily="2" charset="2"/>
              <a:buChar char="Ø"/>
              <a:defRPr kumimoji="1"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SzPct val="85000"/>
              <a:buFont typeface="Symbol" panose="05050102010706020507" pitchFamily="18" charset="2"/>
              <a:buChar char="ª"/>
              <a:defRPr kumimoji="1"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sv-SE" sz="2000" dirty="0">
                <a:latin typeface="宋体" panose="02010600030101010101" pitchFamily="2" charset="-122"/>
                <a:ea typeface="宋体" panose="02010600030101010101" pitchFamily="2" charset="-122"/>
              </a:rPr>
              <a:t>准备好</a:t>
            </a:r>
            <a:r>
              <a:rPr lang="zh-CN" altLang="sv-SE" sz="2000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网表</a:t>
            </a:r>
            <a:r>
              <a:rPr lang="zh-CN" altLang="sv-SE" sz="2000" dirty="0"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sv-SE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netlist</a:t>
            </a:r>
            <a:r>
              <a:rPr lang="sv-SE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r>
              <a:rPr lang="zh-CN" altLang="sv-SE" sz="2000" dirty="0">
                <a:latin typeface="宋体" panose="02010600030101010101" pitchFamily="2" charset="-122"/>
                <a:ea typeface="宋体" panose="02010600030101010101" pitchFamily="2" charset="-122"/>
              </a:rPr>
              <a:t>文件</a:t>
            </a:r>
            <a:r>
              <a:rPr lang="zh-CN" altLang="en-US" sz="2000" dirty="0"/>
              <a:t> ：</a:t>
            </a:r>
            <a:endParaRPr lang="zh-CN" altLang="en-US" sz="2000" dirty="0"/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zh-CN" altLang="en-US" sz="2000" dirty="0"/>
              <a:t> </a:t>
            </a:r>
            <a:r>
              <a:rPr lang="zh-CN" altLang="sv-SE" sz="1800" dirty="0">
                <a:latin typeface="宋体" panose="02010600030101010101" pitchFamily="2" charset="-122"/>
                <a:ea typeface="宋体" panose="02010600030101010101" pitchFamily="2" charset="-122"/>
              </a:rPr>
              <a:t>如果准备进行</a:t>
            </a:r>
            <a:r>
              <a:rPr lang="zh-CN" altLang="sv-SE" sz="1800" dirty="0">
                <a:solidFill>
                  <a:srgbClr val="0033CC"/>
                </a:solidFill>
                <a:latin typeface="Times New Roman" panose="02020603050405020304" pitchFamily="18" charset="0"/>
              </a:rPr>
              <a:t>功能模拟</a:t>
            </a:r>
            <a:r>
              <a:rPr lang="zh-CN" altLang="sv-SE" sz="1800" dirty="0">
                <a:latin typeface="Times New Roman" panose="02020603050405020304" pitchFamily="18" charset="0"/>
              </a:rPr>
              <a:t>，</a:t>
            </a:r>
            <a:r>
              <a:rPr lang="zh-CN" altLang="sv-SE" sz="1800" dirty="0">
                <a:latin typeface="宋体" panose="02010600030101010101" pitchFamily="2" charset="-122"/>
                <a:ea typeface="宋体" panose="02010600030101010101" pitchFamily="2" charset="-122"/>
              </a:rPr>
              <a:t>在</a:t>
            </a:r>
            <a:r>
              <a:rPr lang="sv-SE" altLang="zh-CN" sz="1800" dirty="0">
                <a:latin typeface="Times New Roman" panose="02020603050405020304" pitchFamily="18" charset="0"/>
              </a:rPr>
              <a:t>Analysis &amp; Synthesis</a:t>
            </a:r>
            <a:r>
              <a:rPr lang="zh-CN" altLang="sv-SE" sz="1800" dirty="0">
                <a:latin typeface="宋体" panose="02010600030101010101" pitchFamily="2" charset="-122"/>
                <a:ea typeface="宋体" panose="02010600030101010101" pitchFamily="2" charset="-122"/>
              </a:rPr>
              <a:t>之后，使用命令</a:t>
            </a:r>
            <a:br>
              <a:rPr lang="zh-CN" altLang="sv-SE" sz="1800" dirty="0"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zh-CN" altLang="sv-SE" sz="18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sv-SE" altLang="zh-CN" sz="1800" dirty="0">
                <a:cs typeface="Arial" panose="020B0604020202020204" pitchFamily="34" charset="0"/>
              </a:rPr>
              <a:t>Processing</a:t>
            </a:r>
            <a:r>
              <a:rPr lang="sv-SE" altLang="zh-CN" sz="1800" dirty="0">
                <a:cs typeface="Arial" panose="020B0604020202020204" pitchFamily="34" charset="0"/>
                <a:sym typeface="Symbol" panose="05050102010706020507" pitchFamily="18" charset="2"/>
              </a:rPr>
              <a:t></a:t>
            </a:r>
            <a:r>
              <a:rPr lang="sv-SE" altLang="zh-CN" sz="1800" dirty="0">
                <a:cs typeface="Arial" panose="020B0604020202020204" pitchFamily="34" charset="0"/>
              </a:rPr>
              <a:t>Generate Functional Simulation Netlist</a:t>
            </a:r>
            <a:r>
              <a:rPr lang="sv-SE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；</a:t>
            </a:r>
            <a:endParaRPr lang="sv-SE" altLang="zh-CN" sz="18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zh-CN" altLang="sv-SE" sz="1800" dirty="0">
                <a:latin typeface="宋体" panose="02010600030101010101" pitchFamily="2" charset="-122"/>
                <a:ea typeface="宋体" panose="02010600030101010101" pitchFamily="2" charset="-122"/>
              </a:rPr>
              <a:t>如果准备进行</a:t>
            </a:r>
            <a:r>
              <a:rPr lang="zh-CN" altLang="sv-SE" sz="1800" dirty="0">
                <a:solidFill>
                  <a:srgbClr val="0033CC"/>
                </a:solidFill>
                <a:latin typeface="Times New Roman" panose="02020603050405020304" pitchFamily="18" charset="0"/>
              </a:rPr>
              <a:t>时序模拟</a:t>
            </a:r>
            <a:r>
              <a:rPr lang="zh-CN" altLang="sv-SE" sz="1800" dirty="0">
                <a:latin typeface="宋体" panose="02010600030101010101" pitchFamily="2" charset="-122"/>
                <a:ea typeface="宋体" panose="02010600030101010101" pitchFamily="2" charset="-122"/>
              </a:rPr>
              <a:t>：则使用完整的编译命令</a:t>
            </a:r>
            <a:endParaRPr lang="zh-CN" altLang="en-US" sz="1800" dirty="0"/>
          </a:p>
          <a:p>
            <a:pPr>
              <a:lnSpc>
                <a:spcPct val="150000"/>
              </a:lnSpc>
              <a:spcBef>
                <a:spcPts val="0"/>
              </a:spcBef>
              <a:buNone/>
            </a:pPr>
            <a:endParaRPr lang="zh-CN" altLang="en-US" sz="2000" dirty="0"/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sv-SE" sz="2000" dirty="0">
                <a:latin typeface="宋体" panose="02010600030101010101" pitchFamily="2" charset="-122"/>
                <a:ea typeface="宋体" panose="02010600030101010101" pitchFamily="2" charset="-122"/>
              </a:rPr>
              <a:t>准备好</a:t>
            </a:r>
            <a:r>
              <a:rPr lang="zh-CN" altLang="sv-SE" sz="2000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测试向量</a:t>
            </a:r>
            <a:r>
              <a:rPr lang="zh-CN" altLang="sv-SE" sz="2000" dirty="0">
                <a:latin typeface="宋体" panose="02010600030101010101" pitchFamily="2" charset="-122"/>
                <a:ea typeface="宋体" panose="02010600030101010101" pitchFamily="2" charset="-122"/>
              </a:rPr>
              <a:t>文件</a:t>
            </a:r>
            <a:r>
              <a:rPr lang="zh-CN" altLang="en-US" sz="2000" dirty="0"/>
              <a:t> ：</a:t>
            </a:r>
            <a:endParaRPr lang="zh-CN" altLang="en-US" sz="2000" dirty="0"/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zh-CN" altLang="sv-SE" sz="1800" dirty="0">
                <a:latin typeface="宋体" panose="02010600030101010101" pitchFamily="2" charset="-122"/>
                <a:ea typeface="宋体" panose="02010600030101010101" pitchFamily="2" charset="-122"/>
              </a:rPr>
              <a:t>用波形编辑器（</a:t>
            </a:r>
            <a:r>
              <a:rPr lang="sv-SE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Vector / Waveform Editor</a:t>
            </a:r>
            <a:r>
              <a:rPr lang="sv-SE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r>
              <a:rPr lang="zh-CN" altLang="sv-SE" sz="1800" dirty="0">
                <a:latin typeface="宋体" panose="02010600030101010101" pitchFamily="2" charset="-122"/>
                <a:ea typeface="宋体" panose="02010600030101010101" pitchFamily="2" charset="-122"/>
              </a:rPr>
              <a:t>画出输入信号的激励波形（即测试向量）</a:t>
            </a:r>
            <a:r>
              <a:rPr lang="zh-CN" altLang="sv-SE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；</a:t>
            </a:r>
            <a:endParaRPr lang="zh-CN" altLang="sv-SE" sz="18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zh-CN" altLang="sv-SE" sz="1800" dirty="0">
                <a:latin typeface="宋体" panose="02010600030101010101" pitchFamily="2" charset="-122"/>
                <a:ea typeface="宋体" panose="02010600030101010101" pitchFamily="2" charset="-122"/>
              </a:rPr>
              <a:t>以波形文件形式保存（后缀为</a:t>
            </a:r>
            <a:r>
              <a:rPr lang="zh-CN" altLang="sv-SE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sv-SE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vwf</a:t>
            </a:r>
            <a:r>
              <a:rPr lang="sv-SE" altLang="zh-CN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）</a:t>
            </a:r>
            <a:r>
              <a:rPr lang="sv-SE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br>
              <a:rPr lang="zh-CN" altLang="en-US" sz="2000" dirty="0"/>
            </a:br>
            <a:endParaRPr lang="zh-CN" altLang="sv-SE" sz="18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sv-SE" sz="1800" dirty="0"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endParaRPr lang="zh-CN" altLang="sv-SE" sz="18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圆角矩形 9"/>
          <p:cNvSpPr/>
          <p:nvPr/>
        </p:nvSpPr>
        <p:spPr>
          <a:xfrm>
            <a:off x="46991" y="55881"/>
            <a:ext cx="1612991" cy="472997"/>
          </a:xfrm>
          <a:prstGeom prst="roundRect">
            <a:avLst/>
          </a:prstGeom>
          <a:solidFill>
            <a:srgbClr val="59BBD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sz="2600" b="1" dirty="0">
                <a:solidFill>
                  <a:schemeClr val="bg1"/>
                </a:solidFill>
              </a:rPr>
              <a:t>第一题</a:t>
            </a:r>
            <a:endParaRPr lang="zh-CN" sz="2600" b="1" dirty="0">
              <a:solidFill>
                <a:schemeClr val="bg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45795" y="658495"/>
            <a:ext cx="59944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eaLnBrk="1" hangingPunct="1"/>
            <a:r>
              <a:rPr lang="zh-CN" altLang="sv-SE" sz="2000" b="1" dirty="0">
                <a:sym typeface="+mn-ea"/>
              </a:rPr>
              <a:t>打开波形编辑器绘制测试向量波形</a:t>
            </a:r>
            <a:endParaRPr kumimoji="1" lang="zh-CN" altLang="en-US" sz="2000" b="1" dirty="0">
              <a:latin typeface="+mj-lt"/>
              <a:ea typeface="+mj-ea"/>
              <a:cs typeface="+mj-cs"/>
              <a:sym typeface="+mn-ea"/>
            </a:endParaRPr>
          </a:p>
        </p:txBody>
      </p:sp>
      <p:pic>
        <p:nvPicPr>
          <p:cNvPr id="7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25190" y="1594485"/>
            <a:ext cx="3357880" cy="4530725"/>
          </a:xfrm>
          <a:prstGeom prst="rect">
            <a:avLst/>
          </a:prstGeom>
          <a:noFill/>
          <a:ln>
            <a:noFill/>
          </a:ln>
        </p:spPr>
      </p:pic>
      <p:sp>
        <p:nvSpPr>
          <p:cNvPr id="50180" name="Rectangle 3"/>
          <p:cNvSpPr>
            <a:spLocks noGrp="1"/>
          </p:cNvSpPr>
          <p:nvPr/>
        </p:nvSpPr>
        <p:spPr>
          <a:xfrm>
            <a:off x="1096010" y="1066800"/>
            <a:ext cx="8229600" cy="5029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u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l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SzPct val="85000"/>
              <a:buFont typeface="Wingdings" panose="05000000000000000000" pitchFamily="2" charset="2"/>
              <a:buChar char="Ø"/>
              <a:defRPr kumimoji="1"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SzPct val="85000"/>
              <a:buFont typeface="Symbol" panose="05050102010706020507" pitchFamily="18" charset="2"/>
              <a:buChar char="ª"/>
              <a:defRPr kumimoji="1"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zh-CN" altLang="sv-SE" sz="2000" b="0" dirty="0">
                <a:latin typeface="Times New Roman" panose="02020603050405020304" pitchFamily="18" charset="0"/>
              </a:rPr>
              <a:t>选择命令 </a:t>
            </a:r>
            <a:r>
              <a:rPr lang="sv-SE" altLang="zh-CN" sz="2000" b="0" dirty="0">
                <a:latin typeface="Times New Roman" panose="02020603050405020304" pitchFamily="18" charset="0"/>
              </a:rPr>
              <a:t>File</a:t>
            </a:r>
            <a:r>
              <a:rPr lang="sv-SE" altLang="zh-CN" sz="2000" b="0" dirty="0">
                <a:latin typeface="Times New Roman" panose="02020603050405020304" pitchFamily="18" charset="0"/>
                <a:sym typeface="Symbol" panose="05050102010706020507" pitchFamily="18" charset="2"/>
              </a:rPr>
              <a:t></a:t>
            </a:r>
            <a:r>
              <a:rPr lang="sv-SE" altLang="zh-CN" sz="2000" b="0" dirty="0">
                <a:latin typeface="Times New Roman" panose="02020603050405020304" pitchFamily="18" charset="0"/>
              </a:rPr>
              <a:t>New</a:t>
            </a:r>
            <a:r>
              <a:rPr lang="en-US" altLang="zh-CN" sz="2000" b="0" dirty="0">
                <a:latin typeface="Times New Roman" panose="02020603050405020304" pitchFamily="18" charset="0"/>
              </a:rPr>
              <a:t>            </a:t>
            </a:r>
            <a:r>
              <a:rPr lang="zh-CN" altLang="en-US" sz="2000" b="0" dirty="0">
                <a:latin typeface="Times New Roman" panose="02020603050405020304" pitchFamily="18" charset="0"/>
              </a:rPr>
              <a:t>执行以下操作           打开波形编辑器窗口：</a:t>
            </a:r>
            <a:endParaRPr lang="zh-CN" altLang="en-US" sz="2000" b="0" dirty="0">
              <a:latin typeface="Times New Roman" panose="02020603050405020304" pitchFamily="18" charset="0"/>
            </a:endParaRPr>
          </a:p>
        </p:txBody>
      </p:sp>
      <p:sp>
        <p:nvSpPr>
          <p:cNvPr id="50181" name="AutoShape 4"/>
          <p:cNvSpPr/>
          <p:nvPr/>
        </p:nvSpPr>
        <p:spPr>
          <a:xfrm>
            <a:off x="3716020" y="1186815"/>
            <a:ext cx="609600" cy="228600"/>
          </a:xfrm>
          <a:prstGeom prst="rightArrow">
            <a:avLst>
              <a:gd name="adj1" fmla="val 50000"/>
              <a:gd name="adj2" fmla="val 66666"/>
            </a:avLst>
          </a:prstGeom>
          <a:solidFill>
            <a:schemeClr val="accent1"/>
          </a:solidFill>
          <a:ln w="9525" cap="flat" cmpd="sng">
            <a:solidFill>
              <a:schemeClr val="accent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>
              <a:spcBef>
                <a:spcPct val="50000"/>
              </a:spcBef>
            </a:pPr>
            <a:endParaRPr lang="zh-CN" altLang="en-US" dirty="0">
              <a:latin typeface="黑体" panose="02010609060101010101" pitchFamily="49" charset="-122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6030595" y="1133475"/>
            <a:ext cx="609600" cy="228600"/>
          </a:xfrm>
          <a:prstGeom prst="rightArrow">
            <a:avLst>
              <a:gd name="adj1" fmla="val 50000"/>
              <a:gd name="adj2" fmla="val 66666"/>
            </a:avLst>
          </a:prstGeom>
          <a:solidFill>
            <a:schemeClr val="accent1"/>
          </a:solidFill>
          <a:ln w="9525" cap="flat" cmpd="sng">
            <a:solidFill>
              <a:schemeClr val="accent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>
              <a:spcBef>
                <a:spcPct val="50000"/>
              </a:spcBef>
            </a:pPr>
            <a:endParaRPr lang="zh-CN" altLang="en-US" dirty="0">
              <a:latin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圆角矩形 9"/>
          <p:cNvSpPr/>
          <p:nvPr/>
        </p:nvSpPr>
        <p:spPr>
          <a:xfrm>
            <a:off x="46991" y="55881"/>
            <a:ext cx="1612991" cy="472997"/>
          </a:xfrm>
          <a:prstGeom prst="roundRect">
            <a:avLst/>
          </a:prstGeom>
          <a:solidFill>
            <a:srgbClr val="59BBD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sz="2600" b="1" dirty="0">
                <a:solidFill>
                  <a:schemeClr val="bg1"/>
                </a:solidFill>
              </a:rPr>
              <a:t>第一题</a:t>
            </a:r>
            <a:endParaRPr lang="zh-CN" sz="2600" b="1" dirty="0">
              <a:solidFill>
                <a:schemeClr val="bg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94995" y="658495"/>
            <a:ext cx="60960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eaLnBrk="1" hangingPunct="1"/>
            <a:r>
              <a:rPr lang="zh-CN" altLang="en-US" sz="2000" b="1" dirty="0">
                <a:sym typeface="+mn-ea"/>
              </a:rPr>
              <a:t>波形编辑器窗口</a:t>
            </a:r>
            <a:endParaRPr kumimoji="1" lang="zh-CN" altLang="en-US" sz="2000" b="1" dirty="0">
              <a:latin typeface="+mj-lt"/>
              <a:ea typeface="+mj-ea"/>
              <a:cs typeface="+mj-cs"/>
              <a:sym typeface="+mn-ea"/>
            </a:endParaRPr>
          </a:p>
        </p:txBody>
      </p:sp>
      <p:graphicFrame>
        <p:nvGraphicFramePr>
          <p:cNvPr id="51205" name="Object 6"/>
          <p:cNvGraphicFramePr>
            <a:graphicFrameLocks noChangeAspect="1"/>
          </p:cNvGraphicFramePr>
          <p:nvPr/>
        </p:nvGraphicFramePr>
        <p:xfrm>
          <a:off x="1421765" y="1056958"/>
          <a:ext cx="8153400" cy="5045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9" name="" r:id="rId1" imgW="5516880" imgH="3413760" progId="Word.Picture.8">
                  <p:embed/>
                </p:oleObj>
              </mc:Choice>
              <mc:Fallback>
                <p:oleObj name="" r:id="rId1" imgW="5516880" imgH="3413760" progId="Word.Picture.8">
                  <p:embed/>
                  <p:pic>
                    <p:nvPicPr>
                      <p:cNvPr id="0" name="图片 308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421765" y="1056958"/>
                        <a:ext cx="8153400" cy="50450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圆角矩形 9"/>
          <p:cNvSpPr/>
          <p:nvPr/>
        </p:nvSpPr>
        <p:spPr>
          <a:xfrm>
            <a:off x="46991" y="55881"/>
            <a:ext cx="1612991" cy="472997"/>
          </a:xfrm>
          <a:prstGeom prst="roundRect">
            <a:avLst/>
          </a:prstGeom>
          <a:solidFill>
            <a:srgbClr val="59BBD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sz="2600" b="1" dirty="0">
                <a:solidFill>
                  <a:schemeClr val="bg1"/>
                </a:solidFill>
              </a:rPr>
              <a:t>第一题</a:t>
            </a:r>
            <a:endParaRPr lang="zh-CN" sz="2600" b="1" dirty="0">
              <a:solidFill>
                <a:schemeClr val="bg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94995" y="658495"/>
            <a:ext cx="60960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eaLnBrk="1" hangingPunct="1"/>
            <a:r>
              <a:rPr lang="zh-CN" altLang="sv-SE" sz="2000" b="1" dirty="0">
                <a:sym typeface="+mn-ea"/>
              </a:rPr>
              <a:t>指定模拟终止时间</a:t>
            </a:r>
            <a:endParaRPr kumimoji="1" lang="zh-CN" altLang="en-US" sz="2000" b="1" dirty="0">
              <a:latin typeface="+mj-lt"/>
              <a:ea typeface="+mj-ea"/>
              <a:cs typeface="+mj-cs"/>
              <a:sym typeface="+mn-ea"/>
            </a:endParaRPr>
          </a:p>
        </p:txBody>
      </p:sp>
      <p:sp>
        <p:nvSpPr>
          <p:cNvPr id="52228" name="Rectangle 1027"/>
          <p:cNvSpPr>
            <a:spLocks noGrp="1"/>
          </p:cNvSpPr>
          <p:nvPr/>
        </p:nvSpPr>
        <p:spPr>
          <a:xfrm>
            <a:off x="1659890" y="1057275"/>
            <a:ext cx="8229600" cy="48768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u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l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SzPct val="85000"/>
              <a:buFont typeface="Wingdings" panose="05000000000000000000" pitchFamily="2" charset="2"/>
              <a:buChar char="Ø"/>
              <a:defRPr kumimoji="1"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SzPct val="85000"/>
              <a:buFont typeface="Symbol" panose="05050102010706020507" pitchFamily="18" charset="2"/>
              <a:buChar char="ª"/>
              <a:defRPr kumimoji="1"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zh-CN" altLang="sv-SE" sz="2000" b="0" dirty="0">
                <a:latin typeface="Times New Roman" panose="02020603050405020304" pitchFamily="18" charset="0"/>
              </a:rPr>
              <a:t>选择命令 </a:t>
            </a:r>
            <a:r>
              <a:rPr lang="sv-SE" altLang="zh-CN" sz="2000" b="0" dirty="0">
                <a:latin typeface="Times New Roman" panose="02020603050405020304" pitchFamily="18" charset="0"/>
              </a:rPr>
              <a:t>Edit</a:t>
            </a:r>
            <a:r>
              <a:rPr lang="sv-SE" altLang="zh-CN" sz="2000" b="0" dirty="0">
                <a:latin typeface="Times New Roman" panose="02020603050405020304" pitchFamily="18" charset="0"/>
                <a:sym typeface="Symbol" panose="05050102010706020507" pitchFamily="18" charset="2"/>
              </a:rPr>
              <a:t></a:t>
            </a:r>
            <a:r>
              <a:rPr lang="sv-SE" altLang="zh-CN" sz="2000" b="0" dirty="0">
                <a:latin typeface="Times New Roman" panose="02020603050405020304" pitchFamily="18" charset="0"/>
              </a:rPr>
              <a:t>End Time               </a:t>
            </a:r>
            <a:r>
              <a:rPr lang="zh-CN" altLang="sv-SE" sz="2000" b="0" dirty="0">
                <a:latin typeface="Times New Roman" panose="02020603050405020304" pitchFamily="18" charset="0"/>
              </a:rPr>
              <a:t>在对话框中操作</a:t>
            </a:r>
            <a:r>
              <a:rPr lang="zh-CN" altLang="en-US" sz="2000" b="0" dirty="0"/>
              <a:t> </a:t>
            </a:r>
            <a:br>
              <a:rPr lang="zh-CN" altLang="en-US" sz="2000" b="0" dirty="0"/>
            </a:br>
            <a:r>
              <a:rPr lang="zh-CN" altLang="en-US" sz="2000" b="0" dirty="0"/>
              <a:t>（本例为</a:t>
            </a:r>
            <a:r>
              <a:rPr lang="en-US" altLang="zh-CN" sz="2000" b="0" dirty="0"/>
              <a:t>300 ns</a:t>
            </a:r>
            <a:r>
              <a:rPr lang="zh-CN" altLang="en-US" sz="2000" b="0" dirty="0"/>
              <a:t>）  </a:t>
            </a:r>
            <a:endParaRPr lang="zh-CN" altLang="en-US" sz="2000" b="0" dirty="0"/>
          </a:p>
        </p:txBody>
      </p:sp>
      <p:pic>
        <p:nvPicPr>
          <p:cNvPr id="9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71725" y="1897380"/>
            <a:ext cx="4595495" cy="4471035"/>
          </a:xfrm>
          <a:prstGeom prst="rect">
            <a:avLst/>
          </a:prstGeom>
          <a:noFill/>
          <a:ln>
            <a:noFill/>
          </a:ln>
        </p:spPr>
      </p:pic>
      <p:sp>
        <p:nvSpPr>
          <p:cNvPr id="47115" name="AutoShape 13"/>
          <p:cNvSpPr/>
          <p:nvPr/>
        </p:nvSpPr>
        <p:spPr>
          <a:xfrm>
            <a:off x="4940935" y="1186815"/>
            <a:ext cx="604520" cy="214630"/>
          </a:xfrm>
          <a:prstGeom prst="rightArrow">
            <a:avLst>
              <a:gd name="adj1" fmla="val 50000"/>
              <a:gd name="adj2" fmla="val 66666"/>
            </a:avLst>
          </a:prstGeom>
          <a:solidFill>
            <a:schemeClr val="accent1"/>
          </a:solidFill>
          <a:ln w="9525" cap="flat" cmpd="sng">
            <a:solidFill>
              <a:schemeClr val="accent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>
              <a:spcBef>
                <a:spcPct val="50000"/>
              </a:spcBef>
            </a:pPr>
            <a:endParaRPr lang="zh-CN" altLang="en-US" dirty="0">
              <a:latin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圆角矩形 9"/>
          <p:cNvSpPr/>
          <p:nvPr/>
        </p:nvSpPr>
        <p:spPr>
          <a:xfrm>
            <a:off x="46991" y="55881"/>
            <a:ext cx="1612991" cy="472997"/>
          </a:xfrm>
          <a:prstGeom prst="roundRect">
            <a:avLst/>
          </a:prstGeom>
          <a:solidFill>
            <a:srgbClr val="59BBD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sz="2600" b="1" dirty="0">
                <a:solidFill>
                  <a:schemeClr val="bg1"/>
                </a:solidFill>
              </a:rPr>
              <a:t>第一题</a:t>
            </a:r>
            <a:endParaRPr lang="zh-CN" sz="2600" b="1" dirty="0">
              <a:solidFill>
                <a:schemeClr val="bg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94995" y="658495"/>
            <a:ext cx="60960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eaLnBrk="1" hangingPunct="1"/>
            <a:r>
              <a:rPr lang="zh-CN" altLang="sv-SE" sz="2000" b="1" dirty="0">
                <a:sym typeface="+mn-ea"/>
              </a:rPr>
              <a:t>引入欲观察的结点（信号）名</a:t>
            </a:r>
            <a:endParaRPr kumimoji="1" lang="zh-CN" altLang="en-US" sz="2000" b="1" dirty="0">
              <a:latin typeface="+mj-lt"/>
              <a:ea typeface="+mj-ea"/>
              <a:cs typeface="+mj-cs"/>
              <a:sym typeface="+mn-ea"/>
            </a:endParaRPr>
          </a:p>
        </p:txBody>
      </p:sp>
      <p:sp>
        <p:nvSpPr>
          <p:cNvPr id="53252" name="Rectangle 3"/>
          <p:cNvSpPr>
            <a:spLocks noGrp="1"/>
          </p:cNvSpPr>
          <p:nvPr/>
        </p:nvSpPr>
        <p:spPr>
          <a:xfrm>
            <a:off x="1226185" y="990600"/>
            <a:ext cx="8229600" cy="54864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u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l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SzPct val="85000"/>
              <a:buFont typeface="Wingdings" panose="05000000000000000000" pitchFamily="2" charset="2"/>
              <a:buChar char="Ø"/>
              <a:defRPr kumimoji="1"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SzPct val="85000"/>
              <a:buFont typeface="Symbol" panose="05050102010706020507" pitchFamily="18" charset="2"/>
              <a:buChar char="ª"/>
              <a:defRPr kumimoji="1"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zh-CN" altLang="sv-SE" sz="2000" b="0" dirty="0">
                <a:latin typeface="宋体" panose="02010600030101010101" pitchFamily="2" charset="-122"/>
                <a:ea typeface="宋体" panose="02010600030101010101" pitchFamily="2" charset="-122"/>
              </a:rPr>
              <a:t>选择命令</a:t>
            </a:r>
            <a:r>
              <a:rPr lang="sv-SE" altLang="zh-CN" sz="2000" b="0" dirty="0">
                <a:cs typeface="Arial" panose="020B0604020202020204" pitchFamily="34" charset="0"/>
              </a:rPr>
              <a:t>Edit</a:t>
            </a:r>
            <a:r>
              <a:rPr lang="sv-SE" altLang="zh-CN" sz="2000" b="0" dirty="0">
                <a:ea typeface="宋体" panose="02010600030101010101" pitchFamily="2" charset="-122"/>
                <a:sym typeface="Symbol" panose="05050102010706020507" pitchFamily="18" charset="2"/>
              </a:rPr>
              <a:t></a:t>
            </a:r>
            <a:r>
              <a:rPr lang="sv-SE" altLang="zh-CN" sz="2000" b="0" dirty="0">
                <a:latin typeface="Times New Roman" panose="02020603050405020304" pitchFamily="18" charset="0"/>
                <a:ea typeface="CMSY10" charset="-122"/>
              </a:rPr>
              <a:t> </a:t>
            </a:r>
            <a:r>
              <a:rPr lang="sv-SE" altLang="zh-CN" sz="2000" b="0" dirty="0">
                <a:cs typeface="Arial" panose="020B0604020202020204" pitchFamily="34" charset="0"/>
              </a:rPr>
              <a:t>Insert Node or Bus</a:t>
            </a:r>
            <a:endParaRPr lang="sv-SE" altLang="zh-CN" sz="2000" b="0" dirty="0">
              <a:cs typeface="Arial" panose="020B0604020202020204" pitchFamily="34" charset="0"/>
            </a:endParaRPr>
          </a:p>
          <a:p>
            <a:pPr lvl="1" eaLnBrk="1" hangingPunct="1"/>
            <a:r>
              <a:rPr lang="zh-CN" altLang="sv-SE" sz="2000" b="0" dirty="0">
                <a:latin typeface="Times New Roman" panose="02020603050405020304" pitchFamily="18" charset="0"/>
              </a:rPr>
              <a:t>或直接键入结点名；或点击</a:t>
            </a:r>
            <a:r>
              <a:rPr lang="en-US" altLang="zh-CN" sz="2000" b="0" dirty="0">
                <a:latin typeface="Times New Roman" panose="02020603050405020304" pitchFamily="18" charset="0"/>
              </a:rPr>
              <a:t>Node Finder</a:t>
            </a:r>
            <a:r>
              <a:rPr lang="en-US" altLang="zh-CN" sz="2000" b="0" dirty="0"/>
              <a:t> </a:t>
            </a:r>
            <a:r>
              <a:rPr lang="zh-CN" altLang="en-US" sz="2000" b="0" dirty="0"/>
              <a:t>搜索</a:t>
            </a:r>
            <a:r>
              <a:rPr lang="zh-CN" altLang="sv-SE" sz="2000" b="0" dirty="0">
                <a:latin typeface="Times New Roman" panose="02020603050405020304" pitchFamily="18" charset="0"/>
              </a:rPr>
              <a:t>结点名</a:t>
            </a:r>
            <a:br>
              <a:rPr lang="zh-CN" altLang="en-US" sz="2000" b="0" dirty="0"/>
            </a:br>
            <a:endParaRPr lang="zh-CN" altLang="en-US" sz="2000" b="0" dirty="0"/>
          </a:p>
          <a:p>
            <a:pPr eaLnBrk="1" hangingPunct="1"/>
            <a:endParaRPr lang="zh-CN" altLang="en-US" sz="2000" b="0" dirty="0"/>
          </a:p>
          <a:p>
            <a:pPr eaLnBrk="1" hangingPunct="1"/>
            <a:endParaRPr lang="zh-CN" altLang="en-US" sz="2000" b="0" dirty="0"/>
          </a:p>
          <a:p>
            <a:pPr eaLnBrk="1" hangingPunct="1"/>
            <a:endParaRPr lang="zh-CN" altLang="en-US" sz="2000" b="0" dirty="0"/>
          </a:p>
          <a:p>
            <a:pPr eaLnBrk="1" hangingPunct="1"/>
            <a:endParaRPr lang="zh-CN" altLang="en-US" sz="2000" b="0" dirty="0"/>
          </a:p>
          <a:p>
            <a:pPr eaLnBrk="1" hangingPunct="1"/>
            <a:endParaRPr lang="zh-CN" altLang="en-US" sz="2000" b="0" dirty="0"/>
          </a:p>
          <a:p>
            <a:pPr eaLnBrk="1" hangingPunct="1"/>
            <a:endParaRPr lang="zh-CN" altLang="en-US" sz="2000" b="0" dirty="0"/>
          </a:p>
          <a:p>
            <a:pPr eaLnBrk="1" hangingPunct="1"/>
            <a:endParaRPr lang="zh-CN" altLang="en-US" sz="2000" b="0" dirty="0"/>
          </a:p>
          <a:p>
            <a:pPr eaLnBrk="1" hangingPunct="1"/>
            <a:endParaRPr lang="zh-CN" altLang="en-US" sz="2000" b="0" dirty="0"/>
          </a:p>
          <a:p>
            <a:pPr eaLnBrk="1" hangingPunct="1"/>
            <a:endParaRPr lang="zh-CN" altLang="en-US" sz="2000" b="0" dirty="0"/>
          </a:p>
          <a:p>
            <a:pPr eaLnBrk="1" hangingPunct="1"/>
            <a:endParaRPr lang="zh-CN" altLang="en-US" sz="2000" b="0" dirty="0"/>
          </a:p>
          <a:p>
            <a:pPr eaLnBrk="1" hangingPunct="1"/>
            <a:r>
              <a:rPr lang="zh-CN" altLang="en-US" sz="2000" b="0" dirty="0"/>
              <a:t>出现</a:t>
            </a:r>
            <a:r>
              <a:rPr lang="zh-CN" altLang="sv-SE" sz="2000" b="0" dirty="0"/>
              <a:t>结点查找器窗口</a:t>
            </a:r>
            <a:endParaRPr lang="zh-CN" altLang="sv-SE" sz="2000" b="0" dirty="0"/>
          </a:p>
        </p:txBody>
      </p:sp>
      <p:graphicFrame>
        <p:nvGraphicFramePr>
          <p:cNvPr id="53255" name="Object 8"/>
          <p:cNvGraphicFramePr>
            <a:graphicFrameLocks noChangeAspect="1"/>
          </p:cNvGraphicFramePr>
          <p:nvPr/>
        </p:nvGraphicFramePr>
        <p:xfrm>
          <a:off x="1659890" y="1903413"/>
          <a:ext cx="8194675" cy="3227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6" name="" r:id="rId1" imgW="4998720" imgH="2080260" progId="Word.Picture.8">
                  <p:embed/>
                </p:oleObj>
              </mc:Choice>
              <mc:Fallback>
                <p:oleObj name="" r:id="rId1" imgW="4998720" imgH="2080260" progId="Word.Picture.8">
                  <p:embed/>
                  <p:pic>
                    <p:nvPicPr>
                      <p:cNvPr id="0" name="图片 309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659890" y="1903413"/>
                        <a:ext cx="8194675" cy="32273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圆角矩形 9"/>
          <p:cNvSpPr/>
          <p:nvPr/>
        </p:nvSpPr>
        <p:spPr>
          <a:xfrm>
            <a:off x="46991" y="55881"/>
            <a:ext cx="1612991" cy="472997"/>
          </a:xfrm>
          <a:prstGeom prst="roundRect">
            <a:avLst/>
          </a:prstGeom>
          <a:solidFill>
            <a:srgbClr val="59BBD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sz="2600" b="1" dirty="0">
                <a:solidFill>
                  <a:schemeClr val="bg1"/>
                </a:solidFill>
              </a:rPr>
              <a:t>第一题</a:t>
            </a:r>
            <a:endParaRPr lang="zh-CN" sz="2600" b="1" dirty="0">
              <a:solidFill>
                <a:schemeClr val="bg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94995" y="658495"/>
            <a:ext cx="60960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sv-SE" sz="2000" b="1" dirty="0">
                <a:sym typeface="+mn-ea"/>
              </a:rPr>
              <a:t>在结点查找器窗口中查找结点</a:t>
            </a:r>
            <a:endParaRPr kumimoji="1" lang="zh-CN" altLang="en-US" sz="2000" b="1" dirty="0">
              <a:latin typeface="+mj-lt"/>
              <a:ea typeface="+mj-ea"/>
              <a:cs typeface="+mj-cs"/>
              <a:sym typeface="+mn-ea"/>
            </a:endParaRPr>
          </a:p>
        </p:txBody>
      </p:sp>
      <p:pic>
        <p:nvPicPr>
          <p:cNvPr id="4" name="图片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16785" y="1346835"/>
            <a:ext cx="7103745" cy="462089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文本框 4"/>
          <p:cNvSpPr txBox="1"/>
          <p:nvPr/>
        </p:nvSpPr>
        <p:spPr>
          <a:xfrm>
            <a:off x="4220210" y="948690"/>
            <a:ext cx="1409700" cy="289560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/>
          <a:p>
            <a:r>
              <a:rPr lang="zh-CN" altLang="en-US" sz="1000"/>
              <a:t>（1）选择Pins: all</a:t>
            </a:r>
            <a:endParaRPr lang="zh-CN" altLang="en-US" sz="1000"/>
          </a:p>
          <a:p>
            <a:endParaRPr lang="zh-CN" altLang="en-US" sz="1000"/>
          </a:p>
        </p:txBody>
      </p:sp>
      <p:sp>
        <p:nvSpPr>
          <p:cNvPr id="6" name="直接连接符 5"/>
          <p:cNvSpPr/>
          <p:nvPr/>
        </p:nvSpPr>
        <p:spPr>
          <a:xfrm rot="21300000">
            <a:off x="4952365" y="1242378"/>
            <a:ext cx="114300" cy="495300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headEnd type="none" w="med" len="med"/>
            <a:tailEnd type="stealth" w="med" len="med"/>
          </a:ln>
        </p:spPr>
      </p:sp>
      <p:sp>
        <p:nvSpPr>
          <p:cNvPr id="1073742862" name="文本框 1073742861"/>
          <p:cNvSpPr txBox="1"/>
          <p:nvPr/>
        </p:nvSpPr>
        <p:spPr>
          <a:xfrm>
            <a:off x="8046085" y="948373"/>
            <a:ext cx="1036320" cy="297180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/>
          <a:p>
            <a:r>
              <a:rPr lang="zh-CN" altLang="en-US" sz="1000"/>
              <a:t>（4）点击 OK</a:t>
            </a:r>
            <a:endParaRPr lang="zh-CN" altLang="en-US" sz="1000"/>
          </a:p>
          <a:p>
            <a:endParaRPr lang="zh-CN" altLang="en-US" sz="1000"/>
          </a:p>
        </p:txBody>
      </p:sp>
      <p:sp>
        <p:nvSpPr>
          <p:cNvPr id="1073742863" name="直接连接符 1073742862"/>
          <p:cNvSpPr/>
          <p:nvPr/>
        </p:nvSpPr>
        <p:spPr>
          <a:xfrm>
            <a:off x="8764905" y="1237933"/>
            <a:ext cx="132080" cy="495300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headEnd type="none" w="med" len="med"/>
            <a:tailEnd type="stealth" w="med" len="med"/>
          </a:ln>
        </p:spPr>
      </p:sp>
      <p:grpSp>
        <p:nvGrpSpPr>
          <p:cNvPr id="1073742856" name="组合 1073742855"/>
          <p:cNvGrpSpPr/>
          <p:nvPr/>
        </p:nvGrpSpPr>
        <p:grpSpPr>
          <a:xfrm>
            <a:off x="6518910" y="940753"/>
            <a:ext cx="1066800" cy="833755"/>
            <a:chOff x="7740" y="6871"/>
            <a:chExt cx="1260" cy="1313"/>
          </a:xfrm>
        </p:grpSpPr>
        <p:sp>
          <p:nvSpPr>
            <p:cNvPr id="1073742854" name="文本框 1073742853"/>
            <p:cNvSpPr txBox="1"/>
            <p:nvPr/>
          </p:nvSpPr>
          <p:spPr>
            <a:xfrm>
              <a:off x="7740" y="6871"/>
              <a:ext cx="1260" cy="468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/>
            <a:p>
              <a:r>
                <a:rPr lang="zh-CN" altLang="en-US" sz="1000"/>
                <a:t>（2）点击 List</a:t>
              </a:r>
              <a:endParaRPr lang="zh-CN" altLang="en-US" sz="1000"/>
            </a:p>
            <a:p>
              <a:endParaRPr lang="zh-CN" altLang="en-US" sz="1000"/>
            </a:p>
          </p:txBody>
        </p:sp>
        <p:sp>
          <p:nvSpPr>
            <p:cNvPr id="1073742855" name="直接连接符 1073742854"/>
            <p:cNvSpPr/>
            <p:nvPr/>
          </p:nvSpPr>
          <p:spPr>
            <a:xfrm>
              <a:off x="8820" y="7404"/>
              <a:ext cx="180" cy="78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stealth" w="med" len="med"/>
            </a:ln>
          </p:spPr>
        </p:sp>
      </p:grpSp>
      <p:sp>
        <p:nvSpPr>
          <p:cNvPr id="1073742858" name="直接连接符 1073742857"/>
          <p:cNvSpPr/>
          <p:nvPr/>
        </p:nvSpPr>
        <p:spPr>
          <a:xfrm flipH="1" flipV="1">
            <a:off x="3348990" y="3555683"/>
            <a:ext cx="2065020" cy="1245870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headEnd type="none" w="med" len="med"/>
            <a:tailEnd type="stealth" w="med" len="med"/>
          </a:ln>
        </p:spPr>
      </p:sp>
      <p:sp>
        <p:nvSpPr>
          <p:cNvPr id="1073742857" name="文本框 1073742856"/>
          <p:cNvSpPr txBox="1"/>
          <p:nvPr/>
        </p:nvSpPr>
        <p:spPr>
          <a:xfrm>
            <a:off x="4552950" y="4798060"/>
            <a:ext cx="2286000" cy="36258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/>
          <a:p>
            <a:pPr algn="ctr"/>
            <a:r>
              <a:rPr lang="zh-CN" altLang="en-US" sz="1000"/>
              <a:t>（3）从左边方框选择结点，移至右边方框</a:t>
            </a:r>
            <a:endParaRPr lang="zh-CN" altLang="en-US" sz="1000"/>
          </a:p>
          <a:p>
            <a:endParaRPr lang="zh-CN" altLang="en-US" sz="1000"/>
          </a:p>
        </p:txBody>
      </p:sp>
      <p:sp>
        <p:nvSpPr>
          <p:cNvPr id="1073742864" name="直接连接符 1073742863"/>
          <p:cNvSpPr/>
          <p:nvPr/>
        </p:nvSpPr>
        <p:spPr>
          <a:xfrm flipV="1">
            <a:off x="5871210" y="3612833"/>
            <a:ext cx="1943100" cy="1188720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headEnd type="none" w="med" len="med"/>
            <a:tailEnd type="stealth" w="med" len="med"/>
          </a:ln>
        </p:spPr>
      </p:sp>
      <p:sp>
        <p:nvSpPr>
          <p:cNvPr id="1073742866" name="直接连接符 1073742865"/>
          <p:cNvSpPr/>
          <p:nvPr/>
        </p:nvSpPr>
        <p:spPr>
          <a:xfrm flipH="1">
            <a:off x="5414010" y="3943668"/>
            <a:ext cx="647700" cy="323850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headEnd type="none" w="med" len="med"/>
            <a:tailEnd type="stealth" w="med" len="med"/>
          </a:ln>
        </p:spPr>
      </p:sp>
      <p:sp>
        <p:nvSpPr>
          <p:cNvPr id="1073742865" name="文本框 1073742864"/>
          <p:cNvSpPr txBox="1"/>
          <p:nvPr/>
        </p:nvSpPr>
        <p:spPr>
          <a:xfrm>
            <a:off x="5741670" y="3725545"/>
            <a:ext cx="850900" cy="297180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/>
          <a:p>
            <a:pPr algn="ctr"/>
            <a:r>
              <a:rPr lang="zh-CN" altLang="en-US" sz="1000"/>
              <a:t>从右向左移</a:t>
            </a:r>
            <a:endParaRPr lang="zh-CN" altLang="en-US" sz="1000"/>
          </a:p>
          <a:p>
            <a:endParaRPr lang="zh-CN" altLang="en-US" sz="1000"/>
          </a:p>
        </p:txBody>
      </p:sp>
      <p:sp>
        <p:nvSpPr>
          <p:cNvPr id="1073742867" name="文本框 1073742866"/>
          <p:cNvSpPr txBox="1"/>
          <p:nvPr/>
        </p:nvSpPr>
        <p:spPr>
          <a:xfrm>
            <a:off x="4107815" y="3428048"/>
            <a:ext cx="822960" cy="297180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/>
          <a:p>
            <a:pPr algn="ctr"/>
            <a:r>
              <a:rPr lang="zh-CN" altLang="en-US" sz="1000"/>
              <a:t>从左向右移</a:t>
            </a:r>
            <a:endParaRPr lang="zh-CN" altLang="en-US" sz="1000"/>
          </a:p>
          <a:p>
            <a:endParaRPr lang="zh-CN" altLang="en-US" sz="1000"/>
          </a:p>
        </p:txBody>
      </p:sp>
      <p:sp>
        <p:nvSpPr>
          <p:cNvPr id="1073742868" name="直接连接符 1073742867"/>
          <p:cNvSpPr/>
          <p:nvPr/>
        </p:nvSpPr>
        <p:spPr>
          <a:xfrm>
            <a:off x="4926330" y="3629978"/>
            <a:ext cx="304800" cy="95250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headEnd type="none" w="med" len="med"/>
            <a:tailEnd type="stealth" w="med" len="med"/>
          </a:ln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圆角矩形 9"/>
          <p:cNvSpPr/>
          <p:nvPr/>
        </p:nvSpPr>
        <p:spPr>
          <a:xfrm>
            <a:off x="46991" y="55881"/>
            <a:ext cx="1612991" cy="472997"/>
          </a:xfrm>
          <a:prstGeom prst="roundRect">
            <a:avLst/>
          </a:prstGeom>
          <a:solidFill>
            <a:srgbClr val="59BBD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sz="2600" b="1" dirty="0">
                <a:solidFill>
                  <a:schemeClr val="bg1"/>
                </a:solidFill>
              </a:rPr>
              <a:t>第一题</a:t>
            </a:r>
            <a:endParaRPr lang="zh-CN" sz="2600" b="1" dirty="0">
              <a:solidFill>
                <a:schemeClr val="bg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94995" y="658495"/>
            <a:ext cx="60960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000" b="1" dirty="0">
                <a:sym typeface="+mn-ea"/>
              </a:rPr>
              <a:t>结点名引入波形编辑器后的操作</a:t>
            </a:r>
            <a:endParaRPr kumimoji="1" lang="zh-CN" altLang="en-US" sz="2000" b="1" dirty="0">
              <a:latin typeface="+mj-lt"/>
              <a:ea typeface="+mj-ea"/>
              <a:cs typeface="+mj-cs"/>
              <a:sym typeface="+mn-ea"/>
            </a:endParaRPr>
          </a:p>
        </p:txBody>
      </p:sp>
      <p:pic>
        <p:nvPicPr>
          <p:cNvPr id="11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9890" y="1636395"/>
            <a:ext cx="9027795" cy="407035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文本框 2"/>
          <p:cNvSpPr txBox="1"/>
          <p:nvPr/>
        </p:nvSpPr>
        <p:spPr>
          <a:xfrm>
            <a:off x="3882390" y="1186815"/>
            <a:ext cx="2400300" cy="402590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/>
          <a:p>
            <a:r>
              <a:rPr lang="zh-CN" altLang="en-US" sz="1000"/>
              <a:t>（2）在工具条中选择一个值，给信号赋值</a:t>
            </a:r>
            <a:endParaRPr lang="zh-CN" altLang="en-US" sz="1000"/>
          </a:p>
          <a:p>
            <a:endParaRPr lang="zh-CN" altLang="en-US" sz="1000"/>
          </a:p>
        </p:txBody>
      </p:sp>
      <p:sp>
        <p:nvSpPr>
          <p:cNvPr id="4" name="直接连接符 3"/>
          <p:cNvSpPr/>
          <p:nvPr/>
        </p:nvSpPr>
        <p:spPr>
          <a:xfrm flipH="1">
            <a:off x="2204720" y="1518285"/>
            <a:ext cx="2193925" cy="2242185"/>
          </a:xfrm>
          <a:prstGeom prst="line">
            <a:avLst/>
          </a:prstGeom>
          <a:ln>
            <a:headEnd type="none" w="med" len="med"/>
            <a:tailEnd type="stealth" w="med" len="med"/>
          </a:ln>
        </p:spPr>
        <p:style>
          <a:lnRef idx="3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5" name="文本框 4"/>
          <p:cNvSpPr txBox="1"/>
          <p:nvPr/>
        </p:nvSpPr>
        <p:spPr>
          <a:xfrm>
            <a:off x="7478395" y="1167765"/>
            <a:ext cx="1943100" cy="350520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/>
          <a:p>
            <a:r>
              <a:rPr lang="zh-CN" altLang="en-US" sz="1000"/>
              <a:t>（1）拖动鼠标，选择一个时间段</a:t>
            </a:r>
            <a:endParaRPr lang="zh-CN" altLang="en-US" sz="1000"/>
          </a:p>
          <a:p>
            <a:endParaRPr lang="zh-CN" altLang="en-US" sz="1000"/>
          </a:p>
        </p:txBody>
      </p:sp>
      <p:sp>
        <p:nvSpPr>
          <p:cNvPr id="6" name="直接连接符 5"/>
          <p:cNvSpPr/>
          <p:nvPr/>
        </p:nvSpPr>
        <p:spPr>
          <a:xfrm>
            <a:off x="8402955" y="1518920"/>
            <a:ext cx="635" cy="1589405"/>
          </a:xfrm>
          <a:prstGeom prst="line">
            <a:avLst/>
          </a:prstGeom>
          <a:ln>
            <a:headEnd type="none" w="med" len="med"/>
            <a:tailEnd type="stealth" w="med" len="med"/>
          </a:ln>
        </p:spPr>
        <p:style>
          <a:lnRef idx="3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圆角矩形 9"/>
          <p:cNvSpPr/>
          <p:nvPr/>
        </p:nvSpPr>
        <p:spPr>
          <a:xfrm>
            <a:off x="46991" y="55881"/>
            <a:ext cx="1612991" cy="472997"/>
          </a:xfrm>
          <a:prstGeom prst="roundRect">
            <a:avLst/>
          </a:prstGeom>
          <a:solidFill>
            <a:srgbClr val="59BBD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sz="2600" b="1" dirty="0">
                <a:solidFill>
                  <a:schemeClr val="bg1"/>
                </a:solidFill>
              </a:rPr>
              <a:t>第一题</a:t>
            </a:r>
            <a:endParaRPr lang="zh-CN" sz="2600" b="1" dirty="0">
              <a:solidFill>
                <a:schemeClr val="bg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94995" y="658495"/>
            <a:ext cx="60960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eaLnBrk="1" hangingPunct="1"/>
            <a:r>
              <a:rPr lang="en-US" altLang="zh-CN" sz="2000" b="1" dirty="0">
                <a:sym typeface="+mn-ea"/>
              </a:rPr>
              <a:t> </a:t>
            </a:r>
            <a:r>
              <a:rPr lang="zh-CN" altLang="en-US" sz="2000" b="1" dirty="0">
                <a:sym typeface="+mn-ea"/>
              </a:rPr>
              <a:t>形成完整的测试向量</a:t>
            </a:r>
            <a:endParaRPr kumimoji="1" lang="zh-CN" altLang="en-US" sz="2000" b="1" dirty="0">
              <a:latin typeface="+mj-lt"/>
              <a:ea typeface="+mj-ea"/>
              <a:cs typeface="+mj-cs"/>
              <a:sym typeface="+mn-ea"/>
            </a:endParaRPr>
          </a:p>
        </p:txBody>
      </p:sp>
      <p:pic>
        <p:nvPicPr>
          <p:cNvPr id="7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8580" y="1687195"/>
            <a:ext cx="8723630" cy="393319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圆角矩形 7"/>
          <p:cNvSpPr/>
          <p:nvPr>
            <p:custDataLst>
              <p:tags r:id="rId2"/>
            </p:custDataLst>
          </p:nvPr>
        </p:nvSpPr>
        <p:spPr>
          <a:xfrm>
            <a:off x="3939540" y="3014980"/>
            <a:ext cx="1154430" cy="718185"/>
          </a:xfrm>
          <a:prstGeom prst="roundRect">
            <a:avLst/>
          </a:prstGeom>
          <a:ln w="38100"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圆角矩形 13"/>
          <p:cNvSpPr/>
          <p:nvPr>
            <p:custDataLst>
              <p:tags r:id="rId3"/>
            </p:custDataLst>
          </p:nvPr>
        </p:nvSpPr>
        <p:spPr>
          <a:xfrm>
            <a:off x="5093970" y="3014980"/>
            <a:ext cx="1154430" cy="718185"/>
          </a:xfrm>
          <a:prstGeom prst="roundRect">
            <a:avLst/>
          </a:prstGeom>
          <a:ln w="38100"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圆角矩形 14"/>
          <p:cNvSpPr/>
          <p:nvPr>
            <p:custDataLst>
              <p:tags r:id="rId4"/>
            </p:custDataLst>
          </p:nvPr>
        </p:nvSpPr>
        <p:spPr>
          <a:xfrm>
            <a:off x="6248400" y="3014980"/>
            <a:ext cx="1154430" cy="718185"/>
          </a:xfrm>
          <a:prstGeom prst="roundRect">
            <a:avLst/>
          </a:prstGeom>
          <a:ln w="38100"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圆角矩形 15"/>
          <p:cNvSpPr/>
          <p:nvPr>
            <p:custDataLst>
              <p:tags r:id="rId5"/>
            </p:custDataLst>
          </p:nvPr>
        </p:nvSpPr>
        <p:spPr>
          <a:xfrm>
            <a:off x="7402830" y="3014980"/>
            <a:ext cx="1154430" cy="718185"/>
          </a:xfrm>
          <a:prstGeom prst="roundRect">
            <a:avLst/>
          </a:prstGeom>
          <a:ln w="38100"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8" name="直接箭头连接符 17"/>
          <p:cNvCxnSpPr/>
          <p:nvPr>
            <p:custDataLst>
              <p:tags r:id="rId6"/>
            </p:custDataLst>
          </p:nvPr>
        </p:nvCxnSpPr>
        <p:spPr>
          <a:xfrm flipH="1">
            <a:off x="4505960" y="3733165"/>
            <a:ext cx="0" cy="79819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9" name="直接箭头连接符 18"/>
          <p:cNvCxnSpPr/>
          <p:nvPr>
            <p:custDataLst>
              <p:tags r:id="rId7"/>
            </p:custDataLst>
          </p:nvPr>
        </p:nvCxnSpPr>
        <p:spPr>
          <a:xfrm flipH="1">
            <a:off x="5695315" y="3733165"/>
            <a:ext cx="0" cy="79819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0" name="直接箭头连接符 19"/>
          <p:cNvCxnSpPr/>
          <p:nvPr>
            <p:custDataLst>
              <p:tags r:id="rId8"/>
            </p:custDataLst>
          </p:nvPr>
        </p:nvCxnSpPr>
        <p:spPr>
          <a:xfrm flipH="1">
            <a:off x="6819900" y="3733165"/>
            <a:ext cx="0" cy="79819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1" name="直接箭头连接符 20"/>
          <p:cNvCxnSpPr/>
          <p:nvPr>
            <p:custDataLst>
              <p:tags r:id="rId9"/>
            </p:custDataLst>
          </p:nvPr>
        </p:nvCxnSpPr>
        <p:spPr>
          <a:xfrm flipH="1">
            <a:off x="7974965" y="3733165"/>
            <a:ext cx="0" cy="79819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2" name="文本框 21"/>
          <p:cNvSpPr txBox="1"/>
          <p:nvPr>
            <p:custDataLst>
              <p:tags r:id="rId10"/>
            </p:custDataLst>
          </p:nvPr>
        </p:nvSpPr>
        <p:spPr>
          <a:xfrm>
            <a:off x="4214495" y="4603750"/>
            <a:ext cx="77660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x=0</a:t>
            </a:r>
            <a:endParaRPr lang="en-US" altLang="zh-CN"/>
          </a:p>
          <a:p>
            <a:r>
              <a:rPr lang="en-US" altLang="zh-CN"/>
              <a:t>y=0</a:t>
            </a:r>
            <a:endParaRPr lang="en-US" altLang="zh-CN"/>
          </a:p>
        </p:txBody>
      </p:sp>
      <p:sp>
        <p:nvSpPr>
          <p:cNvPr id="23" name="文本框 22"/>
          <p:cNvSpPr txBox="1"/>
          <p:nvPr>
            <p:custDataLst>
              <p:tags r:id="rId11"/>
            </p:custDataLst>
          </p:nvPr>
        </p:nvSpPr>
        <p:spPr>
          <a:xfrm>
            <a:off x="5276215" y="4603750"/>
            <a:ext cx="77660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x=1</a:t>
            </a:r>
            <a:endParaRPr lang="en-US" altLang="zh-CN"/>
          </a:p>
          <a:p>
            <a:r>
              <a:rPr lang="en-US" altLang="zh-CN"/>
              <a:t>y=0</a:t>
            </a:r>
            <a:endParaRPr lang="en-US" altLang="zh-CN"/>
          </a:p>
        </p:txBody>
      </p:sp>
      <p:sp>
        <p:nvSpPr>
          <p:cNvPr id="25" name="文本框 24"/>
          <p:cNvSpPr txBox="1"/>
          <p:nvPr>
            <p:custDataLst>
              <p:tags r:id="rId12"/>
            </p:custDataLst>
          </p:nvPr>
        </p:nvSpPr>
        <p:spPr>
          <a:xfrm>
            <a:off x="6431280" y="4603750"/>
            <a:ext cx="77660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x=0</a:t>
            </a:r>
            <a:endParaRPr lang="en-US" altLang="zh-CN"/>
          </a:p>
          <a:p>
            <a:r>
              <a:rPr lang="en-US" altLang="zh-CN"/>
              <a:t>y=1</a:t>
            </a:r>
            <a:endParaRPr lang="en-US" altLang="zh-CN"/>
          </a:p>
        </p:txBody>
      </p:sp>
      <p:sp>
        <p:nvSpPr>
          <p:cNvPr id="26" name="文本框 25"/>
          <p:cNvSpPr txBox="1"/>
          <p:nvPr>
            <p:custDataLst>
              <p:tags r:id="rId13"/>
            </p:custDataLst>
          </p:nvPr>
        </p:nvSpPr>
        <p:spPr>
          <a:xfrm>
            <a:off x="7586345" y="4603750"/>
            <a:ext cx="77660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x=1</a:t>
            </a:r>
            <a:endParaRPr lang="en-US" altLang="zh-CN"/>
          </a:p>
          <a:p>
            <a:r>
              <a:rPr lang="en-US" altLang="zh-CN"/>
              <a:t>y=1</a:t>
            </a:r>
            <a:endParaRPr lang="en-US" altLang="zh-CN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圆角矩形 9"/>
          <p:cNvSpPr/>
          <p:nvPr/>
        </p:nvSpPr>
        <p:spPr>
          <a:xfrm>
            <a:off x="46991" y="55881"/>
            <a:ext cx="1612991" cy="472997"/>
          </a:xfrm>
          <a:prstGeom prst="roundRect">
            <a:avLst/>
          </a:prstGeom>
          <a:solidFill>
            <a:srgbClr val="59BBD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sz="2600" b="1" dirty="0">
                <a:solidFill>
                  <a:schemeClr val="bg1"/>
                </a:solidFill>
              </a:rPr>
              <a:t>第一题</a:t>
            </a:r>
            <a:endParaRPr lang="zh-CN" sz="2600" b="1" dirty="0">
              <a:solidFill>
                <a:schemeClr val="bg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44195" y="658495"/>
            <a:ext cx="609600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eaLnBrk="1" hangingPunct="1"/>
            <a:r>
              <a:rPr lang="zh-CN" altLang="en-US" sz="2000" b="1" dirty="0">
                <a:sym typeface="+mn-ea"/>
              </a:rPr>
              <a:t>执行模拟</a:t>
            </a:r>
            <a:r>
              <a:rPr lang="zh-CN" altLang="en-US" sz="2000" b="1" dirty="0">
                <a:sym typeface="+mn-ea"/>
              </a:rPr>
              <a:t>（本例为功能模拟）</a:t>
            </a:r>
            <a:endParaRPr lang="zh-CN" altLang="en-US" sz="2000" b="1" dirty="0"/>
          </a:p>
          <a:p>
            <a:pPr eaLnBrk="1" hangingPunct="1"/>
            <a:endParaRPr kumimoji="1" lang="zh-CN" altLang="en-US" sz="2000" b="1" dirty="0">
              <a:latin typeface="+mj-lt"/>
              <a:ea typeface="+mj-ea"/>
              <a:cs typeface="+mj-cs"/>
              <a:sym typeface="+mn-ea"/>
            </a:endParaRPr>
          </a:p>
        </p:txBody>
      </p:sp>
      <p:sp>
        <p:nvSpPr>
          <p:cNvPr id="57348" name="Rectangle 3"/>
          <p:cNvSpPr>
            <a:spLocks noGrp="1"/>
          </p:cNvSpPr>
          <p:nvPr/>
        </p:nvSpPr>
        <p:spPr>
          <a:xfrm>
            <a:off x="1327785" y="963613"/>
            <a:ext cx="8229600" cy="5132387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u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l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SzPct val="85000"/>
              <a:buFont typeface="Wingdings" panose="05000000000000000000" pitchFamily="2" charset="2"/>
              <a:buChar char="Ø"/>
              <a:defRPr kumimoji="1"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SzPct val="85000"/>
              <a:buFont typeface="Symbol" panose="05050102010706020507" pitchFamily="18" charset="2"/>
              <a:buChar char="ª"/>
              <a:defRPr kumimoji="1"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zh-CN" altLang="sv-SE" sz="2000" b="0" dirty="0">
                <a:latin typeface="宋体" panose="02010600030101010101" pitchFamily="2" charset="-122"/>
                <a:ea typeface="宋体" panose="02010600030101010101" pitchFamily="2" charset="-122"/>
              </a:rPr>
              <a:t>使用命令</a:t>
            </a:r>
            <a:r>
              <a:rPr lang="sv-SE" altLang="zh-CN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Processing</a:t>
            </a:r>
            <a:r>
              <a:rPr lang="en-US" altLang="zh-CN" sz="2000" b="0" dirty="0">
                <a:latin typeface="宋体" panose="02010600030101010101" pitchFamily="2" charset="-122"/>
                <a:ea typeface="宋体" panose="02010600030101010101" pitchFamily="2" charset="-122"/>
              </a:rPr>
              <a:t>︱</a:t>
            </a:r>
            <a:r>
              <a:rPr lang="sv-SE" altLang="zh-CN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Simulator Tool</a:t>
            </a:r>
            <a:r>
              <a:rPr lang="en-US" altLang="zh-CN" sz="2000" b="0" dirty="0"/>
              <a:t> </a:t>
            </a:r>
            <a:r>
              <a:rPr lang="zh-CN" altLang="en-US" sz="2000" b="0" dirty="0"/>
              <a:t>，出现模拟器窗口：</a:t>
            </a:r>
            <a:endParaRPr lang="zh-CN" altLang="en-US" sz="2000" b="0" dirty="0"/>
          </a:p>
          <a:p>
            <a:pPr eaLnBrk="1" hangingPunct="1"/>
            <a:endParaRPr lang="zh-CN" altLang="en-US" sz="2000" b="0" dirty="0"/>
          </a:p>
          <a:p>
            <a:pPr eaLnBrk="1" hangingPunct="1">
              <a:buNone/>
            </a:pPr>
            <a:endParaRPr lang="zh-CN" altLang="en-US" sz="2000" b="0" dirty="0"/>
          </a:p>
          <a:p>
            <a:pPr eaLnBrk="1" hangingPunct="1"/>
            <a:endParaRPr lang="zh-CN" altLang="en-US" sz="2000" b="0" dirty="0"/>
          </a:p>
          <a:p>
            <a:pPr eaLnBrk="1" hangingPunct="1"/>
            <a:endParaRPr lang="zh-CN" altLang="en-US" sz="2000" b="0" dirty="0"/>
          </a:p>
          <a:p>
            <a:pPr eaLnBrk="1" hangingPunct="1"/>
            <a:endParaRPr lang="zh-CN" altLang="en-US" sz="2000" b="0" dirty="0"/>
          </a:p>
          <a:p>
            <a:pPr eaLnBrk="1" hangingPunct="1"/>
            <a:endParaRPr lang="zh-CN" altLang="en-US" sz="2000" b="0" dirty="0"/>
          </a:p>
          <a:p>
            <a:pPr eaLnBrk="1" hangingPunct="1"/>
            <a:endParaRPr lang="zh-CN" altLang="en-US" sz="2000" b="0" dirty="0"/>
          </a:p>
          <a:p>
            <a:pPr eaLnBrk="1" hangingPunct="1"/>
            <a:endParaRPr lang="zh-CN" altLang="en-US" sz="2000" b="0" dirty="0"/>
          </a:p>
          <a:p>
            <a:pPr eaLnBrk="1" hangingPunct="1"/>
            <a:endParaRPr lang="zh-CN" altLang="en-US" sz="2000" b="0" dirty="0"/>
          </a:p>
        </p:txBody>
      </p:sp>
      <p:graphicFrame>
        <p:nvGraphicFramePr>
          <p:cNvPr id="57349" name="Object 5"/>
          <p:cNvGraphicFramePr>
            <a:graphicFrameLocks noChangeAspect="1"/>
          </p:cNvGraphicFramePr>
          <p:nvPr/>
        </p:nvGraphicFramePr>
        <p:xfrm>
          <a:off x="2907665" y="1295400"/>
          <a:ext cx="4460875" cy="49028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0" name="" r:id="rId1" imgW="4107180" imgH="4838700" progId="Word.Picture.8">
                  <p:embed/>
                </p:oleObj>
              </mc:Choice>
              <mc:Fallback>
                <p:oleObj name="" r:id="rId1" imgW="4107180" imgH="4838700" progId="Word.Picture.8">
                  <p:embed/>
                  <p:pic>
                    <p:nvPicPr>
                      <p:cNvPr id="0" name="图片 3099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907665" y="1295400"/>
                        <a:ext cx="4460875" cy="490283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圆角矩形 9"/>
          <p:cNvSpPr/>
          <p:nvPr/>
        </p:nvSpPr>
        <p:spPr>
          <a:xfrm>
            <a:off x="46991" y="55881"/>
            <a:ext cx="1612991" cy="472997"/>
          </a:xfrm>
          <a:prstGeom prst="roundRect">
            <a:avLst/>
          </a:prstGeom>
          <a:solidFill>
            <a:srgbClr val="59BBD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sz="2600" b="1" dirty="0">
                <a:solidFill>
                  <a:schemeClr val="bg1"/>
                </a:solidFill>
              </a:rPr>
              <a:t>第一题</a:t>
            </a:r>
            <a:endParaRPr lang="zh-CN" sz="2600" b="1" dirty="0">
              <a:solidFill>
                <a:schemeClr val="bg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94995" y="658495"/>
            <a:ext cx="609600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eaLnBrk="1" hangingPunct="1"/>
            <a:r>
              <a:rPr lang="zh-CN" altLang="en-US" sz="2000" b="1" dirty="0">
                <a:sym typeface="+mn-ea"/>
              </a:rPr>
              <a:t>模拟结果示例（</a:t>
            </a:r>
            <a:r>
              <a:rPr lang="zh-CN" altLang="sv-SE" sz="2000" b="1" dirty="0">
                <a:latin typeface="宋体" panose="02010600030101010101" pitchFamily="2" charset="-122"/>
                <a:sym typeface="+mn-ea"/>
              </a:rPr>
              <a:t>功能模拟</a:t>
            </a:r>
            <a:r>
              <a:rPr lang="zh-CN" altLang="en-US" sz="2000" b="1" dirty="0">
                <a:sym typeface="+mn-ea"/>
              </a:rPr>
              <a:t>）</a:t>
            </a:r>
            <a:endParaRPr lang="zh-CN" altLang="en-US" sz="2000" dirty="0"/>
          </a:p>
          <a:p>
            <a:pPr eaLnBrk="1" hangingPunct="1"/>
            <a:endParaRPr kumimoji="1" lang="zh-CN" altLang="en-US" sz="2000" b="1" dirty="0">
              <a:latin typeface="+mj-lt"/>
              <a:ea typeface="+mj-ea"/>
              <a:cs typeface="+mj-cs"/>
              <a:sym typeface="+mn-ea"/>
            </a:endParaRPr>
          </a:p>
        </p:txBody>
      </p:sp>
      <p:pic>
        <p:nvPicPr>
          <p:cNvPr id="13" name="图片 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9890" y="1663065"/>
            <a:ext cx="7663180" cy="319786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0" name="组合 29"/>
          <p:cNvGrpSpPr/>
          <p:nvPr/>
        </p:nvGrpSpPr>
        <p:grpSpPr>
          <a:xfrm>
            <a:off x="3904615" y="2626360"/>
            <a:ext cx="4617720" cy="3341370"/>
            <a:chOff x="6204" y="4313"/>
            <a:chExt cx="7272" cy="5262"/>
          </a:xfrm>
        </p:grpSpPr>
        <p:sp>
          <p:nvSpPr>
            <p:cNvPr id="3" name="圆角矩形 2"/>
            <p:cNvSpPr/>
            <p:nvPr>
              <p:custDataLst>
                <p:tags r:id="rId2"/>
              </p:custDataLst>
            </p:nvPr>
          </p:nvSpPr>
          <p:spPr>
            <a:xfrm>
              <a:off x="6204" y="4314"/>
              <a:ext cx="1818" cy="1565"/>
            </a:xfrm>
            <a:prstGeom prst="roundRect">
              <a:avLst/>
            </a:prstGeom>
            <a:ln w="38100"/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圆角矩形 3"/>
            <p:cNvSpPr/>
            <p:nvPr>
              <p:custDataLst>
                <p:tags r:id="rId3"/>
              </p:custDataLst>
            </p:nvPr>
          </p:nvSpPr>
          <p:spPr>
            <a:xfrm>
              <a:off x="8022" y="4314"/>
              <a:ext cx="1818" cy="1565"/>
            </a:xfrm>
            <a:prstGeom prst="roundRect">
              <a:avLst/>
            </a:prstGeom>
            <a:ln w="38100"/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" name="圆角矩形 4"/>
            <p:cNvSpPr/>
            <p:nvPr>
              <p:custDataLst>
                <p:tags r:id="rId4"/>
              </p:custDataLst>
            </p:nvPr>
          </p:nvSpPr>
          <p:spPr>
            <a:xfrm>
              <a:off x="9840" y="4313"/>
              <a:ext cx="1818" cy="1566"/>
            </a:xfrm>
            <a:prstGeom prst="roundRect">
              <a:avLst/>
            </a:prstGeom>
            <a:ln w="38100"/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圆角矩形 5"/>
            <p:cNvSpPr/>
            <p:nvPr>
              <p:custDataLst>
                <p:tags r:id="rId5"/>
              </p:custDataLst>
            </p:nvPr>
          </p:nvSpPr>
          <p:spPr>
            <a:xfrm>
              <a:off x="11658" y="4313"/>
              <a:ext cx="1818" cy="1566"/>
            </a:xfrm>
            <a:prstGeom prst="roundRect">
              <a:avLst/>
            </a:prstGeom>
            <a:ln w="38100"/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cxnSp>
          <p:nvCxnSpPr>
            <p:cNvPr id="9" name="直接箭头连接符 8"/>
            <p:cNvCxnSpPr/>
            <p:nvPr>
              <p:custDataLst>
                <p:tags r:id="rId6"/>
              </p:custDataLst>
            </p:nvPr>
          </p:nvCxnSpPr>
          <p:spPr>
            <a:xfrm flipH="1">
              <a:off x="7096" y="5879"/>
              <a:ext cx="0" cy="1257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1" name="直接箭头连接符 10"/>
            <p:cNvCxnSpPr/>
            <p:nvPr>
              <p:custDataLst>
                <p:tags r:id="rId7"/>
              </p:custDataLst>
            </p:nvPr>
          </p:nvCxnSpPr>
          <p:spPr>
            <a:xfrm flipH="1">
              <a:off x="8969" y="5879"/>
              <a:ext cx="0" cy="1257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2" name="直接箭头连接符 11"/>
            <p:cNvCxnSpPr/>
            <p:nvPr>
              <p:custDataLst>
                <p:tags r:id="rId8"/>
              </p:custDataLst>
            </p:nvPr>
          </p:nvCxnSpPr>
          <p:spPr>
            <a:xfrm flipH="1">
              <a:off x="10740" y="5879"/>
              <a:ext cx="0" cy="1257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7" name="直接箭头连接符 16"/>
            <p:cNvCxnSpPr/>
            <p:nvPr>
              <p:custDataLst>
                <p:tags r:id="rId9"/>
              </p:custDataLst>
            </p:nvPr>
          </p:nvCxnSpPr>
          <p:spPr>
            <a:xfrm flipH="1">
              <a:off x="12559" y="5879"/>
              <a:ext cx="0" cy="1257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24" name="文本框 23"/>
            <p:cNvSpPr txBox="1"/>
            <p:nvPr>
              <p:custDataLst>
                <p:tags r:id="rId10"/>
              </p:custDataLst>
            </p:nvPr>
          </p:nvSpPr>
          <p:spPr>
            <a:xfrm>
              <a:off x="6637" y="7250"/>
              <a:ext cx="1223" cy="18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X=0</a:t>
              </a:r>
              <a:endParaRPr lang="en-US" altLang="zh-CN"/>
            </a:p>
            <a:p>
              <a:r>
                <a:rPr lang="en-US" altLang="zh-CN"/>
                <a:t>Y=0</a:t>
              </a:r>
              <a:endParaRPr lang="en-US" altLang="zh-CN"/>
            </a:p>
            <a:p>
              <a:r>
                <a:rPr lang="en-US" altLang="zh-CN"/>
                <a:t>S=0</a:t>
              </a:r>
              <a:endParaRPr lang="en-US" altLang="zh-CN"/>
            </a:p>
            <a:p>
              <a:r>
                <a:rPr lang="en-US" altLang="zh-CN"/>
                <a:t>C=0</a:t>
              </a:r>
              <a:endParaRPr lang="en-US" altLang="zh-CN"/>
            </a:p>
          </p:txBody>
        </p:sp>
        <p:sp>
          <p:nvSpPr>
            <p:cNvPr id="27" name="文本框 26"/>
            <p:cNvSpPr txBox="1"/>
            <p:nvPr>
              <p:custDataLst>
                <p:tags r:id="rId11"/>
              </p:custDataLst>
            </p:nvPr>
          </p:nvSpPr>
          <p:spPr>
            <a:xfrm>
              <a:off x="8309" y="7250"/>
              <a:ext cx="1223" cy="18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X=1</a:t>
              </a:r>
              <a:endParaRPr lang="en-US" altLang="zh-CN"/>
            </a:p>
            <a:p>
              <a:r>
                <a:rPr lang="en-US" altLang="zh-CN"/>
                <a:t>Y=0</a:t>
              </a:r>
              <a:endParaRPr lang="en-US" altLang="zh-CN"/>
            </a:p>
            <a:p>
              <a:r>
                <a:rPr lang="en-US" altLang="zh-CN">
                  <a:sym typeface="+mn-ea"/>
                </a:rPr>
                <a:t>S=1</a:t>
              </a:r>
              <a:endParaRPr lang="en-US" altLang="zh-CN"/>
            </a:p>
            <a:p>
              <a:r>
                <a:rPr lang="en-US" altLang="zh-CN">
                  <a:sym typeface="+mn-ea"/>
                </a:rPr>
                <a:t>C=0</a:t>
              </a:r>
              <a:endParaRPr lang="en-US" altLang="zh-CN"/>
            </a:p>
          </p:txBody>
        </p:sp>
        <p:sp>
          <p:nvSpPr>
            <p:cNvPr id="28" name="文本框 27"/>
            <p:cNvSpPr txBox="1"/>
            <p:nvPr>
              <p:custDataLst>
                <p:tags r:id="rId12"/>
              </p:custDataLst>
            </p:nvPr>
          </p:nvSpPr>
          <p:spPr>
            <a:xfrm>
              <a:off x="10128" y="7250"/>
              <a:ext cx="1223" cy="23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X=0</a:t>
              </a:r>
              <a:endParaRPr lang="en-US" altLang="zh-CN"/>
            </a:p>
            <a:p>
              <a:r>
                <a:rPr lang="en-US" altLang="zh-CN"/>
                <a:t>Y=1</a:t>
              </a:r>
              <a:endParaRPr lang="en-US" altLang="zh-CN"/>
            </a:p>
            <a:p>
              <a:r>
                <a:rPr lang="en-US" altLang="zh-CN">
                  <a:sym typeface="+mn-ea"/>
                </a:rPr>
                <a:t>S=1</a:t>
              </a:r>
              <a:endParaRPr lang="en-US" altLang="zh-CN"/>
            </a:p>
            <a:p>
              <a:r>
                <a:rPr lang="en-US" altLang="zh-CN">
                  <a:sym typeface="+mn-ea"/>
                </a:rPr>
                <a:t>C=0</a:t>
              </a:r>
              <a:endParaRPr lang="en-US" altLang="zh-CN"/>
            </a:p>
            <a:p>
              <a:endParaRPr lang="en-US" altLang="zh-CN"/>
            </a:p>
          </p:txBody>
        </p:sp>
        <p:sp>
          <p:nvSpPr>
            <p:cNvPr id="29" name="文本框 28"/>
            <p:cNvSpPr txBox="1"/>
            <p:nvPr>
              <p:custDataLst>
                <p:tags r:id="rId13"/>
              </p:custDataLst>
            </p:nvPr>
          </p:nvSpPr>
          <p:spPr>
            <a:xfrm>
              <a:off x="11947" y="7250"/>
              <a:ext cx="1223" cy="18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X=1</a:t>
              </a:r>
              <a:endParaRPr lang="en-US" altLang="zh-CN"/>
            </a:p>
            <a:p>
              <a:r>
                <a:rPr lang="en-US" altLang="zh-CN"/>
                <a:t>Y=1</a:t>
              </a:r>
              <a:endParaRPr lang="en-US" altLang="zh-CN"/>
            </a:p>
            <a:p>
              <a:r>
                <a:rPr lang="en-US" altLang="zh-CN"/>
                <a:t>S=0</a:t>
              </a:r>
              <a:endParaRPr lang="en-US" altLang="zh-CN"/>
            </a:p>
            <a:p>
              <a:r>
                <a:rPr lang="en-US" altLang="zh-CN"/>
                <a:t>C=1</a:t>
              </a:r>
              <a:endParaRPr lang="en-US" altLang="zh-CN"/>
            </a:p>
          </p:txBody>
        </p:sp>
      </p:grpSp>
      <p:sp>
        <p:nvSpPr>
          <p:cNvPr id="31" name="文本框 30"/>
          <p:cNvSpPr txBox="1"/>
          <p:nvPr/>
        </p:nvSpPr>
        <p:spPr>
          <a:xfrm>
            <a:off x="1076960" y="1198880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85750" indent="-285750" eaLnBrk="1" hangingPunct="1">
              <a:buFont typeface="Wingdings" panose="05000000000000000000" charset="0"/>
              <a:buChar char="u"/>
            </a:pPr>
            <a:r>
              <a:rPr lang="zh-CN" altLang="sv-SE" dirty="0">
                <a:latin typeface="宋体" panose="02010600030101010101" pitchFamily="2" charset="-122"/>
                <a:sym typeface="+mn-ea"/>
              </a:rPr>
              <a:t>本实例为半加器功能模拟结果</a:t>
            </a:r>
            <a:r>
              <a:rPr lang="zh-CN" altLang="en-US" dirty="0">
                <a:sym typeface="+mn-ea"/>
              </a:rPr>
              <a:t>：</a:t>
            </a:r>
            <a:endParaRPr lang="zh-CN" altLang="en-US" dirty="0">
              <a:sym typeface="+mn-e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圆角矩形 9"/>
          <p:cNvSpPr/>
          <p:nvPr/>
        </p:nvSpPr>
        <p:spPr>
          <a:xfrm>
            <a:off x="46991" y="55881"/>
            <a:ext cx="1612991" cy="472997"/>
          </a:xfrm>
          <a:prstGeom prst="roundRect">
            <a:avLst/>
          </a:prstGeom>
          <a:solidFill>
            <a:srgbClr val="59BBD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sz="2600" b="1" dirty="0">
                <a:solidFill>
                  <a:schemeClr val="bg1"/>
                </a:solidFill>
              </a:rPr>
              <a:t>第一题</a:t>
            </a:r>
            <a:endParaRPr lang="zh-CN" sz="2600" b="1" dirty="0">
              <a:solidFill>
                <a:schemeClr val="bg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94995" y="658495"/>
            <a:ext cx="60960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eaLnBrk="1" hangingPunct="1"/>
            <a:r>
              <a:rPr lang="zh-CN" altLang="en-US" sz="2000" b="1" dirty="0">
                <a:sym typeface="+mn-ea"/>
              </a:rPr>
              <a:t>执行模拟（本例为时序模拟）</a:t>
            </a:r>
            <a:endParaRPr kumimoji="1" lang="zh-CN" altLang="en-US" sz="2000" b="1" dirty="0">
              <a:latin typeface="+mj-lt"/>
              <a:ea typeface="+mj-ea"/>
              <a:cs typeface="+mj-cs"/>
              <a:sym typeface="+mn-ea"/>
            </a:endParaRPr>
          </a:p>
        </p:txBody>
      </p:sp>
      <p:graphicFrame>
        <p:nvGraphicFramePr>
          <p:cNvPr id="59397" name="Object 5"/>
          <p:cNvGraphicFramePr>
            <a:graphicFrameLocks noChangeAspect="1"/>
          </p:cNvGraphicFramePr>
          <p:nvPr/>
        </p:nvGraphicFramePr>
        <p:xfrm>
          <a:off x="1422400" y="1057275"/>
          <a:ext cx="7467600" cy="5440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9" name="" r:id="rId1" imgW="5852160" imgH="4495800" progId="Word.Picture.8">
                  <p:embed/>
                </p:oleObj>
              </mc:Choice>
              <mc:Fallback>
                <p:oleObj name="" r:id="rId1" imgW="5852160" imgH="4495800" progId="Word.Picture.8">
                  <p:embed/>
                  <p:pic>
                    <p:nvPicPr>
                      <p:cNvPr id="0" name="图片 309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422400" y="1057275"/>
                        <a:ext cx="7467600" cy="54403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圆角矩形 9"/>
          <p:cNvSpPr/>
          <p:nvPr/>
        </p:nvSpPr>
        <p:spPr>
          <a:xfrm>
            <a:off x="46991" y="55881"/>
            <a:ext cx="1612991" cy="472997"/>
          </a:xfrm>
          <a:prstGeom prst="roundRect">
            <a:avLst/>
          </a:prstGeom>
          <a:solidFill>
            <a:srgbClr val="59BBD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sz="2600" b="1" dirty="0">
                <a:solidFill>
                  <a:schemeClr val="bg1"/>
                </a:solidFill>
              </a:rPr>
              <a:t>第一题</a:t>
            </a:r>
            <a:endParaRPr lang="zh-CN" sz="2600" b="1" dirty="0">
              <a:solidFill>
                <a:schemeClr val="bg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94995" y="658495"/>
            <a:ext cx="60960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eaLnBrk="1" hangingPunct="1"/>
            <a:r>
              <a:rPr lang="zh-CN" altLang="en-US" sz="2000" b="1" dirty="0">
                <a:sym typeface="+mn-ea"/>
              </a:rPr>
              <a:t>模拟结果示例（</a:t>
            </a:r>
            <a:r>
              <a:rPr lang="zh-CN" altLang="sv-SE" sz="2000" b="1" dirty="0">
                <a:latin typeface="宋体" panose="02010600030101010101" pitchFamily="2" charset="-122"/>
                <a:sym typeface="+mn-ea"/>
              </a:rPr>
              <a:t>时序模拟</a:t>
            </a:r>
            <a:r>
              <a:rPr lang="zh-CN" altLang="en-US" sz="2000" b="1" dirty="0">
                <a:sym typeface="+mn-ea"/>
              </a:rPr>
              <a:t>）</a:t>
            </a:r>
            <a:endParaRPr kumimoji="1" lang="zh-CN" altLang="en-US" sz="2000" b="1" dirty="0">
              <a:latin typeface="+mj-lt"/>
              <a:ea typeface="+mj-ea"/>
              <a:cs typeface="+mj-cs"/>
              <a:sym typeface="+mn-ea"/>
            </a:endParaRPr>
          </a:p>
        </p:txBody>
      </p:sp>
      <p:pic>
        <p:nvPicPr>
          <p:cNvPr id="3" name="图片 1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95755" y="1980565"/>
            <a:ext cx="9211945" cy="352933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文本框 4"/>
          <p:cNvSpPr txBox="1"/>
          <p:nvPr/>
        </p:nvSpPr>
        <p:spPr>
          <a:xfrm>
            <a:off x="1110615" y="1294765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85750" indent="-285750" eaLnBrk="1" hangingPunct="1">
              <a:buFont typeface="Wingdings" panose="05000000000000000000" charset="0"/>
              <a:buChar char="u"/>
            </a:pPr>
            <a:r>
              <a:rPr lang="zh-CN" altLang="sv-SE" dirty="0">
                <a:latin typeface="宋体" panose="02010600030101010101" pitchFamily="2" charset="-122"/>
                <a:sym typeface="+mn-ea"/>
              </a:rPr>
              <a:t>本实例为半加器时序模拟结果</a:t>
            </a:r>
            <a:r>
              <a:rPr lang="zh-CN" altLang="en-US" dirty="0">
                <a:sym typeface="+mn-ea"/>
              </a:rPr>
              <a:t>：</a:t>
            </a:r>
            <a:endParaRPr lang="zh-CN" altLang="en-US" dirty="0">
              <a:sym typeface="+mn-ea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5416550" y="3297555"/>
            <a:ext cx="6985" cy="178498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6040755" y="3297555"/>
            <a:ext cx="6985" cy="178498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7978140" y="3297555"/>
            <a:ext cx="6985" cy="178498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8609330" y="3297555"/>
            <a:ext cx="6985" cy="178498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" name="直接箭头连接符 12"/>
          <p:cNvCxnSpPr/>
          <p:nvPr/>
        </p:nvCxnSpPr>
        <p:spPr>
          <a:xfrm>
            <a:off x="4777740" y="4698365"/>
            <a:ext cx="59499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" name="直接箭头连接符 16"/>
          <p:cNvCxnSpPr/>
          <p:nvPr/>
        </p:nvCxnSpPr>
        <p:spPr>
          <a:xfrm flipH="1" flipV="1">
            <a:off x="6076950" y="4691380"/>
            <a:ext cx="457200" cy="698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4" name="圆角矩形 23"/>
          <p:cNvSpPr/>
          <p:nvPr/>
        </p:nvSpPr>
        <p:spPr>
          <a:xfrm>
            <a:off x="5423535" y="4989195"/>
            <a:ext cx="631825" cy="32639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/>
              <a:t>时延</a:t>
            </a:r>
            <a:endParaRPr lang="zh-CN" altLang="en-US" sz="1000"/>
          </a:p>
        </p:txBody>
      </p:sp>
      <p:sp>
        <p:nvSpPr>
          <p:cNvPr id="27" name="圆角矩形 26"/>
          <p:cNvSpPr/>
          <p:nvPr/>
        </p:nvSpPr>
        <p:spPr>
          <a:xfrm>
            <a:off x="7985125" y="5082540"/>
            <a:ext cx="631825" cy="32639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/>
              <a:t>时延</a:t>
            </a:r>
            <a:endParaRPr lang="zh-CN" altLang="en-US" sz="1000"/>
          </a:p>
        </p:txBody>
      </p:sp>
      <p:cxnSp>
        <p:nvCxnSpPr>
          <p:cNvPr id="28" name="直接箭头连接符 27"/>
          <p:cNvCxnSpPr/>
          <p:nvPr/>
        </p:nvCxnSpPr>
        <p:spPr>
          <a:xfrm>
            <a:off x="7317740" y="4698365"/>
            <a:ext cx="59499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9" name="直接箭头连接符 28"/>
          <p:cNvCxnSpPr/>
          <p:nvPr/>
        </p:nvCxnSpPr>
        <p:spPr>
          <a:xfrm flipH="1" flipV="1">
            <a:off x="8616950" y="4691380"/>
            <a:ext cx="457200" cy="698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11.05,&quot;left&quot;:100.8,&quot;top&quot;:131.6,&quot;width&quot;:709.4}"/>
</p:tagLst>
</file>

<file path=ppt/tags/tag2.xml><?xml version="1.0" encoding="utf-8"?>
<p:tagLst xmlns:p="http://schemas.openxmlformats.org/presentationml/2006/main">
  <p:tag name="KSO_WM_DIAGRAM_VIRTUALLY_FRAME" val="{&quot;height&quot;:311.05,&quot;left&quot;:100.8,&quot;top&quot;:131.6,&quot;width&quot;:709.4}"/>
</p:tagLst>
</file>

<file path=ppt/tags/tag3.xml><?xml version="1.0" encoding="utf-8"?>
<p:tagLst xmlns:p="http://schemas.openxmlformats.org/presentationml/2006/main">
  <p:tag name="KSO_WM_DIAGRAM_VIRTUALLY_FRAME" val="{&quot;height&quot;:311.05,&quot;left&quot;:100.8,&quot;top&quot;:131.6,&quot;width&quot;:709.4}"/>
</p:tagLst>
</file>

<file path=ppt/tags/tag4.xml><?xml version="1.0" encoding="utf-8"?>
<p:tagLst xmlns:p="http://schemas.openxmlformats.org/presentationml/2006/main">
  <p:tag name="KSO_WM_DIAGRAM_VIRTUALLY_FRAME" val="{&quot;height&quot;:311.05,&quot;left&quot;:100.8,&quot;top&quot;:131.6,&quot;width&quot;:709.4}"/>
</p:tagLst>
</file>

<file path=ppt/tags/tag5.xml><?xml version="1.0" encoding="utf-8"?>
<p:tagLst xmlns:p="http://schemas.openxmlformats.org/presentationml/2006/main">
  <p:tag name="KSO_WM_DIAGRAM_VIRTUALLY_FRAME" val="{&quot;height&quot;:311.05,&quot;left&quot;:100.8,&quot;top&quot;:131.6,&quot;width&quot;:709.4}"/>
</p:tagLst>
</file>

<file path=ppt/tags/tag6.xml><?xml version="1.0" encoding="utf-8"?>
<p:tagLst xmlns:p="http://schemas.openxmlformats.org/presentationml/2006/main">
  <p:tag name="KSO_WM_DIAGRAM_VIRTUALLY_FRAME" val="{&quot;height&quot;:311.05,&quot;left&quot;:100.8,&quot;top&quot;:131.6,&quot;width&quot;:709.4}"/>
</p:tagLst>
</file>

<file path=ppt/tags/tag7.xml><?xml version="1.0" encoding="utf-8"?>
<p:tagLst xmlns:p="http://schemas.openxmlformats.org/presentationml/2006/main">
  <p:tag name="KSO_WM_DIAGRAM_VIRTUALLY_FRAME" val="{&quot;height&quot;:311.05,&quot;left&quot;:100.8,&quot;top&quot;:131.6,&quot;width&quot;:709.4}"/>
</p:tagLst>
</file>

<file path=ppt/tags/tag8.xml><?xml version="1.0" encoding="utf-8"?>
<p:tagLst xmlns:p="http://schemas.openxmlformats.org/presentationml/2006/main">
  <p:tag name="KSO_WM_DIAGRAM_VIRTUALLY_FRAME" val="{&quot;height&quot;:311.05,&quot;left&quot;:100.8,&quot;top&quot;:131.6,&quot;width&quot;:709.4}"/>
</p:tagLst>
</file>

<file path=ppt/tags/tag9.xml><?xml version="1.0" encoding="utf-8"?>
<p:tagLst xmlns:p="http://schemas.openxmlformats.org/presentationml/2006/main">
  <p:tag name="KSO_WM_DIAGRAM_VIRTUALLY_FRAME" val="{&quot;height&quot;:311.05,&quot;left&quot;:100.8,&quot;top&quot;:131.6,&quot;width&quot;:709.4}"/>
</p:tagLst>
</file>

<file path=ppt/tags/tag10.xml><?xml version="1.0" encoding="utf-8"?>
<p:tagLst xmlns:p="http://schemas.openxmlformats.org/presentationml/2006/main">
  <p:tag name="KSO_WM_DIAGRAM_VIRTUALLY_FRAME" val="{&quot;height&quot;:311.05,&quot;left&quot;:100.8,&quot;top&quot;:131.6,&quot;width&quot;:709.4}"/>
</p:tagLst>
</file>

<file path=ppt/tags/tag11.xml><?xml version="1.0" encoding="utf-8"?>
<p:tagLst xmlns:p="http://schemas.openxmlformats.org/presentationml/2006/main">
  <p:tag name="KSO_WM_DIAGRAM_VIRTUALLY_FRAME" val="{&quot;height&quot;:175.9,&quot;left&quot;:310.2,&quot;top&quot;:237.4,&quot;width&quot;:363.6}"/>
</p:tagLst>
</file>

<file path=ppt/tags/tag12.xml><?xml version="1.0" encoding="utf-8"?>
<p:tagLst xmlns:p="http://schemas.openxmlformats.org/presentationml/2006/main">
  <p:tag name="KSO_WM_DIAGRAM_VIRTUALLY_FRAME" val="{&quot;height&quot;:175.9,&quot;left&quot;:310.2,&quot;top&quot;:237.4,&quot;width&quot;:363.6}"/>
</p:tagLst>
</file>

<file path=ppt/tags/tag13.xml><?xml version="1.0" encoding="utf-8"?>
<p:tagLst xmlns:p="http://schemas.openxmlformats.org/presentationml/2006/main">
  <p:tag name="KSO_WM_DIAGRAM_VIRTUALLY_FRAME" val="{&quot;height&quot;:175.9,&quot;left&quot;:310.2,&quot;top&quot;:237.4,&quot;width&quot;:363.6}"/>
</p:tagLst>
</file>

<file path=ppt/tags/tag14.xml><?xml version="1.0" encoding="utf-8"?>
<p:tagLst xmlns:p="http://schemas.openxmlformats.org/presentationml/2006/main">
  <p:tag name="KSO_WM_DIAGRAM_VIRTUALLY_FRAME" val="{&quot;height&quot;:175.9,&quot;left&quot;:310.2,&quot;top&quot;:237.4,&quot;width&quot;:363.6}"/>
</p:tagLst>
</file>

<file path=ppt/tags/tag15.xml><?xml version="1.0" encoding="utf-8"?>
<p:tagLst xmlns:p="http://schemas.openxmlformats.org/presentationml/2006/main">
  <p:tag name="KSO_WM_DIAGRAM_VIRTUALLY_FRAME" val="{&quot;height&quot;:175.9,&quot;left&quot;:310.2,&quot;top&quot;:237.4,&quot;width&quot;:363.6}"/>
</p:tagLst>
</file>

<file path=ppt/tags/tag16.xml><?xml version="1.0" encoding="utf-8"?>
<p:tagLst xmlns:p="http://schemas.openxmlformats.org/presentationml/2006/main">
  <p:tag name="KSO_WM_DIAGRAM_VIRTUALLY_FRAME" val="{&quot;height&quot;:175.9,&quot;left&quot;:310.2,&quot;top&quot;:237.4,&quot;width&quot;:363.6}"/>
</p:tagLst>
</file>

<file path=ppt/tags/tag17.xml><?xml version="1.0" encoding="utf-8"?>
<p:tagLst xmlns:p="http://schemas.openxmlformats.org/presentationml/2006/main">
  <p:tag name="KSO_WM_DIAGRAM_VIRTUALLY_FRAME" val="{&quot;height&quot;:175.9,&quot;left&quot;:310.2,&quot;top&quot;:237.4,&quot;width&quot;:363.6}"/>
</p:tagLst>
</file>

<file path=ppt/tags/tag18.xml><?xml version="1.0" encoding="utf-8"?>
<p:tagLst xmlns:p="http://schemas.openxmlformats.org/presentationml/2006/main">
  <p:tag name="KSO_WM_DIAGRAM_VIRTUALLY_FRAME" val="{&quot;height&quot;:175.9,&quot;left&quot;:310.2,&quot;top&quot;:237.4,&quot;width&quot;:363.6}"/>
</p:tagLst>
</file>

<file path=ppt/tags/tag19.xml><?xml version="1.0" encoding="utf-8"?>
<p:tagLst xmlns:p="http://schemas.openxmlformats.org/presentationml/2006/main">
  <p:tag name="KSO_WM_DIAGRAM_VIRTUALLY_FRAME" val="{&quot;height&quot;:175.9,&quot;left&quot;:310.2,&quot;top&quot;:237.4,&quot;width&quot;:363.6}"/>
</p:tagLst>
</file>

<file path=ppt/tags/tag20.xml><?xml version="1.0" encoding="utf-8"?>
<p:tagLst xmlns:p="http://schemas.openxmlformats.org/presentationml/2006/main">
  <p:tag name="KSO_WM_DIAGRAM_VIRTUALLY_FRAME" val="{&quot;height&quot;:175.9,&quot;left&quot;:310.2,&quot;top&quot;:237.4,&quot;width&quot;:363.6}"/>
</p:tagLst>
</file>

<file path=ppt/tags/tag21.xml><?xml version="1.0" encoding="utf-8"?>
<p:tagLst xmlns:p="http://schemas.openxmlformats.org/presentationml/2006/main">
  <p:tag name="KSO_WM_DIAGRAM_VIRTUALLY_FRAME" val="{&quot;height&quot;:175.9,&quot;left&quot;:310.2,&quot;top&quot;:237.4,&quot;width&quot;:363.6}"/>
</p:tagLst>
</file>

<file path=ppt/tags/tag22.xml><?xml version="1.0" encoding="utf-8"?>
<p:tagLst xmlns:p="http://schemas.openxmlformats.org/presentationml/2006/main">
  <p:tag name="KSO_WM_DIAGRAM_VIRTUALLY_FRAME" val="{&quot;height&quot;:175.9,&quot;left&quot;:310.2,&quot;top&quot;:237.4,&quot;width&quot;:363.6}"/>
</p:tagLst>
</file>

<file path=ppt/tags/tag23.xml><?xml version="1.0" encoding="utf-8"?>
<p:tagLst xmlns:p="http://schemas.openxmlformats.org/presentationml/2006/main">
  <p:tag name="KSO_WM_DIAGRAM_VIRTUALLY_FRAME" val="{&quot;height&quot;:175.9,&quot;left&quot;:310.2,&quot;top&quot;:237.4,&quot;width&quot;:363.6}"/>
</p:tagLst>
</file>

<file path=ppt/tags/tag24.xml><?xml version="1.0" encoding="utf-8"?>
<p:tagLst xmlns:p="http://schemas.openxmlformats.org/presentationml/2006/main">
  <p:tag name="KSO_WM_DIAGRAM_VIRTUALLY_FRAME" val="{&quot;height&quot;:175.9,&quot;left&quot;:310.2,&quot;top&quot;:237.4,&quot;width&quot;:363.6}"/>
</p:tagLst>
</file>

<file path=ppt/tags/tag25.xml><?xml version="1.0" encoding="utf-8"?>
<p:tagLst xmlns:p="http://schemas.openxmlformats.org/presentationml/2006/main">
  <p:tag name="KSO_WM_DIAGRAM_VIRTUALLY_FRAME" val="{&quot;height&quot;:175.9,&quot;left&quot;:310.2,&quot;top&quot;:237.4,&quot;width&quot;:363.6}"/>
</p:tagLst>
</file>

<file path=ppt/tags/tag26.xml><?xml version="1.0" encoding="utf-8"?>
<p:tagLst xmlns:p="http://schemas.openxmlformats.org/presentationml/2006/main">
  <p:tag name="KSO_WM_DIAGRAM_VIRTUALLY_FRAME" val="{&quot;height&quot;:175.9,&quot;left&quot;:310.2,&quot;top&quot;:237.4,&quot;width&quot;:363.6}"/>
</p:tagLst>
</file>

<file path=ppt/tags/tag27.xml><?xml version="1.0" encoding="utf-8"?>
<p:tagLst xmlns:p="http://schemas.openxmlformats.org/presentationml/2006/main">
  <p:tag name="KSO_WM_DIAGRAM_VIRTUALLY_FRAME" val="{&quot;height&quot;:175.9,&quot;left&quot;:310.2,&quot;top&quot;:237.4,&quot;width&quot;:363.6}"/>
</p:tagLst>
</file>

<file path=ppt/tags/tag28.xml><?xml version="1.0" encoding="utf-8"?>
<p:tagLst xmlns:p="http://schemas.openxmlformats.org/presentationml/2006/main">
  <p:tag name="KSO_WM_DIAGRAM_VIRTUALLY_FRAME" val="{&quot;height&quot;:175.9,&quot;left&quot;:310.2,&quot;top&quot;:237.4,&quot;width&quot;:363.6}"/>
</p:tagLst>
</file>

<file path=ppt/tags/tag29.xml><?xml version="1.0" encoding="utf-8"?>
<p:tagLst xmlns:p="http://schemas.openxmlformats.org/presentationml/2006/main">
  <p:tag name="KSO_WM_DIAGRAM_VIRTUALLY_FRAME" val="{&quot;height&quot;:175.9,&quot;left&quot;:310.2,&quot;top&quot;:237.4,&quot;width&quot;:363.6}"/>
</p:tagLst>
</file>

<file path=ppt/tags/tag30.xml><?xml version="1.0" encoding="utf-8"?>
<p:tagLst xmlns:p="http://schemas.openxmlformats.org/presentationml/2006/main">
  <p:tag name="KSO_WM_DIAGRAM_VIRTUALLY_FRAME" val="{&quot;height&quot;:175.9,&quot;left&quot;:310.2,&quot;top&quot;:237.4,&quot;width&quot;:363.6}"/>
</p:tagLst>
</file>

<file path=ppt/tags/tag31.xml><?xml version="1.0" encoding="utf-8"?>
<p:tagLst xmlns:p="http://schemas.openxmlformats.org/presentationml/2006/main">
  <p:tag name="KSO_WM_DIAGRAM_VIRTUALLY_FRAME" val="{&quot;height&quot;:175.9,&quot;left&quot;:310.2,&quot;top&quot;:237.4,&quot;width&quot;:363.6}"/>
</p:tagLst>
</file>

<file path=ppt/tags/tag32.xml><?xml version="1.0" encoding="utf-8"?>
<p:tagLst xmlns:p="http://schemas.openxmlformats.org/presentationml/2006/main">
  <p:tag name="KSO_WM_DIAGRAM_VIRTUALLY_FRAME" val="{&quot;height&quot;:175.9,&quot;left&quot;:310.2,&quot;top&quot;:237.4,&quot;width&quot;:363.6}"/>
</p:tagLst>
</file>

<file path=ppt/tags/tag33.xml><?xml version="1.0" encoding="utf-8"?>
<p:tagLst xmlns:p="http://schemas.openxmlformats.org/presentationml/2006/main">
  <p:tag name="KSO_WM_DIAGRAM_VIRTUALLY_FRAME" val="{&quot;height&quot;:175.9,&quot;left&quot;:310.2,&quot;top&quot;:237.4,&quot;width&quot;:363.6}"/>
</p:tagLst>
</file>

<file path=ppt/tags/tag34.xml><?xml version="1.0" encoding="utf-8"?>
<p:tagLst xmlns:p="http://schemas.openxmlformats.org/presentationml/2006/main">
  <p:tag name="KSO_WM_DIAGRAM_VIRTUALLY_FRAME" val="{&quot;height&quot;:175.9,&quot;left&quot;:310.2,&quot;top&quot;:237.4,&quot;width&quot;:363.6}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微软雅黑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1721</Words>
  <Application>WPS 演示</Application>
  <PresentationFormat>宽屏</PresentationFormat>
  <Paragraphs>259</Paragraphs>
  <Slides>23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8</vt:i4>
      </vt:variant>
      <vt:variant>
        <vt:lpstr>幻灯片标题</vt:lpstr>
      </vt:variant>
      <vt:variant>
        <vt:i4>23</vt:i4>
      </vt:variant>
    </vt:vector>
  </HeadingPairs>
  <TitlesOfParts>
    <vt:vector size="45" baseType="lpstr">
      <vt:lpstr>Arial</vt:lpstr>
      <vt:lpstr>宋体</vt:lpstr>
      <vt:lpstr>Wingdings</vt:lpstr>
      <vt:lpstr>Times New Roman</vt:lpstr>
      <vt:lpstr>Wingdings</vt:lpstr>
      <vt:lpstr>黑体</vt:lpstr>
      <vt:lpstr>Symbol</vt:lpstr>
      <vt:lpstr>微软雅黑</vt:lpstr>
      <vt:lpstr>Arial Unicode MS</vt:lpstr>
      <vt:lpstr>等线</vt:lpstr>
      <vt:lpstr>CMSY10</vt:lpstr>
      <vt:lpstr>Calibri</vt:lpstr>
      <vt:lpstr>三极光耀简体H10</vt:lpstr>
      <vt:lpstr>Office 主题</vt:lpstr>
      <vt:lpstr>Word.Picture.8</vt:lpstr>
      <vt:lpstr>Word.Picture.8</vt:lpstr>
      <vt:lpstr>Word.Picture.8</vt:lpstr>
      <vt:lpstr>Word.Picture.8</vt:lpstr>
      <vt:lpstr>Word.Picture.8</vt:lpstr>
      <vt:lpstr>Word.Picture.8</vt:lpstr>
      <vt:lpstr>Word.Picture.8</vt:lpstr>
      <vt:lpstr>Word.Picture.8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WPS_1748860242</cp:lastModifiedBy>
  <cp:revision>179</cp:revision>
  <dcterms:created xsi:type="dcterms:W3CDTF">2019-12-03T12:23:00Z</dcterms:created>
  <dcterms:modified xsi:type="dcterms:W3CDTF">2025-11-11T09:11:04Z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  <property fmtid="{D5CDD505-2E9C-101B-9397-08002B2CF9AE}" pid="3" name="KSOTemplateUUID">
    <vt:lpwstr>v1.0_mb_PPdExxDdiY3pq9FrkmN42A==</vt:lpwstr>
  </property>
  <property fmtid="{D5CDD505-2E9C-101B-9397-08002B2CF9AE}" pid="4" name="ICV">
    <vt:lpwstr>DF0E1074FF4542CFB97A62805DFE16A7_12</vt:lpwstr>
  </property>
</Properties>
</file>