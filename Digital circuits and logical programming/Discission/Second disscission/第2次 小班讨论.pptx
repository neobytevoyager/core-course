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661" r:id="rId3"/>
    <p:sldId id="709" r:id="rId4"/>
    <p:sldId id="711" r:id="rId5"/>
    <p:sldId id="706" r:id="rId6"/>
    <p:sldId id="554" r:id="rId7"/>
    <p:sldId id="597" r:id="rId8"/>
    <p:sldId id="590" r:id="rId9"/>
    <p:sldId id="591" r:id="rId10"/>
    <p:sldId id="678" r:id="rId11"/>
    <p:sldId id="674" r:id="rId12"/>
    <p:sldId id="707" r:id="rId13"/>
    <p:sldId id="708" r:id="rId14"/>
  </p:sldIdLst>
  <p:sldSz cx="9144000" cy="6858000" type="screen4x3"/>
  <p:notesSz cx="7102475" cy="102314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q ling" initials="cl" lastIdx="1" clrIdx="0">
    <p:extLst>
      <p:ext uri="{19B8F6BF-5375-455C-9EA6-DF929625EA0E}">
        <p15:presenceInfo xmlns:p15="http://schemas.microsoft.com/office/powerpoint/2012/main" userId="727596e247d382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B0F0"/>
    <a:srgbClr val="FF0000"/>
    <a:srgbClr val="33FF33"/>
    <a:srgbClr val="FF3300"/>
    <a:srgbClr val="FF00FF"/>
    <a:srgbClr val="FFCC66"/>
    <a:srgbClr val="99CCFF"/>
    <a:srgbClr val="6B0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E697C5E-0D50-4B74-BA8C-2CA034AE73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8114E96-2351-4512-8842-31E778652B2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3C3F5C4C-EE8F-4A26-B6FC-11F34AD6EF5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67760228-D4CD-4337-A212-FDF5D7CDE1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0263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fld id="{C4075BE2-DFA6-40E3-8F08-75819412F0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484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2EBB650-189E-430B-B390-46AC957C0F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D9263B8-6953-4F4A-924B-4B42B21EBE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9427668-63C4-4DD2-A945-4A6E66468ED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6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97A80AF-0D71-4DE1-B5EC-CCE101AB32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59338"/>
            <a:ext cx="5207000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E5E54ECA-D06D-44AD-8C7D-241DDD316B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FCFF48BA-F851-4AFB-AD0A-8DC4C0EC6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0263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F43DF362-07B2-48E3-AFB3-0F3D81F19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94144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356FD-55A3-8026-8250-A893EB03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6DE4A4B0-2084-0172-B001-02445D53B5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91684A72-A1D8-CA63-68E5-8B708DCD7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8158B58E-1FC2-75A4-2F68-398B6B6CA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35A5E6-E2DE-4C79-B86F-D2AC2CDBFC51}" type="slidenum">
              <a:rPr kumimoji="1" lang="en-US" altLang="zh-CN" sz="13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altLang="zh-CN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687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FBB52-B1A2-FCFA-E38C-65CBFC03B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10F4A4AF-BCB0-0CDF-94FD-4102F492A3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45622411-F02B-F4A0-2E7E-92562C41B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86B01FBC-8CE4-ACC0-9A2D-37E0577A3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35A5E6-E2DE-4C79-B86F-D2AC2CDBFC51}" type="slidenum">
              <a:rPr kumimoji="1" lang="en-US" altLang="zh-CN" sz="13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zh-CN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114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1AB4308B-E452-4723-A987-684BCF843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DB6C6B73-D8BA-4EE5-BB2A-D527B63B5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5342CA8B-01E0-4B3B-905E-3A6CC85A8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35A5E6-E2DE-4C79-B86F-D2AC2CDBFC51}" type="slidenum">
              <a:rPr kumimoji="1" lang="en-US" altLang="zh-CN" sz="13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zh-CN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96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1AB4308B-E452-4723-A987-684BCF843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DB6C6B73-D8BA-4EE5-BB2A-D527B63B5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5342CA8B-01E0-4B3B-905E-3A6CC85A8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35A5E6-E2DE-4C79-B86F-D2AC2CDBFC51}" type="slidenum">
              <a:rPr kumimoji="1" lang="en-US" altLang="zh-CN" sz="13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zh-CN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尽管电速与光速一样，都是有限的，但在数字电路中信号传输会出现延迟的主要原因是充电与放电现象。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假设一个反相器驱动一个与非门。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栅极与源极之间存在分布电容，这里用虚线表示是说栅极与源极之间相当于接了一个电容，而不是有意真正做了一个电容放在这里。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这个电容相当于在反相器的输出端与地之间连接了一个电容，这个电容在反相器输出端信号发生变化时会起延迟作用。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当反相器输入端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IN</a:t>
            </a:r>
            <a:r>
              <a:rPr kumimoji="1" lang="zh-CN" altLang="en-US" dirty="0"/>
              <a:t>由高电平变为低电平时，其输出端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OUT</a:t>
            </a:r>
            <a:r>
              <a:rPr kumimoji="1" lang="zh-CN" altLang="en-US" dirty="0"/>
              <a:t>不会马上由低电平变为高电平，这是因为电容上的电压不能突变，它要充电，它得慢慢升起来，因此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OUT</a:t>
            </a:r>
            <a:r>
              <a:rPr kumimoji="1" lang="zh-CN" altLang="en-US" dirty="0"/>
              <a:t>发生向上跳变时需要一定时间。</a:t>
            </a:r>
            <a:endParaRPr kumimoji="1" lang="en-US" altLang="zh-CN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dirty="0"/>
              <a:t>同样，当反相器输入端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IN</a:t>
            </a:r>
            <a:r>
              <a:rPr kumimoji="1" lang="zh-CN" altLang="en-US" dirty="0"/>
              <a:t>由低电平变为高电平时，其输出端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OUT</a:t>
            </a:r>
            <a:r>
              <a:rPr kumimoji="1" lang="zh-CN" altLang="en-US" baseline="0" dirty="0"/>
              <a:t>也</a:t>
            </a:r>
            <a:r>
              <a:rPr kumimoji="1" lang="zh-CN" altLang="en-US" dirty="0"/>
              <a:t>不会马上由高电平变为低电平，这是因为电容要放电，电容上的电压要慢慢降下来，因此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OUT</a:t>
            </a:r>
            <a:r>
              <a:rPr kumimoji="1" lang="zh-CN" altLang="en-US" dirty="0"/>
              <a:t>发生向下跳变时也需要一定时间。这就是信号产生延迟的主要原因。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B7F084-2060-47AD-B2D8-7E301E9A69F8}" type="slidenum">
              <a:rPr kumimoji="1" lang="en-US" altLang="zh-CN" sz="13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zh-CN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671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我们现在以两输入与非门为例来看看，逻辑门出现时间延迟的具体情况。假设输入</a:t>
            </a:r>
            <a:r>
              <a:rPr kumimoji="1" lang="en-US" altLang="zh-CN" dirty="0"/>
              <a:t>X</a:t>
            </a:r>
            <a:r>
              <a:rPr kumimoji="1" lang="zh-CN" altLang="en-US" dirty="0"/>
              <a:t>在</a:t>
            </a:r>
            <a:r>
              <a:rPr kumimoji="1" lang="en-US" altLang="zh-CN" dirty="0"/>
              <a:t>0</a:t>
            </a:r>
            <a:r>
              <a:rPr kumimoji="1" lang="zh-CN" altLang="en-US" dirty="0"/>
              <a:t>时刻上升，输入</a:t>
            </a:r>
            <a:r>
              <a:rPr kumimoji="1" lang="en-US" altLang="zh-CN" dirty="0"/>
              <a:t>Y</a:t>
            </a:r>
            <a:r>
              <a:rPr kumimoji="1" lang="zh-CN" altLang="en-US" dirty="0"/>
              <a:t>在</a:t>
            </a:r>
            <a:r>
              <a:rPr kumimoji="1" lang="en-US" altLang="zh-CN" dirty="0"/>
              <a:t>3</a:t>
            </a:r>
            <a:r>
              <a:rPr kumimoji="1" lang="zh-CN" altLang="en-US" dirty="0"/>
              <a:t>时刻下降。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根据刚才对电容充放电效果的分析，与非门输出端</a:t>
            </a:r>
            <a:r>
              <a:rPr kumimoji="1" lang="en-US" altLang="zh-CN" dirty="0"/>
              <a:t>F</a:t>
            </a:r>
            <a:r>
              <a:rPr kumimoji="1" lang="zh-CN" altLang="en-US" dirty="0"/>
              <a:t>的电压会在</a:t>
            </a:r>
            <a:r>
              <a:rPr kumimoji="1" lang="en-US" altLang="zh-CN" dirty="0"/>
              <a:t>0</a:t>
            </a:r>
            <a:r>
              <a:rPr kumimoji="1" lang="zh-CN" altLang="en-US" dirty="0"/>
              <a:t>时刻开始下降，到达</a:t>
            </a:r>
            <a:r>
              <a:rPr kumimoji="1" lang="en-US" altLang="zh-CN" dirty="0"/>
              <a:t>3</a:t>
            </a:r>
            <a:r>
              <a:rPr kumimoji="1" lang="zh-CN" altLang="en-US" dirty="0"/>
              <a:t>时刻时，电压接近</a:t>
            </a:r>
            <a:r>
              <a:rPr kumimoji="1" lang="en-US" altLang="zh-CN" dirty="0"/>
              <a:t>0</a:t>
            </a:r>
            <a:r>
              <a:rPr kumimoji="1" lang="zh-CN" altLang="en-US" dirty="0"/>
              <a:t>。但由于</a:t>
            </a:r>
            <a:r>
              <a:rPr kumimoji="1" lang="en-US" altLang="zh-CN" dirty="0"/>
              <a:t>3</a:t>
            </a:r>
            <a:r>
              <a:rPr kumimoji="1" lang="zh-CN" altLang="en-US" dirty="0"/>
              <a:t>时刻</a:t>
            </a:r>
            <a:r>
              <a:rPr kumimoji="1" lang="en-US" altLang="zh-CN" dirty="0"/>
              <a:t>Y</a:t>
            </a:r>
            <a:r>
              <a:rPr kumimoji="1" lang="zh-CN" altLang="en-US" dirty="0"/>
              <a:t>变为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，所以</a:t>
            </a:r>
            <a:r>
              <a:rPr kumimoji="1" lang="en-US" altLang="zh-CN" dirty="0"/>
              <a:t>F</a:t>
            </a:r>
            <a:r>
              <a:rPr kumimoji="1" lang="zh-CN" altLang="en-US" dirty="0"/>
              <a:t>从</a:t>
            </a:r>
            <a:r>
              <a:rPr kumimoji="1" lang="en-US" altLang="zh-CN" dirty="0"/>
              <a:t>3</a:t>
            </a:r>
            <a:r>
              <a:rPr kumimoji="1" lang="zh-CN" altLang="en-US" dirty="0"/>
              <a:t>时刻又开始上升。如果</a:t>
            </a:r>
            <a:r>
              <a:rPr kumimoji="1" lang="en-US" altLang="zh-CN" dirty="0"/>
              <a:t>Y</a:t>
            </a:r>
            <a:r>
              <a:rPr kumimoji="1" lang="zh-CN" altLang="en-US" dirty="0"/>
              <a:t>不变为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，则</a:t>
            </a:r>
            <a:r>
              <a:rPr kumimoji="1" lang="en-US" altLang="zh-CN" dirty="0"/>
              <a:t>F</a:t>
            </a:r>
            <a:r>
              <a:rPr kumimoji="1" lang="zh-CN" altLang="en-US" dirty="0"/>
              <a:t>端的电压会继续下降，如虚线所求，直到等于</a:t>
            </a:r>
            <a:r>
              <a:rPr kumimoji="1" lang="en-US" altLang="zh-CN" dirty="0"/>
              <a:t>0</a:t>
            </a:r>
            <a:r>
              <a:rPr kumimoji="1" lang="zh-CN" altLang="en-US" dirty="0"/>
              <a:t>为止。现在问题出现了：我们如何用二进制中的</a:t>
            </a:r>
            <a:r>
              <a:rPr kumimoji="1" lang="en-US" altLang="zh-CN" dirty="0"/>
              <a:t>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1</a:t>
            </a:r>
            <a:r>
              <a:rPr kumimoji="1" lang="zh-CN" altLang="en-US" dirty="0"/>
              <a:t>来表示从时刻</a:t>
            </a:r>
            <a:r>
              <a:rPr kumimoji="1" lang="en-US" altLang="zh-CN" dirty="0"/>
              <a:t>0</a:t>
            </a:r>
            <a:r>
              <a:rPr kumimoji="1" lang="zh-CN" altLang="en-US" dirty="0"/>
              <a:t>到时刻</a:t>
            </a:r>
            <a:r>
              <a:rPr kumimoji="1" lang="en-US" altLang="zh-CN" dirty="0"/>
              <a:t>6</a:t>
            </a:r>
            <a:r>
              <a:rPr kumimoji="1" lang="zh-CN" altLang="en-US" dirty="0"/>
              <a:t>这一段时间内</a:t>
            </a:r>
            <a:r>
              <a:rPr kumimoji="1" lang="en-US" altLang="zh-CN" dirty="0"/>
              <a:t>F</a:t>
            </a:r>
            <a:r>
              <a:rPr kumimoji="1" lang="zh-CN" altLang="en-US" dirty="0"/>
              <a:t>的波形呢？显然，要完全精确地表示是不可能的。下面介绍几种常用的方法。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第一种是使用零延迟模型，即假设信号传输不需要时间，只要输入发生变化，输出就会紧跟随着立即发生变化，因此</a:t>
            </a:r>
            <a:r>
              <a:rPr kumimoji="1" lang="en-US" altLang="zh-CN" dirty="0"/>
              <a:t>F</a:t>
            </a:r>
            <a:r>
              <a:rPr kumimoji="1" lang="zh-CN" altLang="en-US" dirty="0"/>
              <a:t>在</a:t>
            </a:r>
            <a:r>
              <a:rPr kumimoji="1" lang="en-US" altLang="zh-CN" dirty="0"/>
              <a:t>0</a:t>
            </a:r>
            <a:r>
              <a:rPr kumimoji="1" lang="zh-CN" altLang="en-US" dirty="0"/>
              <a:t>时刻下降到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，在</a:t>
            </a:r>
            <a:r>
              <a:rPr kumimoji="1" lang="en-US" altLang="zh-CN" dirty="0"/>
              <a:t>3</a:t>
            </a:r>
            <a:r>
              <a:rPr kumimoji="1" lang="zh-CN" altLang="en-US" dirty="0"/>
              <a:t>时刻上升到</a:t>
            </a:r>
            <a:r>
              <a:rPr kumimoji="1" lang="en-US" altLang="zh-CN" dirty="0"/>
              <a:t>1</a:t>
            </a:r>
            <a:r>
              <a:rPr kumimoji="1" lang="zh-CN" altLang="en-US" dirty="0"/>
              <a:t>。显然这与事实相差甚远。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另一种办法是使用传输延迟模型。这种模型假设输出要经过一段延迟后才会跟随输入变化而发生变化，如经过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个时间单位。这种模型看起来比零延迟模型更接近事实。但零延迟模型与传输延迟模型实际上是一回事，只是前者的延迟量为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，后者不为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下面我们来看看更复杂的情况。如果输入</a:t>
            </a:r>
            <a:r>
              <a:rPr kumimoji="1" lang="en-US" altLang="zh-CN" dirty="0"/>
              <a:t>Y</a:t>
            </a:r>
            <a:r>
              <a:rPr kumimoji="1" lang="zh-CN" altLang="en-US" dirty="0"/>
              <a:t>发生如红线所示这样的变化，输出</a:t>
            </a:r>
            <a:r>
              <a:rPr kumimoji="1" lang="en-US" altLang="zh-CN" dirty="0"/>
              <a:t>F</a:t>
            </a:r>
            <a:r>
              <a:rPr kumimoji="1" lang="zh-CN" altLang="en-US" dirty="0"/>
              <a:t>会怎么变？</a:t>
            </a:r>
            <a:endParaRPr kumimoji="1"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根据电容充放电效应，输出</a:t>
            </a:r>
            <a:r>
              <a:rPr kumimoji="1" lang="en-US" altLang="zh-CN" dirty="0"/>
              <a:t>F</a:t>
            </a:r>
            <a:r>
              <a:rPr kumimoji="1" lang="zh-CN" altLang="en-US" dirty="0"/>
              <a:t>的波形大致是这样的，这时不管是使用零延迟模型还是使用传输延迟模型都是不太合适的，因为从</a:t>
            </a:r>
            <a:r>
              <a:rPr kumimoji="1" lang="en-US" altLang="zh-CN" dirty="0"/>
              <a:t>3</a:t>
            </a:r>
            <a:r>
              <a:rPr kumimoji="1" lang="zh-CN" altLang="en-US" dirty="0"/>
              <a:t>时刻到</a:t>
            </a:r>
            <a:r>
              <a:rPr kumimoji="1" lang="en-US" altLang="zh-CN" dirty="0"/>
              <a:t>4</a:t>
            </a:r>
            <a:r>
              <a:rPr kumimoji="1" lang="zh-CN" altLang="en-US" dirty="0"/>
              <a:t>时刻</a:t>
            </a:r>
            <a:r>
              <a:rPr kumimoji="1" lang="en-US" altLang="zh-CN" dirty="0"/>
              <a:t>F</a:t>
            </a:r>
            <a:r>
              <a:rPr kumimoji="1" lang="zh-CN" altLang="en-US" dirty="0"/>
              <a:t>还没有上升到</a:t>
            </a:r>
            <a:r>
              <a:rPr kumimoji="1" lang="en-US" altLang="zh-CN" dirty="0"/>
              <a:t>1</a:t>
            </a:r>
            <a:r>
              <a:rPr kumimoji="1" lang="zh-CN" altLang="en-US" dirty="0"/>
              <a:t>就开始下降了。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B7F084-2060-47AD-B2D8-7E301E9A69F8}" type="slidenum">
              <a:rPr kumimoji="1" lang="en-US" altLang="zh-CN" sz="13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633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传输延迟模型是指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输出响应输入变化而发生变化要经过一段时间，零延迟模型其实是它的一种特殊情况，只不过是所经过的时间为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en-US" altLang="zh-CN" sz="1200" b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这个图给出了一个两输入与门的输入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和输出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・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的零延迟波形图，零延迟也叫无延迟，可用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ND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表示。在输出波形图中，长阴影线段表示传输延迟的大小为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2ns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，短实线段表示拒绝时间的大小为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1ns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en-US" altLang="zh-CN" sz="1200" b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的传输延迟波形（可用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TD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表示）就是将零延迟波形往右移动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2ns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en-US" altLang="zh-CN" sz="1200" b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一种更为精确的延迟模型是惯性延迟模型，可以用</a:t>
            </a:r>
            <a:r>
              <a:rPr kumimoji="0" lang="en-US" altLang="zh-CN" sz="12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ID</a:t>
            </a:r>
            <a:r>
              <a:rPr kumimoji="0" lang="zh-CN" altLang="en-US" sz="12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表示。它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类似传输延迟，输入使输出连续两次变化的时间间隔小于</a:t>
            </a:r>
            <a:r>
              <a:rPr kumimoji="0" lang="zh-CN" altLang="en-US" sz="12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拒绝时间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，输出两次变化中第一次变化不会发生。也就是说，如果输入连续快速变化，则输出会拒绝响应，维持原来的状态不变。</a:t>
            </a:r>
            <a:endParaRPr kumimoji="0" lang="en-US" altLang="zh-CN" sz="1200" b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因此，在惯性延迟波形图中，输入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两个相距较近时刻（小于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1ns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）发生的变化没有在输出波形中反映出来。同样，因为输入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两个相距更近的时刻（小于</a:t>
            </a:r>
            <a:r>
              <a:rPr kumimoji="0" lang="en-US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1ns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）发生的变化，也没有在输出波形中反映出来。惯性延迟模型就象我们要推倒一个大胖子，我们不仅要有足够大的力气，还要有足够长的时间，光有力一行，要有足够的动量。</a:t>
            </a:r>
            <a:endParaRPr kumimoji="0" lang="en-US" altLang="zh-CN" sz="1200" b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一般来说，</a:t>
            </a:r>
            <a:r>
              <a:rPr kumimoji="0" lang="zh-CN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与事实越相符，模型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就</a:t>
            </a:r>
            <a:r>
              <a:rPr kumimoji="0" lang="zh-CN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越复杂，计算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量就</a:t>
            </a:r>
            <a:r>
              <a:rPr kumimoji="0" lang="zh-CN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越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</a:t>
            </a:r>
            <a:r>
              <a:rPr kumimoji="0" lang="zh-CN" altLang="zh-CN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。反</a:t>
            </a:r>
            <a:r>
              <a:rPr kumimoji="0" lang="zh-CN" altLang="en-US" sz="1200" b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之就越简单，计算量就越小。</a:t>
            </a:r>
            <a:endParaRPr kumimoji="0" lang="zh-CN" altLang="en-US" sz="1200" b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200" b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200" b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B7F084-2060-47AD-B2D8-7E301E9A69F8}" type="slidenum">
              <a:rPr kumimoji="1" lang="en-US" altLang="zh-CN" sz="13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CN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36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E9169C2-F5CB-4737-B86B-9114F64089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BD29E-629F-4541-AA26-D33205972C65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5294466-D776-4909-A623-DF6F74F64D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F94B5-8154-41DD-8A2D-701C60F106E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8603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7A1808B-B0B3-4214-BF2C-4FAE3FDCDF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CEF9D-44DB-4C8E-96D2-7C7C94BA3FE8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39A281D-8D56-44E5-9D51-4C4A4C28ED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E1799-C419-413A-A7A7-74D9A1A3F76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19199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5578493-4355-44D0-B020-6247EDB86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3D5DC-76FE-4C01-8F00-7B16A589D4EC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971BAD6-9796-4EC6-9BA2-C21725F6E4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3398B-0BD2-4A5D-93B4-46189001F7F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0066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1B09D8-D657-4FDE-B98F-C63AB1C8D0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038A4-F592-4419-B152-385B6875979E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9416DC7-880C-4D9F-8E21-171802BAEA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F956A-2847-48CA-AE65-4CB1792ECDD9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59233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26A960B-CA94-4533-A759-973AD6643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9AD57-8414-42C5-A5DC-0D340BE9D19B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EA961AC-2479-400E-9DFB-7A2FCBDFCA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F29FC-8280-463B-9EF7-557DF61CFAD4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18095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4888B6D-8867-409D-BDB5-46FC29B8C4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6656F5-B3A1-4BC8-9B0D-76B6159C459A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2753492-BD4E-469B-9FDA-045C3C9D6F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41BC0-0B8A-4FE2-9EC7-CC040C505230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90004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05A61748-F746-448A-9FCE-F8B7108408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D8C1C-D31C-4858-9E86-8940F805140A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E29C824F-F0F7-46D0-B6CD-71E52A8B60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A2FA0-6270-4B8B-8717-CBA49AB2A51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013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CB2A20C-0A82-4378-A376-3F8D09114A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74E84-C5FC-4D9F-8753-0915D03EB6D5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0708EAE-9508-4FA7-A96E-1FB11D6668F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92346-5E03-4040-9B82-692992C715B3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1703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DA58033-8A78-4A99-B8C8-0D1F81584D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FA93E-3EAA-456D-84B4-1D6C810EBC0D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7D54F0A-949D-4325-B373-024150FA50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F12C9-1401-4B08-965E-4854B74C34C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4637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541385F-E50A-472C-905A-FA8FFA0383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3B5E4-FA87-4EC5-8B64-A1AB7AFD9E0B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BDC6CDB-7775-403C-B00A-07B5513A9F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4741B-D4F7-4B9D-B28C-371470E845A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14291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06DAB86-BD1C-451C-80EF-1260E064F1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DADA5-A8C0-48CA-AD35-DFCC387024FC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9977437-2205-4EA6-A798-C9B8BD470C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A686E-1575-4CE7-B830-124735DDD98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7409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9DBB1CB-F453-4C40-976F-CAA6F41C65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9E9C7-5EC2-6844-B455-694012AB9619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E8D50768-7E0B-4107-B1EA-5CB4BA4CE2E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1CF9B7-81D0-4384-BA2B-7977C969602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86251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2058D19-DF52-47D2-920C-175742128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8B3762-6D82-9F4C-8E57-02E801A7ECB5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03C81CB-31EF-4D26-882B-6A134DBAAE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CAA4D-FB45-4F1A-A809-15041C8C36A0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53602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660CCF1-07CE-4011-BCD1-8ED86FE8CC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61410-42E1-494E-86AB-8FF4DF704B49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AF33AE2-CF70-4CD3-9E40-172C270ED8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F9590-C75A-465D-839C-5DA82D07D83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2946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D05AB0D-FE67-4C97-9392-2BA4D8E859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8847CE-8242-3649-9927-CFFB66F42365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393426-8898-4299-A2DC-F4CB6BA450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7BE2C-5A2B-4BBB-8CEF-B9F435B9F966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02537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976E661-EF02-4ECA-A0FF-04D7FC629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1497E-86BB-5B42-B749-BABFEB02AB62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1D6C14B-DE3F-4EC5-90D7-E954ECEE26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584F2-FA5E-43F8-B0B4-883B8BF35D3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40190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50068FF-8E47-4FBF-B70E-B72FEDC8B7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74E45-A67E-9D4F-85D8-9A3FB9C5853A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2F154CD-FAC0-442D-A69E-4BE2314C20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09F7D-6AC0-4F74-A617-D5F45D9800E1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740798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05C23DAC-E21B-4649-B891-5F038CD83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D07E0-873E-5045-8F50-3462AE8A890A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BD9DFC82-27D9-4B73-8813-9C5B9CB2D3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47A6EE-6FE4-48C5-8258-BFAACA9A594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27181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FCCAAF0-B7FC-4653-B7F7-39DDE4C4AD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65ED0-9AFE-664E-AA52-414056690667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3BF3223-606D-4DE9-AC7D-364860B16B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0C6841-E11D-41EA-AB31-DCCC9C1A5486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618041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7F450F3-52E9-4276-84F3-49EAA9A1F6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F9188-2C98-7140-8187-40EFFE8B8B4A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37076D2-EDC2-4372-B6C8-60AB89C230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C2A6A-2610-44C7-8B0F-26E4A1951219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307880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89B3FCF-4479-411A-ADB1-DEDA460091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BAB6E-E9C6-6C4C-886E-9F510D0B10CF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4890E83-C2B6-4E16-8371-0C06C36C1F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9A9CD-2648-48AF-B334-D238F58E8F90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8933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1CC26D7-DF95-4FB8-8CFB-DF3CF3F641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8ED1CB-BA76-B24B-9248-C44ABAE7E565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51B4CD2-0857-4BCA-A6A3-80FC3FD112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C853B-F0BE-4380-B804-377405E9D6BD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61129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>
            <a:extLst>
              <a:ext uri="{FF2B5EF4-FFF2-40B4-BE49-F238E27FC236}">
                <a16:creationId xmlns:a16="http://schemas.microsoft.com/office/drawing/2014/main" id="{D9CAB14C-E507-4C7F-A67A-F8F86C5737F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3" imgW="8980952" imgH="6733333" progId="Paint.Picture">
                  <p:embed/>
                </p:oleObj>
              </mc:Choice>
              <mc:Fallback>
                <p:oleObj name="BMP 图象" r:id="rId13" imgW="8980952" imgH="6733333" progId="Paint.Picture">
                  <p:embed/>
                  <p:pic>
                    <p:nvPicPr>
                      <p:cNvPr id="1026" name="Object 15">
                        <a:extLst>
                          <a:ext uri="{FF2B5EF4-FFF2-40B4-BE49-F238E27FC236}">
                            <a16:creationId xmlns:a16="http://schemas.microsoft.com/office/drawing/2014/main" id="{D9CAB14C-E507-4C7F-A67A-F8F86C5737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2">
            <a:extLst>
              <a:ext uri="{FF2B5EF4-FFF2-40B4-BE49-F238E27FC236}">
                <a16:creationId xmlns:a16="http://schemas.microsoft.com/office/drawing/2014/main" id="{67753B18-590F-439D-B7E5-01D5C06BDD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54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charset="0"/>
              </a:defRPr>
            </a:lvl1pPr>
          </a:lstStyle>
          <a:p>
            <a:pPr>
              <a:defRPr/>
            </a:pPr>
            <a:fld id="{962AD747-7D7A-4C63-846B-325074CA8156}" type="datetime1">
              <a:rPr lang="zh-CN" altLang="en-US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10EE4D5A-66EC-4CD0-AFCF-3CC7B2B4C9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246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685A0D7-4B3D-4E8C-AB18-6D9FE61F43A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29" name="Rectangle 16">
            <a:extLst>
              <a:ext uri="{FF2B5EF4-FFF2-40B4-BE49-F238E27FC236}">
                <a16:creationId xmlns:a16="http://schemas.microsoft.com/office/drawing/2014/main" id="{591B208F-F4A7-4742-8326-704959DBB7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473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>
            <a:extLst>
              <a:ext uri="{FF2B5EF4-FFF2-40B4-BE49-F238E27FC236}">
                <a16:creationId xmlns:a16="http://schemas.microsoft.com/office/drawing/2014/main" id="{A4A3A1D9-2B39-49A1-B2D2-37D8A2C80044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3" imgW="8980952" imgH="6733333" progId="Paint.Picture">
                  <p:embed/>
                </p:oleObj>
              </mc:Choice>
              <mc:Fallback>
                <p:oleObj name="BMP 图象" r:id="rId13" imgW="8980952" imgH="6733333" progId="Paint.Picture">
                  <p:embed/>
                  <p:pic>
                    <p:nvPicPr>
                      <p:cNvPr id="1026" name="Object 15">
                        <a:extLst>
                          <a:ext uri="{FF2B5EF4-FFF2-40B4-BE49-F238E27FC236}">
                            <a16:creationId xmlns:a16="http://schemas.microsoft.com/office/drawing/2014/main" id="{A4A3A1D9-2B39-49A1-B2D2-37D8A2C800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16">
            <a:extLst>
              <a:ext uri="{FF2B5EF4-FFF2-40B4-BE49-F238E27FC236}">
                <a16:creationId xmlns:a16="http://schemas.microsoft.com/office/drawing/2014/main" id="{29A78589-9BB8-4F74-8E49-4E79294C4A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448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CFB1132C-61DA-42B8-9142-A7E0C311FA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54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6CE8454-538A-9142-ABB1-CBC23AFB9C3D}" type="datetime1">
              <a:rPr lang="zh-CN" altLang="en-US" smtClean="0"/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CCB67406-A148-46FC-97D4-782B8C58A6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246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F0A15D2-AD29-4215-84B1-B88054C25F58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21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0.png"/><Relationship Id="rId7" Type="http://schemas.openxmlformats.org/officeDocument/2006/relationships/image" Target="../media/image56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3E83A-5A7D-4FD7-818F-B1E5E579A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07910"/>
            <a:ext cx="7772400" cy="1470025"/>
          </a:xfrm>
        </p:spPr>
        <p:txBody>
          <a:bodyPr/>
          <a:lstStyle/>
          <a:p>
            <a:r>
              <a:rPr lang="zh-CN" altLang="en-US" sz="8800" b="1" kern="12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第二次</a:t>
            </a:r>
            <a:br>
              <a:rPr lang="en-US" altLang="zh-CN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br>
            <a:r>
              <a:rPr lang="zh-CN" altLang="en-US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小班讨论</a:t>
            </a:r>
          </a:p>
        </p:txBody>
      </p:sp>
    </p:spTree>
    <p:extLst>
      <p:ext uri="{BB962C8B-B14F-4D97-AF65-F5344CB8AC3E}">
        <p14:creationId xmlns:p14="http://schemas.microsoft.com/office/powerpoint/2010/main" val="4919043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7DF3-2746-A7B4-A431-405E3B42B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1">
            <a:extLst>
              <a:ext uri="{FF2B5EF4-FFF2-40B4-BE49-F238E27FC236}">
                <a16:creationId xmlns:a16="http://schemas.microsoft.com/office/drawing/2014/main" id="{5B67C766-E7DC-B69D-61E1-F03B93450F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38F9BE-2777-F644-8811-B957EF9D6C2B}" type="datetime1">
              <a:rPr kumimoji="1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灯片编号占位符 2">
            <a:extLst>
              <a:ext uri="{FF2B5EF4-FFF2-40B4-BE49-F238E27FC236}">
                <a16:creationId xmlns:a16="http://schemas.microsoft.com/office/drawing/2014/main" id="{2ADD8F96-6FE9-A905-20BC-851281F37A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5151F4-592F-4AA8-A902-D2FD4D1D3EA1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/15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2" name="Rectangle 69">
            <a:extLst>
              <a:ext uri="{FF2B5EF4-FFF2-40B4-BE49-F238E27FC236}">
                <a16:creationId xmlns:a16="http://schemas.microsoft.com/office/drawing/2014/main" id="{8C09D8A2-DBC9-5D5C-B123-635BAD8C7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15900"/>
            <a:ext cx="8686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分层设计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4E4A1E0-F0B0-75E1-D1DB-F201AE193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1972604"/>
            <a:ext cx="8499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kumimoji="0" lang="zh-CN" altLang="en-US" sz="2400" b="0">
                <a:solidFill>
                  <a:srgbClr val="C00000"/>
                </a:solidFill>
                <a:ea typeface="华文新魏" panose="02010800040101010101" pitchFamily="2" charset="-122"/>
              </a:rPr>
              <a:t>    </a:t>
            </a:r>
            <a:r>
              <a:rPr kumimoji="0" lang="zh-CN" altLang="en-US" b="0">
                <a:solidFill>
                  <a:srgbClr val="FF0000"/>
                </a:solidFill>
                <a:ea typeface="华文新魏" panose="02010800040101010101" pitchFamily="2" charset="-122"/>
              </a:rPr>
              <a:t>例</a:t>
            </a:r>
            <a:r>
              <a:rPr kumimoji="0" lang="en-US" altLang="zh-CN" b="0">
                <a:solidFill>
                  <a:srgbClr val="FF0000"/>
                </a:solidFill>
                <a:ea typeface="华文新魏" panose="02010800040101010101" pitchFamily="2" charset="-122"/>
              </a:rPr>
              <a:t>  </a:t>
            </a:r>
            <a:r>
              <a:rPr kumimoji="0" lang="zh-CN" altLang="en-US" b="0" dirty="0">
                <a:ea typeface="华文新魏" panose="02010800040101010101" pitchFamily="2" charset="-122"/>
              </a:rPr>
              <a:t>设计</a:t>
            </a:r>
            <a:r>
              <a:rPr kumimoji="0" lang="zh-CN" altLang="en-US" b="0">
                <a:ea typeface="华文新魏" panose="02010800040101010101" pitchFamily="2" charset="-122"/>
              </a:rPr>
              <a:t>一个秒计数器</a:t>
            </a:r>
            <a:endParaRPr kumimoji="0" lang="zh-CN" altLang="en-US" sz="2400" b="0" dirty="0">
              <a:ea typeface="华文新魏" panose="02010800040101010101" pitchFamily="2" charset="-122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D1A78602-FC60-027E-1D52-CBDA5A12F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06" y="2465219"/>
            <a:ext cx="79596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kumimoji="0" lang="en-US" altLang="zh-CN" sz="2400" b="0">
                <a:ea typeface="华文新魏" panose="02010800040101010101" pitchFamily="2" charset="-122"/>
              </a:rPr>
              <a:t> </a:t>
            </a:r>
            <a:r>
              <a:rPr kumimoji="0" lang="zh-CN" altLang="en-US" sz="2400" b="0">
                <a:ea typeface="华文新魏" panose="02010800040101010101" pitchFamily="2" charset="-122"/>
              </a:rPr>
              <a:t>功能</a:t>
            </a:r>
            <a:r>
              <a:rPr kumimoji="0" lang="zh-CN" altLang="en-US" sz="2400" b="0" dirty="0">
                <a:ea typeface="华文新魏" panose="02010800040101010101" pitchFamily="2" charset="-122"/>
              </a:rPr>
              <a:t>描述</a:t>
            </a:r>
            <a:endParaRPr kumimoji="0" lang="en-US" altLang="zh-CN" sz="2400" b="0" dirty="0">
              <a:ea typeface="华文新魏" panose="02010800040101010101" pitchFamily="2" charset="-122"/>
            </a:endParaRPr>
          </a:p>
          <a:p>
            <a:pPr marL="0" lvl="1" eaLnBrk="1" hangingPunct="1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</a:pPr>
            <a:r>
              <a:rPr kumimoji="0" lang="zh-CN" altLang="en-US" sz="2400" b="0">
                <a:ea typeface="华文新魏" panose="02010800040101010101" pitchFamily="2" charset="-122"/>
              </a:rPr>
              <a:t>    输入：一个频率为</a:t>
            </a:r>
            <a:r>
              <a:rPr kumimoji="0" lang="en-US" altLang="zh-CN" sz="2400" b="0">
                <a:ea typeface="华文新魏" panose="02010800040101010101" pitchFamily="2" charset="-122"/>
              </a:rPr>
              <a:t>100KHz</a:t>
            </a:r>
            <a:r>
              <a:rPr kumimoji="0" lang="zh-CN" altLang="en-US" sz="2400" b="0">
                <a:ea typeface="华文新魏" panose="02010800040101010101" pitchFamily="2" charset="-122"/>
              </a:rPr>
              <a:t>的时钟，一个复位信号</a:t>
            </a:r>
            <a:r>
              <a:rPr kumimoji="0" lang="en-US" altLang="zh-CN" sz="2400" b="0">
                <a:ea typeface="华文新魏" panose="02010800040101010101" pitchFamily="2" charset="-122"/>
              </a:rPr>
              <a:t>reset</a:t>
            </a:r>
            <a:r>
              <a:rPr kumimoji="0" lang="zh-CN" altLang="en-US" sz="2400" b="0">
                <a:ea typeface="华文新魏" panose="02010800040101010101" pitchFamily="2" charset="-122"/>
              </a:rPr>
              <a:t>；当</a:t>
            </a:r>
            <a:r>
              <a:rPr kumimoji="0" lang="en-US" altLang="zh-CN" sz="2400" b="0">
                <a:ea typeface="华文新魏" panose="02010800040101010101" pitchFamily="2" charset="-122"/>
              </a:rPr>
              <a:t>reset=1</a:t>
            </a:r>
            <a:r>
              <a:rPr kumimoji="0" lang="zh-CN" altLang="en-US" sz="2400" b="0">
                <a:ea typeface="华文新魏" panose="02010800040101010101" pitchFamily="2" charset="-122"/>
              </a:rPr>
              <a:t>时，实现每秒加</a:t>
            </a:r>
            <a:r>
              <a:rPr kumimoji="0" lang="en-US" altLang="zh-CN" sz="2400" b="0">
                <a:ea typeface="华文新魏" panose="02010800040101010101" pitchFamily="2" charset="-122"/>
              </a:rPr>
              <a:t>1</a:t>
            </a:r>
            <a:r>
              <a:rPr kumimoji="0" lang="zh-CN" altLang="en-US" sz="2400" b="0">
                <a:ea typeface="华文新魏" panose="02010800040101010101" pitchFamily="2" charset="-122"/>
              </a:rPr>
              <a:t>计数，计数范围为</a:t>
            </a:r>
            <a:r>
              <a:rPr kumimoji="0" lang="en-US" altLang="zh-CN" sz="2400" b="0">
                <a:ea typeface="华文新魏" panose="02010800040101010101" pitchFamily="2" charset="-122"/>
              </a:rPr>
              <a:t>0-59</a:t>
            </a:r>
            <a:r>
              <a:rPr kumimoji="0" lang="zh-CN" altLang="en-US" sz="2400" b="0">
                <a:ea typeface="华文新魏" panose="02010800040101010101" pitchFamily="2" charset="-122"/>
              </a:rPr>
              <a:t>。</a:t>
            </a:r>
            <a:endParaRPr kumimoji="0" lang="zh-CN" altLang="en-US" sz="2400" b="0" dirty="0">
              <a:ea typeface="华文新魏" panose="02010800040101010101" pitchFamily="2" charset="-122"/>
            </a:endParaRPr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A6AC8F37-9819-2D69-3AC3-D3212ED97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98" y="5549059"/>
            <a:ext cx="868625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0" lang="en-US" altLang="zh-CN" sz="2400" b="0">
                <a:ea typeface="华文新魏" panose="02010800040101010101" pitchFamily="2" charset="-122"/>
              </a:rPr>
              <a:t>clk_divider_1s</a:t>
            </a:r>
            <a:r>
              <a:rPr kumimoji="0" lang="zh-CN" altLang="en-US" sz="2400" b="0">
                <a:ea typeface="华文新魏" panose="02010800040101010101" pitchFamily="2" charset="-122"/>
              </a:rPr>
              <a:t>：将</a:t>
            </a:r>
            <a:r>
              <a:rPr kumimoji="0" lang="en-US" altLang="zh-CN" sz="2400" b="0">
                <a:ea typeface="华文新魏" panose="02010800040101010101" pitchFamily="2" charset="-122"/>
              </a:rPr>
              <a:t>100KHz</a:t>
            </a:r>
            <a:r>
              <a:rPr kumimoji="0" lang="zh-CN" altLang="en-US" sz="2400" b="0">
                <a:ea typeface="华文新魏" panose="02010800040101010101" pitchFamily="2" charset="-122"/>
              </a:rPr>
              <a:t>的时钟分频得到</a:t>
            </a:r>
            <a:r>
              <a:rPr kumimoji="0" lang="en-US" altLang="zh-CN" sz="2400" b="0">
                <a:ea typeface="华文新魏" panose="02010800040101010101" pitchFamily="2" charset="-122"/>
              </a:rPr>
              <a:t>1Hz</a:t>
            </a:r>
            <a:r>
              <a:rPr kumimoji="0" lang="zh-CN" altLang="en-US" sz="2400" b="0">
                <a:ea typeface="华文新魏" panose="02010800040101010101" pitchFamily="2" charset="-122"/>
              </a:rPr>
              <a:t>的秒时钟信号</a:t>
            </a:r>
            <a:endParaRPr kumimoji="0" lang="en-US" altLang="zh-CN" sz="2400" b="0" dirty="0">
              <a:ea typeface="华文新魏" panose="02010800040101010101" pitchFamily="2" charset="-122"/>
            </a:endParaRPr>
          </a:p>
          <a:p>
            <a:pPr marL="0" lvl="1" eaLnBrk="1" hangingPunct="1">
              <a:spcBef>
                <a:spcPts val="0"/>
              </a:spcBef>
              <a:buClr>
                <a:srgbClr val="0000FF"/>
              </a:buClr>
            </a:pPr>
            <a:r>
              <a:rPr kumimoji="0" lang="en-US" altLang="zh-CN" sz="2400" b="0">
                <a:ea typeface="华文新魏" panose="02010800040101010101" pitchFamily="2" charset="-122"/>
              </a:rPr>
              <a:t>second_counter</a:t>
            </a:r>
            <a:r>
              <a:rPr kumimoji="0" lang="zh-CN" altLang="en-US" sz="2400" b="0">
                <a:ea typeface="华文新魏" panose="02010800040101010101" pitchFamily="2" charset="-122"/>
              </a:rPr>
              <a:t>：实现每秒加</a:t>
            </a:r>
            <a:r>
              <a:rPr kumimoji="0" lang="en-US" altLang="zh-CN" sz="2400" b="0">
                <a:ea typeface="华文新魏" panose="02010800040101010101" pitchFamily="2" charset="-122"/>
              </a:rPr>
              <a:t>1</a:t>
            </a:r>
            <a:r>
              <a:rPr kumimoji="0" lang="zh-CN" altLang="en-US" sz="2400" b="0">
                <a:ea typeface="华文新魏" panose="02010800040101010101" pitchFamily="2" charset="-122"/>
              </a:rPr>
              <a:t>计数，计数范围为</a:t>
            </a:r>
            <a:r>
              <a:rPr kumimoji="0" lang="en-US" altLang="zh-CN" sz="2400" b="0">
                <a:ea typeface="华文新魏" panose="02010800040101010101" pitchFamily="2" charset="-122"/>
              </a:rPr>
              <a:t>0-59</a:t>
            </a:r>
            <a:r>
              <a:rPr kumimoji="0" lang="zh-CN" altLang="en-US" sz="2400" b="0">
                <a:ea typeface="华文新魏" panose="02010800040101010101" pitchFamily="2" charset="-122"/>
              </a:rPr>
              <a:t>的秒计数器</a:t>
            </a:r>
            <a:endParaRPr kumimoji="0" lang="zh-CN" altLang="en-US" sz="2400" b="0" dirty="0">
              <a:ea typeface="华文新魏" panose="02010800040101010101" pitchFamily="2" charset="-122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F4B4613-A40F-8F83-EA18-F8B791C2A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75" y="3823891"/>
            <a:ext cx="8286750" cy="167640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F0F16F7D-7BF0-399C-72EA-7B3ED2226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" y="1001890"/>
            <a:ext cx="2260231" cy="912262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8986A0C6-FC73-A7C3-38B8-ADD3950E3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2942" y="1070852"/>
            <a:ext cx="2722218" cy="629330"/>
          </a:xfrm>
          <a:prstGeom prst="rect">
            <a:avLst/>
          </a:prstGeom>
        </p:spPr>
      </p:pic>
      <p:sp>
        <p:nvSpPr>
          <p:cNvPr id="53" name="Text Box 7">
            <a:extLst>
              <a:ext uri="{FF2B5EF4-FFF2-40B4-BE49-F238E27FC236}">
                <a16:creationId xmlns:a16="http://schemas.microsoft.com/office/drawing/2014/main" id="{DF600B3E-6804-B71A-366C-B9B4BF706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209" y="1028198"/>
            <a:ext cx="339322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0" lang="zh-CN" altLang="en-US" sz="2000" b="0">
                <a:ea typeface="华文新魏" panose="02010800040101010101" pitchFamily="2" charset="-122"/>
              </a:rPr>
              <a:t>拨码开关可以选择分频</a:t>
            </a:r>
            <a:r>
              <a:rPr kumimoji="0" lang="en-US" altLang="zh-CN" sz="2000" b="0">
                <a:ea typeface="华文新魏" panose="02010800040101010101" pitchFamily="2" charset="-122"/>
              </a:rPr>
              <a:t>1</a:t>
            </a:r>
            <a:r>
              <a:rPr kumimoji="0" lang="zh-CN" altLang="en-US" sz="2000" b="0">
                <a:ea typeface="华文新魏" panose="02010800040101010101" pitchFamily="2" charset="-122"/>
              </a:rPr>
              <a:t>、</a:t>
            </a:r>
            <a:r>
              <a:rPr kumimoji="0" lang="en-US" altLang="zh-CN" sz="2000" b="0">
                <a:ea typeface="华文新魏" panose="02010800040101010101" pitchFamily="2" charset="-122"/>
              </a:rPr>
              <a:t>2</a:t>
            </a:r>
            <a:r>
              <a:rPr kumimoji="0" lang="zh-CN" altLang="en-US" sz="2000" b="0">
                <a:ea typeface="华文新魏" panose="02010800040101010101" pitchFamily="2" charset="-122"/>
              </a:rPr>
              <a:t>、</a:t>
            </a:r>
            <a:r>
              <a:rPr kumimoji="0" lang="en-US" altLang="zh-CN" sz="2000" b="0">
                <a:ea typeface="华文新魏" panose="02010800040101010101" pitchFamily="2" charset="-122"/>
              </a:rPr>
              <a:t>4</a:t>
            </a:r>
            <a:r>
              <a:rPr kumimoji="0" lang="zh-CN" altLang="en-US" sz="2000" b="0">
                <a:ea typeface="华文新魏" panose="02010800040101010101" pitchFamily="2" charset="-122"/>
              </a:rPr>
              <a:t>、</a:t>
            </a:r>
            <a:r>
              <a:rPr kumimoji="0" lang="en-US" altLang="zh-CN" sz="2000" b="0">
                <a:ea typeface="华文新魏" panose="02010800040101010101" pitchFamily="2" charset="-122"/>
              </a:rPr>
              <a:t>8</a:t>
            </a:r>
            <a:r>
              <a:rPr kumimoji="0" lang="zh-CN" altLang="en-US" sz="2000" b="0">
                <a:ea typeface="华文新魏" panose="02010800040101010101" pitchFamily="2" charset="-122"/>
              </a:rPr>
              <a:t>、</a:t>
            </a:r>
            <a:r>
              <a:rPr kumimoji="0" lang="en-US" altLang="zh-CN" sz="2000" b="0">
                <a:ea typeface="华文新魏" panose="02010800040101010101" pitchFamily="2" charset="-122"/>
              </a:rPr>
              <a:t>16</a:t>
            </a:r>
            <a:r>
              <a:rPr kumimoji="0" lang="zh-CN" altLang="en-US" sz="2000" b="0">
                <a:ea typeface="华文新魏" panose="02010800040101010101" pitchFamily="2" charset="-122"/>
              </a:rPr>
              <a:t>、</a:t>
            </a:r>
            <a:r>
              <a:rPr kumimoji="0" lang="en-US" altLang="zh-CN" sz="2000" b="0">
                <a:ea typeface="华文新魏" panose="02010800040101010101" pitchFamily="2" charset="-122"/>
              </a:rPr>
              <a:t>32</a:t>
            </a:r>
            <a:r>
              <a:rPr kumimoji="0" lang="zh-CN" altLang="en-US" sz="2000" b="0">
                <a:ea typeface="华文新魏" panose="02010800040101010101" pitchFamily="2" charset="-122"/>
              </a:rPr>
              <a:t>、</a:t>
            </a:r>
            <a:r>
              <a:rPr kumimoji="0" lang="en-US" altLang="zh-CN" sz="2000" b="0">
                <a:ea typeface="华文新魏" panose="02010800040101010101" pitchFamily="2" charset="-122"/>
              </a:rPr>
              <a:t>64</a:t>
            </a:r>
            <a:r>
              <a:rPr kumimoji="0" lang="zh-CN" altLang="en-US" sz="2000" b="0">
                <a:ea typeface="华文新魏" panose="02010800040101010101" pitchFamily="2" charset="-122"/>
              </a:rPr>
              <a:t>、</a:t>
            </a:r>
            <a:r>
              <a:rPr kumimoji="0" lang="en-US" altLang="zh-CN" sz="2000" b="0">
                <a:ea typeface="华文新魏" panose="02010800040101010101" pitchFamily="2" charset="-122"/>
              </a:rPr>
              <a:t>128</a:t>
            </a:r>
            <a:endParaRPr kumimoji="0" lang="en-US" altLang="zh-CN" sz="2000" b="0" dirty="0">
              <a:ea typeface="华文新魏" panose="020108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2272523"/>
      </p:ext>
    </p:extLst>
  </p:cSld>
  <p:clrMapOvr>
    <a:masterClrMapping/>
  </p:clrMapOvr>
  <p:transition spd="med" advTm="1003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2"/>
      <p:bldP spid="44" grpId="0" bldLvl="2"/>
    </p:bldLst>
  </p:timing>
  <p:extLst>
    <p:ext uri="{E180D4A7-C9FB-4DFB-919C-405C955672EB}">
      <p14:showEvtLst xmlns:p14="http://schemas.microsoft.com/office/powerpoint/2010/main">
        <p14:playEvt time="8" objId="3"/>
        <p14:stopEvt time="99725" objId="3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BC72-AD4D-1428-6264-59DA3189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1">
            <a:extLst>
              <a:ext uri="{FF2B5EF4-FFF2-40B4-BE49-F238E27FC236}">
                <a16:creationId xmlns:a16="http://schemas.microsoft.com/office/drawing/2014/main" id="{8D335626-8249-CE57-A640-A8BAE81112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38F9BE-2777-F644-8811-B957EF9D6C2B}" type="datetime1">
              <a:rPr kumimoji="1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灯片编号占位符 2">
            <a:extLst>
              <a:ext uri="{FF2B5EF4-FFF2-40B4-BE49-F238E27FC236}">
                <a16:creationId xmlns:a16="http://schemas.microsoft.com/office/drawing/2014/main" id="{E12981F5-A53F-8FF4-4537-D301601153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5151F4-592F-4AA8-A902-D2FD4D1D3EA1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/15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2" name="Rectangle 69">
            <a:extLst>
              <a:ext uri="{FF2B5EF4-FFF2-40B4-BE49-F238E27FC236}">
                <a16:creationId xmlns:a16="http://schemas.microsoft.com/office/drawing/2014/main" id="{A714173C-D416-C741-1DAC-736BCBC45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15900"/>
            <a:ext cx="8686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分层设计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4428B919-7682-22F2-A91B-B1E960E17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1" y="1029414"/>
            <a:ext cx="6158230" cy="1144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2400" b="0">
                <a:solidFill>
                  <a:srgbClr val="000000"/>
                </a:solidFill>
                <a:ea typeface="华文新魏" panose="02010800040101010101" pitchFamily="2" charset="-122"/>
              </a:rPr>
              <a:t>clk_divider_1s</a:t>
            </a:r>
            <a:r>
              <a:rPr kumimoji="0" lang="zh-CN" altLang="en-US" sz="2400" b="0">
                <a:solidFill>
                  <a:srgbClr val="000000"/>
                </a:solidFill>
                <a:ea typeface="华文新魏" panose="02010800040101010101" pitchFamily="2" charset="-122"/>
              </a:rPr>
              <a:t>：将</a:t>
            </a:r>
            <a:r>
              <a:rPr kumimoji="0" lang="en-US" altLang="zh-CN" sz="2400" b="0">
                <a:solidFill>
                  <a:srgbClr val="000000"/>
                </a:solidFill>
                <a:ea typeface="华文新魏" panose="02010800040101010101" pitchFamily="2" charset="-122"/>
              </a:rPr>
              <a:t>100KHz</a:t>
            </a:r>
            <a:r>
              <a:rPr kumimoji="0" lang="zh-CN" altLang="en-US" sz="2400" b="0">
                <a:solidFill>
                  <a:srgbClr val="000000"/>
                </a:solidFill>
                <a:ea typeface="华文新魏" panose="02010800040101010101" pitchFamily="2" charset="-122"/>
              </a:rPr>
              <a:t>的输入时钟进行</a:t>
            </a:r>
            <a:r>
              <a:rPr kumimoji="0" lang="en-US" altLang="zh-CN" sz="2400" b="0">
                <a:solidFill>
                  <a:srgbClr val="000000"/>
                </a:solidFill>
                <a:ea typeface="华文新魏" panose="02010800040101010101" pitchFamily="2" charset="-122"/>
              </a:rPr>
              <a:t>100,000</a:t>
            </a:r>
            <a:r>
              <a:rPr kumimoji="0" lang="zh-CN" altLang="en-US" sz="2400" b="0">
                <a:solidFill>
                  <a:srgbClr val="000000"/>
                </a:solidFill>
                <a:ea typeface="华文新魏" panose="02010800040101010101" pitchFamily="2" charset="-122"/>
              </a:rPr>
              <a:t>分频，产生周期为</a:t>
            </a:r>
            <a:r>
              <a:rPr kumimoji="0" lang="en-US" altLang="zh-CN" sz="2400" b="0">
                <a:solidFill>
                  <a:srgbClr val="000000"/>
                </a:solidFill>
                <a:ea typeface="华文新魏" panose="02010800040101010101" pitchFamily="2" charset="-122"/>
              </a:rPr>
              <a:t>1</a:t>
            </a:r>
            <a:r>
              <a:rPr kumimoji="0" lang="zh-CN" altLang="en-US" sz="2400" b="0">
                <a:solidFill>
                  <a:srgbClr val="000000"/>
                </a:solidFill>
                <a:ea typeface="华文新魏" panose="02010800040101010101" pitchFamily="2" charset="-122"/>
              </a:rPr>
              <a:t>秒的时钟信号。</a:t>
            </a:r>
            <a:endParaRPr kumimoji="0" lang="en-US" altLang="zh-CN" sz="2400" b="0">
              <a:solidFill>
                <a:srgbClr val="000000"/>
              </a:solidFill>
              <a:ea typeface="华文新魏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7EE7A6-4ECB-93F4-F6E4-C5318711F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754" y="1118670"/>
            <a:ext cx="1552792" cy="11907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A68548-DC1A-FA4D-0197-CE0B5F19F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55" y="2389246"/>
            <a:ext cx="5553075" cy="371475"/>
          </a:xfrm>
          <a:prstGeom prst="rect">
            <a:avLst/>
          </a:prstGeom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6A653701-6924-2BF7-4BB4-1C98D0402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49" y="2935227"/>
            <a:ext cx="7959689" cy="590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0" lang="zh-CN" altLang="en-US" sz="2400" b="0">
                <a:ea typeface="华文新魏" panose="02010800040101010101" pitchFamily="2" charset="-122"/>
              </a:rPr>
              <a:t>当</a:t>
            </a:r>
            <a:r>
              <a:rPr kumimoji="0" lang="en-US" altLang="zh-CN" sz="2400" b="0">
                <a:ea typeface="华文新魏" panose="02010800040101010101" pitchFamily="2" charset="-122"/>
              </a:rPr>
              <a:t>rst_n</a:t>
            </a:r>
            <a:r>
              <a:rPr kumimoji="0" lang="zh-CN" altLang="en-US" sz="2400" b="0">
                <a:ea typeface="华文新魏" panose="02010800040101010101" pitchFamily="2" charset="-122"/>
              </a:rPr>
              <a:t>为</a:t>
            </a:r>
            <a:r>
              <a:rPr kumimoji="0" lang="en-US" altLang="zh-CN" sz="2400" b="0">
                <a:ea typeface="华文新魏" panose="02010800040101010101" pitchFamily="2" charset="-122"/>
              </a:rPr>
              <a:t>1</a:t>
            </a:r>
            <a:r>
              <a:rPr kumimoji="0" lang="zh-CN" altLang="en-US" sz="2400" b="0">
                <a:ea typeface="华文新魏" panose="02010800040101010101" pitchFamily="2" charset="-122"/>
              </a:rPr>
              <a:t>时，对</a:t>
            </a:r>
            <a:r>
              <a:rPr kumimoji="0" lang="en-US" altLang="zh-CN" sz="2400" b="0">
                <a:ea typeface="华文新魏" panose="02010800040101010101" pitchFamily="2" charset="-122"/>
              </a:rPr>
              <a:t>clk_100k</a:t>
            </a:r>
            <a:r>
              <a:rPr kumimoji="0" lang="zh-CN" altLang="en-US" sz="2400" b="0">
                <a:ea typeface="华文新魏" panose="02010800040101010101" pitchFamily="2" charset="-122"/>
              </a:rPr>
              <a:t>进行计数，计数</a:t>
            </a:r>
            <a:r>
              <a:rPr kumimoji="0" lang="en-US" altLang="zh-CN" sz="2400" b="0">
                <a:ea typeface="华文新魏" panose="02010800040101010101" pitchFamily="2" charset="-122"/>
              </a:rPr>
              <a:t>100000</a:t>
            </a:r>
            <a:r>
              <a:rPr kumimoji="0" lang="zh-CN" altLang="en-US" sz="2400" b="0">
                <a:ea typeface="华文新魏" panose="02010800040101010101" pitchFamily="2" charset="-122"/>
              </a:rPr>
              <a:t>就是</a:t>
            </a:r>
            <a:r>
              <a:rPr kumimoji="0" lang="en-US" altLang="zh-CN" sz="2400" b="0">
                <a:ea typeface="华文新魏" panose="02010800040101010101" pitchFamily="2" charset="-122"/>
              </a:rPr>
              <a:t>1s</a:t>
            </a:r>
            <a:endParaRPr kumimoji="0" lang="zh-CN" altLang="en-US" sz="2400" b="0" dirty="0">
              <a:ea typeface="华文新魏" panose="02010800040101010101" pitchFamily="2" charset="-122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64706F67-94E1-920C-6CFE-5AB8DB690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49" y="3719447"/>
            <a:ext cx="6475305" cy="1495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second_counter</a:t>
            </a:r>
            <a:r>
              <a:rPr kumimoji="0" lang="zh-CN" altLang="en-US" sz="2400" b="0">
                <a:solidFill>
                  <a:srgbClr val="000000"/>
                </a:solidFill>
                <a:ea typeface="华文新魏" panose="02010800040101010101" pitchFamily="2" charset="-122"/>
              </a:rPr>
              <a:t>：上述</a:t>
            </a:r>
            <a:r>
              <a:rPr kumimoji="0" lang="zh-CN" altLang="en-US" sz="2400" b="0">
                <a:ea typeface="华文新魏" panose="02010800040101010101" pitchFamily="2" charset="-122"/>
              </a:rPr>
              <a:t>生成的</a:t>
            </a:r>
            <a:r>
              <a:rPr kumimoji="0" lang="en-US" altLang="zh-CN" sz="2400" b="0">
                <a:ea typeface="华文新魏" panose="02010800040101010101" pitchFamily="2" charset="-122"/>
              </a:rPr>
              <a:t>1Hz</a:t>
            </a:r>
            <a:r>
              <a:rPr kumimoji="0" lang="zh-CN" altLang="en-US" sz="2400" b="0">
                <a:ea typeface="华文新魏" panose="02010800040101010101" pitchFamily="2" charset="-122"/>
              </a:rPr>
              <a:t>时钟 </a:t>
            </a:r>
            <a:r>
              <a:rPr kumimoji="0" lang="en-US" altLang="zh-CN" sz="2400" b="0">
                <a:ea typeface="华文新魏" panose="02010800040101010101" pitchFamily="2" charset="-122"/>
              </a:rPr>
              <a:t>clk_1s</a:t>
            </a:r>
            <a:r>
              <a:rPr kumimoji="0" lang="zh-CN" altLang="en-US" sz="2400" b="0">
                <a:ea typeface="华文新魏" panose="02010800040101010101" pitchFamily="2" charset="-122"/>
              </a:rPr>
              <a:t>作为触发信号，实现每秒加</a:t>
            </a:r>
            <a:r>
              <a:rPr kumimoji="0" lang="en-US" altLang="zh-CN" sz="2400" b="0">
                <a:ea typeface="华文新魏" panose="02010800040101010101" pitchFamily="2" charset="-122"/>
              </a:rPr>
              <a:t>1</a:t>
            </a:r>
            <a:r>
              <a:rPr kumimoji="0" lang="zh-CN" altLang="en-US" sz="2400" b="0">
                <a:ea typeface="华文新魏" panose="02010800040101010101" pitchFamily="2" charset="-122"/>
              </a:rPr>
              <a:t>的计数器，计数范围为</a:t>
            </a:r>
            <a:r>
              <a:rPr kumimoji="0" lang="en-US" altLang="zh-CN" sz="2400" b="0">
                <a:ea typeface="华文新魏" panose="02010800040101010101" pitchFamily="2" charset="-122"/>
              </a:rPr>
              <a:t>0-59</a:t>
            </a:r>
            <a:r>
              <a:rPr kumimoji="0" lang="zh-CN" altLang="en-US" sz="2400" b="0">
                <a:ea typeface="华文新魏" panose="02010800040101010101" pitchFamily="2" charset="-122"/>
              </a:rPr>
              <a:t>的秒计数器。</a:t>
            </a:r>
            <a:endParaRPr kumimoji="0" lang="en-US" altLang="zh-CN" sz="2400" b="0">
              <a:ea typeface="华文新魏" panose="02010800040101010101" pitchFamily="2" charset="-122"/>
            </a:endParaRP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B78805FF-B45A-593F-A631-CD6F7B520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49" y="5298965"/>
            <a:ext cx="8413751" cy="1073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30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0" lang="zh-CN" altLang="en-US" sz="2400" b="0">
                <a:ea typeface="华文新魏" panose="02010800040101010101" pitchFamily="2" charset="-122"/>
              </a:rPr>
              <a:t>当</a:t>
            </a:r>
            <a:r>
              <a:rPr kumimoji="0" lang="en-US" altLang="zh-CN" sz="2400" b="0">
                <a:ea typeface="华文新魏" panose="02010800040101010101" pitchFamily="2" charset="-122"/>
              </a:rPr>
              <a:t>rst_n</a:t>
            </a:r>
            <a:r>
              <a:rPr kumimoji="0" lang="zh-CN" altLang="en-US" sz="2400" b="0">
                <a:ea typeface="华文新魏" panose="02010800040101010101" pitchFamily="2" charset="-122"/>
              </a:rPr>
              <a:t>为</a:t>
            </a:r>
            <a:r>
              <a:rPr kumimoji="0" lang="en-US" altLang="zh-CN" sz="2400" b="0">
                <a:ea typeface="华文新魏" panose="02010800040101010101" pitchFamily="2" charset="-122"/>
              </a:rPr>
              <a:t>1</a:t>
            </a:r>
            <a:r>
              <a:rPr kumimoji="0" lang="zh-CN" altLang="en-US" sz="2400" b="0">
                <a:ea typeface="华文新魏" panose="02010800040101010101" pitchFamily="2" charset="-122"/>
              </a:rPr>
              <a:t>时，每检测到 </a:t>
            </a:r>
            <a:r>
              <a:rPr kumimoji="0" lang="en-US" altLang="zh-CN" sz="2400" b="0">
                <a:ea typeface="华文新魏" panose="02010800040101010101" pitchFamily="2" charset="-122"/>
              </a:rPr>
              <a:t>clk_1s</a:t>
            </a:r>
            <a:r>
              <a:rPr kumimoji="0" lang="zh-CN" altLang="en-US" sz="2400" b="0">
                <a:ea typeface="华文新魏" panose="02010800040101010101" pitchFamily="2" charset="-122"/>
              </a:rPr>
              <a:t>的上升沿，计数器 </a:t>
            </a:r>
            <a:r>
              <a:rPr kumimoji="0" lang="en-US" altLang="zh-CN" sz="2400" b="0">
                <a:ea typeface="华文新魏" panose="02010800040101010101" pitchFamily="2" charset="-122"/>
              </a:rPr>
              <a:t>sec_out</a:t>
            </a:r>
            <a:r>
              <a:rPr kumimoji="0" lang="zh-CN" altLang="en-US" sz="2400" b="0">
                <a:ea typeface="华文新魏" panose="02010800040101010101" pitchFamily="2" charset="-122"/>
              </a:rPr>
              <a:t>加</a:t>
            </a:r>
            <a:r>
              <a:rPr kumimoji="0" lang="en-US" altLang="zh-CN" sz="2400" b="0">
                <a:ea typeface="华文新魏" panose="02010800040101010101" pitchFamily="2" charset="-122"/>
              </a:rPr>
              <a:t>1</a:t>
            </a:r>
            <a:r>
              <a:rPr kumimoji="0" lang="zh-CN" altLang="en-US" sz="2400" b="0">
                <a:ea typeface="华文新魏" panose="02010800040101010101" pitchFamily="2" charset="-122"/>
              </a:rPr>
              <a:t>。当计数达到</a:t>
            </a:r>
            <a:r>
              <a:rPr kumimoji="0" lang="en-US" altLang="zh-CN" sz="2400" b="0">
                <a:ea typeface="华文新魏" panose="02010800040101010101" pitchFamily="2" charset="-122"/>
              </a:rPr>
              <a:t>59</a:t>
            </a:r>
            <a:r>
              <a:rPr kumimoji="0" lang="zh-CN" altLang="en-US" sz="2400" b="0">
                <a:ea typeface="华文新魏" panose="02010800040101010101" pitchFamily="2" charset="-122"/>
              </a:rPr>
              <a:t>时，下一个周期归零</a:t>
            </a:r>
            <a:r>
              <a:rPr lang="zh-CN" altLang="en-US" b="0"/>
              <a:t>，</a:t>
            </a:r>
            <a:r>
              <a:rPr kumimoji="0" lang="zh-CN" altLang="en-US" sz="2400" b="0">
                <a:ea typeface="华文新魏" panose="02010800040101010101" pitchFamily="2" charset="-122"/>
              </a:rPr>
              <a:t>实现</a:t>
            </a:r>
            <a:r>
              <a:rPr kumimoji="0" lang="en-US" altLang="zh-CN" sz="2400" b="0">
                <a:ea typeface="华文新魏" panose="02010800040101010101" pitchFamily="2" charset="-122"/>
              </a:rPr>
              <a:t>0-59</a:t>
            </a:r>
            <a:r>
              <a:rPr kumimoji="0" lang="zh-CN" altLang="en-US" sz="2400" b="0">
                <a:ea typeface="华文新魏" panose="02010800040101010101" pitchFamily="2" charset="-122"/>
              </a:rPr>
              <a:t>的循环计数。</a:t>
            </a:r>
            <a:endParaRPr kumimoji="0" lang="zh-CN" altLang="en-US" sz="2400" b="0" dirty="0">
              <a:ea typeface="华文新魏" panose="02010800040101010101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285C4C1-6E5E-5622-113A-9E488D6832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0754" y="4029875"/>
            <a:ext cx="1781424" cy="11241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8165959"/>
      </p:ext>
    </p:extLst>
  </p:cSld>
  <p:clrMapOvr>
    <a:masterClrMapping/>
  </p:clrMapOvr>
  <p:transition spd="med" advTm="1003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2"/>
      <p:bldP spid="12" grpId="0" bldLvl="2"/>
    </p:bldLst>
  </p:timing>
  <p:extLst>
    <p:ext uri="{E180D4A7-C9FB-4DFB-919C-405C955672EB}">
      <p14:showEvtLst xmlns:p14="http://schemas.microsoft.com/office/powerpoint/2010/main">
        <p14:playEvt time="8" objId="3"/>
        <p14:stopEvt time="99725" objId="3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1">
            <a:extLst>
              <a:ext uri="{FF2B5EF4-FFF2-40B4-BE49-F238E27FC236}">
                <a16:creationId xmlns:a16="http://schemas.microsoft.com/office/drawing/2014/main" id="{BFA4FC93-B4F5-4F9C-A02E-53880CA03B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38F9BE-2777-F644-8811-B957EF9D6C2B}" type="datetime1">
              <a:rPr kumimoji="1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灯片编号占位符 2">
            <a:extLst>
              <a:ext uri="{FF2B5EF4-FFF2-40B4-BE49-F238E27FC236}">
                <a16:creationId xmlns:a16="http://schemas.microsoft.com/office/drawing/2014/main" id="{AF7D83E4-943E-4414-9580-DE6CA1FB00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5151F4-592F-4AA8-A902-D2FD4D1D3EA1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/15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7" name="Text Box 4">
            <a:extLst>
              <a:ext uri="{FF2B5EF4-FFF2-40B4-BE49-F238E27FC236}">
                <a16:creationId xmlns:a16="http://schemas.microsoft.com/office/drawing/2014/main" id="{915B6AC5-3F55-4592-AC71-15D4BFD89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106488"/>
            <a:ext cx="8499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一种最简单的异或门电路？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2" name="Rectangle 69">
            <a:extLst>
              <a:ext uri="{FF2B5EF4-FFF2-40B4-BE49-F238E27FC236}">
                <a16:creationId xmlns:a16="http://schemas.microsoft.com/office/drawing/2014/main" id="{A17ABEDE-E599-4835-8192-17D6E0AA2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15900"/>
            <a:ext cx="8686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异或门的实现（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1/2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22FC88-232C-AE4C-8E07-841F8147CD81}"/>
              </a:ext>
            </a:extLst>
          </p:cNvPr>
          <p:cNvSpPr/>
          <p:nvPr/>
        </p:nvSpPr>
        <p:spPr bwMode="auto">
          <a:xfrm>
            <a:off x="5338916" y="5515896"/>
            <a:ext cx="1120878" cy="3687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A43EFC-AB7A-D540-99E1-83584A9028E5}"/>
              </a:ext>
            </a:extLst>
          </p:cNvPr>
          <p:cNvSpPr/>
          <p:nvPr/>
        </p:nvSpPr>
        <p:spPr bwMode="auto">
          <a:xfrm>
            <a:off x="2679588" y="5719917"/>
            <a:ext cx="1120878" cy="3687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A5EAFC0-A6F8-6BA4-B7FB-658272EFF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20" y="1970519"/>
            <a:ext cx="4710180" cy="304578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4B8B043-82FA-20CD-CE7C-3883C1C3C618}"/>
              </a:ext>
            </a:extLst>
          </p:cNvPr>
          <p:cNvSpPr txBox="1"/>
          <p:nvPr/>
        </p:nvSpPr>
        <p:spPr>
          <a:xfrm>
            <a:off x="425450" y="5096352"/>
            <a:ext cx="8478774" cy="1059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A=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0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传输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门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导通</a:t>
            </a:r>
            <a:r>
              <a:rPr kumimoji="0" lang="zh-CN" altLang="en-US" sz="2400" b="0">
                <a:solidFill>
                  <a:srgbClr val="000000"/>
                </a:solidFill>
                <a:ea typeface="华文新魏" panose="02010800040101010101" pitchFamily="2" charset="-122"/>
              </a:rPr>
              <a:t>，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左边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反相器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截止，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OUT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=B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A=1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传输门截止   左边反相器工作，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OUT=B′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C7A1719-9399-0E78-A93A-2736463F1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62" y="1231695"/>
            <a:ext cx="3779838" cy="1679575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1541DA74-472C-5CEC-0666-B84D08C5C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102" y="3166423"/>
            <a:ext cx="3657600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EN=1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时，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之间为低阻抗连接（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Rab=2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～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5Ω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EN=0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时，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断开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8CA599-7264-8324-2BA6-85347F7731EA}"/>
              </a:ext>
            </a:extLst>
          </p:cNvPr>
          <p:cNvSpPr txBox="1"/>
          <p:nvPr/>
        </p:nvSpPr>
        <p:spPr>
          <a:xfrm>
            <a:off x="5193101" y="127704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传输门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29C2DDA-AAF3-D7E5-1E68-FDED39254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777527"/>
              </p:ext>
            </p:extLst>
          </p:nvPr>
        </p:nvGraphicFramePr>
        <p:xfrm>
          <a:off x="7575968" y="5016300"/>
          <a:ext cx="1252119" cy="1163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3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bg1"/>
                          </a:solidFill>
                        </a:rPr>
                        <a:t>OUT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rPr>
                        <a:t>B</a:t>
                      </a:r>
                      <a:endParaRPr lang="zh-CN" altLang="en-US" sz="200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rPr>
                        <a:t>B′</a:t>
                      </a:r>
                      <a:endParaRPr lang="zh-CN" altLang="en-US" sz="200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26535794"/>
      </p:ext>
    </p:extLst>
  </p:cSld>
  <p:clrMapOvr>
    <a:masterClrMapping/>
  </p:clrMapOvr>
  <p:transition spd="med" advTm="1003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  <p:extLst>
    <p:ext uri="{E180D4A7-C9FB-4DFB-919C-405C955672EB}">
      <p14:showEvtLst xmlns:p14="http://schemas.microsoft.com/office/powerpoint/2010/main">
        <p14:playEvt time="8" objId="3"/>
        <p14:stopEvt time="99725" objId="3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1">
            <a:extLst>
              <a:ext uri="{FF2B5EF4-FFF2-40B4-BE49-F238E27FC236}">
                <a16:creationId xmlns:a16="http://schemas.microsoft.com/office/drawing/2014/main" id="{BFA4FC93-B4F5-4F9C-A02E-53880CA03B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AA8E39-F6A3-4C4C-945B-457A2CBA22DB}" type="datetime1">
              <a:rPr kumimoji="1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灯片编号占位符 2">
            <a:extLst>
              <a:ext uri="{FF2B5EF4-FFF2-40B4-BE49-F238E27FC236}">
                <a16:creationId xmlns:a16="http://schemas.microsoft.com/office/drawing/2014/main" id="{AF7D83E4-943E-4414-9580-DE6CA1FB00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5151F4-592F-4AA8-A902-D2FD4D1D3EA1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/15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7" name="Text Box 4">
            <a:extLst>
              <a:ext uri="{FF2B5EF4-FFF2-40B4-BE49-F238E27FC236}">
                <a16:creationId xmlns:a16="http://schemas.microsoft.com/office/drawing/2014/main" id="{915B6AC5-3F55-4592-AC71-15D4BFD89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106488"/>
            <a:ext cx="8499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多变量异或运算（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奇函数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37925" name="Picture 5">
            <a:extLst>
              <a:ext uri="{FF2B5EF4-FFF2-40B4-BE49-F238E27FC236}">
                <a16:creationId xmlns:a16="http://schemas.microsoft.com/office/drawing/2014/main" id="{04CB5F38-A1A4-42E5-94BB-CEFB9E327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291" y="2589211"/>
            <a:ext cx="3144797" cy="1782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26" name="Picture 6">
            <a:extLst>
              <a:ext uri="{FF2B5EF4-FFF2-40B4-BE49-F238E27FC236}">
                <a16:creationId xmlns:a16="http://schemas.microsoft.com/office/drawing/2014/main" id="{6EA0FBBD-F7B3-4A4A-B786-BD93B8DE8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00" y="5023703"/>
            <a:ext cx="7089272" cy="1388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37927" name="Object 7">
            <a:extLst>
              <a:ext uri="{FF2B5EF4-FFF2-40B4-BE49-F238E27FC236}">
                <a16:creationId xmlns:a16="http://schemas.microsoft.com/office/drawing/2014/main" id="{42697DA2-6EB3-4952-8080-591EF1E0EE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5363" y="1682750"/>
          <a:ext cx="43910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78100" imgH="457200" progId="Equation.DSMT4">
                  <p:embed/>
                </p:oleObj>
              </mc:Choice>
              <mc:Fallback>
                <p:oleObj r:id="rId5" imgW="2578100" imgH="457200" progId="Equation.DSMT4">
                  <p:embed/>
                  <p:pic>
                    <p:nvPicPr>
                      <p:cNvPr id="337927" name="Object 7">
                        <a:extLst>
                          <a:ext uri="{FF2B5EF4-FFF2-40B4-BE49-F238E27FC236}">
                            <a16:creationId xmlns:a16="http://schemas.microsoft.com/office/drawing/2014/main" id="{42697DA2-6EB3-4952-8080-591EF1E0EE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1682750"/>
                        <a:ext cx="43910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28" name="Text Box 8">
            <a:extLst>
              <a:ext uri="{FF2B5EF4-FFF2-40B4-BE49-F238E27FC236}">
                <a16:creationId xmlns:a16="http://schemas.microsoft.com/office/drawing/2014/main" id="{7706CC09-D62F-42B7-940E-0274DA568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192" y="4451715"/>
            <a:ext cx="8499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偶校验位产生器与偶性校验器</a:t>
            </a:r>
          </a:p>
        </p:txBody>
      </p:sp>
      <p:sp>
        <p:nvSpPr>
          <p:cNvPr id="69642" name="Rectangle 69">
            <a:extLst>
              <a:ext uri="{FF2B5EF4-FFF2-40B4-BE49-F238E27FC236}">
                <a16:creationId xmlns:a16="http://schemas.microsoft.com/office/drawing/2014/main" id="{A17ABEDE-E599-4835-8192-17D6E0AA2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15900"/>
            <a:ext cx="8686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异或门的应用（</a:t>
            </a:r>
            <a:r>
              <a:rPr lang="en-US" altLang="zh-CN" sz="4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/2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6342755E-C7C1-4E4A-BE97-7A11659AE4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5CDB48-F372-4159-9360-7F6FAA29A4C9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71683" name="灯片编号占位符 2">
            <a:extLst>
              <a:ext uri="{FF2B5EF4-FFF2-40B4-BE49-F238E27FC236}">
                <a16:creationId xmlns:a16="http://schemas.microsoft.com/office/drawing/2014/main" id="{618DD53D-D20F-4075-9A6B-061B29469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8B2B56-8C7E-4515-9D47-50C8E3FEB85E}" type="slidenum">
              <a:rPr kumimoji="1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A93F98B9-496B-43AD-AF73-FE5DCA16F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15900"/>
            <a:ext cx="8686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门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的传播延迟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1/3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1685" name="Text Box 3">
            <a:extLst>
              <a:ext uri="{FF2B5EF4-FFF2-40B4-BE49-F238E27FC236}">
                <a16:creationId xmlns:a16="http://schemas.microsoft.com/office/drawing/2014/main" id="{BC7DF068-CCDD-448A-A835-F31A6F776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116013"/>
            <a:ext cx="86121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76225" marR="0" lvl="0" indent="-276225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产生延迟的主要原因：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充电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与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放电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现象</a:t>
            </a:r>
          </a:p>
        </p:txBody>
      </p:sp>
      <p:pic>
        <p:nvPicPr>
          <p:cNvPr id="71687" name="Picture 23">
            <a:extLst>
              <a:ext uri="{FF2B5EF4-FFF2-40B4-BE49-F238E27FC236}">
                <a16:creationId xmlns:a16="http://schemas.microsoft.com/office/drawing/2014/main" id="{3FD6C70B-741E-419A-8905-62D0E5515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2287310"/>
            <a:ext cx="4394200" cy="247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8FC442D-B893-8B49-9932-6B8C69F4206E}"/>
              </a:ext>
            </a:extLst>
          </p:cNvPr>
          <p:cNvGrpSpPr/>
          <p:nvPr/>
        </p:nvGrpSpPr>
        <p:grpSpPr>
          <a:xfrm>
            <a:off x="493713" y="1995210"/>
            <a:ext cx="5207000" cy="3073400"/>
            <a:chOff x="493713" y="1995210"/>
            <a:chExt cx="5207000" cy="3073400"/>
          </a:xfrm>
        </p:grpSpPr>
        <p:pic>
          <p:nvPicPr>
            <p:cNvPr id="71686" name="Picture 21">
              <a:extLst>
                <a:ext uri="{FF2B5EF4-FFF2-40B4-BE49-F238E27FC236}">
                  <a16:creationId xmlns:a16="http://schemas.microsoft.com/office/drawing/2014/main" id="{7CFC98D9-184C-4CBF-A57B-61EBF5D7EC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713" y="2134910"/>
              <a:ext cx="2395537" cy="274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688" name="Picture 22">
              <a:extLst>
                <a:ext uri="{FF2B5EF4-FFF2-40B4-BE49-F238E27FC236}">
                  <a16:creationId xmlns:a16="http://schemas.microsoft.com/office/drawing/2014/main" id="{07224E5F-3994-40BA-821B-8B503D6D7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8300" y="1995210"/>
              <a:ext cx="2792413" cy="307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1689" name="任意多边形 2">
              <a:extLst>
                <a:ext uri="{FF2B5EF4-FFF2-40B4-BE49-F238E27FC236}">
                  <a16:creationId xmlns:a16="http://schemas.microsoft.com/office/drawing/2014/main" id="{F82E8894-479C-4923-8312-89D5DEE68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4425" y="3517623"/>
              <a:ext cx="990600" cy="906462"/>
            </a:xfrm>
            <a:custGeom>
              <a:avLst/>
              <a:gdLst>
                <a:gd name="T0" fmla="*/ 0 w 990600"/>
                <a:gd name="T1" fmla="*/ 0 h 906780"/>
                <a:gd name="T2" fmla="*/ 342900 w 990600"/>
                <a:gd name="T3" fmla="*/ 735778 h 906780"/>
                <a:gd name="T4" fmla="*/ 990600 w 990600"/>
                <a:gd name="T5" fmla="*/ 902654 h 9067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0600" h="906780">
                  <a:moveTo>
                    <a:pt x="0" y="0"/>
                  </a:moveTo>
                  <a:cubicBezTo>
                    <a:pt x="88900" y="294005"/>
                    <a:pt x="177800" y="588010"/>
                    <a:pt x="342900" y="739140"/>
                  </a:cubicBezTo>
                  <a:cubicBezTo>
                    <a:pt x="508000" y="890270"/>
                    <a:pt x="749300" y="898525"/>
                    <a:pt x="990600" y="906780"/>
                  </a:cubicBezTo>
                </a:path>
              </a:pathLst>
            </a:custGeom>
            <a:noFill/>
            <a:ln w="12700" cap="flat" cmpd="sng" algn="ctr">
              <a:solidFill>
                <a:srgbClr val="33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8E7A8F8-A79E-B844-8296-0C65781E97A9}"/>
              </a:ext>
            </a:extLst>
          </p:cNvPr>
          <p:cNvGrpSpPr/>
          <p:nvPr/>
        </p:nvGrpSpPr>
        <p:grpSpPr>
          <a:xfrm>
            <a:off x="6948000" y="2844800"/>
            <a:ext cx="643466" cy="216787"/>
            <a:chOff x="6948000" y="2844800"/>
            <a:chExt cx="643466" cy="216787"/>
          </a:xfrm>
        </p:grpSpPr>
        <p:cxnSp>
          <p:nvCxnSpPr>
            <p:cNvPr id="4" name="直线连接符 3">
              <a:extLst>
                <a:ext uri="{FF2B5EF4-FFF2-40B4-BE49-F238E27FC236}">
                  <a16:creationId xmlns:a16="http://schemas.microsoft.com/office/drawing/2014/main" id="{E6C8A504-DDAB-B744-9DAB-2CB57A24131B}"/>
                </a:ext>
              </a:extLst>
            </p:cNvPr>
            <p:cNvCxnSpPr/>
            <p:nvPr/>
          </p:nvCxnSpPr>
          <p:spPr bwMode="auto">
            <a:xfrm flipH="1">
              <a:off x="6948000" y="2941200"/>
              <a:ext cx="643466" cy="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F552A812-5588-BC4B-82B9-026D74719AED}"/>
                </a:ext>
              </a:extLst>
            </p:cNvPr>
            <p:cNvCxnSpPr/>
            <p:nvPr/>
          </p:nvCxnSpPr>
          <p:spPr bwMode="auto">
            <a:xfrm>
              <a:off x="7213600" y="2844800"/>
              <a:ext cx="0" cy="216000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4A13A403-12C5-4740-81AA-E1112E083989}"/>
                </a:ext>
              </a:extLst>
            </p:cNvPr>
            <p:cNvCxnSpPr/>
            <p:nvPr/>
          </p:nvCxnSpPr>
          <p:spPr bwMode="auto">
            <a:xfrm>
              <a:off x="7264399" y="2845587"/>
              <a:ext cx="0" cy="216000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7386727-B418-D04A-8AD2-25A7BD2B940B}"/>
              </a:ext>
            </a:extLst>
          </p:cNvPr>
          <p:cNvGrpSpPr/>
          <p:nvPr/>
        </p:nvGrpSpPr>
        <p:grpSpPr>
          <a:xfrm>
            <a:off x="3510844" y="4424085"/>
            <a:ext cx="186265" cy="480939"/>
            <a:chOff x="3510844" y="4424085"/>
            <a:chExt cx="186265" cy="480939"/>
          </a:xfrm>
        </p:grpSpPr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B4EF4EB6-E6E7-AF43-9CBD-2CDFA5CBC672}"/>
                </a:ext>
              </a:extLst>
            </p:cNvPr>
            <p:cNvCxnSpPr/>
            <p:nvPr/>
          </p:nvCxnSpPr>
          <p:spPr bwMode="auto">
            <a:xfrm>
              <a:off x="3601156" y="4424085"/>
              <a:ext cx="0" cy="193071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C65A2AC9-1E3C-B048-9F35-AB749DE49B0C}"/>
                </a:ext>
              </a:extLst>
            </p:cNvPr>
            <p:cNvCxnSpPr/>
            <p:nvPr/>
          </p:nvCxnSpPr>
          <p:spPr bwMode="auto">
            <a:xfrm>
              <a:off x="3606799" y="4711953"/>
              <a:ext cx="0" cy="193071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96FBE330-DC23-0C48-BF4F-FB129CF05B05}"/>
                </a:ext>
              </a:extLst>
            </p:cNvPr>
            <p:cNvCxnSpPr/>
            <p:nvPr/>
          </p:nvCxnSpPr>
          <p:spPr bwMode="auto">
            <a:xfrm>
              <a:off x="3510844" y="4605867"/>
              <a:ext cx="180622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1564AFE7-9E7A-6742-86FD-8AC26CC7823F}"/>
                </a:ext>
              </a:extLst>
            </p:cNvPr>
            <p:cNvCxnSpPr/>
            <p:nvPr/>
          </p:nvCxnSpPr>
          <p:spPr bwMode="auto">
            <a:xfrm>
              <a:off x="3516487" y="4690533"/>
              <a:ext cx="180622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DBA3F951-F2DC-D14E-9CF1-4C734DAF48A2}"/>
              </a:ext>
            </a:extLst>
          </p:cNvPr>
          <p:cNvSpPr/>
          <p:nvPr/>
        </p:nvSpPr>
        <p:spPr bwMode="auto">
          <a:xfrm>
            <a:off x="1828800" y="2393244"/>
            <a:ext cx="1907822" cy="2596445"/>
          </a:xfrm>
          <a:custGeom>
            <a:avLst/>
            <a:gdLst>
              <a:gd name="connsiteX0" fmla="*/ 0 w 1907822"/>
              <a:gd name="connsiteY0" fmla="*/ 0 h 2596445"/>
              <a:gd name="connsiteX1" fmla="*/ 0 w 1907822"/>
              <a:gd name="connsiteY1" fmla="*/ 1083734 h 2596445"/>
              <a:gd name="connsiteX2" fmla="*/ 666044 w 1907822"/>
              <a:gd name="connsiteY2" fmla="*/ 1083734 h 2596445"/>
              <a:gd name="connsiteX3" fmla="*/ 812800 w 1907822"/>
              <a:gd name="connsiteY3" fmla="*/ 1591734 h 2596445"/>
              <a:gd name="connsiteX4" fmla="*/ 1016000 w 1907822"/>
              <a:gd name="connsiteY4" fmla="*/ 1851378 h 2596445"/>
              <a:gd name="connsiteX5" fmla="*/ 1241778 w 1907822"/>
              <a:gd name="connsiteY5" fmla="*/ 1941689 h 2596445"/>
              <a:gd name="connsiteX6" fmla="*/ 1896533 w 1907822"/>
              <a:gd name="connsiteY6" fmla="*/ 1941689 h 2596445"/>
              <a:gd name="connsiteX7" fmla="*/ 1907822 w 1907822"/>
              <a:gd name="connsiteY7" fmla="*/ 2596445 h 2596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7822" h="2596445">
                <a:moveTo>
                  <a:pt x="0" y="0"/>
                </a:moveTo>
                <a:lnTo>
                  <a:pt x="0" y="1083734"/>
                </a:lnTo>
                <a:lnTo>
                  <a:pt x="666044" y="1083734"/>
                </a:lnTo>
                <a:lnTo>
                  <a:pt x="812800" y="1591734"/>
                </a:lnTo>
                <a:lnTo>
                  <a:pt x="1016000" y="1851378"/>
                </a:lnTo>
                <a:lnTo>
                  <a:pt x="1241778" y="1941689"/>
                </a:lnTo>
                <a:lnTo>
                  <a:pt x="1896533" y="1941689"/>
                </a:lnTo>
                <a:lnTo>
                  <a:pt x="1907822" y="2596445"/>
                </a:lnTo>
              </a:path>
            </a:pathLst>
          </a:custGeom>
          <a:noFill/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FC9D1341-7A5D-5346-AC25-A5CBCD4C6275}"/>
              </a:ext>
            </a:extLst>
          </p:cNvPr>
          <p:cNvSpPr/>
          <p:nvPr/>
        </p:nvSpPr>
        <p:spPr bwMode="auto">
          <a:xfrm>
            <a:off x="1805049" y="3598223"/>
            <a:ext cx="1686296" cy="1270660"/>
          </a:xfrm>
          <a:custGeom>
            <a:avLst/>
            <a:gdLst>
              <a:gd name="connsiteX0" fmla="*/ 0 w 1686296"/>
              <a:gd name="connsiteY0" fmla="*/ 1270660 h 1270660"/>
              <a:gd name="connsiteX1" fmla="*/ 11876 w 1686296"/>
              <a:gd name="connsiteY1" fmla="*/ 0 h 1270660"/>
              <a:gd name="connsiteX2" fmla="*/ 522515 w 1686296"/>
              <a:gd name="connsiteY2" fmla="*/ 0 h 1270660"/>
              <a:gd name="connsiteX3" fmla="*/ 712520 w 1686296"/>
              <a:gd name="connsiteY3" fmla="*/ 605642 h 1270660"/>
              <a:gd name="connsiteX4" fmla="*/ 973777 w 1686296"/>
              <a:gd name="connsiteY4" fmla="*/ 855024 h 1270660"/>
              <a:gd name="connsiteX5" fmla="*/ 1175657 w 1686296"/>
              <a:gd name="connsiteY5" fmla="*/ 914400 h 1270660"/>
              <a:gd name="connsiteX6" fmla="*/ 1686296 w 1686296"/>
              <a:gd name="connsiteY6" fmla="*/ 914400 h 1270660"/>
              <a:gd name="connsiteX7" fmla="*/ 1686296 w 1686296"/>
              <a:gd name="connsiteY7" fmla="*/ 914400 h 127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6296" h="1270660">
                <a:moveTo>
                  <a:pt x="0" y="1270660"/>
                </a:moveTo>
                <a:lnTo>
                  <a:pt x="11876" y="0"/>
                </a:lnTo>
                <a:lnTo>
                  <a:pt x="522515" y="0"/>
                </a:lnTo>
                <a:lnTo>
                  <a:pt x="712520" y="605642"/>
                </a:lnTo>
                <a:lnTo>
                  <a:pt x="973777" y="855024"/>
                </a:lnTo>
                <a:lnTo>
                  <a:pt x="1175657" y="914400"/>
                </a:lnTo>
                <a:lnTo>
                  <a:pt x="1686296" y="914400"/>
                </a:lnTo>
                <a:lnTo>
                  <a:pt x="1686296" y="914400"/>
                </a:lnTo>
              </a:path>
            </a:pathLst>
          </a:custGeom>
          <a:noFill/>
          <a:ln w="12700" cap="flat" cmpd="sng" algn="ctr">
            <a:solidFill>
              <a:srgbClr val="0000FF"/>
            </a:solidFill>
            <a:prstDash val="sysDash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1425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21" name="组合 64520">
            <a:extLst>
              <a:ext uri="{FF2B5EF4-FFF2-40B4-BE49-F238E27FC236}">
                <a16:creationId xmlns:a16="http://schemas.microsoft.com/office/drawing/2014/main" id="{0874A3E6-115D-4CD5-B81A-F4E7DB79D543}"/>
              </a:ext>
            </a:extLst>
          </p:cNvPr>
          <p:cNvGrpSpPr>
            <a:grpSpLocks/>
          </p:cNvGrpSpPr>
          <p:nvPr/>
        </p:nvGrpSpPr>
        <p:grpSpPr bwMode="auto">
          <a:xfrm>
            <a:off x="2965450" y="5298200"/>
            <a:ext cx="5037138" cy="514350"/>
            <a:chOff x="2966174" y="4966001"/>
            <a:chExt cx="5035779" cy="513414"/>
          </a:xfrm>
        </p:grpSpPr>
        <p:pic>
          <p:nvPicPr>
            <p:cNvPr id="72780" name="Picture 5">
              <a:extLst>
                <a:ext uri="{FF2B5EF4-FFF2-40B4-BE49-F238E27FC236}">
                  <a16:creationId xmlns:a16="http://schemas.microsoft.com/office/drawing/2014/main" id="{49ABD9F2-8272-4C43-9469-D7D37B7315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5025" y="4997609"/>
              <a:ext cx="1768221" cy="464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2781" name="Picture 3">
              <a:extLst>
                <a:ext uri="{FF2B5EF4-FFF2-40B4-BE49-F238E27FC236}">
                  <a16:creationId xmlns:a16="http://schemas.microsoft.com/office/drawing/2014/main" id="{BA8E071C-C4EC-4A67-846E-849A0A553F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6998" y="4966001"/>
              <a:ext cx="1816513" cy="4717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72782" name="Group 28">
              <a:extLst>
                <a:ext uri="{FF2B5EF4-FFF2-40B4-BE49-F238E27FC236}">
                  <a16:creationId xmlns:a16="http://schemas.microsoft.com/office/drawing/2014/main" id="{F9960D4F-74C4-40B6-B33D-FD24BC0A87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3028" y="5006340"/>
              <a:ext cx="4098925" cy="473075"/>
              <a:chOff x="1469" y="1200"/>
              <a:chExt cx="2582" cy="298"/>
            </a:xfrm>
          </p:grpSpPr>
          <p:sp>
            <p:nvSpPr>
              <p:cNvPr id="72784" name="Line 29">
                <a:extLst>
                  <a:ext uri="{FF2B5EF4-FFF2-40B4-BE49-F238E27FC236}">
                    <a16:creationId xmlns:a16="http://schemas.microsoft.com/office/drawing/2014/main" id="{FB3B59C5-76B6-4836-8AF2-14723832ED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2" y="1200"/>
                <a:ext cx="0" cy="2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785" name="Line 30">
                <a:extLst>
                  <a:ext uri="{FF2B5EF4-FFF2-40B4-BE49-F238E27FC236}">
                    <a16:creationId xmlns:a16="http://schemas.microsoft.com/office/drawing/2014/main" id="{5B242C88-A040-41AF-AC61-6F5AD46E4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9" y="1488"/>
                <a:ext cx="25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2783" name="Rectangle 7">
              <a:extLst>
                <a:ext uri="{FF2B5EF4-FFF2-40B4-BE49-F238E27FC236}">
                  <a16:creationId xmlns:a16="http://schemas.microsoft.com/office/drawing/2014/main" id="{1F496D5D-78C8-41C1-AC21-A306A1B1D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174" y="5111750"/>
              <a:ext cx="30970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" name="日期占位符 1">
            <a:extLst>
              <a:ext uri="{FF2B5EF4-FFF2-40B4-BE49-F238E27FC236}">
                <a16:creationId xmlns:a16="http://schemas.microsoft.com/office/drawing/2014/main" id="{BFE20ED6-FAE3-482D-B107-30E4B88B01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5CDB48-F372-4159-9360-7F6FAA29A4C9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72708" name="灯片编号占位符 2">
            <a:extLst>
              <a:ext uri="{FF2B5EF4-FFF2-40B4-BE49-F238E27FC236}">
                <a16:creationId xmlns:a16="http://schemas.microsoft.com/office/drawing/2014/main" id="{059B1B54-991D-4055-BA00-25EB87F10F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FA1589-17B1-45F4-A79C-0A5D4611E772}" type="slidenum">
              <a:rPr kumimoji="1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09" name="Rectangle 3">
            <a:extLst>
              <a:ext uri="{FF2B5EF4-FFF2-40B4-BE49-F238E27FC236}">
                <a16:creationId xmlns:a16="http://schemas.microsoft.com/office/drawing/2014/main" id="{D6537BEE-F89C-44C0-A337-D71F13710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15900"/>
            <a:ext cx="8686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门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的传播延迟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2/3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2710" name="Text Box 5">
            <a:extLst>
              <a:ext uri="{FF2B5EF4-FFF2-40B4-BE49-F238E27FC236}">
                <a16:creationId xmlns:a16="http://schemas.microsoft.com/office/drawing/2014/main" id="{23E8FF23-58C4-4D9A-B1E5-DEB9FB2FD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975" y="2181938"/>
            <a:ext cx="3778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4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11" name="Rectangle 6">
            <a:extLst>
              <a:ext uri="{FF2B5EF4-FFF2-40B4-BE49-F238E27FC236}">
                <a16:creationId xmlns:a16="http://schemas.microsoft.com/office/drawing/2014/main" id="{7513E3D0-B021-4B1D-A1C7-4854A55DA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1569163"/>
            <a:ext cx="319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endParaRPr kumimoji="1" lang="en-US" altLang="zh-CN" sz="24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2712" name="Group 9">
            <a:extLst>
              <a:ext uri="{FF2B5EF4-FFF2-40B4-BE49-F238E27FC236}">
                <a16:creationId xmlns:a16="http://schemas.microsoft.com/office/drawing/2014/main" id="{AE7D3879-BD36-4928-BC38-DA1B076D9447}"/>
              </a:ext>
            </a:extLst>
          </p:cNvPr>
          <p:cNvGrpSpPr>
            <a:grpSpLocks/>
          </p:cNvGrpSpPr>
          <p:nvPr/>
        </p:nvGrpSpPr>
        <p:grpSpPr bwMode="auto">
          <a:xfrm>
            <a:off x="3903663" y="1499313"/>
            <a:ext cx="4098925" cy="473075"/>
            <a:chOff x="1469" y="1200"/>
            <a:chExt cx="2582" cy="298"/>
          </a:xfrm>
        </p:grpSpPr>
        <p:sp>
          <p:nvSpPr>
            <p:cNvPr id="72778" name="Line 10">
              <a:extLst>
                <a:ext uri="{FF2B5EF4-FFF2-40B4-BE49-F238E27FC236}">
                  <a16:creationId xmlns:a16="http://schemas.microsoft.com/office/drawing/2014/main" id="{A8BB8DEC-02B7-4367-92B3-C3927B5D7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200"/>
              <a:ext cx="0" cy="2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79" name="Line 11">
              <a:extLst>
                <a:ext uri="{FF2B5EF4-FFF2-40B4-BE49-F238E27FC236}">
                  <a16:creationId xmlns:a16="http://schemas.microsoft.com/office/drawing/2014/main" id="{76222A01-0551-47D8-A465-D29BC8740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9" y="1488"/>
              <a:ext cx="25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2713" name="Line 12">
            <a:extLst>
              <a:ext uri="{FF2B5EF4-FFF2-40B4-BE49-F238E27FC236}">
                <a16:creationId xmlns:a16="http://schemas.microsoft.com/office/drawing/2014/main" id="{0B9CD84A-01DE-493E-8964-21A2A141A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9950" y="1531063"/>
            <a:ext cx="0" cy="426561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2714" name="Group 13">
            <a:extLst>
              <a:ext uri="{FF2B5EF4-FFF2-40B4-BE49-F238E27FC236}">
                <a16:creationId xmlns:a16="http://schemas.microsoft.com/office/drawing/2014/main" id="{303DEF61-39C1-4582-9A39-0DC80DE289BA}"/>
              </a:ext>
            </a:extLst>
          </p:cNvPr>
          <p:cNvGrpSpPr>
            <a:grpSpLocks/>
          </p:cNvGrpSpPr>
          <p:nvPr/>
        </p:nvGrpSpPr>
        <p:grpSpPr bwMode="auto">
          <a:xfrm>
            <a:off x="3903663" y="2123200"/>
            <a:ext cx="4098925" cy="473075"/>
            <a:chOff x="1469" y="1200"/>
            <a:chExt cx="2582" cy="298"/>
          </a:xfrm>
        </p:grpSpPr>
        <p:sp>
          <p:nvSpPr>
            <p:cNvPr id="72776" name="Line 14">
              <a:extLst>
                <a:ext uri="{FF2B5EF4-FFF2-40B4-BE49-F238E27FC236}">
                  <a16:creationId xmlns:a16="http://schemas.microsoft.com/office/drawing/2014/main" id="{4FA216C3-CC90-48A8-88F6-C411B11A3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200"/>
              <a:ext cx="0" cy="2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77" name="Line 15">
              <a:extLst>
                <a:ext uri="{FF2B5EF4-FFF2-40B4-BE49-F238E27FC236}">
                  <a16:creationId xmlns:a16="http://schemas.microsoft.com/office/drawing/2014/main" id="{9533BDDF-6B36-499B-83C1-16A2C11AA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9" y="1488"/>
              <a:ext cx="25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2715" name="Line 31">
            <a:extLst>
              <a:ext uri="{FF2B5EF4-FFF2-40B4-BE49-F238E27FC236}">
                <a16:creationId xmlns:a16="http://schemas.microsoft.com/office/drawing/2014/main" id="{D79D29BE-6701-4D3B-8DD8-2743D605F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0788" y="1531063"/>
            <a:ext cx="0" cy="42497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16" name="Line 32">
            <a:extLst>
              <a:ext uri="{FF2B5EF4-FFF2-40B4-BE49-F238E27FC236}">
                <a16:creationId xmlns:a16="http://schemas.microsoft.com/office/drawing/2014/main" id="{C86056B5-0D37-414C-BAA9-AC8E56C16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8450" y="1531063"/>
            <a:ext cx="0" cy="426561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17" name="Line 33">
            <a:extLst>
              <a:ext uri="{FF2B5EF4-FFF2-40B4-BE49-F238E27FC236}">
                <a16:creationId xmlns:a16="http://schemas.microsoft.com/office/drawing/2014/main" id="{1E3ABB00-5B2A-4F90-AF58-7C8A22E0F7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531063"/>
            <a:ext cx="0" cy="426561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18" name="Line 34">
            <a:extLst>
              <a:ext uri="{FF2B5EF4-FFF2-40B4-BE49-F238E27FC236}">
                <a16:creationId xmlns:a16="http://schemas.microsoft.com/office/drawing/2014/main" id="{4D3E693B-959D-4E99-AF4B-F4ED4C827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5838" y="1531063"/>
            <a:ext cx="0" cy="426561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19" name="Line 35">
            <a:extLst>
              <a:ext uri="{FF2B5EF4-FFF2-40B4-BE49-F238E27FC236}">
                <a16:creationId xmlns:a16="http://schemas.microsoft.com/office/drawing/2014/main" id="{BD631477-FDFC-4C91-8F65-0C75E9EF5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6675" y="1531063"/>
            <a:ext cx="0" cy="426561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0" name="Line 36">
            <a:extLst>
              <a:ext uri="{FF2B5EF4-FFF2-40B4-BE49-F238E27FC236}">
                <a16:creationId xmlns:a16="http://schemas.microsoft.com/office/drawing/2014/main" id="{A7DEBDBB-2ADA-441D-9056-9043064190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8425" y="1956513"/>
            <a:ext cx="44291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1" name="Line 37">
            <a:extLst>
              <a:ext uri="{FF2B5EF4-FFF2-40B4-BE49-F238E27FC236}">
                <a16:creationId xmlns:a16="http://schemas.microsoft.com/office/drawing/2014/main" id="{1A88AB3F-1E59-4E93-A629-426B50E9DD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4988" y="1548525"/>
            <a:ext cx="0" cy="4079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2" name="Line 38">
            <a:extLst>
              <a:ext uri="{FF2B5EF4-FFF2-40B4-BE49-F238E27FC236}">
                <a16:creationId xmlns:a16="http://schemas.microsoft.com/office/drawing/2014/main" id="{BC60FA95-4A6A-41A9-8523-AEF9283B37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1600" y="2140663"/>
            <a:ext cx="14620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3" name="Line 39">
            <a:extLst>
              <a:ext uri="{FF2B5EF4-FFF2-40B4-BE49-F238E27FC236}">
                <a16:creationId xmlns:a16="http://schemas.microsoft.com/office/drawing/2014/main" id="{0430AA3F-1DF7-47F2-8395-967FD314FB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8925" y="2123200"/>
            <a:ext cx="0" cy="4746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4" name="Line 44">
            <a:extLst>
              <a:ext uri="{FF2B5EF4-FFF2-40B4-BE49-F238E27FC236}">
                <a16:creationId xmlns:a16="http://schemas.microsoft.com/office/drawing/2014/main" id="{CAE80EB7-6BE8-4B4A-B65F-F44248C0C8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9400" y="2581988"/>
            <a:ext cx="20034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5" name="Text Box 58">
            <a:extLst>
              <a:ext uri="{FF2B5EF4-FFF2-40B4-BE49-F238E27FC236}">
                <a16:creationId xmlns:a16="http://schemas.microsoft.com/office/drawing/2014/main" id="{F6569422-8A7D-421C-803B-D69E8A304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38" y="5830013"/>
            <a:ext cx="620712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time</a:t>
            </a: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4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6" name="Text Box 59">
            <a:extLst>
              <a:ext uri="{FF2B5EF4-FFF2-40B4-BE49-F238E27FC236}">
                <a16:creationId xmlns:a16="http://schemas.microsoft.com/office/drawing/2014/main" id="{C48CF883-A1C0-45BB-8452-A06A30D58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5855413"/>
            <a:ext cx="287338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1" lang="zh-CN" altLang="en-US" sz="24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7" name="Text Box 60">
            <a:extLst>
              <a:ext uri="{FF2B5EF4-FFF2-40B4-BE49-F238E27FC236}">
                <a16:creationId xmlns:a16="http://schemas.microsoft.com/office/drawing/2014/main" id="{FB36FEA6-34B2-4280-8034-9A2C25B33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5841125"/>
            <a:ext cx="287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1" lang="zh-CN" altLang="en-US" sz="24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8" name="Line 61">
            <a:extLst>
              <a:ext uri="{FF2B5EF4-FFF2-40B4-BE49-F238E27FC236}">
                <a16:creationId xmlns:a16="http://schemas.microsoft.com/office/drawing/2014/main" id="{B0AD6126-2CA0-4801-A089-BC3BE296A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1638" y="1529475"/>
            <a:ext cx="0" cy="426561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C89BBF2-0773-4468-90CA-64AD20AFED3F}"/>
              </a:ext>
            </a:extLst>
          </p:cNvPr>
          <p:cNvGrpSpPr>
            <a:grpSpLocks/>
          </p:cNvGrpSpPr>
          <p:nvPr/>
        </p:nvGrpSpPr>
        <p:grpSpPr bwMode="auto">
          <a:xfrm>
            <a:off x="2965450" y="2764550"/>
            <a:ext cx="5037138" cy="473075"/>
            <a:chOff x="2966174" y="2431415"/>
            <a:chExt cx="5035779" cy="473075"/>
          </a:xfrm>
        </p:grpSpPr>
        <p:sp>
          <p:nvSpPr>
            <p:cNvPr id="72770" name="Rectangle 7">
              <a:extLst>
                <a:ext uri="{FF2B5EF4-FFF2-40B4-BE49-F238E27FC236}">
                  <a16:creationId xmlns:a16="http://schemas.microsoft.com/office/drawing/2014/main" id="{BF28259D-4A18-4B4D-B05E-05F1B7754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174" y="2498090"/>
              <a:ext cx="30970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2771" name="Group 16">
              <a:extLst>
                <a:ext uri="{FF2B5EF4-FFF2-40B4-BE49-F238E27FC236}">
                  <a16:creationId xmlns:a16="http://schemas.microsoft.com/office/drawing/2014/main" id="{F208EF79-F962-40EA-A066-E5B1D64468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3028" y="2431415"/>
              <a:ext cx="4098925" cy="473075"/>
              <a:chOff x="1469" y="1200"/>
              <a:chExt cx="2582" cy="298"/>
            </a:xfrm>
          </p:grpSpPr>
          <p:sp>
            <p:nvSpPr>
              <p:cNvPr id="72774" name="Line 17">
                <a:extLst>
                  <a:ext uri="{FF2B5EF4-FFF2-40B4-BE49-F238E27FC236}">
                    <a16:creationId xmlns:a16="http://schemas.microsoft.com/office/drawing/2014/main" id="{F4FAE288-A6F3-4D6A-8B08-C26704A79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2" y="1200"/>
                <a:ext cx="0" cy="2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775" name="Line 18">
                <a:extLst>
                  <a:ext uri="{FF2B5EF4-FFF2-40B4-BE49-F238E27FC236}">
                    <a16:creationId xmlns:a16="http://schemas.microsoft.com/office/drawing/2014/main" id="{49324336-D76C-4664-B575-0F5260CD39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9" y="1488"/>
                <a:ext cx="25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2772" name="Freeform 57">
              <a:extLst>
                <a:ext uri="{FF2B5EF4-FFF2-40B4-BE49-F238E27FC236}">
                  <a16:creationId xmlns:a16="http://schemas.microsoft.com/office/drawing/2014/main" id="{19A896CF-5528-4AF1-BBD5-745EE5A8E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053" y="2766060"/>
              <a:ext cx="2030412" cy="108000"/>
            </a:xfrm>
            <a:custGeom>
              <a:avLst/>
              <a:gdLst>
                <a:gd name="T0" fmla="*/ 0 w 1351"/>
                <a:gd name="T1" fmla="*/ 0 h 164"/>
                <a:gd name="T2" fmla="*/ 2147483646 w 1351"/>
                <a:gd name="T3" fmla="*/ 2147483646 h 164"/>
                <a:gd name="T4" fmla="*/ 2147483646 w 1351"/>
                <a:gd name="T5" fmla="*/ 2147483646 h 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51" h="164">
                  <a:moveTo>
                    <a:pt x="0" y="0"/>
                  </a:moveTo>
                  <a:cubicBezTo>
                    <a:pt x="189" y="55"/>
                    <a:pt x="378" y="110"/>
                    <a:pt x="603" y="137"/>
                  </a:cubicBezTo>
                  <a:cubicBezTo>
                    <a:pt x="828" y="164"/>
                    <a:pt x="1089" y="163"/>
                    <a:pt x="1351" y="163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73" name="Freeform 66">
              <a:extLst>
                <a:ext uri="{FF2B5EF4-FFF2-40B4-BE49-F238E27FC236}">
                  <a16:creationId xmlns:a16="http://schemas.microsoft.com/office/drawing/2014/main" id="{9B8D4E2D-FAFD-472A-A4EA-A3E63E3F9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378" y="2445703"/>
              <a:ext cx="3463925" cy="312737"/>
            </a:xfrm>
            <a:custGeom>
              <a:avLst/>
              <a:gdLst>
                <a:gd name="T0" fmla="*/ 0 w 2170"/>
                <a:gd name="T1" fmla="*/ 0 h 214"/>
                <a:gd name="T2" fmla="*/ 2147483646 w 2170"/>
                <a:gd name="T3" fmla="*/ 2147483646 h 214"/>
                <a:gd name="T4" fmla="*/ 2147483646 w 2170"/>
                <a:gd name="T5" fmla="*/ 2147483646 h 214"/>
                <a:gd name="T6" fmla="*/ 2147483646 w 2170"/>
                <a:gd name="T7" fmla="*/ 2147483646 h 214"/>
                <a:gd name="T8" fmla="*/ 2147483646 w 2170"/>
                <a:gd name="T9" fmla="*/ 2147483646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0" h="214">
                  <a:moveTo>
                    <a:pt x="0" y="0"/>
                  </a:moveTo>
                  <a:cubicBezTo>
                    <a:pt x="164" y="3"/>
                    <a:pt x="328" y="7"/>
                    <a:pt x="482" y="43"/>
                  </a:cubicBezTo>
                  <a:cubicBezTo>
                    <a:pt x="636" y="79"/>
                    <a:pt x="780" y="214"/>
                    <a:pt x="926" y="214"/>
                  </a:cubicBezTo>
                  <a:cubicBezTo>
                    <a:pt x="1072" y="214"/>
                    <a:pt x="1154" y="76"/>
                    <a:pt x="1361" y="41"/>
                  </a:cubicBezTo>
                  <a:cubicBezTo>
                    <a:pt x="1568" y="6"/>
                    <a:pt x="2036" y="9"/>
                    <a:pt x="2170" y="3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2730" name="Line 67">
            <a:extLst>
              <a:ext uri="{FF2B5EF4-FFF2-40B4-BE49-F238E27FC236}">
                <a16:creationId xmlns:a16="http://schemas.microsoft.com/office/drawing/2014/main" id="{6AF875A3-6784-4D39-BCDB-C25293C1E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5938" y="1540588"/>
            <a:ext cx="3028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67" name="Rectangle 68">
            <a:extLst>
              <a:ext uri="{FF2B5EF4-FFF2-40B4-BE49-F238E27FC236}">
                <a16:creationId xmlns:a16="http://schemas.microsoft.com/office/drawing/2014/main" id="{3480D51B-4B63-4F28-BAA7-F596117DD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452" y="3501150"/>
            <a:ext cx="1271877" cy="369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零延迟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</a:p>
        </p:txBody>
      </p:sp>
      <p:sp>
        <p:nvSpPr>
          <p:cNvPr id="72757" name="Rectangle 69">
            <a:extLst>
              <a:ext uri="{FF2B5EF4-FFF2-40B4-BE49-F238E27FC236}">
                <a16:creationId xmlns:a16="http://schemas.microsoft.com/office/drawing/2014/main" id="{4190E274-FC60-4DAA-8886-E12A89872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3" y="4156788"/>
            <a:ext cx="1348552" cy="338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 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传输延迟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</a:p>
        </p:txBody>
      </p:sp>
      <p:grpSp>
        <p:nvGrpSpPr>
          <p:cNvPr id="72733" name="组合 3">
            <a:extLst>
              <a:ext uri="{FF2B5EF4-FFF2-40B4-BE49-F238E27FC236}">
                <a16:creationId xmlns:a16="http://schemas.microsoft.com/office/drawing/2014/main" id="{76A1CA7A-9E08-413D-9C7C-CAF2967665F5}"/>
              </a:ext>
            </a:extLst>
          </p:cNvPr>
          <p:cNvGrpSpPr>
            <a:grpSpLocks/>
          </p:cNvGrpSpPr>
          <p:nvPr/>
        </p:nvGrpSpPr>
        <p:grpSpPr bwMode="auto">
          <a:xfrm>
            <a:off x="474663" y="1502488"/>
            <a:ext cx="1514475" cy="857250"/>
            <a:chOff x="7154863" y="790667"/>
            <a:chExt cx="1514475" cy="856890"/>
          </a:xfrm>
        </p:grpSpPr>
        <p:pic>
          <p:nvPicPr>
            <p:cNvPr id="72749" name="Picture 2">
              <a:extLst>
                <a:ext uri="{FF2B5EF4-FFF2-40B4-BE49-F238E27FC236}">
                  <a16:creationId xmlns:a16="http://schemas.microsoft.com/office/drawing/2014/main" id="{185F51CC-9AEF-40C0-A61F-CD60E5D52A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4863" y="790667"/>
              <a:ext cx="1514475" cy="4656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2750" name="TextBox 1">
              <a:extLst>
                <a:ext uri="{FF2B5EF4-FFF2-40B4-BE49-F238E27FC236}">
                  <a16:creationId xmlns:a16="http://schemas.microsoft.com/office/drawing/2014/main" id="{6CFD5B97-8B6A-4E0B-8D20-BC91CD2E7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916" y="1309003"/>
              <a:ext cx="143180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CMOS </a:t>
              </a:r>
              <a:r>
                <a:rPr kumimoji="1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与非门</a:t>
              </a:r>
            </a:p>
          </p:txBody>
        </p:sp>
      </p:grpSp>
      <p:grpSp>
        <p:nvGrpSpPr>
          <p:cNvPr id="64519" name="组合 64518">
            <a:extLst>
              <a:ext uri="{FF2B5EF4-FFF2-40B4-BE49-F238E27FC236}">
                <a16:creationId xmlns:a16="http://schemas.microsoft.com/office/drawing/2014/main" id="{4E4AC40B-10A4-446F-BB2A-B8477466C693}"/>
              </a:ext>
            </a:extLst>
          </p:cNvPr>
          <p:cNvGrpSpPr>
            <a:grpSpLocks/>
          </p:cNvGrpSpPr>
          <p:nvPr/>
        </p:nvGrpSpPr>
        <p:grpSpPr bwMode="auto">
          <a:xfrm>
            <a:off x="2965450" y="4698125"/>
            <a:ext cx="5037138" cy="490538"/>
            <a:chOff x="2966174" y="4365624"/>
            <a:chExt cx="5035779" cy="489904"/>
          </a:xfrm>
        </p:grpSpPr>
        <p:grpSp>
          <p:nvGrpSpPr>
            <p:cNvPr id="72738" name="Group 25">
              <a:extLst>
                <a:ext uri="{FF2B5EF4-FFF2-40B4-BE49-F238E27FC236}">
                  <a16:creationId xmlns:a16="http://schemas.microsoft.com/office/drawing/2014/main" id="{655A0554-C0A5-4B74-B28E-935BB03F9D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3028" y="4382453"/>
              <a:ext cx="4098925" cy="473075"/>
              <a:chOff x="1469" y="1200"/>
              <a:chExt cx="2582" cy="298"/>
            </a:xfrm>
          </p:grpSpPr>
          <p:sp>
            <p:nvSpPr>
              <p:cNvPr id="72747" name="Line 26">
                <a:extLst>
                  <a:ext uri="{FF2B5EF4-FFF2-40B4-BE49-F238E27FC236}">
                    <a16:creationId xmlns:a16="http://schemas.microsoft.com/office/drawing/2014/main" id="{39E66B4D-248D-4B98-A5DD-605764257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2" y="1200"/>
                <a:ext cx="0" cy="2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748" name="Line 27">
                <a:extLst>
                  <a:ext uri="{FF2B5EF4-FFF2-40B4-BE49-F238E27FC236}">
                    <a16:creationId xmlns:a16="http://schemas.microsoft.com/office/drawing/2014/main" id="{38317C5B-A322-4C93-B1C4-0A26B3E0F8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9" y="1488"/>
                <a:ext cx="25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2739" name="Line 38">
              <a:extLst>
                <a:ext uri="{FF2B5EF4-FFF2-40B4-BE49-F238E27FC236}">
                  <a16:creationId xmlns:a16="http://schemas.microsoft.com/office/drawing/2014/main" id="{91C84A50-CED7-47B6-8683-1D9258EE4F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0965" y="4390708"/>
              <a:ext cx="146208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40" name="Line 39">
              <a:extLst>
                <a:ext uri="{FF2B5EF4-FFF2-40B4-BE49-F238E27FC236}">
                  <a16:creationId xmlns:a16="http://schemas.microsoft.com/office/drawing/2014/main" id="{50AFE7D0-A311-4707-B0A2-C9E753A28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8290" y="4373244"/>
              <a:ext cx="0" cy="4746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41" name="Line 44">
              <a:extLst>
                <a:ext uri="{FF2B5EF4-FFF2-40B4-BE49-F238E27FC236}">
                  <a16:creationId xmlns:a16="http://schemas.microsoft.com/office/drawing/2014/main" id="{CD6DB2D4-D2E0-47B8-A8AF-894F3520F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5203" y="4839653"/>
              <a:ext cx="129698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42" name="Line 39">
              <a:extLst>
                <a:ext uri="{FF2B5EF4-FFF2-40B4-BE49-F238E27FC236}">
                  <a16:creationId xmlns:a16="http://schemas.microsoft.com/office/drawing/2014/main" id="{120FBC11-BEEE-485B-813D-7F82E983A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11190" y="4365624"/>
              <a:ext cx="0" cy="4746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43" name="Line 39">
              <a:extLst>
                <a:ext uri="{FF2B5EF4-FFF2-40B4-BE49-F238E27FC236}">
                  <a16:creationId xmlns:a16="http://schemas.microsoft.com/office/drawing/2014/main" id="{B6265656-8976-46A5-BBD3-F22F97507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9330" y="4365624"/>
              <a:ext cx="0" cy="4746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44" name="Line 46">
              <a:extLst>
                <a:ext uri="{FF2B5EF4-FFF2-40B4-BE49-F238E27FC236}">
                  <a16:creationId xmlns:a16="http://schemas.microsoft.com/office/drawing/2014/main" id="{2790C39A-1DD7-4A59-B0C8-DDEBD70F0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7178" y="4832667"/>
              <a:ext cx="35401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45" name="Line 46">
              <a:extLst>
                <a:ext uri="{FF2B5EF4-FFF2-40B4-BE49-F238E27FC236}">
                  <a16:creationId xmlns:a16="http://schemas.microsoft.com/office/drawing/2014/main" id="{7C65F703-7A19-47B8-983C-1D4E39959B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25796" y="4382453"/>
              <a:ext cx="35401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46" name="Rectangle 7">
              <a:extLst>
                <a:ext uri="{FF2B5EF4-FFF2-40B4-BE49-F238E27FC236}">
                  <a16:creationId xmlns:a16="http://schemas.microsoft.com/office/drawing/2014/main" id="{633457E6-248A-4883-8E2D-B0E8D97CF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174" y="4456430"/>
              <a:ext cx="30970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2735" name="Line 61">
            <a:extLst>
              <a:ext uri="{FF2B5EF4-FFF2-40B4-BE49-F238E27FC236}">
                <a16:creationId xmlns:a16="http://schemas.microsoft.com/office/drawing/2014/main" id="{E6F95D40-82CC-491E-886A-204D03260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529475"/>
            <a:ext cx="0" cy="426561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03E08D2-7A72-C343-A936-A0F78EE63D35}"/>
              </a:ext>
            </a:extLst>
          </p:cNvPr>
          <p:cNvGrpSpPr/>
          <p:nvPr/>
        </p:nvGrpSpPr>
        <p:grpSpPr>
          <a:xfrm>
            <a:off x="3903344" y="4074238"/>
            <a:ext cx="4099244" cy="480305"/>
            <a:chOff x="3903344" y="3741738"/>
            <a:chExt cx="4099244" cy="480305"/>
          </a:xfrm>
        </p:grpSpPr>
        <p:grpSp>
          <p:nvGrpSpPr>
            <p:cNvPr id="72751" name="Group 22">
              <a:extLst>
                <a:ext uri="{FF2B5EF4-FFF2-40B4-BE49-F238E27FC236}">
                  <a16:creationId xmlns:a16="http://schemas.microsoft.com/office/drawing/2014/main" id="{B7B0632B-FF9F-47EF-B899-1A5D19EFBC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3344" y="3741738"/>
              <a:ext cx="4099244" cy="473076"/>
              <a:chOff x="1469" y="1200"/>
              <a:chExt cx="2582" cy="298"/>
            </a:xfrm>
          </p:grpSpPr>
          <p:sp>
            <p:nvSpPr>
              <p:cNvPr id="72758" name="Line 23">
                <a:extLst>
                  <a:ext uri="{FF2B5EF4-FFF2-40B4-BE49-F238E27FC236}">
                    <a16:creationId xmlns:a16="http://schemas.microsoft.com/office/drawing/2014/main" id="{3BFC8857-EEF5-48D1-BB0E-793316884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2" y="1200"/>
                <a:ext cx="0" cy="2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759" name="Line 24">
                <a:extLst>
                  <a:ext uri="{FF2B5EF4-FFF2-40B4-BE49-F238E27FC236}">
                    <a16:creationId xmlns:a16="http://schemas.microsoft.com/office/drawing/2014/main" id="{E94FE74B-295A-48F9-86F8-B8FD3ECE3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9" y="1488"/>
                <a:ext cx="25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2753" name="Line 41">
              <a:extLst>
                <a:ext uri="{FF2B5EF4-FFF2-40B4-BE49-F238E27FC236}">
                  <a16:creationId xmlns:a16="http://schemas.microsoft.com/office/drawing/2014/main" id="{5244FA61-603C-4B3C-9392-EB41F2D16B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6516" y="3743324"/>
              <a:ext cx="0" cy="47307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54" name="Line 45">
              <a:extLst>
                <a:ext uri="{FF2B5EF4-FFF2-40B4-BE49-F238E27FC236}">
                  <a16:creationId xmlns:a16="http://schemas.microsoft.com/office/drawing/2014/main" id="{C5611295-2C32-4E98-A9EF-D5414239C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9694" y="3760788"/>
              <a:ext cx="77158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55" name="Line 47">
              <a:extLst>
                <a:ext uri="{FF2B5EF4-FFF2-40B4-BE49-F238E27FC236}">
                  <a16:creationId xmlns:a16="http://schemas.microsoft.com/office/drawing/2014/main" id="{C1A82C7E-4D61-40C4-A458-F7763D557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6990" y="4196681"/>
              <a:ext cx="1035131" cy="66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56" name="Line 64">
              <a:extLst>
                <a:ext uri="{FF2B5EF4-FFF2-40B4-BE49-F238E27FC236}">
                  <a16:creationId xmlns:a16="http://schemas.microsoft.com/office/drawing/2014/main" id="{E7AA84D5-D836-4097-AB94-3EF59F579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2121" y="3766961"/>
              <a:ext cx="167811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" name="Line 41">
              <a:extLst>
                <a:ext uri="{FF2B5EF4-FFF2-40B4-BE49-F238E27FC236}">
                  <a16:creationId xmlns:a16="http://schemas.microsoft.com/office/drawing/2014/main" id="{EBB29904-C40D-474A-B36B-EDBD25554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98162" y="3748967"/>
              <a:ext cx="0" cy="47307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CBD75EE-A0CB-EE4B-BC00-EAF3A36B935A}"/>
              </a:ext>
            </a:extLst>
          </p:cNvPr>
          <p:cNvGrpSpPr/>
          <p:nvPr/>
        </p:nvGrpSpPr>
        <p:grpSpPr>
          <a:xfrm>
            <a:off x="3892089" y="3415423"/>
            <a:ext cx="4110499" cy="479427"/>
            <a:chOff x="3892089" y="3082923"/>
            <a:chExt cx="4110499" cy="479427"/>
          </a:xfrm>
        </p:grpSpPr>
        <p:sp>
          <p:nvSpPr>
            <p:cNvPr id="72768" name="Line 20">
              <a:extLst>
                <a:ext uri="{FF2B5EF4-FFF2-40B4-BE49-F238E27FC236}">
                  <a16:creationId xmlns:a16="http://schemas.microsoft.com/office/drawing/2014/main" id="{36AFA549-E929-4A1B-BBEE-BF5F2B443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865" y="3086100"/>
              <a:ext cx="0" cy="473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69" name="Line 21">
              <a:extLst>
                <a:ext uri="{FF2B5EF4-FFF2-40B4-BE49-F238E27FC236}">
                  <a16:creationId xmlns:a16="http://schemas.microsoft.com/office/drawing/2014/main" id="{10643C0D-7214-4B0A-ADAF-031524BCB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2089" y="3543301"/>
              <a:ext cx="4110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62" name="Line 42">
              <a:extLst>
                <a:ext uri="{FF2B5EF4-FFF2-40B4-BE49-F238E27FC236}">
                  <a16:creationId xmlns:a16="http://schemas.microsoft.com/office/drawing/2014/main" id="{B2A324A0-FB49-4CC0-AD33-AE55CAA2ED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0738" y="3135312"/>
              <a:ext cx="0" cy="42703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64" name="Line 46">
              <a:extLst>
                <a:ext uri="{FF2B5EF4-FFF2-40B4-BE49-F238E27FC236}">
                  <a16:creationId xmlns:a16="http://schemas.microsoft.com/office/drawing/2014/main" id="{A52B8BEE-88F0-4200-8AC3-84B6B7E9C8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1338" y="3093861"/>
              <a:ext cx="44575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65" name="Line 53">
              <a:extLst>
                <a:ext uri="{FF2B5EF4-FFF2-40B4-BE49-F238E27FC236}">
                  <a16:creationId xmlns:a16="http://schemas.microsoft.com/office/drawing/2014/main" id="{AECA43FC-C248-4F21-959D-C6AA6704E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478" y="3546476"/>
              <a:ext cx="10682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66" name="Line 65">
              <a:extLst>
                <a:ext uri="{FF2B5EF4-FFF2-40B4-BE49-F238E27FC236}">
                  <a16:creationId xmlns:a16="http://schemas.microsoft.com/office/drawing/2014/main" id="{56594711-4866-46A9-97CD-B4E2E27B2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1634" y="3133725"/>
              <a:ext cx="202659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" name="Line 41">
              <a:extLst>
                <a:ext uri="{FF2B5EF4-FFF2-40B4-BE49-F238E27FC236}">
                  <a16:creationId xmlns:a16="http://schemas.microsoft.com/office/drawing/2014/main" id="{3E2FADAE-6766-EA40-88B2-26857D7F5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490" y="3082923"/>
              <a:ext cx="0" cy="47307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1383CEBD-D50F-394B-8D14-0639EF7A56DF}"/>
              </a:ext>
            </a:extLst>
          </p:cNvPr>
          <p:cNvCxnSpPr/>
          <p:nvPr/>
        </p:nvCxnSpPr>
        <p:spPr bwMode="auto">
          <a:xfrm>
            <a:off x="3908909" y="5796038"/>
            <a:ext cx="4093679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181052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>
            <a:extLst>
              <a:ext uri="{FF2B5EF4-FFF2-40B4-BE49-F238E27FC236}">
                <a16:creationId xmlns:a16="http://schemas.microsoft.com/office/drawing/2014/main" id="{253A6D80-52E0-4957-B439-60A2EAD0AC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04D5F4-7869-42EB-A2C5-F684D4DF74C5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73731" name="灯片编号占位符 2">
            <a:extLst>
              <a:ext uri="{FF2B5EF4-FFF2-40B4-BE49-F238E27FC236}">
                <a16:creationId xmlns:a16="http://schemas.microsoft.com/office/drawing/2014/main" id="{910D5370-1CBA-4432-A1F5-9A22D991B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712F9D-EC51-4396-A68A-5BDB7F1BD9A0}" type="slidenum">
              <a:rPr kumimoji="1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2" name="Rectangle 397">
            <a:extLst>
              <a:ext uri="{FF2B5EF4-FFF2-40B4-BE49-F238E27FC236}">
                <a16:creationId xmlns:a16="http://schemas.microsoft.com/office/drawing/2014/main" id="{28587815-DB74-4388-B2AA-21E92D954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15900"/>
            <a:ext cx="8686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门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的传播延迟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3/3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3733" name="Text Box 3">
            <a:extLst>
              <a:ext uri="{FF2B5EF4-FFF2-40B4-BE49-F238E27FC236}">
                <a16:creationId xmlns:a16="http://schemas.microsoft.com/office/drawing/2014/main" id="{917186F7-3FBD-453B-9BB7-1FE644FA4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106488"/>
            <a:ext cx="8499475" cy="96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19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延迟模型</a:t>
            </a:r>
          </a:p>
          <a:p>
            <a:pPr marL="36195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传输延迟：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输出响应输入变化而发生变化要经过一段时间；</a:t>
            </a:r>
          </a:p>
        </p:txBody>
      </p:sp>
      <p:sp>
        <p:nvSpPr>
          <p:cNvPr id="295951" name="Text Box 15">
            <a:extLst>
              <a:ext uri="{FF2B5EF4-FFF2-40B4-BE49-F238E27FC236}">
                <a16:creationId xmlns:a16="http://schemas.microsoft.com/office/drawing/2014/main" id="{EEE5782C-76BF-464B-A6D8-8EAEB7ACC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8" y="2056468"/>
            <a:ext cx="8499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19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6195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惯性延迟：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类似传输延迟，输入使输出连续两次变化的时间间隔小于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拒绝时间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，输出两次变化中第一次变化不会发生。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5B24B0A1-986A-49BC-A3CE-D20BEA622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06" y="2899055"/>
            <a:ext cx="8499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19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6195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与事实越相符，模型越复杂，计算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量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越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大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。反则反之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56A301-1551-4B1C-B96B-571D5AD04025}"/>
              </a:ext>
            </a:extLst>
          </p:cNvPr>
          <p:cNvSpPr/>
          <p:nvPr/>
        </p:nvSpPr>
        <p:spPr bwMode="auto">
          <a:xfrm>
            <a:off x="0" y="6436659"/>
            <a:ext cx="9144000" cy="42134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pic>
        <p:nvPicPr>
          <p:cNvPr id="12295" name="Picture 400" descr="6-6">
            <a:extLst>
              <a:ext uri="{FF2B5EF4-FFF2-40B4-BE49-F238E27FC236}">
                <a16:creationId xmlns:a16="http://schemas.microsoft.com/office/drawing/2014/main" id="{F6B4545E-DE53-4FEB-923D-FF8AD2759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3585865"/>
            <a:ext cx="5724525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E9178401-D19B-4CEC-92B3-EA02544E1B00}"/>
              </a:ext>
            </a:extLst>
          </p:cNvPr>
          <p:cNvGrpSpPr>
            <a:grpSpLocks/>
          </p:cNvGrpSpPr>
          <p:nvPr/>
        </p:nvGrpSpPr>
        <p:grpSpPr bwMode="auto">
          <a:xfrm>
            <a:off x="6462713" y="4398665"/>
            <a:ext cx="2487612" cy="369887"/>
            <a:chOff x="6462713" y="4284345"/>
            <a:chExt cx="2486977" cy="369332"/>
          </a:xfrm>
        </p:grpSpPr>
        <p:sp>
          <p:nvSpPr>
            <p:cNvPr id="73740" name="Text Box 22">
              <a:extLst>
                <a:ext uri="{FF2B5EF4-FFF2-40B4-BE49-F238E27FC236}">
                  <a16:creationId xmlns:a16="http://schemas.microsoft.com/office/drawing/2014/main" id="{2B79913E-D6C7-45F9-ABFE-AC4E65D23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3228" y="4284345"/>
              <a:ext cx="217646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传输延迟 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= 2.0 ns</a:t>
              </a:r>
            </a:p>
          </p:txBody>
        </p:sp>
        <p:cxnSp>
          <p:nvCxnSpPr>
            <p:cNvPr id="73741" name="直接连接符 2">
              <a:extLst>
                <a:ext uri="{FF2B5EF4-FFF2-40B4-BE49-F238E27FC236}">
                  <a16:creationId xmlns:a16="http://schemas.microsoft.com/office/drawing/2014/main" id="{1D2B8436-F4FA-4D20-B352-40B72ED388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62713" y="4465320"/>
              <a:ext cx="474821" cy="0"/>
            </a:xfrm>
            <a:prstGeom prst="line">
              <a:avLst/>
            </a:prstGeom>
            <a:noFill/>
            <a:ln w="88900" algn="ctr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FD12FCC-1B79-43FC-82E6-5DD54D577A88}"/>
              </a:ext>
            </a:extLst>
          </p:cNvPr>
          <p:cNvGrpSpPr>
            <a:grpSpLocks/>
          </p:cNvGrpSpPr>
          <p:nvPr/>
        </p:nvGrpSpPr>
        <p:grpSpPr bwMode="auto">
          <a:xfrm>
            <a:off x="6692900" y="4749502"/>
            <a:ext cx="2279650" cy="368300"/>
            <a:chOff x="6692503" y="4672965"/>
            <a:chExt cx="2280047" cy="369332"/>
          </a:xfrm>
        </p:grpSpPr>
        <p:sp>
          <p:nvSpPr>
            <p:cNvPr id="73738" name="Text Box 22">
              <a:extLst>
                <a:ext uri="{FF2B5EF4-FFF2-40B4-BE49-F238E27FC236}">
                  <a16:creationId xmlns:a16="http://schemas.microsoft.com/office/drawing/2014/main" id="{4D09F4A9-F622-4591-B23B-453A9B4AE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8" y="4672965"/>
              <a:ext cx="217646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拒绝时间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= 1 .0 ns</a:t>
              </a:r>
            </a:p>
          </p:txBody>
        </p:sp>
        <p:cxnSp>
          <p:nvCxnSpPr>
            <p:cNvPr id="73739" name="直接连接符 9">
              <a:extLst>
                <a:ext uri="{FF2B5EF4-FFF2-40B4-BE49-F238E27FC236}">
                  <a16:creationId xmlns:a16="http://schemas.microsoft.com/office/drawing/2014/main" id="{11430B76-235B-4E1D-905F-1788CB2DEF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92503" y="4861560"/>
              <a:ext cx="237411" cy="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904DC854-CC6D-4310-B05B-FDEAA45908F4}"/>
              </a:ext>
            </a:extLst>
          </p:cNvPr>
          <p:cNvSpPr/>
          <p:nvPr/>
        </p:nvSpPr>
        <p:spPr bwMode="auto">
          <a:xfrm>
            <a:off x="537328" y="5667726"/>
            <a:ext cx="5816338" cy="457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EC1F80-1665-46C3-A961-DC6BFB4E8103}"/>
              </a:ext>
            </a:extLst>
          </p:cNvPr>
          <p:cNvSpPr/>
          <p:nvPr/>
        </p:nvSpPr>
        <p:spPr bwMode="auto">
          <a:xfrm>
            <a:off x="689728" y="5169677"/>
            <a:ext cx="5816338" cy="457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01508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51" grpId="0" build="p" bldLvl="2"/>
      <p:bldP spid="14" grpId="0" build="p" bldLvl="2"/>
      <p:bldP spid="2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3070A-BD33-35BB-A63A-C807694C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B92167-76B3-B524-AA16-318477DB5E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9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399E58-1626-E2F1-3EAE-889022128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821" y="1266361"/>
            <a:ext cx="4240347" cy="14469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6D360AC-EF85-322C-2F3F-F6689304510E}"/>
              </a:ext>
            </a:extLst>
          </p:cNvPr>
          <p:cNvSpPr txBox="1"/>
          <p:nvPr/>
        </p:nvSpPr>
        <p:spPr>
          <a:xfrm>
            <a:off x="498111" y="305308"/>
            <a:ext cx="780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>
                <a:ea typeface="华文新魏" pitchFamily="2" charset="-122"/>
              </a:rPr>
              <a:t>6_1</a:t>
            </a:r>
            <a:r>
              <a:rPr lang="zh-CN" altLang="en-US" sz="2000" b="0">
                <a:ea typeface="华文新魏" pitchFamily="2" charset="-122"/>
              </a:rPr>
              <a:t>、</a:t>
            </a:r>
            <a:r>
              <a:rPr kumimoji="0" lang="zh-CN" altLang="en-US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求以下两个电路的传递函数</a:t>
            </a:r>
            <a:r>
              <a:rPr kumimoji="0" lang="en-US" altLang="zh-CN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kumimoji="0" lang="en-US" altLang="zh-CN" sz="2400" b="0">
                <a:solidFill>
                  <a:srgbClr val="000000"/>
                </a:solidFill>
                <a:latin typeface="+mj-lt"/>
                <a:ea typeface="华文新魏" panose="02010800040101010101" pitchFamily="2" charset="-122"/>
              </a:rPr>
              <a:t>Vout/Vin</a:t>
            </a:r>
            <a:r>
              <a:rPr kumimoji="0" lang="en-US" altLang="zh-CN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kumimoji="0" lang="zh-CN" altLang="en-US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，幅频特性和</a:t>
            </a:r>
            <a:endParaRPr kumimoji="0" lang="en-US" altLang="zh-CN" sz="2400" b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zh-CN" altLang="en-US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截止频率，并在对数坐标系中画出其幅频特性曲线。</a:t>
            </a:r>
            <a:endParaRPr lang="zh-CN" altLang="en-US" sz="2000" b="0" dirty="0"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AB22CCB-4876-4998-A6C9-516E93A6A43F}"/>
                  </a:ext>
                </a:extLst>
              </p:cNvPr>
              <p:cNvSpPr txBox="1"/>
              <p:nvPr/>
            </p:nvSpPr>
            <p:spPr>
              <a:xfrm>
                <a:off x="353791" y="3016858"/>
                <a:ext cx="7810408" cy="2995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𝒐𝒖𝒕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//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/>
                  <a:t>                    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//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//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den>
                    </m:f>
                  </m:oMath>
                </a14:m>
                <a:endParaRPr lang="en-US" altLang="zh-CN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/>
                  <a:t>                    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AB22CCB-4876-4998-A6C9-516E93A6A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91" y="3016858"/>
                <a:ext cx="7810408" cy="2995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9804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3C2FE5-F966-A7F1-EE5D-CC7367C3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7064C4-F2EC-921B-5A6B-65B1525819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10</a:t>
            </a:fld>
            <a:endParaRPr lang="en-US" altLang="zh-CN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2">
                <a:extLst>
                  <a:ext uri="{FF2B5EF4-FFF2-40B4-BE49-F238E27FC236}">
                    <a16:creationId xmlns:a16="http://schemas.microsoft.com/office/drawing/2014/main" id="{9B5484F3-BBD7-A296-9154-BD6EC9C7D7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4686" y="2343675"/>
                <a:ext cx="5686021" cy="1719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0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时，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0</m:t>
                    </m:r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较小时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幅值渐近线</m:t>
                    </m:r>
                    <m:r>
                      <a:rPr kumimoji="0" lang="zh-CN" altLang="en-US" sz="2000" b="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为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sSub>
                      <m:sSubPr>
                        <m:ctrlP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𝐶</m:t>
                        </m:r>
                      </m:e>
                      <m:sub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较</m:t>
                    </m:r>
                    <m:r>
                      <a:rPr kumimoji="0" lang="zh-CN" altLang="en-US" sz="2000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大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时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幅值渐近线</m:t>
                    </m:r>
                    <m:r>
                      <a:rPr kumimoji="0" lang="zh-CN" altLang="en-US" sz="2000" b="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为</m:t>
                    </m:r>
                    <m:f>
                      <m:fPr>
                        <m:ctrlP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num>
                      <m:den>
                        <m:r>
                          <a:rPr kumimoji="0" lang="zh-CN" altLang="en-US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𝜔</m:t>
                        </m:r>
                        <m:sSub>
                          <m:sSubPr>
                            <m:ctrl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2000" b="0" i="1" smtClean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∞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时，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0</m:t>
                    </m:r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7" name="Text Box 2">
                <a:extLst>
                  <a:ext uri="{FF2B5EF4-FFF2-40B4-BE49-F238E27FC236}">
                    <a16:creationId xmlns:a16="http://schemas.microsoft.com/office/drawing/2014/main" id="{9B5484F3-BBD7-A296-9154-BD6EC9C7D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4686" y="2343675"/>
                <a:ext cx="5686021" cy="1719317"/>
              </a:xfrm>
              <a:prstGeom prst="rect">
                <a:avLst/>
              </a:prstGeom>
              <a:blipFill>
                <a:blip r:embed="rId2"/>
                <a:stretch>
                  <a:fillRect t="-707" b="-45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F23E5CC-663E-7808-7ECD-19D47DA09068}"/>
                  </a:ext>
                </a:extLst>
              </p:cNvPr>
              <p:cNvSpPr txBox="1"/>
              <p:nvPr/>
            </p:nvSpPr>
            <p:spPr>
              <a:xfrm>
                <a:off x="1124686" y="1523056"/>
                <a:ext cx="7200834" cy="6054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400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b="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d>
                                  <m:d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zh-CN" altLang="en-US" sz="2400" b="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F23E5CC-663E-7808-7ECD-19D47DA09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86" y="1523056"/>
                <a:ext cx="7200834" cy="605487"/>
              </a:xfrm>
              <a:prstGeom prst="rect">
                <a:avLst/>
              </a:prstGeom>
              <a:blipFill>
                <a:blip r:embed="rId3"/>
                <a:stretch>
                  <a:fillRect t="-4040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BA01DA9D-04F2-2A03-AFB7-8517A9596CAE}"/>
              </a:ext>
            </a:extLst>
          </p:cNvPr>
          <p:cNvSpPr txBox="1"/>
          <p:nvPr/>
        </p:nvSpPr>
        <p:spPr>
          <a:xfrm>
            <a:off x="1527175" y="420876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ea typeface="华文新魏" pitchFamily="2" charset="-122"/>
              </a:rPr>
              <a:t>截止频率：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1EBB496-16A0-3226-3386-42A9532D9CED}"/>
                  </a:ext>
                </a:extLst>
              </p:cNvPr>
              <p:cNvSpPr txBox="1"/>
              <p:nvPr/>
            </p:nvSpPr>
            <p:spPr>
              <a:xfrm>
                <a:off x="1527175" y="4650349"/>
                <a:ext cx="28057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b="0" dirty="0"/>
                  <a:t>ad/s</a:t>
                </a:r>
                <a:endParaRPr lang="zh-CN" altLang="en-US" sz="2000" b="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1EBB496-16A0-3226-3386-42A9532D9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175" y="4650349"/>
                <a:ext cx="2805768" cy="307777"/>
              </a:xfrm>
              <a:prstGeom prst="rect">
                <a:avLst/>
              </a:prstGeom>
              <a:blipFill>
                <a:blip r:embed="rId5"/>
                <a:stretch>
                  <a:fillRect l="-2391" t="-26000" r="-4783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D3CDEFC-400B-BB95-336F-6F522E194B96}"/>
                  </a:ext>
                </a:extLst>
              </p:cNvPr>
              <p:cNvSpPr txBox="1"/>
              <p:nvPr/>
            </p:nvSpPr>
            <p:spPr>
              <a:xfrm>
                <a:off x="1527175" y="5058532"/>
                <a:ext cx="3257110" cy="311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b="0" dirty="0"/>
                  <a:t>ad/s</a:t>
                </a:r>
                <a:endParaRPr lang="zh-CN" altLang="en-US" sz="2000" b="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D3CDEFC-400B-BB95-336F-6F522E194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175" y="5058532"/>
                <a:ext cx="3257110" cy="311304"/>
              </a:xfrm>
              <a:prstGeom prst="rect">
                <a:avLst/>
              </a:prstGeom>
              <a:blipFill>
                <a:blip r:embed="rId6"/>
                <a:stretch>
                  <a:fillRect l="-2060" t="-23529" r="-3933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5805DAC0-E757-82D7-3931-D0BCAD0F2D4C}"/>
              </a:ext>
            </a:extLst>
          </p:cNvPr>
          <p:cNvSpPr txBox="1"/>
          <p:nvPr/>
        </p:nvSpPr>
        <p:spPr>
          <a:xfrm>
            <a:off x="1038553" y="86861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ea typeface="华文新魏" pitchFamily="2" charset="-122"/>
              </a:rPr>
              <a:t>幅频特性：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D3310F-3969-2C75-39C6-48234E8B89B3}"/>
              </a:ext>
            </a:extLst>
          </p:cNvPr>
          <p:cNvSpPr txBox="1"/>
          <p:nvPr/>
        </p:nvSpPr>
        <p:spPr>
          <a:xfrm>
            <a:off x="878464" y="536825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ea typeface="华文新魏" pitchFamily="2" charset="-122"/>
              </a:rPr>
              <a:t>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834B39A-0229-A9A6-8988-68C9D05A3C62}"/>
                  </a:ext>
                </a:extLst>
              </p:cNvPr>
              <p:cNvSpPr txBox="1"/>
              <p:nvPr/>
            </p:nvSpPr>
            <p:spPr>
              <a:xfrm>
                <a:off x="1498707" y="5536276"/>
                <a:ext cx="3711850" cy="435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=0.91∗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b="0" dirty="0"/>
                  <a:t>ad/s</a:t>
                </a:r>
                <a:endParaRPr lang="zh-CN" altLang="en-US" sz="2000" b="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834B39A-0229-A9A6-8988-68C9D05A3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707" y="5536276"/>
                <a:ext cx="3711850" cy="435247"/>
              </a:xfrm>
              <a:prstGeom prst="rect">
                <a:avLst/>
              </a:prstGeom>
              <a:blipFill>
                <a:blip r:embed="rId7"/>
                <a:stretch>
                  <a:fillRect l="-1806" t="-4167" r="-3284" b="-19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0CF336-2A62-41BE-9DE3-540B1E5EE4E9}"/>
                  </a:ext>
                </a:extLst>
              </p:cNvPr>
              <p:cNvSpPr txBox="1"/>
              <p:nvPr/>
            </p:nvSpPr>
            <p:spPr>
              <a:xfrm>
                <a:off x="1518803" y="6034891"/>
                <a:ext cx="3648243" cy="311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2.2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b="0" dirty="0"/>
                  <a:t>ad/s</a:t>
                </a:r>
                <a:endParaRPr lang="zh-CN" altLang="en-US" sz="2000" b="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0CF336-2A62-41BE-9DE3-540B1E5EE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803" y="6034891"/>
                <a:ext cx="3648243" cy="311304"/>
              </a:xfrm>
              <a:prstGeom prst="rect">
                <a:avLst/>
              </a:prstGeom>
              <a:blipFill>
                <a:blip r:embed="rId8"/>
                <a:stretch>
                  <a:fillRect l="-1669" t="-23529" r="-3506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84ABEC19-BB7D-7119-E713-9475491543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0111" y="4321209"/>
            <a:ext cx="32861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081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bldLvl="2"/>
      <p:bldP spid="20" grpId="0"/>
      <p:bldP spid="21" grpId="0"/>
      <p:bldP spid="22" grpId="0"/>
      <p:bldP spid="2" grpId="0"/>
      <p:bldP spid="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838ACE-37CA-D8FA-2F4F-B2355D15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61481E-4872-1C20-BEA6-3E218C041B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C44141-5CD5-4B58-F2E1-107E33AEFABB}"/>
              </a:ext>
            </a:extLst>
          </p:cNvPr>
          <p:cNvSpPr txBox="1"/>
          <p:nvPr/>
        </p:nvSpPr>
        <p:spPr>
          <a:xfrm>
            <a:off x="498111" y="305308"/>
            <a:ext cx="780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>
                <a:ea typeface="华文新魏" pitchFamily="2" charset="-122"/>
              </a:rPr>
              <a:t>6_2</a:t>
            </a:r>
            <a:r>
              <a:rPr lang="zh-CN" altLang="en-US" sz="2000" b="0">
                <a:ea typeface="华文新魏" pitchFamily="2" charset="-122"/>
              </a:rPr>
              <a:t>、</a:t>
            </a:r>
            <a:r>
              <a:rPr kumimoji="0" lang="zh-CN" altLang="en-US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求以下两个电路的传递函数</a:t>
            </a:r>
            <a:r>
              <a:rPr kumimoji="0" lang="en-US" altLang="zh-CN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kumimoji="0" lang="en-US" altLang="zh-CN" sz="2400" b="0">
                <a:solidFill>
                  <a:srgbClr val="000000"/>
                </a:solidFill>
                <a:latin typeface="+mj-lt"/>
                <a:ea typeface="华文新魏" panose="02010800040101010101" pitchFamily="2" charset="-122"/>
              </a:rPr>
              <a:t>Vout/Vin</a:t>
            </a:r>
            <a:r>
              <a:rPr kumimoji="0" lang="en-US" altLang="zh-CN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kumimoji="0" lang="zh-CN" altLang="en-US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，幅频特性和</a:t>
            </a:r>
            <a:endParaRPr kumimoji="0" lang="en-US" altLang="zh-CN" sz="2400" b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zh-CN" altLang="en-US" sz="2400" b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截止频率，并在对数坐标系中画出其幅频特性曲线。</a:t>
            </a:r>
            <a:endParaRPr lang="zh-CN" altLang="en-US" sz="2000" b="0" dirty="0">
              <a:ea typeface="华文新魏" pitchFamily="2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DFE6C-15C3-C3FE-0A5B-1E3F37821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316" y="1262952"/>
            <a:ext cx="5838302" cy="229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D5317C-8983-A171-1B29-F328BA2B6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351" y="3459860"/>
            <a:ext cx="3839111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764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A525C1-9C3B-9543-ABD7-BD18B46C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2025/11/11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584C5A-D9E4-21E3-66DD-64B63A2726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12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1B399B-096B-E52A-D5E4-45FABC95C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31" y="715640"/>
            <a:ext cx="5687219" cy="17052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696FB19-BBB1-489D-C6FB-92230BD0167B}"/>
                  </a:ext>
                </a:extLst>
              </p:cNvPr>
              <p:cNvSpPr txBox="1"/>
              <p:nvPr/>
            </p:nvSpPr>
            <p:spPr>
              <a:xfrm>
                <a:off x="688310" y="2501240"/>
                <a:ext cx="6036340" cy="1554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0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时，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 smtClean="0">
                        <a:ea typeface="华文新魏" panose="02010800040101010101" pitchFamily="2" charset="-122"/>
                      </a:rPr>
                      <m:t>0</m:t>
                    </m:r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较小时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幅值渐近线</m:t>
                    </m:r>
                    <m:r>
                      <a:rPr kumimoji="0" lang="zh-CN" altLang="en-US" sz="2000" b="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为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sSub>
                      <m:sSubPr>
                        <m:ctrlP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f</m:t>
                        </m:r>
                      </m:sub>
                    </m:sSub>
                    <m:sSub>
                      <m:sSubPr>
                        <m:ctrlP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𝐻</m:t>
                        </m:r>
                      </m:sub>
                    </m:sSub>
                    <m:sSub>
                      <m:sSubPr>
                        <m:ctrlP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𝐶</m:t>
                        </m:r>
                      </m:e>
                      <m:sub>
                        <m: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𝐻</m:t>
                        </m:r>
                      </m:sub>
                    </m:sSub>
                    <m:r>
                      <a:rPr kumimoji="0" lang="en-US" altLang="zh-CN" sz="2000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/</m:t>
                    </m:r>
                    <m:sSub>
                      <m:sSubPr>
                        <m:ctrlP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较</m:t>
                    </m:r>
                    <m:r>
                      <a:rPr kumimoji="0" lang="zh-CN" altLang="en-US" sz="2000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大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时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幅值渐近线</m:t>
                    </m:r>
                    <m:r>
                      <a:rPr kumimoji="0" lang="zh-CN" altLang="en-US" sz="2000" b="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为</m:t>
                    </m:r>
                    <m:f>
                      <m:fPr>
                        <m:type m:val="lin"/>
                        <m:ctrlPr>
                          <a:rPr kumimoji="0" lang="zh-CN" altLang="en-US" sz="2000" b="0" i="1" dirty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f</m:t>
                            </m:r>
                          </m:sub>
                        </m:sSub>
                        <m: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</m:t>
                        </m:r>
                      </m:num>
                      <m:den>
                        <m:r>
                          <a:rPr kumimoji="0" lang="zh-CN" altLang="en-US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𝜔</m:t>
                        </m:r>
                        <m:sSub>
                          <m:sSubPr>
                            <m:ctrl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2000" b="0" i="1" smtClean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en-US" altLang="zh-CN" sz="2000" b="0" i="1" smtClean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∞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时，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0</m:t>
                    </m:r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696FB19-BBB1-489D-C6FB-92230BD01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10" y="2501240"/>
                <a:ext cx="6036340" cy="1554272"/>
              </a:xfrm>
              <a:prstGeom prst="rect">
                <a:avLst/>
              </a:prstGeom>
              <a:blipFill>
                <a:blip r:embed="rId3"/>
                <a:stretch>
                  <a:fillRect t="-784" b="-2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C4AEB279-F864-2862-C71F-937CB1079B22}"/>
              </a:ext>
            </a:extLst>
          </p:cNvPr>
          <p:cNvSpPr txBox="1"/>
          <p:nvPr/>
        </p:nvSpPr>
        <p:spPr>
          <a:xfrm>
            <a:off x="867731" y="25397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ea typeface="华文新魏" pitchFamily="2" charset="-122"/>
              </a:rPr>
              <a:t>幅频特性：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DDA243-590A-813E-44B9-BB23804BF0E5}"/>
              </a:ext>
            </a:extLst>
          </p:cNvPr>
          <p:cNvSpPr txBox="1"/>
          <p:nvPr/>
        </p:nvSpPr>
        <p:spPr>
          <a:xfrm>
            <a:off x="1037431" y="423361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ea typeface="华文新魏" pitchFamily="2" charset="-122"/>
              </a:rPr>
              <a:t>截止频率：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07C31C2-092F-D219-5150-B3BE70949A1F}"/>
                  </a:ext>
                </a:extLst>
              </p:cNvPr>
              <p:cNvSpPr txBox="1"/>
              <p:nvPr/>
            </p:nvSpPr>
            <p:spPr>
              <a:xfrm>
                <a:off x="1379075" y="4719496"/>
                <a:ext cx="16766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=1/</m:t>
                      </m:r>
                      <m:sSub>
                        <m:sSub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zh-CN" altLang="en-US" sz="2000" b="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07C31C2-092F-D219-5150-B3BE70949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75" y="4719496"/>
                <a:ext cx="1676677" cy="307777"/>
              </a:xfrm>
              <a:prstGeom prst="rect">
                <a:avLst/>
              </a:prstGeom>
              <a:blipFill>
                <a:blip r:embed="rId4"/>
                <a:stretch>
                  <a:fillRect l="-1091" r="-727" b="-35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DC254FB-7C31-8814-603A-BBBEBA591DC2}"/>
                  </a:ext>
                </a:extLst>
              </p:cNvPr>
              <p:cNvSpPr txBox="1"/>
              <p:nvPr/>
            </p:nvSpPr>
            <p:spPr>
              <a:xfrm>
                <a:off x="1379075" y="5127679"/>
                <a:ext cx="15997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=1/</m:t>
                      </m:r>
                      <m:sSub>
                        <m:sSub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CN" altLang="en-US" sz="2000" b="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DC254FB-7C31-8814-603A-BBBEBA591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75" y="5127679"/>
                <a:ext cx="1599733" cy="307777"/>
              </a:xfrm>
              <a:prstGeom prst="rect">
                <a:avLst/>
              </a:prstGeom>
              <a:blipFill>
                <a:blip r:embed="rId5"/>
                <a:stretch>
                  <a:fillRect l="-1521" r="-380" b="-35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>
            <a:extLst>
              <a:ext uri="{FF2B5EF4-FFF2-40B4-BE49-F238E27FC236}">
                <a16:creationId xmlns:a16="http://schemas.microsoft.com/office/drawing/2014/main" id="{A315F460-325C-725B-73C3-A1E6ECDA4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8601" y="3959434"/>
            <a:ext cx="35814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45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0|23.6|12.3|1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0|23.6|12.3|11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0|23.6|12.3|11.8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9235</TotalTime>
  <Words>1648</Words>
  <Application>Microsoft Office PowerPoint</Application>
  <PresentationFormat>全屏显示(4:3)</PresentationFormat>
  <Paragraphs>126</Paragraphs>
  <Slides>12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华文新魏</vt:lpstr>
      <vt:lpstr>Arial</vt:lpstr>
      <vt:lpstr>Arial Black</vt:lpstr>
      <vt:lpstr>Cambria Math</vt:lpstr>
      <vt:lpstr>Times New Roman</vt:lpstr>
      <vt:lpstr>Wingdings</vt:lpstr>
      <vt:lpstr>默认设计模板</vt:lpstr>
      <vt:lpstr>1_默认设计模板</vt:lpstr>
      <vt:lpstr>BMP 图象</vt:lpstr>
      <vt:lpstr>Equation.DSMT4</vt:lpstr>
      <vt:lpstr>第二次 小班讨论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湖南大学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引言1</dc:title>
  <dc:subject>教案</dc:subject>
  <dc:creator>邝继顺</dc:creator>
  <cp:lastModifiedBy>c c</cp:lastModifiedBy>
  <cp:revision>909</cp:revision>
  <cp:lastPrinted>1999-02-28T23:50:56Z</cp:lastPrinted>
  <dcterms:created xsi:type="dcterms:W3CDTF">1999-09-13T01:56:29Z</dcterms:created>
  <dcterms:modified xsi:type="dcterms:W3CDTF">2025-11-11T03:35:30Z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jshkuang@sina.com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D:\course\数字逻辑</vt:lpwstr>
  </property>
</Properties>
</file>