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01" r:id="rId3"/>
    <p:sldId id="273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6" r:id="rId21"/>
    <p:sldId id="297" r:id="rId22"/>
    <p:sldId id="298" r:id="rId23"/>
    <p:sldId id="299" r:id="rId24"/>
    <p:sldId id="30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D3FF"/>
    <a:srgbClr val="CFEAF1"/>
    <a:srgbClr val="59BBD8"/>
    <a:srgbClr val="7AC3D7"/>
    <a:srgbClr val="00A7FF"/>
    <a:srgbClr val="EDB519"/>
    <a:srgbClr val="82BED0"/>
    <a:srgbClr val="FFD800"/>
    <a:srgbClr val="F3D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62" y="350"/>
      </p:cViewPr>
      <p:guideLst>
        <p:guide orient="horz" pos="2296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0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C9835-4086-4070-A39D-A86AECB33F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75D47-66F3-4157-852A-5EA0D72A89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矩形 313" hidden="1"/>
          <p:cNvSpPr/>
          <p:nvPr userDrawn="1"/>
        </p:nvSpPr>
        <p:spPr>
          <a:xfrm>
            <a:off x="123461" y="346497"/>
            <a:ext cx="11953078" cy="6396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0" y="-2"/>
            <a:ext cx="12192000" cy="6858001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47983" y="332504"/>
            <a:ext cx="11522678" cy="6176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0770" y="771525"/>
            <a:ext cx="944118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以半加器为例，系统阐述在</a:t>
            </a:r>
            <a:r>
              <a:rPr lang="en-US" altLang="zh-CN" sz="1600"/>
              <a:t>Quartus II</a:t>
            </a:r>
            <a:r>
              <a:rPr lang="zh-CN" altLang="en-US" sz="1600"/>
              <a:t>平台采用原理图输入方式完成</a:t>
            </a:r>
            <a:r>
              <a:rPr lang="zh-CN" altLang="en-US" sz="1600" b="1"/>
              <a:t>电路设计、工程编译与波形仿真验证</a:t>
            </a:r>
            <a:r>
              <a:rPr lang="zh-CN" altLang="en-US" sz="1600"/>
              <a:t>的完整过程与实践要点。 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993"/>
          <a:stretch>
            <a:fillRect/>
          </a:stretch>
        </p:blipFill>
        <p:spPr>
          <a:xfrm>
            <a:off x="1850390" y="1420495"/>
            <a:ext cx="8221345" cy="4860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0" y="608965"/>
            <a:ext cx="2767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一、创建项目</a:t>
            </a:r>
            <a:endParaRPr lang="zh-CN" altLang="en-US" sz="2000" b="1"/>
          </a:p>
        </p:txBody>
      </p:sp>
      <p:sp>
        <p:nvSpPr>
          <p:cNvPr id="4" name="文本框 3"/>
          <p:cNvSpPr txBox="1"/>
          <p:nvPr/>
        </p:nvSpPr>
        <p:spPr>
          <a:xfrm>
            <a:off x="1216025" y="5784850"/>
            <a:ext cx="86956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sym typeface="+mn-ea"/>
              </a:rPr>
              <a:t>Quartus2</a:t>
            </a:r>
            <a:r>
              <a:rPr lang="zh-CN" altLang="en-US" sz="1600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只对项目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进行编译，模拟，编程</a:t>
            </a:r>
            <a:r>
              <a:rPr lang="en-US" altLang="zh-CN" sz="1600" dirty="0">
                <a:latin typeface="Times New Roman" panose="02020603050405020304" pitchFamily="18" charset="0"/>
                <a:sym typeface="+mn-ea"/>
              </a:rPr>
              <a:t>…..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而</a:t>
            </a:r>
            <a:r>
              <a:rPr lang="zh-CN" altLang="en-US" sz="1600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不对单独的文件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，除非把该文件设置为</a:t>
            </a:r>
            <a:r>
              <a:rPr lang="zh-CN" altLang="en-US" sz="1600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项目</a:t>
            </a:r>
            <a:endParaRPr lang="zh-CN" altLang="en-US" sz="1600" dirty="0">
              <a:solidFill>
                <a:srgbClr val="0033CC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4850" y="1170940"/>
            <a:ext cx="50749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spcBef>
                <a:spcPct val="50000"/>
              </a:spcBef>
              <a:buFont typeface="Wingdings" panose="05000000000000000000" charset="0"/>
              <a:buChar char="u"/>
            </a:pPr>
            <a:r>
              <a:rPr lang="zh-CN" altLang="sv-SE" sz="16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sv-SE" sz="1600" dirty="0">
                <a:latin typeface="Times New Roman" panose="02020603050405020304" pitchFamily="18" charset="0"/>
                <a:sym typeface="+mn-ea"/>
              </a:rPr>
              <a:t>选择命令</a:t>
            </a:r>
            <a:r>
              <a:rPr lang="sv-SE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File | New Project Wizard   </a:t>
            </a:r>
            <a:r>
              <a:rPr lang="zh-CN" altLang="en-US" sz="1600" dirty="0">
                <a:latin typeface="黑体" panose="02010609060101010101" pitchFamily="49" charset="-122"/>
                <a:sym typeface="+mn-ea"/>
              </a:rPr>
              <a:t>在对话框中操作：    </a:t>
            </a:r>
            <a:endParaRPr lang="zh-CN" altLang="en-US" sz="1600" dirty="0">
              <a:latin typeface="黑体" panose="02010609060101010101" pitchFamily="49" charset="-122"/>
              <a:sym typeface="+mn-ea"/>
            </a:endParaRPr>
          </a:p>
        </p:txBody>
      </p:sp>
      <p:pic>
        <p:nvPicPr>
          <p:cNvPr id="16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80160" y="1671320"/>
            <a:ext cx="3413125" cy="39503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957060" y="1170940"/>
            <a:ext cx="29711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hangingPunct="1">
              <a:buFont typeface="Wingdings" panose="05000000000000000000" charset="0"/>
              <a:buChar char="u"/>
            </a:pPr>
            <a:r>
              <a:rPr lang="zh-CN" altLang="en-US" sz="1600" dirty="0">
                <a:latin typeface="黑体" panose="02010609060101010101" pitchFamily="49" charset="-122"/>
                <a:sym typeface="+mn-ea"/>
              </a:rPr>
              <a:t>为本项目指定目标器件</a:t>
            </a:r>
            <a:endParaRPr lang="zh-CN" altLang="en-US" sz="1600" dirty="0">
              <a:latin typeface="黑体" panose="02010609060101010101" pitchFamily="49" charset="-122"/>
              <a:sym typeface="+mn-ea"/>
            </a:endParaRPr>
          </a:p>
        </p:txBody>
      </p:sp>
      <p:pic>
        <p:nvPicPr>
          <p:cNvPr id="9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57060" y="1724660"/>
            <a:ext cx="3332480" cy="3843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直接箭头连接符 10"/>
          <p:cNvCxnSpPr/>
          <p:nvPr>
            <p:custDataLst>
              <p:tags r:id="rId5"/>
            </p:custDataLst>
          </p:nvPr>
        </p:nvCxnSpPr>
        <p:spPr>
          <a:xfrm flipV="1">
            <a:off x="3227705" y="1889760"/>
            <a:ext cx="1285240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601845" y="1739900"/>
            <a:ext cx="1329690" cy="245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1</a:t>
            </a:r>
            <a:r>
              <a:rPr lang="zh-CN" altLang="en-US" sz="1000"/>
              <a:t>）制定工作目录</a:t>
            </a:r>
            <a:endParaRPr lang="zh-CN" altLang="en-US" sz="1000"/>
          </a:p>
        </p:txBody>
      </p:sp>
      <p:cxnSp>
        <p:nvCxnSpPr>
          <p:cNvPr id="13" name="直接箭头连接符 12"/>
          <p:cNvCxnSpPr/>
          <p:nvPr>
            <p:custDataLst>
              <p:tags r:id="rId7"/>
            </p:custDataLst>
          </p:nvPr>
        </p:nvCxnSpPr>
        <p:spPr>
          <a:xfrm flipV="1">
            <a:off x="3228340" y="2291715"/>
            <a:ext cx="1290320" cy="263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601845" y="2174875"/>
            <a:ext cx="1329690" cy="24511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2)</a:t>
            </a:r>
            <a:r>
              <a:rPr lang="zh-CN" altLang="en-US" sz="1000"/>
              <a:t>指定项目名称</a:t>
            </a:r>
            <a:endParaRPr lang="zh-CN" altLang="en-US" sz="1000"/>
          </a:p>
        </p:txBody>
      </p:sp>
      <p:cxnSp>
        <p:nvCxnSpPr>
          <p:cNvPr id="15" name="直接箭头连接符 14"/>
          <p:cNvCxnSpPr/>
          <p:nvPr>
            <p:custDataLst>
              <p:tags r:id="rId9"/>
            </p:custDataLst>
          </p:nvPr>
        </p:nvCxnSpPr>
        <p:spPr>
          <a:xfrm>
            <a:off x="3953510" y="3107690"/>
            <a:ext cx="577850" cy="167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4601845" y="3117215"/>
            <a:ext cx="1329690" cy="3987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3</a:t>
            </a:r>
            <a:r>
              <a:rPr lang="zh-CN" altLang="en-US" sz="1000"/>
              <a:t>）本项目顶层</a:t>
            </a:r>
            <a:r>
              <a:rPr lang="en-US" altLang="zh-CN" sz="1000"/>
              <a:t>Entity</a:t>
            </a:r>
            <a:r>
              <a:rPr lang="zh-CN" altLang="en-US" sz="1000"/>
              <a:t>名称</a:t>
            </a:r>
            <a:endParaRPr lang="zh-CN" altLang="en-US" sz="1000"/>
          </a:p>
        </p:txBody>
      </p:sp>
      <p:sp>
        <p:nvSpPr>
          <p:cNvPr id="19" name="文本框 18"/>
          <p:cNvSpPr txBox="1"/>
          <p:nvPr/>
        </p:nvSpPr>
        <p:spPr>
          <a:xfrm>
            <a:off x="2131060" y="4161790"/>
            <a:ext cx="2138680" cy="3987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建议顶层文件与顶层</a:t>
            </a:r>
            <a:r>
              <a:rPr lang="en-US" altLang="zh-CN" sz="1000"/>
              <a:t>Entity</a:t>
            </a:r>
            <a:r>
              <a:rPr lang="zh-CN" altLang="en-US" sz="1000"/>
              <a:t>同名</a:t>
            </a:r>
            <a:endParaRPr lang="zh-CN" altLang="en-US" sz="1000"/>
          </a:p>
          <a:p>
            <a:r>
              <a:rPr lang="zh-CN" altLang="en-US" sz="1000"/>
              <a:t>建议顶层文件与项目名称</a:t>
            </a:r>
            <a:r>
              <a:rPr lang="zh-CN" altLang="en-US" sz="1000"/>
              <a:t>同名</a:t>
            </a:r>
            <a:endParaRPr lang="zh-CN" altLang="en-US" sz="1000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8230235" y="1899920"/>
            <a:ext cx="1155700" cy="430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9435465" y="1739900"/>
            <a:ext cx="1329690" cy="245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1</a:t>
            </a:r>
            <a:r>
              <a:rPr lang="zh-CN" altLang="en-US" sz="1000"/>
              <a:t>）选择器件</a:t>
            </a:r>
            <a:r>
              <a:rPr lang="zh-CN" altLang="en-US" sz="1000"/>
              <a:t>系列</a:t>
            </a:r>
            <a:endParaRPr lang="zh-CN" altLang="en-US" sz="100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466330" y="3100705"/>
            <a:ext cx="197739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8442325" y="3467100"/>
            <a:ext cx="924560" cy="12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589770" y="3270885"/>
            <a:ext cx="1329690" cy="245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2</a:t>
            </a:r>
            <a:r>
              <a:rPr lang="zh-CN" altLang="en-US" sz="1000"/>
              <a:t>）选择具体</a:t>
            </a:r>
            <a:r>
              <a:rPr lang="zh-CN" altLang="en-US" sz="1000"/>
              <a:t>器件</a:t>
            </a:r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0" y="608965"/>
            <a:ext cx="2767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二、</a:t>
            </a:r>
            <a:r>
              <a:rPr lang="zh-CN" altLang="sv-SE" sz="2000" b="1" dirty="0">
                <a:sym typeface="+mn-ea"/>
              </a:rPr>
              <a:t>设计的原理图</a:t>
            </a:r>
            <a:endParaRPr lang="en-US" altLang="zh-CN" sz="2000" b="1"/>
          </a:p>
        </p:txBody>
      </p:sp>
      <p:graphicFrame>
        <p:nvGraphicFramePr>
          <p:cNvPr id="25604" name="Object 6"/>
          <p:cNvGraphicFramePr>
            <a:graphicFrameLocks noChangeAspect="1"/>
          </p:cNvGraphicFramePr>
          <p:nvPr/>
        </p:nvGraphicFramePr>
        <p:xfrm>
          <a:off x="2706370" y="1007745"/>
          <a:ext cx="6290945" cy="501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4785360" imgH="3810000" progId="Word.Picture.8">
                  <p:embed/>
                </p:oleObj>
              </mc:Choice>
              <mc:Fallback>
                <p:oleObj name="" r:id="rId1" imgW="4785360" imgH="3810000" progId="Word.Picture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706370" y="1007745"/>
                        <a:ext cx="6290945" cy="50101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graphicFrame>
        <p:nvGraphicFramePr>
          <p:cNvPr id="26628" name="Object 5"/>
          <p:cNvGraphicFramePr>
            <a:graphicFrameLocks noChangeAspect="1"/>
          </p:cNvGraphicFramePr>
          <p:nvPr/>
        </p:nvGraphicFramePr>
        <p:xfrm>
          <a:off x="1659573" y="1240790"/>
          <a:ext cx="820737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6233160" imgH="3703320" progId="Word.Picture.8">
                  <p:embed/>
                </p:oleObj>
              </mc:Choice>
              <mc:Fallback>
                <p:oleObj name="" r:id="rId1" imgW="6233160" imgH="3703320" progId="Word.Picture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659573" y="1240790"/>
                        <a:ext cx="8207375" cy="4876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04850" y="608965"/>
            <a:ext cx="2767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原理图编辑器窗口</a:t>
            </a:r>
            <a:endParaRPr lang="en-US" altLang="zh-CN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" y="608965"/>
            <a:ext cx="4570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从库中调入元件及引脚符号</a:t>
            </a:r>
            <a:endParaRPr lang="en-US" altLang="zh-CN" sz="2000" b="1"/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820" y="1890395"/>
            <a:ext cx="6657340" cy="457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4"/>
          <p:cNvSpPr>
            <a:spLocks noGrp="1"/>
          </p:cNvSpPr>
          <p:nvPr/>
        </p:nvSpPr>
        <p:spPr>
          <a:xfrm>
            <a:off x="1659890" y="1087755"/>
            <a:ext cx="8229600" cy="5105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/>
              <a:t>在原理图编辑器的空白处选择一个适当位置          双击鼠标左键</a:t>
            </a:r>
            <a:r>
              <a:rPr lang="zh-CN" altLang="en-US" sz="2000" b="0" dirty="0"/>
              <a:t> </a:t>
            </a:r>
            <a:endParaRPr lang="zh-CN" altLang="sv-SE" sz="2000" b="0" dirty="0"/>
          </a:p>
          <a:p>
            <a:pPr eaLnBrk="1" hangingPunct="1"/>
            <a:r>
              <a:rPr lang="zh-CN" altLang="sv-SE" sz="2000" b="0" dirty="0"/>
              <a:t>选择库名</a:t>
            </a:r>
            <a:r>
              <a:rPr lang="zh-CN" altLang="en-US" sz="2000" b="0" dirty="0"/>
              <a:t>             选择库元件名              调入该元件符号</a:t>
            </a:r>
            <a:endParaRPr lang="zh-CN" altLang="en-US" sz="2000" b="0" dirty="0"/>
          </a:p>
        </p:txBody>
      </p:sp>
      <p:sp>
        <p:nvSpPr>
          <p:cNvPr id="12" name="AutoShape 6"/>
          <p:cNvSpPr/>
          <p:nvPr/>
        </p:nvSpPr>
        <p:spPr>
          <a:xfrm>
            <a:off x="3288665" y="1489393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13" name="AutoShape 7"/>
          <p:cNvSpPr/>
          <p:nvPr/>
        </p:nvSpPr>
        <p:spPr>
          <a:xfrm>
            <a:off x="7028815" y="111633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14" name="AutoShape 8"/>
          <p:cNvSpPr/>
          <p:nvPr/>
        </p:nvSpPr>
        <p:spPr>
          <a:xfrm>
            <a:off x="5836603" y="1468755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" y="608965"/>
            <a:ext cx="4570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从库中调入元件及引脚符号</a:t>
            </a:r>
            <a:endParaRPr lang="en-US" altLang="zh-CN" sz="2000" b="1"/>
          </a:p>
        </p:txBody>
      </p:sp>
      <p:sp>
        <p:nvSpPr>
          <p:cNvPr id="28676" name="Rectangle 3"/>
          <p:cNvSpPr>
            <a:spLocks noGrp="1"/>
          </p:cNvSpPr>
          <p:nvPr/>
        </p:nvSpPr>
        <p:spPr>
          <a:xfrm>
            <a:off x="2390140" y="1231900"/>
            <a:ext cx="7215505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1800" b="0" dirty="0"/>
              <a:t>选择引脚符号名</a:t>
            </a:r>
            <a:r>
              <a:rPr lang="zh-CN" altLang="en-US" sz="1800" b="0" dirty="0"/>
              <a:t>          调入该引脚符号</a:t>
            </a:r>
            <a:r>
              <a:rPr lang="zh-CN" altLang="sv-SE" sz="1800" dirty="0">
                <a:sym typeface="+mn-ea"/>
              </a:rPr>
              <a:t> </a:t>
            </a:r>
            <a:endParaRPr lang="zh-CN" altLang="sv-SE" sz="1800" dirty="0"/>
          </a:p>
          <a:p>
            <a:pPr eaLnBrk="1" hangingPunct="1"/>
            <a:endParaRPr lang="zh-CN" altLang="en-US" sz="1800" b="0" dirty="0"/>
          </a:p>
        </p:txBody>
      </p:sp>
      <p:sp>
        <p:nvSpPr>
          <p:cNvPr id="28679" name="AutoShape 7"/>
          <p:cNvSpPr/>
          <p:nvPr/>
        </p:nvSpPr>
        <p:spPr>
          <a:xfrm>
            <a:off x="4592955" y="1271905"/>
            <a:ext cx="4013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5930" y="2292985"/>
            <a:ext cx="6200140" cy="23742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utoShape 7"/>
          <p:cNvSpPr/>
          <p:nvPr/>
        </p:nvSpPr>
        <p:spPr>
          <a:xfrm>
            <a:off x="6819265" y="1271905"/>
            <a:ext cx="4013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46950" y="1202055"/>
            <a:ext cx="788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连线</a:t>
            </a:r>
            <a:r>
              <a:rPr lang="en-US" altLang="zh-CN"/>
              <a:t>        </a:t>
            </a:r>
            <a:endParaRPr lang="zh-CN" altLang="en-US"/>
          </a:p>
        </p:txBody>
      </p:sp>
      <p:sp>
        <p:nvSpPr>
          <p:cNvPr id="9" name="AutoShape 7"/>
          <p:cNvSpPr/>
          <p:nvPr/>
        </p:nvSpPr>
        <p:spPr>
          <a:xfrm>
            <a:off x="8082915" y="1271905"/>
            <a:ext cx="4013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73770" y="1202055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给引脚命名</a:t>
            </a:r>
            <a:r>
              <a:rPr lang="en-US" altLang="zh-CN"/>
              <a:t>       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" y="608965"/>
            <a:ext cx="4570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绘制原理图中的其他操作</a:t>
            </a:r>
            <a:endParaRPr lang="en-US" altLang="zh-CN" sz="2000" b="1"/>
          </a:p>
        </p:txBody>
      </p:sp>
      <p:sp>
        <p:nvSpPr>
          <p:cNvPr id="30724" name="Rectangle 3"/>
          <p:cNvSpPr>
            <a:spLocks noGrp="1"/>
          </p:cNvSpPr>
          <p:nvPr/>
        </p:nvSpPr>
        <p:spPr>
          <a:xfrm>
            <a:off x="1450975" y="1393825"/>
            <a:ext cx="8229600" cy="3686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/>
              <a:t> 删除符号或连线；</a:t>
            </a:r>
            <a:endParaRPr lang="zh-CN" altLang="sv-SE" sz="2000" b="0" dirty="0"/>
          </a:p>
          <a:p>
            <a:pPr eaLnBrk="1" hangingPunct="1"/>
            <a:endParaRPr lang="zh-CN" altLang="sv-SE" sz="2000" b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复制元件符号</a:t>
            </a:r>
            <a:r>
              <a:rPr lang="zh-CN" altLang="en-US" sz="2000" b="0" dirty="0"/>
              <a:t> ；</a:t>
            </a:r>
            <a:endParaRPr lang="zh-CN" altLang="en-US" sz="2000" b="0" dirty="0"/>
          </a:p>
          <a:p>
            <a:pPr eaLnBrk="1" hangingPunct="1"/>
            <a:endParaRPr lang="zh-CN" altLang="sv-SE" sz="2000" b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橡皮筋功能</a:t>
            </a:r>
            <a:r>
              <a:rPr lang="zh-CN" altLang="en-US" sz="2000" b="0" dirty="0">
                <a:latin typeface="Times New Roman" panose="02020603050405020304" pitchFamily="18" charset="0"/>
              </a:rPr>
              <a:t>：打开</a:t>
            </a:r>
            <a:r>
              <a:rPr lang="zh-CN" altLang="sv-SE" sz="2000" b="0" dirty="0">
                <a:latin typeface="Times New Roman" panose="02020603050405020304" pitchFamily="18" charset="0"/>
              </a:rPr>
              <a:t>橡皮筋功能时，</a:t>
            </a:r>
            <a:r>
              <a:rPr lang="zh-CN" altLang="en-US" sz="2000" b="0" dirty="0">
                <a:latin typeface="Times New Roman" panose="02020603050405020304" pitchFamily="18" charset="0"/>
              </a:rPr>
              <a:t>拖动元件符号或连线时，原理图拓扑关系保持不变。</a:t>
            </a:r>
            <a:endParaRPr lang="zh-CN" altLang="sv-SE" sz="2000" b="0" dirty="0"/>
          </a:p>
          <a:p>
            <a:pPr eaLnBrk="1" hangingPunct="1">
              <a:buNone/>
            </a:pPr>
            <a:endParaRPr lang="zh-CN" altLang="sv-SE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0400" y="615950"/>
            <a:ext cx="22580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buClrTx/>
              <a:buSzTx/>
              <a:buFontTx/>
            </a:pPr>
            <a:r>
              <a:rPr kumimoji="1" lang="zh-CN" altLang="en-US" sz="2000" b="1" dirty="0">
                <a:latin typeface="+mj-lt"/>
                <a:ea typeface="+mj-ea"/>
                <a:cs typeface="+mj-cs"/>
                <a:sym typeface="+mn-ea"/>
              </a:rPr>
              <a:t>三、工程编译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8460" y="1741805"/>
            <a:ext cx="6233160" cy="30073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12" name="Rectangle 3"/>
          <p:cNvSpPr>
            <a:spLocks noGrp="1"/>
          </p:cNvSpPr>
          <p:nvPr/>
        </p:nvSpPr>
        <p:spPr>
          <a:xfrm>
            <a:off x="1844040" y="1234440"/>
            <a:ext cx="8382000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选择命令</a:t>
            </a:r>
            <a:r>
              <a:rPr lang="sv-SE" altLang="zh-CN" sz="2000" b="0" dirty="0">
                <a:ea typeface="宋体" panose="02010600030101010101" pitchFamily="2" charset="-122"/>
              </a:rPr>
              <a:t>Processing</a:t>
            </a:r>
            <a:r>
              <a:rPr lang="sv-SE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︱</a:t>
            </a:r>
            <a:r>
              <a:rPr lang="sv-SE" altLang="zh-CN" sz="2000" b="0" dirty="0">
                <a:ea typeface="宋体" panose="02010600030101010101" pitchFamily="2" charset="-122"/>
              </a:rPr>
              <a:t>Compiler Tool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，打开编译器窗口：</a:t>
            </a: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r>
              <a:rPr lang="zh-CN" altLang="en-US" sz="2000" b="0" dirty="0"/>
              <a:t>编译器包含</a:t>
            </a:r>
            <a:r>
              <a:rPr lang="en-US" altLang="zh-CN" sz="2000" b="0" dirty="0"/>
              <a:t>5</a:t>
            </a:r>
            <a:r>
              <a:rPr lang="zh-CN" altLang="en-US" sz="2000" b="0" dirty="0"/>
              <a:t>个主模块，可以连续运行</a:t>
            </a:r>
            <a:r>
              <a:rPr lang="en-US" altLang="zh-CN" sz="2000" b="0" dirty="0"/>
              <a:t>5</a:t>
            </a:r>
            <a:r>
              <a:rPr lang="zh-CN" altLang="en-US" sz="2000" b="0" dirty="0"/>
              <a:t>个模块，也可以单独运行某模块。</a:t>
            </a:r>
            <a:endParaRPr lang="zh-CN" altLang="en-US" sz="20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0225" y="63246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编译器的 </a:t>
            </a:r>
            <a:r>
              <a:rPr lang="en-US" altLang="zh-CN" sz="2000" b="1" dirty="0">
                <a:sym typeface="+mn-ea"/>
              </a:rPr>
              <a:t>5 </a:t>
            </a:r>
            <a:r>
              <a:rPr lang="zh-CN" altLang="en-US" sz="2000" b="1" dirty="0">
                <a:sym typeface="+mn-ea"/>
              </a:rPr>
              <a:t>个主模块</a:t>
            </a:r>
            <a:endParaRPr lang="zh-CN" altLang="en-US" sz="2000" b="1" dirty="0">
              <a:sym typeface="+mn-ea"/>
            </a:endParaRPr>
          </a:p>
        </p:txBody>
      </p:sp>
      <p:sp>
        <p:nvSpPr>
          <p:cNvPr id="44036" name="Rectangle 3"/>
          <p:cNvSpPr>
            <a:spLocks noGrp="1"/>
          </p:cNvSpPr>
          <p:nvPr/>
        </p:nvSpPr>
        <p:spPr>
          <a:xfrm>
            <a:off x="1407795" y="1404620"/>
            <a:ext cx="8229600" cy="40493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分析和综合（</a:t>
            </a:r>
            <a:r>
              <a:rPr lang="sv-SE" altLang="zh-CN" sz="2000" b="0" dirty="0">
                <a:latin typeface="Times New Roman" panose="02020603050405020304" pitchFamily="18" charset="0"/>
              </a:rPr>
              <a:t>Analysis &amp; Synthesis）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模块：</a:t>
            </a:r>
            <a:r>
              <a:rPr lang="zh-CN" altLang="en-US" sz="2000" b="0" dirty="0">
                <a:latin typeface="Times New Roman" panose="02020603050405020304" pitchFamily="18" charset="0"/>
              </a:rPr>
              <a:t>把原始描述转化为逻辑电路，映射到所选定的可编程器件。</a:t>
            </a:r>
            <a:endParaRPr lang="zh-CN" altLang="en-US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装配（</a:t>
            </a:r>
            <a:r>
              <a:rPr lang="sv-SE" altLang="zh-CN" sz="2000" b="0" dirty="0">
                <a:latin typeface="Times New Roman" panose="02020603050405020304" pitchFamily="18" charset="0"/>
              </a:rPr>
              <a:t>Fitter）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模块：将前一步确定的逻辑元件在目标芯片上布局、布线</a:t>
            </a:r>
            <a:r>
              <a:rPr lang="sv-SE" altLang="zh-CN" sz="2000" b="0" dirty="0">
                <a:latin typeface="Times New Roman" panose="02020603050405020304" pitchFamily="18" charset="0"/>
              </a:rPr>
              <a:t>；</a:t>
            </a:r>
            <a:r>
              <a:rPr lang="zh-CN" altLang="en-US" sz="2000" b="0" dirty="0">
                <a:latin typeface="Times New Roman" panose="02020603050405020304" pitchFamily="18" charset="0"/>
              </a:rPr>
              <a:t> </a:t>
            </a:r>
            <a:endParaRPr lang="zh-CN" altLang="en-US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组装（</a:t>
            </a:r>
            <a:r>
              <a:rPr lang="sv-SE" altLang="zh-CN" sz="2000" b="0" dirty="0">
                <a:latin typeface="Times New Roman" panose="02020603050405020304" pitchFamily="18" charset="0"/>
              </a:rPr>
              <a:t>Assembler）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模块：</a:t>
            </a:r>
            <a:r>
              <a:rPr lang="zh-CN" altLang="en-US" sz="2000" b="0" dirty="0">
                <a:latin typeface="Times New Roman" panose="02020603050405020304" pitchFamily="18" charset="0"/>
              </a:rPr>
              <a:t>形成编程文件；</a:t>
            </a:r>
            <a:endParaRPr lang="zh-CN" altLang="en-US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时序分析（</a:t>
            </a:r>
            <a:r>
              <a:rPr lang="sv-SE" altLang="zh-CN" sz="2000" b="0" dirty="0">
                <a:latin typeface="Times New Roman" panose="02020603050405020304" pitchFamily="18" charset="0"/>
              </a:rPr>
              <a:t>Timing Analyzer）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</a:t>
            </a:r>
            <a:r>
              <a:rPr lang="en-US" altLang="zh-CN" sz="2000" b="0" dirty="0">
                <a:latin typeface="Times New Roman" panose="02020603050405020304" pitchFamily="18" charset="0"/>
              </a:rPr>
              <a:t>;</a:t>
            </a:r>
            <a:r>
              <a:rPr lang="zh-CN" altLang="sv-SE" sz="2000" b="0" dirty="0">
                <a:latin typeface="Times New Roman" panose="02020603050405020304" pitchFamily="18" charset="0"/>
              </a:rPr>
              <a:t>  </a:t>
            </a:r>
            <a:endParaRPr lang="zh-CN" altLang="sv-SE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产生</a:t>
            </a:r>
            <a:r>
              <a:rPr lang="sv-SE" altLang="zh-CN" sz="2000" b="0" dirty="0">
                <a:latin typeface="Times New Roman" panose="02020603050405020304" pitchFamily="18" charset="0"/>
              </a:rPr>
              <a:t>EDA</a:t>
            </a:r>
            <a:r>
              <a:rPr lang="zh-CN" altLang="sv-SE" sz="2000" b="0" dirty="0">
                <a:latin typeface="Times New Roman" panose="02020603050405020304" pitchFamily="18" charset="0"/>
              </a:rPr>
              <a:t>工具网表（</a:t>
            </a:r>
            <a:r>
              <a:rPr lang="sv-SE" altLang="zh-CN" sz="2000" b="0" dirty="0">
                <a:latin typeface="Times New Roman" panose="02020603050405020304" pitchFamily="18" charset="0"/>
              </a:rPr>
              <a:t>EDA Netlist Writer）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</a:t>
            </a:r>
            <a:r>
              <a:rPr lang="zh-CN" altLang="en-US" sz="2000" b="0" dirty="0">
                <a:latin typeface="Times New Roman" panose="02020603050405020304" pitchFamily="18" charset="0"/>
              </a:rPr>
              <a:t>：目的是与其他</a:t>
            </a:r>
            <a:r>
              <a:rPr lang="en-US" altLang="zh-CN" sz="2000" b="0" dirty="0">
                <a:latin typeface="Times New Roman" panose="02020603050405020304" pitchFamily="18" charset="0"/>
              </a:rPr>
              <a:t>EDA</a:t>
            </a:r>
            <a:r>
              <a:rPr lang="zh-CN" altLang="en-US" sz="2000" b="0" dirty="0">
                <a:latin typeface="Times New Roman" panose="02020603050405020304" pitchFamily="18" charset="0"/>
              </a:rPr>
              <a:t>工具相衔接。 </a:t>
            </a:r>
            <a:endParaRPr lang="zh-CN" altLang="en-US" sz="20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1015" y="63944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编译结果的报告</a:t>
            </a:r>
            <a:endParaRPr lang="zh-CN" altLang="sv-SE" sz="2000" b="1" dirty="0">
              <a:sym typeface="+mn-ea"/>
            </a:endParaRPr>
          </a:p>
        </p:txBody>
      </p:sp>
      <p:sp>
        <p:nvSpPr>
          <p:cNvPr id="45060" name="Rectangle 3"/>
          <p:cNvSpPr>
            <a:spLocks noGrp="1"/>
          </p:cNvSpPr>
          <p:nvPr/>
        </p:nvSpPr>
        <p:spPr>
          <a:xfrm>
            <a:off x="1276985" y="1219200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b="0" dirty="0"/>
              <a:t>本例为半加器的编译结果：</a:t>
            </a:r>
            <a:endParaRPr lang="zh-CN" altLang="en-US" sz="2000" b="0" dirty="0"/>
          </a:p>
        </p:txBody>
      </p:sp>
      <p:pic>
        <p:nvPicPr>
          <p:cNvPr id="3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460" y="2098040"/>
            <a:ext cx="7352665" cy="3408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5785" y="6540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发现并纠正原理图中的错误</a:t>
            </a:r>
            <a:r>
              <a:rPr lang="zh-CN" altLang="en-US" sz="2000" b="1" dirty="0">
                <a:sym typeface="+mn-ea"/>
              </a:rPr>
              <a:t> </a:t>
            </a:r>
            <a:endParaRPr lang="zh-CN" altLang="en-US" sz="2000" b="1" dirty="0">
              <a:sym typeface="+mn-ea"/>
            </a:endParaRPr>
          </a:p>
        </p:txBody>
      </p:sp>
      <p:sp>
        <p:nvSpPr>
          <p:cNvPr id="47108" name="Rectangle 7"/>
          <p:cNvSpPr>
            <a:spLocks noGrp="1"/>
          </p:cNvSpPr>
          <p:nvPr/>
        </p:nvSpPr>
        <p:spPr>
          <a:xfrm>
            <a:off x="1640840" y="990600"/>
            <a:ext cx="8159115" cy="45694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1800" b="0" dirty="0"/>
              <a:t>故意制造 1 个错误（断开1条连线）           编译           出错报告</a:t>
            </a:r>
            <a:endParaRPr lang="zh-CN" altLang="sv-SE" sz="1800" b="0" dirty="0"/>
          </a:p>
          <a:p>
            <a:pPr eaLnBrk="1" hangingPunct="1"/>
            <a:r>
              <a:rPr lang="zh-CN" altLang="sv-SE" sz="1800" b="0" dirty="0"/>
              <a:t>鼠标</a:t>
            </a:r>
            <a:r>
              <a:rPr lang="zh-CN" altLang="en-US" sz="1800" b="0" dirty="0"/>
              <a:t>双击第一个出错信息             出错位置加亮显示           纠错</a:t>
            </a:r>
            <a:endParaRPr lang="zh-CN" altLang="sv-SE" sz="1800" b="0" dirty="0"/>
          </a:p>
          <a:p>
            <a:pPr eaLnBrk="1" hangingPunct="1">
              <a:buNone/>
            </a:pPr>
            <a:endParaRPr lang="zh-CN" altLang="sv-SE" sz="1800" b="0" dirty="0"/>
          </a:p>
        </p:txBody>
      </p:sp>
      <p:sp>
        <p:nvSpPr>
          <p:cNvPr id="47110" name="AutoShape 8"/>
          <p:cNvSpPr/>
          <p:nvPr/>
        </p:nvSpPr>
        <p:spPr>
          <a:xfrm>
            <a:off x="6963410" y="106680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graphicFrame>
        <p:nvGraphicFramePr>
          <p:cNvPr id="47111" name="Object 9"/>
          <p:cNvGraphicFramePr>
            <a:graphicFrameLocks noChangeAspect="1"/>
          </p:cNvGraphicFramePr>
          <p:nvPr/>
        </p:nvGraphicFramePr>
        <p:xfrm>
          <a:off x="1497965" y="1657350"/>
          <a:ext cx="8658225" cy="199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6972300" imgH="1379220" progId="Word.Picture.8">
                  <p:embed/>
                </p:oleObj>
              </mc:Choice>
              <mc:Fallback>
                <p:oleObj name="" r:id="rId1" imgW="6972300" imgH="1379220" progId="Word.Picture.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97965" y="1657350"/>
                        <a:ext cx="8658225" cy="19926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10"/>
          <p:cNvGraphicFramePr>
            <a:graphicFrameLocks noChangeAspect="1"/>
          </p:cNvGraphicFramePr>
          <p:nvPr/>
        </p:nvGraphicFramePr>
        <p:xfrm>
          <a:off x="1869440" y="3648075"/>
          <a:ext cx="7554595" cy="285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4953000" imgH="2080260" progId="Word.Picture.8">
                  <p:embed/>
                </p:oleObj>
              </mc:Choice>
              <mc:Fallback>
                <p:oleObj name="" r:id="rId3" imgW="4953000" imgH="2080260" progId="Word.Picture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9440" y="3648075"/>
                        <a:ext cx="7554595" cy="2853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AutoShape 11"/>
          <p:cNvSpPr/>
          <p:nvPr/>
        </p:nvSpPr>
        <p:spPr>
          <a:xfrm>
            <a:off x="5610225" y="106680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50000"/>
              </a:spcBef>
            </a:pPr>
            <a:r>
              <a:rPr lang="en-US" altLang="zh-CN" dirty="0">
                <a:latin typeface="黑体" panose="02010609060101010101" pitchFamily="49" charset="-122"/>
              </a:rPr>
              <a:t> </a:t>
            </a:r>
            <a:endParaRPr lang="en-US" altLang="zh-CN" dirty="0">
              <a:latin typeface="黑体" panose="02010609060101010101" pitchFamily="49" charset="-122"/>
            </a:endParaRPr>
          </a:p>
        </p:txBody>
      </p:sp>
      <p:sp>
        <p:nvSpPr>
          <p:cNvPr id="47114" name="AutoShape 12"/>
          <p:cNvSpPr/>
          <p:nvPr/>
        </p:nvSpPr>
        <p:spPr>
          <a:xfrm>
            <a:off x="4713605" y="142113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47115" name="AutoShape 13"/>
          <p:cNvSpPr/>
          <p:nvPr/>
        </p:nvSpPr>
        <p:spPr>
          <a:xfrm>
            <a:off x="7412990" y="142113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buClrTx/>
              <a:buSzTx/>
              <a:buFontTx/>
            </a:pPr>
            <a:r>
              <a:rPr kumimoji="1" lang="zh-CN" altLang="sv-SE" sz="2000" b="1" dirty="0">
                <a:latin typeface="+mj-lt"/>
                <a:ea typeface="+mj-ea"/>
                <a:cs typeface="+mj-cs"/>
                <a:sym typeface="+mn-ea"/>
              </a:rPr>
              <a:t>四、模拟验证</a:t>
            </a:r>
            <a:r>
              <a:rPr kumimoji="1" lang="zh-CN" altLang="en-US" sz="2000" b="1" dirty="0">
                <a:latin typeface="+mj-lt"/>
                <a:ea typeface="+mj-ea"/>
                <a:cs typeface="+mj-cs"/>
                <a:sym typeface="+mn-ea"/>
              </a:rPr>
              <a:t> 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49156" name="Rectangle 3"/>
          <p:cNvSpPr>
            <a:spLocks noGrp="1"/>
          </p:cNvSpPr>
          <p:nvPr/>
        </p:nvSpPr>
        <p:spPr>
          <a:xfrm>
            <a:off x="1096010" y="1299845"/>
            <a:ext cx="9485630" cy="44634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准备好</a:t>
            </a:r>
            <a:r>
              <a:rPr lang="zh-CN" altLang="sv-SE" sz="20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网表</a:t>
            </a: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sv-SE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netlist</a:t>
            </a:r>
            <a:r>
              <a:rPr lang="sv-SE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2000" dirty="0"/>
              <a:t> ：</a:t>
            </a:r>
            <a:endParaRPr lang="zh-CN" altLang="en-US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 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如果准备进行</a:t>
            </a:r>
            <a:r>
              <a:rPr lang="zh-CN" altLang="sv-SE" sz="1800" dirty="0">
                <a:solidFill>
                  <a:srgbClr val="0033CC"/>
                </a:solidFill>
                <a:latin typeface="Times New Roman" panose="02020603050405020304" pitchFamily="18" charset="0"/>
              </a:rPr>
              <a:t>功能模拟</a:t>
            </a:r>
            <a:r>
              <a:rPr lang="zh-CN" altLang="sv-SE" sz="1800" dirty="0">
                <a:latin typeface="Times New Roman" panose="02020603050405020304" pitchFamily="18" charset="0"/>
              </a:rPr>
              <a:t>，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sv-SE" altLang="zh-CN" sz="1800" dirty="0">
                <a:latin typeface="Times New Roman" panose="02020603050405020304" pitchFamily="18" charset="0"/>
              </a:rPr>
              <a:t>Analysis &amp; Synthesis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之后，使用命令</a:t>
            </a:r>
            <a:b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sv-SE" altLang="zh-CN" sz="1800" dirty="0">
                <a:cs typeface="Arial" panose="020B0604020202020204" pitchFamily="34" charset="0"/>
              </a:rPr>
              <a:t>Processing</a:t>
            </a:r>
            <a:r>
              <a:rPr lang="sv-SE" altLang="zh-CN" sz="1800" dirty="0"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sv-SE" altLang="zh-CN" sz="1800" dirty="0">
                <a:cs typeface="Arial" panose="020B0604020202020204" pitchFamily="34" charset="0"/>
              </a:rPr>
              <a:t>Generate Functional Simulation Netlist</a:t>
            </a:r>
            <a:r>
              <a:rPr lang="sv-SE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sv-SE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如果准备进行</a:t>
            </a:r>
            <a:r>
              <a:rPr lang="zh-CN" altLang="sv-SE" sz="1800" dirty="0">
                <a:solidFill>
                  <a:srgbClr val="0033CC"/>
                </a:solidFill>
                <a:latin typeface="Times New Roman" panose="02020603050405020304" pitchFamily="18" charset="0"/>
              </a:rPr>
              <a:t>时序模拟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：则使用完整的编译命令</a:t>
            </a:r>
            <a:endParaRPr lang="zh-CN" altLang="en-US" sz="18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准备好</a:t>
            </a:r>
            <a:r>
              <a:rPr lang="zh-CN" altLang="sv-SE" sz="20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测试向量</a:t>
            </a: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2000" dirty="0"/>
              <a:t> ：</a:t>
            </a:r>
            <a:endParaRPr lang="zh-CN" altLang="en-US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用波形编辑器（</a:t>
            </a:r>
            <a:r>
              <a:rPr lang="sv-SE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/ Waveform Editor</a:t>
            </a:r>
            <a:r>
              <a:rPr lang="sv-SE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画出输入信号的激励波形（即测试向量）</a:t>
            </a:r>
            <a:r>
              <a:rPr lang="zh-CN" altLang="sv-SE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sv-SE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以波形文件形式保存（后缀为</a:t>
            </a:r>
            <a:r>
              <a:rPr lang="zh-CN" altLang="sv-SE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sv-SE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vwf</a:t>
            </a:r>
            <a:r>
              <a:rPr lang="sv-SE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sv-SE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br>
              <a:rPr lang="zh-CN" altLang="en-US" sz="2000" dirty="0"/>
            </a:br>
            <a:endParaRPr lang="zh-CN" altLang="sv-SE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sv-SE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5795" y="658495"/>
            <a:ext cx="599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打开波形编辑器绘制测试向量波形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5190" y="1594485"/>
            <a:ext cx="3357880" cy="45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180" name="Rectangle 3"/>
          <p:cNvSpPr>
            <a:spLocks noGrp="1"/>
          </p:cNvSpPr>
          <p:nvPr/>
        </p:nvSpPr>
        <p:spPr>
          <a:xfrm>
            <a:off x="1096010" y="10668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选择命令 </a:t>
            </a:r>
            <a:r>
              <a:rPr lang="sv-SE" altLang="zh-CN" sz="2000" b="0" dirty="0">
                <a:latin typeface="Times New Roman" panose="02020603050405020304" pitchFamily="18" charset="0"/>
              </a:rPr>
              <a:t>File</a:t>
            </a:r>
            <a:r>
              <a:rPr lang="sv-SE" altLang="zh-CN" sz="2000" b="0" dirty="0"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sv-SE" altLang="zh-CN" sz="2000" b="0" dirty="0">
                <a:latin typeface="Times New Roman" panose="02020603050405020304" pitchFamily="18" charset="0"/>
              </a:rPr>
              <a:t>New</a:t>
            </a:r>
            <a:r>
              <a:rPr lang="en-US" altLang="zh-CN" sz="2000" b="0" dirty="0">
                <a:latin typeface="Times New Roman" panose="02020603050405020304" pitchFamily="18" charset="0"/>
              </a:rPr>
              <a:t>            </a:t>
            </a:r>
            <a:r>
              <a:rPr lang="zh-CN" altLang="en-US" sz="2000" b="0" dirty="0">
                <a:latin typeface="Times New Roman" panose="02020603050405020304" pitchFamily="18" charset="0"/>
              </a:rPr>
              <a:t>执行以下操作           打开波形编辑器窗口：</a:t>
            </a:r>
            <a:endParaRPr lang="zh-CN" altLang="en-US" sz="2000" b="0" dirty="0">
              <a:latin typeface="Times New Roman" panose="02020603050405020304" pitchFamily="18" charset="0"/>
            </a:endParaRPr>
          </a:p>
        </p:txBody>
      </p:sp>
      <p:sp>
        <p:nvSpPr>
          <p:cNvPr id="50181" name="AutoShape 4"/>
          <p:cNvSpPr/>
          <p:nvPr/>
        </p:nvSpPr>
        <p:spPr>
          <a:xfrm>
            <a:off x="3716020" y="1186815"/>
            <a:ext cx="609600" cy="22860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30595" y="1133475"/>
            <a:ext cx="609600" cy="22860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波形编辑器窗口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graphicFrame>
        <p:nvGraphicFramePr>
          <p:cNvPr id="51205" name="Object 6"/>
          <p:cNvGraphicFramePr>
            <a:graphicFrameLocks noChangeAspect="1"/>
          </p:cNvGraphicFramePr>
          <p:nvPr/>
        </p:nvGraphicFramePr>
        <p:xfrm>
          <a:off x="1421765" y="1056958"/>
          <a:ext cx="8153400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5516880" imgH="3413760" progId="Word.Picture.8">
                  <p:embed/>
                </p:oleObj>
              </mc:Choice>
              <mc:Fallback>
                <p:oleObj name="" r:id="rId1" imgW="5516880" imgH="3413760" progId="Word.Picture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1765" y="1056958"/>
                        <a:ext cx="8153400" cy="504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指定模拟终止时间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52228" name="Rectangle 1027"/>
          <p:cNvSpPr>
            <a:spLocks noGrp="1"/>
          </p:cNvSpPr>
          <p:nvPr/>
        </p:nvSpPr>
        <p:spPr>
          <a:xfrm>
            <a:off x="1659890" y="1057275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选择命令 </a:t>
            </a:r>
            <a:r>
              <a:rPr lang="sv-SE" altLang="zh-CN" sz="2000" b="0" dirty="0">
                <a:latin typeface="Times New Roman" panose="02020603050405020304" pitchFamily="18" charset="0"/>
              </a:rPr>
              <a:t>Edit</a:t>
            </a:r>
            <a:r>
              <a:rPr lang="sv-SE" altLang="zh-CN" sz="2000" b="0" dirty="0"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sv-SE" altLang="zh-CN" sz="2000" b="0" dirty="0">
                <a:latin typeface="Times New Roman" panose="02020603050405020304" pitchFamily="18" charset="0"/>
              </a:rPr>
              <a:t>End Time               </a:t>
            </a:r>
            <a:r>
              <a:rPr lang="zh-CN" altLang="sv-SE" sz="2000" b="0" dirty="0">
                <a:latin typeface="Times New Roman" panose="02020603050405020304" pitchFamily="18" charset="0"/>
              </a:rPr>
              <a:t>在对话框中操作</a:t>
            </a:r>
            <a:r>
              <a:rPr lang="zh-CN" altLang="en-US" sz="2000" b="0" dirty="0"/>
              <a:t> </a:t>
            </a:r>
            <a:br>
              <a:rPr lang="zh-CN" altLang="en-US" sz="2000" b="0" dirty="0"/>
            </a:br>
            <a:r>
              <a:rPr lang="zh-CN" altLang="en-US" sz="2000" b="0" dirty="0"/>
              <a:t>（本例为</a:t>
            </a:r>
            <a:r>
              <a:rPr lang="en-US" altLang="zh-CN" sz="2000" b="0" dirty="0"/>
              <a:t>300 ns</a:t>
            </a:r>
            <a:r>
              <a:rPr lang="zh-CN" altLang="en-US" sz="2000" b="0" dirty="0"/>
              <a:t>）  </a:t>
            </a:r>
            <a:endParaRPr lang="zh-CN" altLang="en-US" sz="2000" b="0" dirty="0"/>
          </a:p>
        </p:txBody>
      </p:sp>
      <p:pic>
        <p:nvPicPr>
          <p:cNvPr id="9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1725" y="1897380"/>
            <a:ext cx="4595495" cy="447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引入欲观察的结点（信号）名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53252" name="Rectangle 3"/>
          <p:cNvSpPr>
            <a:spLocks noGrp="1"/>
          </p:cNvSpPr>
          <p:nvPr/>
        </p:nvSpPr>
        <p:spPr>
          <a:xfrm>
            <a:off x="1226185" y="990600"/>
            <a:ext cx="8229600" cy="5486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选择命令</a:t>
            </a:r>
            <a:r>
              <a:rPr lang="sv-SE" altLang="zh-CN" sz="2000" b="0" dirty="0">
                <a:cs typeface="Arial" panose="020B0604020202020204" pitchFamily="34" charset="0"/>
              </a:rPr>
              <a:t>Edit</a:t>
            </a:r>
            <a:r>
              <a:rPr lang="sv-SE" altLang="zh-CN" sz="2000" b="0" dirty="0">
                <a:ea typeface="宋体" panose="02010600030101010101" pitchFamily="2" charset="-122"/>
                <a:sym typeface="Symbol" panose="05050102010706020507" pitchFamily="18" charset="2"/>
              </a:rPr>
              <a:t></a:t>
            </a:r>
            <a:r>
              <a:rPr lang="sv-SE" altLang="zh-CN" sz="2000" b="0" dirty="0">
                <a:latin typeface="Times New Roman" panose="02020603050405020304" pitchFamily="18" charset="0"/>
                <a:ea typeface="CMSY10" charset="-122"/>
              </a:rPr>
              <a:t> </a:t>
            </a:r>
            <a:r>
              <a:rPr lang="sv-SE" altLang="zh-CN" sz="2000" b="0" dirty="0">
                <a:cs typeface="Arial" panose="020B0604020202020204" pitchFamily="34" charset="0"/>
              </a:rPr>
              <a:t>Insert Node or Bus</a:t>
            </a:r>
            <a:endParaRPr lang="sv-SE" altLang="zh-CN" sz="2000" b="0" dirty="0">
              <a:cs typeface="Arial" panose="020B0604020202020204" pitchFamily="34" charset="0"/>
            </a:endParaRPr>
          </a:p>
          <a:p>
            <a:pPr lvl="1"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或直接键入结点名；或点击</a:t>
            </a:r>
            <a:r>
              <a:rPr lang="en-US" altLang="zh-CN" sz="2000" b="0" dirty="0">
                <a:latin typeface="Times New Roman" panose="02020603050405020304" pitchFamily="18" charset="0"/>
              </a:rPr>
              <a:t>Node Finder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搜索</a:t>
            </a:r>
            <a:r>
              <a:rPr lang="zh-CN" altLang="sv-SE" sz="2000" b="0" dirty="0">
                <a:latin typeface="Times New Roman" panose="02020603050405020304" pitchFamily="18" charset="0"/>
              </a:rPr>
              <a:t>结点名</a:t>
            </a:r>
            <a:br>
              <a:rPr lang="zh-CN" altLang="en-US" sz="2000" b="0" dirty="0"/>
            </a:b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r>
              <a:rPr lang="zh-CN" altLang="en-US" sz="2000" b="0" dirty="0"/>
              <a:t>出现</a:t>
            </a:r>
            <a:r>
              <a:rPr lang="zh-CN" altLang="sv-SE" sz="2000" b="0" dirty="0"/>
              <a:t>结点查找器窗口</a:t>
            </a:r>
            <a:endParaRPr lang="zh-CN" altLang="sv-SE" sz="2000" b="0" dirty="0"/>
          </a:p>
        </p:txBody>
      </p:sp>
      <p:graphicFrame>
        <p:nvGraphicFramePr>
          <p:cNvPr id="53255" name="Object 8"/>
          <p:cNvGraphicFramePr>
            <a:graphicFrameLocks noChangeAspect="1"/>
          </p:cNvGraphicFramePr>
          <p:nvPr/>
        </p:nvGraphicFramePr>
        <p:xfrm>
          <a:off x="1659890" y="1903413"/>
          <a:ext cx="8194675" cy="322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4998720" imgH="2080260" progId="Word.Picture.8">
                  <p:embed/>
                </p:oleObj>
              </mc:Choice>
              <mc:Fallback>
                <p:oleObj name="" r:id="rId1" imgW="4998720" imgH="2080260" progId="Word.Picture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59890" y="1903413"/>
                        <a:ext cx="8194675" cy="3227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sv-SE" sz="2000" b="1" dirty="0">
                <a:sym typeface="+mn-ea"/>
              </a:rPr>
              <a:t>在结点查找器窗口中查找结点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4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785" y="1346835"/>
            <a:ext cx="7103745" cy="46208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220210" y="948690"/>
            <a:ext cx="1409700" cy="2895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（1）选择Pins: all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6" name="直接连接符 5"/>
          <p:cNvSpPr/>
          <p:nvPr/>
        </p:nvSpPr>
        <p:spPr>
          <a:xfrm rot="21300000">
            <a:off x="4952365" y="1242378"/>
            <a:ext cx="114300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62" name="文本框 1073742861"/>
          <p:cNvSpPr txBox="1"/>
          <p:nvPr/>
        </p:nvSpPr>
        <p:spPr>
          <a:xfrm>
            <a:off x="8046085" y="948373"/>
            <a:ext cx="1036320" cy="2971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（4）点击 OK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3" name="直接连接符 1073742862"/>
          <p:cNvSpPr/>
          <p:nvPr/>
        </p:nvSpPr>
        <p:spPr>
          <a:xfrm>
            <a:off x="8764905" y="1237933"/>
            <a:ext cx="132080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1073742856" name="组合 1073742855"/>
          <p:cNvGrpSpPr/>
          <p:nvPr/>
        </p:nvGrpSpPr>
        <p:grpSpPr>
          <a:xfrm>
            <a:off x="6518910" y="940753"/>
            <a:ext cx="1066800" cy="833755"/>
            <a:chOff x="7740" y="6871"/>
            <a:chExt cx="1260" cy="1313"/>
          </a:xfrm>
        </p:grpSpPr>
        <p:sp>
          <p:nvSpPr>
            <p:cNvPr id="1073742854" name="文本框 1073742853"/>
            <p:cNvSpPr txBox="1"/>
            <p:nvPr/>
          </p:nvSpPr>
          <p:spPr>
            <a:xfrm>
              <a:off x="7740" y="6871"/>
              <a:ext cx="1260" cy="468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/>
            <a:p>
              <a:r>
                <a:rPr lang="zh-CN" altLang="en-US" sz="1000"/>
                <a:t>（2）点击 List</a:t>
              </a:r>
              <a:endParaRPr lang="zh-CN" altLang="en-US" sz="1000"/>
            </a:p>
            <a:p>
              <a:endParaRPr lang="zh-CN" altLang="en-US" sz="1000"/>
            </a:p>
          </p:txBody>
        </p:sp>
        <p:sp>
          <p:nvSpPr>
            <p:cNvPr id="1073742855" name="直接连接符 1073742854"/>
            <p:cNvSpPr/>
            <p:nvPr/>
          </p:nvSpPr>
          <p:spPr>
            <a:xfrm>
              <a:off x="8820" y="7404"/>
              <a:ext cx="180" cy="7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1073742858" name="直接连接符 1073742857"/>
          <p:cNvSpPr/>
          <p:nvPr/>
        </p:nvSpPr>
        <p:spPr>
          <a:xfrm flipH="1" flipV="1">
            <a:off x="3348990" y="3555683"/>
            <a:ext cx="2065020" cy="124587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57" name="文本框 1073742856"/>
          <p:cNvSpPr txBox="1"/>
          <p:nvPr/>
        </p:nvSpPr>
        <p:spPr>
          <a:xfrm>
            <a:off x="4552950" y="4798060"/>
            <a:ext cx="2286000" cy="3625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pPr algn="ctr"/>
            <a:r>
              <a:rPr lang="zh-CN" altLang="en-US" sz="1000"/>
              <a:t>（3）从左边方框选择结点，移至右边方框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4" name="直接连接符 1073742863"/>
          <p:cNvSpPr/>
          <p:nvPr/>
        </p:nvSpPr>
        <p:spPr>
          <a:xfrm flipV="1">
            <a:off x="5871210" y="3612833"/>
            <a:ext cx="1943100" cy="118872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66" name="直接连接符 1073742865"/>
          <p:cNvSpPr/>
          <p:nvPr/>
        </p:nvSpPr>
        <p:spPr>
          <a:xfrm flipH="1">
            <a:off x="5414010" y="3943668"/>
            <a:ext cx="647700" cy="3238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65" name="文本框 1073742864"/>
          <p:cNvSpPr txBox="1"/>
          <p:nvPr/>
        </p:nvSpPr>
        <p:spPr>
          <a:xfrm>
            <a:off x="5741670" y="3725545"/>
            <a:ext cx="850900" cy="2971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pPr algn="ctr"/>
            <a:r>
              <a:rPr lang="zh-CN" altLang="en-US" sz="1000"/>
              <a:t>从右向左移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7" name="文本框 1073742866"/>
          <p:cNvSpPr txBox="1"/>
          <p:nvPr/>
        </p:nvSpPr>
        <p:spPr>
          <a:xfrm>
            <a:off x="4107815" y="3428048"/>
            <a:ext cx="822960" cy="2971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pPr algn="ctr"/>
            <a:r>
              <a:rPr lang="zh-CN" altLang="en-US" sz="1000"/>
              <a:t>从左向右移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8" name="直接连接符 1073742867"/>
          <p:cNvSpPr/>
          <p:nvPr/>
        </p:nvSpPr>
        <p:spPr>
          <a:xfrm>
            <a:off x="4926330" y="3629978"/>
            <a:ext cx="304800" cy="952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ym typeface="+mn-ea"/>
              </a:rPr>
              <a:t>结点名引入波形编辑器后的操作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11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90" y="1636395"/>
            <a:ext cx="9027795" cy="40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882390" y="1186815"/>
            <a:ext cx="2400300" cy="40259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（2）在工具条中选择一个值，给信号赋值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4" name="直接连接符 3"/>
          <p:cNvSpPr/>
          <p:nvPr/>
        </p:nvSpPr>
        <p:spPr>
          <a:xfrm flipH="1">
            <a:off x="2204720" y="1518285"/>
            <a:ext cx="2193925" cy="2242185"/>
          </a:xfrm>
          <a:prstGeom prst="line">
            <a:avLst/>
          </a:prstGeom>
          <a:ln>
            <a:headEnd type="none" w="med" len="med"/>
            <a:tailEnd type="stealth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文本框 4"/>
          <p:cNvSpPr txBox="1"/>
          <p:nvPr/>
        </p:nvSpPr>
        <p:spPr>
          <a:xfrm>
            <a:off x="7478395" y="1167765"/>
            <a:ext cx="1943100" cy="3505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（1）拖动鼠标，选择一个时间段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6" name="直接连接符 5"/>
          <p:cNvSpPr/>
          <p:nvPr/>
        </p:nvSpPr>
        <p:spPr>
          <a:xfrm>
            <a:off x="8402955" y="1518920"/>
            <a:ext cx="635" cy="1589405"/>
          </a:xfrm>
          <a:prstGeom prst="line">
            <a:avLst/>
          </a:prstGeom>
          <a:ln>
            <a:headEnd type="none" w="med" len="med"/>
            <a:tailEnd type="stealth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en-US" altLang="zh-CN" sz="2000" b="1" dirty="0">
                <a:sym typeface="+mn-ea"/>
              </a:rPr>
              <a:t> </a:t>
            </a:r>
            <a:r>
              <a:rPr lang="zh-CN" altLang="en-US" sz="2000" b="1" dirty="0">
                <a:sym typeface="+mn-ea"/>
              </a:rPr>
              <a:t>形成完整的测试向量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7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80" y="1687195"/>
            <a:ext cx="8723630" cy="39331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393954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509397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624840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>
            <p:custDataLst>
              <p:tags r:id="rId5"/>
            </p:custDataLst>
          </p:nvPr>
        </p:nvSpPr>
        <p:spPr>
          <a:xfrm>
            <a:off x="740283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>
            <p:custDataLst>
              <p:tags r:id="rId6"/>
            </p:custDataLst>
          </p:nvPr>
        </p:nvCxnSpPr>
        <p:spPr>
          <a:xfrm flipH="1">
            <a:off x="4505960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>
            <p:custDataLst>
              <p:tags r:id="rId7"/>
            </p:custDataLst>
          </p:nvPr>
        </p:nvCxnSpPr>
        <p:spPr>
          <a:xfrm flipH="1">
            <a:off x="5695315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8"/>
            </p:custDataLst>
          </p:nvPr>
        </p:nvCxnSpPr>
        <p:spPr>
          <a:xfrm flipH="1">
            <a:off x="6819900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9"/>
            </p:custDataLst>
          </p:nvPr>
        </p:nvCxnSpPr>
        <p:spPr>
          <a:xfrm flipH="1">
            <a:off x="7974965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4214495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x=0</a:t>
            </a:r>
            <a:endParaRPr lang="en-US" altLang="zh-CN"/>
          </a:p>
          <a:p>
            <a:r>
              <a:rPr lang="en-US" altLang="zh-CN"/>
              <a:t>y=0</a:t>
            </a:r>
            <a:endParaRPr lang="en-US" altLang="zh-CN"/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5276215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x=1</a:t>
            </a:r>
            <a:endParaRPr lang="en-US" altLang="zh-CN"/>
          </a:p>
          <a:p>
            <a:r>
              <a:rPr lang="en-US" altLang="zh-CN"/>
              <a:t>y=0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6431280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x=0</a:t>
            </a:r>
            <a:endParaRPr lang="en-US" altLang="zh-CN"/>
          </a:p>
          <a:p>
            <a:r>
              <a:rPr lang="en-US" altLang="zh-CN"/>
              <a:t>y=1</a:t>
            </a:r>
            <a:endParaRPr lang="en-US" altLang="zh-CN"/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7586345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x=1</a:t>
            </a:r>
            <a:endParaRPr lang="en-US" altLang="zh-CN"/>
          </a:p>
          <a:p>
            <a:r>
              <a:rPr lang="en-US" altLang="zh-CN"/>
              <a:t>y=1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195" y="65849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执行模拟</a:t>
            </a:r>
            <a:r>
              <a:rPr lang="zh-CN" altLang="en-US" sz="2000" b="1" dirty="0">
                <a:sym typeface="+mn-ea"/>
              </a:rPr>
              <a:t>（本例为功能模拟）</a:t>
            </a:r>
            <a:endParaRPr lang="zh-CN" altLang="en-US" sz="2000" b="1" dirty="0"/>
          </a:p>
          <a:p>
            <a:pPr eaLnBrk="1" hangingPunct="1"/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57348" name="Rectangle 3"/>
          <p:cNvSpPr>
            <a:spLocks noGrp="1"/>
          </p:cNvSpPr>
          <p:nvPr/>
        </p:nvSpPr>
        <p:spPr>
          <a:xfrm>
            <a:off x="1327785" y="963613"/>
            <a:ext cx="8229600" cy="51323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使用命令</a:t>
            </a:r>
            <a:r>
              <a:rPr lang="sv-SE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︱</a:t>
            </a:r>
            <a:r>
              <a:rPr lang="sv-SE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Tool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，出现模拟器窗口：</a:t>
            </a: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>
              <a:buNone/>
            </a:pP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2907665" y="1295400"/>
          <a:ext cx="4460875" cy="490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4107180" imgH="4838700" progId="Word.Picture.8">
                  <p:embed/>
                </p:oleObj>
              </mc:Choice>
              <mc:Fallback>
                <p:oleObj name="" r:id="rId1" imgW="4107180" imgH="4838700" progId="Word.Picture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07665" y="1295400"/>
                        <a:ext cx="4460875" cy="4902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模拟结果示例（</a:t>
            </a:r>
            <a:r>
              <a:rPr lang="zh-CN" altLang="sv-SE" sz="2000" b="1" dirty="0">
                <a:latin typeface="宋体" panose="02010600030101010101" pitchFamily="2" charset="-122"/>
                <a:sym typeface="+mn-ea"/>
              </a:rPr>
              <a:t>功能模拟</a:t>
            </a:r>
            <a:r>
              <a:rPr lang="zh-CN" altLang="en-US" sz="2000" b="1" dirty="0">
                <a:sym typeface="+mn-ea"/>
              </a:rPr>
              <a:t>）</a:t>
            </a:r>
            <a:endParaRPr lang="zh-CN" altLang="en-US" sz="2000" dirty="0"/>
          </a:p>
          <a:p>
            <a:pPr eaLnBrk="1" hangingPunct="1"/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13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90" y="1663065"/>
            <a:ext cx="7663180" cy="31978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组合 29"/>
          <p:cNvGrpSpPr/>
          <p:nvPr/>
        </p:nvGrpSpPr>
        <p:grpSpPr>
          <a:xfrm>
            <a:off x="3904615" y="2626360"/>
            <a:ext cx="4617720" cy="3341370"/>
            <a:chOff x="6204" y="4313"/>
            <a:chExt cx="7272" cy="5262"/>
          </a:xfrm>
        </p:grpSpPr>
        <p:sp>
          <p:nvSpPr>
            <p:cNvPr id="3" name="圆角矩形 2"/>
            <p:cNvSpPr/>
            <p:nvPr>
              <p:custDataLst>
                <p:tags r:id="rId2"/>
              </p:custDataLst>
            </p:nvPr>
          </p:nvSpPr>
          <p:spPr>
            <a:xfrm>
              <a:off x="6204" y="4314"/>
              <a:ext cx="1818" cy="1565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圆角矩形 3"/>
            <p:cNvSpPr/>
            <p:nvPr>
              <p:custDataLst>
                <p:tags r:id="rId3"/>
              </p:custDataLst>
            </p:nvPr>
          </p:nvSpPr>
          <p:spPr>
            <a:xfrm>
              <a:off x="8022" y="4314"/>
              <a:ext cx="1818" cy="1565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>
              <p:custDataLst>
                <p:tags r:id="rId4"/>
              </p:custDataLst>
            </p:nvPr>
          </p:nvSpPr>
          <p:spPr>
            <a:xfrm>
              <a:off x="9840" y="4313"/>
              <a:ext cx="1818" cy="1566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圆角矩形 5"/>
            <p:cNvSpPr/>
            <p:nvPr>
              <p:custDataLst>
                <p:tags r:id="rId5"/>
              </p:custDataLst>
            </p:nvPr>
          </p:nvSpPr>
          <p:spPr>
            <a:xfrm>
              <a:off x="11658" y="4313"/>
              <a:ext cx="1818" cy="1566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" name="直接箭头连接符 8"/>
            <p:cNvCxnSpPr/>
            <p:nvPr>
              <p:custDataLst>
                <p:tags r:id="rId6"/>
              </p:custDataLst>
            </p:nvPr>
          </p:nvCxnSpPr>
          <p:spPr>
            <a:xfrm flipH="1">
              <a:off x="7096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>
              <p:custDataLst>
                <p:tags r:id="rId7"/>
              </p:custDataLst>
            </p:nvPr>
          </p:nvCxnSpPr>
          <p:spPr>
            <a:xfrm flipH="1">
              <a:off x="8969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>
              <p:custDataLst>
                <p:tags r:id="rId8"/>
              </p:custDataLst>
            </p:nvPr>
          </p:nvCxnSpPr>
          <p:spPr>
            <a:xfrm flipH="1">
              <a:off x="10740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>
              <p:custDataLst>
                <p:tags r:id="rId9"/>
              </p:custDataLst>
            </p:nvPr>
          </p:nvCxnSpPr>
          <p:spPr>
            <a:xfrm flipH="1">
              <a:off x="12559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>
              <p:custDataLst>
                <p:tags r:id="rId10"/>
              </p:custDataLst>
            </p:nvPr>
          </p:nvSpPr>
          <p:spPr>
            <a:xfrm>
              <a:off x="6637" y="7250"/>
              <a:ext cx="122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X=0</a:t>
              </a:r>
              <a:endParaRPr lang="en-US" altLang="zh-CN"/>
            </a:p>
            <a:p>
              <a:r>
                <a:rPr lang="en-US" altLang="zh-CN"/>
                <a:t>Y=0</a:t>
              </a:r>
              <a:endParaRPr lang="en-US" altLang="zh-CN"/>
            </a:p>
            <a:p>
              <a:r>
                <a:rPr lang="en-US" altLang="zh-CN"/>
                <a:t>S=0</a:t>
              </a:r>
              <a:endParaRPr lang="en-US" altLang="zh-CN"/>
            </a:p>
            <a:p>
              <a:r>
                <a:rPr lang="en-US" altLang="zh-CN"/>
                <a:t>C=0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8309" y="7250"/>
              <a:ext cx="122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X=1</a:t>
              </a:r>
              <a:endParaRPr lang="en-US" altLang="zh-CN"/>
            </a:p>
            <a:p>
              <a:r>
                <a:rPr lang="en-US" altLang="zh-CN"/>
                <a:t>Y=0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S=1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C=0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>
              <p:custDataLst>
                <p:tags r:id="rId12"/>
              </p:custDataLst>
            </p:nvPr>
          </p:nvSpPr>
          <p:spPr>
            <a:xfrm>
              <a:off x="10128" y="7250"/>
              <a:ext cx="1223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X=0</a:t>
              </a:r>
              <a:endParaRPr lang="en-US" altLang="zh-CN"/>
            </a:p>
            <a:p>
              <a:r>
                <a:rPr lang="en-US" altLang="zh-CN"/>
                <a:t>Y=1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S=1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C=0</a:t>
              </a:r>
              <a:endParaRPr lang="en-US" altLang="zh-CN"/>
            </a:p>
            <a:p>
              <a:endParaRPr lang="en-US" altLang="zh-CN"/>
            </a:p>
          </p:txBody>
        </p:sp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11947" y="7250"/>
              <a:ext cx="122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X=1</a:t>
              </a:r>
              <a:endParaRPr lang="en-US" altLang="zh-CN"/>
            </a:p>
            <a:p>
              <a:r>
                <a:rPr lang="en-US" altLang="zh-CN"/>
                <a:t>Y=1</a:t>
              </a:r>
              <a:endParaRPr lang="en-US" altLang="zh-CN"/>
            </a:p>
            <a:p>
              <a:r>
                <a:rPr lang="en-US" altLang="zh-CN"/>
                <a:t>S=0</a:t>
              </a:r>
              <a:endParaRPr lang="en-US" altLang="zh-CN"/>
            </a:p>
            <a:p>
              <a:r>
                <a:rPr lang="en-US" altLang="zh-CN"/>
                <a:t>C=1</a:t>
              </a:r>
              <a:endParaRPr lang="en-US" altLang="zh-CN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076960" y="11988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hangingPunct="1">
              <a:buFont typeface="Wingdings" panose="05000000000000000000" charset="0"/>
              <a:buChar char="u"/>
            </a:pPr>
            <a:r>
              <a:rPr lang="zh-CN" altLang="sv-SE" dirty="0">
                <a:latin typeface="宋体" panose="02010600030101010101" pitchFamily="2" charset="-122"/>
                <a:sym typeface="+mn-ea"/>
              </a:rPr>
              <a:t>本实例为半加器功能模拟结果</a:t>
            </a:r>
            <a:r>
              <a:rPr lang="zh-CN" altLang="en-US" dirty="0">
                <a:sym typeface="+mn-ea"/>
              </a:rPr>
              <a:t>：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执行模拟（本例为时序模拟）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1422400" y="1057275"/>
          <a:ext cx="7467600" cy="544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5852160" imgH="4495800" progId="Word.Picture.8">
                  <p:embed/>
                </p:oleObj>
              </mc:Choice>
              <mc:Fallback>
                <p:oleObj name="" r:id="rId1" imgW="5852160" imgH="4495800" progId="Word.Picture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2400" y="1057275"/>
                        <a:ext cx="7467600" cy="544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模拟结果示例（</a:t>
            </a:r>
            <a:r>
              <a:rPr lang="zh-CN" altLang="sv-SE" sz="2000" b="1" dirty="0">
                <a:latin typeface="宋体" panose="02010600030101010101" pitchFamily="2" charset="-122"/>
                <a:sym typeface="+mn-ea"/>
              </a:rPr>
              <a:t>时序模拟</a:t>
            </a:r>
            <a:r>
              <a:rPr lang="zh-CN" altLang="en-US" sz="2000" b="1" dirty="0">
                <a:sym typeface="+mn-ea"/>
              </a:rPr>
              <a:t>）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3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755" y="1980565"/>
            <a:ext cx="9211945" cy="35293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110615" y="12947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hangingPunct="1">
              <a:buFont typeface="Wingdings" panose="05000000000000000000" charset="0"/>
              <a:buChar char="u"/>
            </a:pPr>
            <a:r>
              <a:rPr lang="zh-CN" altLang="sv-SE" dirty="0">
                <a:latin typeface="宋体" panose="02010600030101010101" pitchFamily="2" charset="-122"/>
                <a:sym typeface="+mn-ea"/>
              </a:rPr>
              <a:t>本实例为半加器时序模拟结果</a:t>
            </a:r>
            <a:r>
              <a:rPr lang="zh-CN" altLang="en-US" dirty="0">
                <a:sym typeface="+mn-ea"/>
              </a:rPr>
              <a:t>：</a:t>
            </a:r>
            <a:endParaRPr lang="zh-CN" altLang="en-US" dirty="0"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416550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040755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978140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609330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777740" y="4698365"/>
            <a:ext cx="5949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6076950" y="4691380"/>
            <a:ext cx="45720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5423535" y="4989195"/>
            <a:ext cx="631825" cy="3263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时延</a:t>
            </a:r>
            <a:endParaRPr lang="zh-CN" altLang="en-US" sz="1000"/>
          </a:p>
        </p:txBody>
      </p:sp>
      <p:sp>
        <p:nvSpPr>
          <p:cNvPr id="27" name="圆角矩形 26"/>
          <p:cNvSpPr/>
          <p:nvPr/>
        </p:nvSpPr>
        <p:spPr>
          <a:xfrm>
            <a:off x="7985125" y="5082540"/>
            <a:ext cx="631825" cy="3263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时延</a:t>
            </a:r>
            <a:endParaRPr lang="zh-CN" altLang="en-US" sz="10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7317740" y="4698365"/>
            <a:ext cx="5949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8616950" y="4691380"/>
            <a:ext cx="45720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2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3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4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5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6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7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8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9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10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11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2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3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4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5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6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7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8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9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0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1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2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3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4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5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6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7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8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9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0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1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2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3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4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1721</Words>
  <Application>WPS 演示</Application>
  <PresentationFormat>宽屏</PresentationFormat>
  <Paragraphs>259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宋体</vt:lpstr>
      <vt:lpstr>Wingdings</vt:lpstr>
      <vt:lpstr>楷体</vt:lpstr>
      <vt:lpstr>Times New Roman</vt:lpstr>
      <vt:lpstr>微软雅黑</vt:lpstr>
      <vt:lpstr>Arial Unicode MS</vt:lpstr>
      <vt:lpstr>等线</vt:lpstr>
      <vt:lpstr>黑体</vt:lpstr>
      <vt:lpstr>Wingdings</vt:lpstr>
      <vt:lpstr>Symbol</vt:lpstr>
      <vt:lpstr>CMSY10</vt:lpstr>
      <vt:lpstr>Calibri</vt:lpstr>
      <vt:lpstr>三极光耀简体H10</vt:lpstr>
      <vt:lpstr>Office 主题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WPS_1748860242</cp:lastModifiedBy>
  <cp:revision>178</cp:revision>
  <dcterms:created xsi:type="dcterms:W3CDTF">2019-12-03T12:23:00Z</dcterms:created>
  <dcterms:modified xsi:type="dcterms:W3CDTF">2025-11-11T09:03:15Z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v1.0_mb_PPdExxDdiY3pq9FrkmN42A==</vt:lpwstr>
  </property>
  <property fmtid="{D5CDD505-2E9C-101B-9397-08002B2CF9AE}" pid="4" name="ICV">
    <vt:lpwstr>DF0E1074FF4542CFB97A62805DFE16A7_12</vt:lpwstr>
  </property>
</Properties>
</file>