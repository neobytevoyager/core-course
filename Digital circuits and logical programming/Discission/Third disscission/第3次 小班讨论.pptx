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661" r:id="rId3"/>
    <p:sldId id="257" r:id="rId4"/>
    <p:sldId id="409" r:id="rId5"/>
    <p:sldId id="434" r:id="rId6"/>
    <p:sldId id="411" r:id="rId7"/>
    <p:sldId id="690" r:id="rId8"/>
    <p:sldId id="691" r:id="rId9"/>
    <p:sldId id="692" r:id="rId10"/>
    <p:sldId id="679" r:id="rId11"/>
    <p:sldId id="689" r:id="rId12"/>
    <p:sldId id="694" r:id="rId13"/>
    <p:sldId id="693" r:id="rId14"/>
    <p:sldId id="627" r:id="rId15"/>
    <p:sldId id="271" r:id="rId16"/>
  </p:sldIdLst>
  <p:sldSz cx="9144000" cy="6858000" type="screen4x3"/>
  <p:notesSz cx="7102475" cy="102314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q ling" initials="cl" lastIdx="1" clrIdx="0">
    <p:extLst>
      <p:ext uri="{19B8F6BF-5375-455C-9EA6-DF929625EA0E}">
        <p15:presenceInfo xmlns:p15="http://schemas.microsoft.com/office/powerpoint/2012/main" userId="727596e247d382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B0F0"/>
    <a:srgbClr val="FF0000"/>
    <a:srgbClr val="33FF33"/>
    <a:srgbClr val="FF3300"/>
    <a:srgbClr val="FF00FF"/>
    <a:srgbClr val="FFCC66"/>
    <a:srgbClr val="99CCFF"/>
    <a:srgbClr val="6B0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72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E697C5E-0D50-4B74-BA8C-2CA034AE73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8114E96-2351-4512-8842-31E778652B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3C3F5C4C-EE8F-4A26-B6FC-11F34AD6EF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67760228-D4CD-4337-A212-FDF5D7CDE1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fld id="{C4075BE2-DFA6-40E3-8F08-75819412F0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484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2EBB650-189E-430B-B390-46AC957C0F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9263B8-6953-4F4A-924B-4B42B21EBE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9427668-63C4-4DD2-A945-4A6E66468ED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97A80AF-0D71-4DE1-B5EC-CCE101AB32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59338"/>
            <a:ext cx="52070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E5E54ECA-D06D-44AD-8C7D-241DDD316B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FCFF48BA-F851-4AFB-AD0A-8DC4C0EC6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F43DF362-07B2-48E3-AFB3-0F3D81F19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4144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E9169C2-F5CB-4737-B86B-9114F64089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BD29E-629F-4541-AA26-D33205972C65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5294466-D776-4909-A623-DF6F74F64D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F94B5-8154-41DD-8A2D-701C60F106E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603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7A1808B-B0B3-4214-BF2C-4FAE3FDCDF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CEF9D-44DB-4C8E-96D2-7C7C94BA3FE8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39A281D-8D56-44E5-9D51-4C4A4C28ED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1799-C419-413A-A7A7-74D9A1A3F76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19199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5578493-4355-44D0-B020-6247EDB86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3D5DC-76FE-4C01-8F00-7B16A589D4EC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971BAD6-9796-4EC6-9BA2-C21725F6E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3398B-0BD2-4A5D-93B4-46189001F7F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0066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1B09D8-D657-4FDE-B98F-C63AB1C8D0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038A4-F592-4419-B152-385B6875979E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9416DC7-880C-4D9F-8E21-171802BAEA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F956A-2847-48CA-AE65-4CB1792ECDD9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59233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26A960B-CA94-4533-A759-973AD6643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9AD57-8414-42C5-A5DC-0D340BE9D19B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EA961AC-2479-400E-9DFB-7A2FCBDFCA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F29FC-8280-463B-9EF7-557DF61CFAD4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18095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4888B6D-8867-409D-BDB5-46FC29B8C4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6656F5-B3A1-4BC8-9B0D-76B6159C459A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2753492-BD4E-469B-9FDA-045C3C9D6F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41BC0-0B8A-4FE2-9EC7-CC040C505230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9000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5A61748-F746-448A-9FCE-F8B7108408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D8C1C-D31C-4858-9E86-8940F805140A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29C824F-F0F7-46D0-B6CD-71E52A8B60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A2FA0-6270-4B8B-8717-CBA49AB2A51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01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B2A20C-0A82-4378-A376-3F8D09114A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74E84-C5FC-4D9F-8753-0915D03EB6D5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0708EAE-9508-4FA7-A96E-1FB11D6668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92346-5E03-4040-9B82-692992C715B3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703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A58033-8A78-4A99-B8C8-0D1F81584D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FA93E-3EAA-456D-84B4-1D6C810EBC0D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7D54F0A-949D-4325-B373-024150FA50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F12C9-1401-4B08-965E-4854B74C34C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4637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541385F-E50A-472C-905A-FA8FFA0383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3B5E4-FA87-4EC5-8B64-A1AB7AFD9E0B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BDC6CDB-7775-403C-B00A-07B5513A9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4741B-D4F7-4B9D-B28C-371470E845A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1429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06DAB86-BD1C-451C-80EF-1260E064F1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DADA5-A8C0-48CA-AD35-DFCC387024FC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9977437-2205-4EA6-A798-C9B8BD470C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A686E-1575-4CE7-B830-124735DDD98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7409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A07D817-867C-4B83-896B-1B4E96E5F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7FA3E8-0C3C-994C-93E8-3E106D6CF636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9048740-7DA0-470A-BB5A-4BF5F935D5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C5294-FEEB-43B1-A082-8290179270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15986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9161B16-5A38-4169-B121-08BFB9787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309CFE-D45E-0E4C-BD89-D9F8A2BD53D3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A452621-C320-49EE-958F-DEB0125F0B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1DFE2-EDDD-48CD-A1B2-D781092656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029885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E6C19EA-D920-466D-B2FE-760E213B1A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F5BA-B24E-E142-95AA-6A0FA1627981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8A0CBFB-57A8-4E75-B753-EB7973AED8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002FE-EBA4-41CF-BA34-5B876CB0DC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04538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BDB69A4-6FF4-428E-A6AD-2687BD8EB1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35666-4E10-704D-B0B3-0132681A3EE5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9E5D6A-D550-446E-9277-54C0246CA99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22BB3-215D-4450-B205-E4FFB2761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4373816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1DBEAF14-D8B4-4841-BC28-7369C2DB21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62037-B9D5-C645-873F-8C0BD9830B6C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E9D2348-0050-4A3C-9FFD-25AB9E3A87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B8A07-910B-4235-AC88-C534528596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47488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6AA56E13-E7CD-4046-B32C-6DD763F08C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F0446-6BEE-C844-8DA4-E3A2B86FDB2D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F785FC5-CDB2-4E00-901A-4A99896DD2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3E576-1A52-4480-A1AB-93FA1DCFCA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127606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D12EC6F2-70C4-453C-BF96-64AB508609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F8A84-8954-B240-8B82-AEF84F7CC508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29BC59FE-CB11-4DEB-A58A-FD23A68291E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E1206-82F0-4878-AA0D-99860252C2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49735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CFB8DC3-4E46-4BA2-A6B5-456D9A6E1B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F12A4-F28D-2246-B0E9-AF8F3530B827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5831EDA-54B2-437D-B33E-FEBAA6B812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1A22D-B3A5-4131-805B-89C5EA46AC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128501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B5B3B90-CB0E-499D-9C05-923CD90665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806CD-C37F-4849-81EB-8A2117E60A1A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22D81DC-D3DC-4EB8-8467-E397413311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78466-0A06-4BFE-93A5-49F3B3F6A0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224998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8816758-EDA0-454C-B0E0-1713CD530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D58A4-2E4C-1E46-8E38-9456D48283A7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1AECFC1-CA49-4717-979E-3240B03792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0F235-F492-4F74-A656-C3A9B5CA18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02170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AC500A3-B5E0-4AFD-82E5-F0F2B598AB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4D296-0D4D-A04C-9309-C88D39D4DB20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4887AD4-55EB-44DA-B14D-9403C28CEB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25B64-DEAB-4C09-8B25-0074E8F514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53042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D9CAB14C-E507-4C7F-A67A-F8F86C5737F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3" imgW="8980952" imgH="6733333" progId="Paint.Picture">
                  <p:embed/>
                </p:oleObj>
              </mc:Choice>
              <mc:Fallback>
                <p:oleObj name="BMP 图象" r:id="rId13" imgW="8980952" imgH="6733333" progId="Paint.Picture">
                  <p:embed/>
                  <p:pic>
                    <p:nvPicPr>
                      <p:cNvPr id="1026" name="Object 15">
                        <a:extLst>
                          <a:ext uri="{FF2B5EF4-FFF2-40B4-BE49-F238E27FC236}">
                            <a16:creationId xmlns:a16="http://schemas.microsoft.com/office/drawing/2014/main" id="{D9CAB14C-E507-4C7F-A67A-F8F86C573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2">
            <a:extLst>
              <a:ext uri="{FF2B5EF4-FFF2-40B4-BE49-F238E27FC236}">
                <a16:creationId xmlns:a16="http://schemas.microsoft.com/office/drawing/2014/main" id="{67753B18-590F-439D-B7E5-01D5C06BDD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charset="0"/>
              </a:defRPr>
            </a:lvl1pPr>
          </a:lstStyle>
          <a:p>
            <a:pPr>
              <a:defRPr/>
            </a:pPr>
            <a:fld id="{962AD747-7D7A-4C63-846B-325074CA8156}" type="datetime1">
              <a:rPr lang="zh-CN" altLang="en-US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10EE4D5A-66EC-4CD0-AFCF-3CC7B2B4C9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685A0D7-4B3D-4E8C-AB18-6D9FE61F43A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29" name="Rectangle 16">
            <a:extLst>
              <a:ext uri="{FF2B5EF4-FFF2-40B4-BE49-F238E27FC236}">
                <a16:creationId xmlns:a16="http://schemas.microsoft.com/office/drawing/2014/main" id="{591B208F-F4A7-4742-8326-704959DBB7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73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03B084B9-8CD0-46E9-9E1C-8D183477E893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8980952" imgH="6733333" progId="Paint.Picture">
                  <p:embed/>
                </p:oleObj>
              </mc:Choice>
              <mc:Fallback>
                <p:oleObj r:id="rId13" imgW="8980952" imgH="6733333" progId="Paint.Picture">
                  <p:embed/>
                  <p:pic>
                    <p:nvPicPr>
                      <p:cNvPr id="1026" name="Object 15">
                        <a:extLst>
                          <a:ext uri="{FF2B5EF4-FFF2-40B4-BE49-F238E27FC236}">
                            <a16:creationId xmlns:a16="http://schemas.microsoft.com/office/drawing/2014/main" id="{03B084B9-8CD0-46E9-9E1C-8D183477E8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16">
            <a:extLst>
              <a:ext uri="{FF2B5EF4-FFF2-40B4-BE49-F238E27FC236}">
                <a16:creationId xmlns:a16="http://schemas.microsoft.com/office/drawing/2014/main" id="{DDDD0EFC-881C-42AF-8745-C9A635D614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48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FC54DFC3-84D5-49B4-B932-A6803CD38B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50000"/>
              </a:spcBef>
              <a:buFontTx/>
              <a:buNone/>
              <a:defRPr kumimoji="1" sz="140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12209B-97F4-424F-A129-A37D419F3C20}" type="datetime1">
              <a:rPr lang="zh-CN" altLang="en-US" smtClean="0"/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6A6A84DA-9726-4433-A3B4-D84418530C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6EB496C-7CC7-4032-AC76-E3CF37CE0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20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e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3E83A-5A7D-4FD7-818F-B1E5E579A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07910"/>
            <a:ext cx="7772400" cy="1470025"/>
          </a:xfrm>
        </p:spPr>
        <p:txBody>
          <a:bodyPr/>
          <a:lstStyle/>
          <a:p>
            <a:r>
              <a:rPr lang="zh-CN" altLang="en-US" sz="8800" b="1" kern="12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第三次</a:t>
            </a:r>
            <a:br>
              <a:rPr lang="en-US" altLang="zh-CN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br>
            <a:r>
              <a:rPr lang="zh-CN" altLang="en-US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小班讨论</a:t>
            </a:r>
          </a:p>
        </p:txBody>
      </p:sp>
    </p:spTree>
    <p:extLst>
      <p:ext uri="{BB962C8B-B14F-4D97-AF65-F5344CB8AC3E}">
        <p14:creationId xmlns:p14="http://schemas.microsoft.com/office/powerpoint/2010/main" val="4919043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22CEEA-3E5A-42C2-A6BE-7E7A58F7C7B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0" y="3782980"/>
            <a:ext cx="5083740" cy="18280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7A5663-E593-4D9D-893A-396B93B64304}"/>
              </a:ext>
            </a:extLst>
          </p:cNvPr>
          <p:cNvSpPr txBox="1"/>
          <p:nvPr/>
        </p:nvSpPr>
        <p:spPr>
          <a:xfrm>
            <a:off x="532798" y="150830"/>
            <a:ext cx="41095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、冒险（</a:t>
            </a:r>
            <a:r>
              <a:rPr lang="en-US" altLang="zh-CN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1/4</a:t>
            </a:r>
            <a:r>
              <a:rPr lang="zh-CN" altLang="en-US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E57A2D-4CF9-4FC0-92BD-75DFB62E3252}"/>
                  </a:ext>
                </a:extLst>
              </p:cNvPr>
              <p:cNvSpPr txBox="1"/>
              <p:nvPr/>
            </p:nvSpPr>
            <p:spPr>
              <a:xfrm>
                <a:off x="3536591" y="4140508"/>
                <a:ext cx="1686493" cy="409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100" b="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1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1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acc>
                          <m:r>
                            <a:rPr lang="en-US" altLang="zh-CN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1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𝐶𝐷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E57A2D-4CF9-4FC0-92BD-75DFB62E3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591" y="4140508"/>
                <a:ext cx="1686493" cy="409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CE59FEF-2D8D-91A0-1212-498E3EF879F0}"/>
              </a:ext>
            </a:extLst>
          </p:cNvPr>
          <p:cNvSpPr txBox="1"/>
          <p:nvPr/>
        </p:nvSpPr>
        <p:spPr>
          <a:xfrm>
            <a:off x="416304" y="805642"/>
            <a:ext cx="7927065" cy="2656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个组合逻辑电路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如图所</a:t>
            </a:r>
            <a:r>
              <a:rPr lang="zh-CN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示，设图中各门电路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的延迟时间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均相等。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    1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）当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A=B=D=1</a:t>
            </a:r>
            <a:r>
              <a:rPr lang="zh-CN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，分别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画出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跳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跳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端的波形。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试问电路在什么时候出现冒险？</a:t>
            </a:r>
            <a:endParaRPr lang="zh-CN" altLang="zh-CN" sz="200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    2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000">
                <a:ea typeface="华文新魏" panose="020108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保持</a:t>
            </a:r>
            <a:r>
              <a:rPr lang="zh-CN" altLang="en-US" sz="2000">
                <a:ea typeface="华文新魏" panose="02010800040101010101" pitchFamily="2" charset="-122"/>
                <a:cs typeface="Times New Roman" panose="02020603050405020304" pitchFamily="18" charset="0"/>
              </a:rPr>
              <a:t>不变，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中任意一个发生变化，电路会出现冒险吗？为什么？</a:t>
            </a:r>
            <a:endParaRPr lang="zh-CN" altLang="zh-CN" sz="200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    3</a:t>
            </a:r>
            <a:r>
              <a:rPr lang="zh-CN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）如何添加冗余项消除冒险</a:t>
            </a:r>
            <a:r>
              <a:rPr lang="zh-CN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现象。</a:t>
            </a:r>
            <a:endParaRPr lang="en-US" altLang="zh-CN" sz="200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ea typeface="华文新魏" panose="02010800040101010101" pitchFamily="2" charset="-122"/>
                <a:cs typeface="Times New Roman" panose="02020603050405020304" pitchFamily="18" charset="0"/>
              </a:rPr>
              <a:t>    4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)   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为什么添加冗余项可以消除冒险？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E0B405-0EDE-A873-0276-E6CA04042CC7}"/>
              </a:ext>
            </a:extLst>
          </p:cNvPr>
          <p:cNvSpPr txBox="1"/>
          <p:nvPr/>
        </p:nvSpPr>
        <p:spPr>
          <a:xfrm>
            <a:off x="5639599" y="5999284"/>
            <a:ext cx="3427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跳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时，电路出现了冒险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E5FBA9-8704-B36C-1B74-3660DFDCB7E3}"/>
              </a:ext>
            </a:extLst>
          </p:cNvPr>
          <p:cNvGrpSpPr/>
          <p:nvPr/>
        </p:nvGrpSpPr>
        <p:grpSpPr>
          <a:xfrm>
            <a:off x="5320217" y="3400181"/>
            <a:ext cx="3566939" cy="2503170"/>
            <a:chOff x="6818194" y="2618465"/>
            <a:chExt cx="4755919" cy="333756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B030E98-411E-41FD-AAAC-D8DEB94C8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6926" y="2618465"/>
              <a:ext cx="4567187" cy="33375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F2DFA91-DAD6-49D4-6917-191CF4FE44A1}"/>
                    </a:ext>
                  </a:extLst>
                </p:cNvPr>
                <p:cNvSpPr txBox="1"/>
                <p:nvPr/>
              </p:nvSpPr>
              <p:spPr>
                <a:xfrm>
                  <a:off x="6818194" y="4656854"/>
                  <a:ext cx="776109" cy="44918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1400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400" b="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</m:acc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F2DFA91-DAD6-49D4-6917-191CF4FE44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8194" y="4656854"/>
                  <a:ext cx="776109" cy="449183"/>
                </a:xfrm>
                <a:prstGeom prst="rect">
                  <a:avLst/>
                </a:prstGeom>
                <a:blipFill>
                  <a:blip r:embed="rId5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9D8461-0FCA-9663-22AF-79F605F13DA8}"/>
                    </a:ext>
                  </a:extLst>
                </p:cNvPr>
                <p:cNvSpPr txBox="1"/>
                <p:nvPr/>
              </p:nvSpPr>
              <p:spPr>
                <a:xfrm>
                  <a:off x="6932542" y="5128457"/>
                  <a:ext cx="622991" cy="41096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 b="0" i="1">
                                <a:latin typeface="Cambria Math" panose="02040503050406030204" pitchFamily="18" charset="0"/>
                              </a:rPr>
                              <m:t>𝐶𝐷</m:t>
                            </m:r>
                          </m:e>
                        </m:acc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9D8461-0FCA-9663-22AF-79F605F13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2542" y="5128457"/>
                  <a:ext cx="622991" cy="4109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873407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0B82134-9F17-431D-BCA0-C29A0C5A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65" y="1814423"/>
            <a:ext cx="6894070" cy="20608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0EB8E6-DCC4-449E-9A00-1AE8E852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10" y="4340888"/>
            <a:ext cx="7919371" cy="10477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8D1B132-0DE3-4FB8-8335-F44B0D3684D5}"/>
              </a:ext>
            </a:extLst>
          </p:cNvPr>
          <p:cNvSpPr txBox="1"/>
          <p:nvPr/>
        </p:nvSpPr>
        <p:spPr>
          <a:xfrm>
            <a:off x="734025" y="360944"/>
            <a:ext cx="3998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、冒险（</a:t>
            </a:r>
            <a:r>
              <a:rPr lang="en-US" altLang="zh-CN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2/4</a:t>
            </a:r>
            <a:r>
              <a:rPr lang="zh-CN" altLang="en-US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BE4659-F1DF-0421-BCFE-6B9B341B1678}"/>
              </a:ext>
            </a:extLst>
          </p:cNvPr>
          <p:cNvSpPr txBox="1"/>
          <p:nvPr/>
        </p:nvSpPr>
        <p:spPr>
          <a:xfrm>
            <a:off x="894800" y="1183991"/>
            <a:ext cx="5122775" cy="4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仿真验证：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电路在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跳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时出现了冒险</a:t>
            </a:r>
          </a:p>
        </p:txBody>
      </p:sp>
    </p:spTree>
    <p:extLst>
      <p:ext uri="{BB962C8B-B14F-4D97-AF65-F5344CB8AC3E}">
        <p14:creationId xmlns:p14="http://schemas.microsoft.com/office/powerpoint/2010/main" val="33875243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BC401E-485D-87E4-A506-4A321B46656E}"/>
              </a:ext>
            </a:extLst>
          </p:cNvPr>
          <p:cNvSpPr/>
          <p:nvPr/>
        </p:nvSpPr>
        <p:spPr>
          <a:xfrm>
            <a:off x="7549121" y="4499532"/>
            <a:ext cx="406831" cy="9720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21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9285CFF-BAD0-8595-6E40-DFBDCFF05047}"/>
              </a:ext>
            </a:extLst>
          </p:cNvPr>
          <p:cNvSpPr/>
          <p:nvPr/>
        </p:nvSpPr>
        <p:spPr>
          <a:xfrm>
            <a:off x="6526230" y="5598256"/>
            <a:ext cx="1993470" cy="4475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21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E0FF6C-F53F-BF4E-7554-ADC87B3F9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551" y="4095296"/>
            <a:ext cx="2457450" cy="250317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C9F2EED7-5462-605E-4D10-CDCD7223B07E}"/>
              </a:ext>
            </a:extLst>
          </p:cNvPr>
          <p:cNvSpPr/>
          <p:nvPr/>
        </p:nvSpPr>
        <p:spPr>
          <a:xfrm>
            <a:off x="7549121" y="5040316"/>
            <a:ext cx="406831" cy="9720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21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1D151A5-7A27-0F18-78D2-705D741D5253}"/>
              </a:ext>
            </a:extLst>
          </p:cNvPr>
          <p:cNvCxnSpPr>
            <a:cxnSpLocks/>
          </p:cNvCxnSpPr>
          <p:nvPr/>
        </p:nvCxnSpPr>
        <p:spPr>
          <a:xfrm flipH="1">
            <a:off x="7955952" y="5139116"/>
            <a:ext cx="238286" cy="261534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77FFB76-FBF9-EE6A-91A4-C042EA77E053}"/>
              </a:ext>
            </a:extLst>
          </p:cNvPr>
          <p:cNvSpPr txBox="1"/>
          <p:nvPr/>
        </p:nvSpPr>
        <p:spPr>
          <a:xfrm>
            <a:off x="8097088" y="4895071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ABD</a:t>
            </a:r>
            <a:endParaRPr lang="zh-CN" altLang="en-US" sz="18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44088A-F010-5A62-6AF9-70685A281BD0}"/>
              </a:ext>
            </a:extLst>
          </p:cNvPr>
          <p:cNvSpPr txBox="1"/>
          <p:nvPr/>
        </p:nvSpPr>
        <p:spPr>
          <a:xfrm>
            <a:off x="523886" y="235667"/>
            <a:ext cx="4118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、冒险（</a:t>
            </a:r>
            <a:r>
              <a:rPr lang="en-US" altLang="zh-CN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3/4</a:t>
            </a:r>
            <a:r>
              <a:rPr lang="zh-CN" altLang="en-US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0EC4A8A-2823-172C-2A08-4BCCFDDA33BE}"/>
                  </a:ext>
                </a:extLst>
              </p:cNvPr>
              <p:cNvSpPr txBox="1"/>
              <p:nvPr/>
            </p:nvSpPr>
            <p:spPr>
              <a:xfrm>
                <a:off x="241160" y="913924"/>
                <a:ext cx="8802355" cy="2833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450"/>
                  </a:spcAft>
                </a:pPr>
                <a:r>
                  <a:rPr lang="en-US" altLang="zh-CN" sz="21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00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200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00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不变</a:t>
                </a:r>
                <a:r>
                  <a:rPr lang="zh-CN" altLang="en-US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00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中一</a:t>
                </a:r>
                <a:r>
                  <a:rPr lang="zh-CN" altLang="en-US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个发生变化，电路会出现冒险吗？为什么</a:t>
                </a:r>
                <a:r>
                  <a:rPr lang="en-US" altLang="zh-CN" sz="200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?</a:t>
                </a:r>
              </a:p>
              <a:p>
                <a:pPr marL="214313" indent="-214313">
                  <a:lnSpc>
                    <a:spcPct val="120000"/>
                  </a:lnSpc>
                  <a:spcAft>
                    <a:spcPts val="0"/>
                  </a:spcAft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代数法：检查是否存在某个变量</a:t>
                </a:r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，它同时以原变量和反变量的形式出现在函数表达式中，而且表达式在一定条件下可变成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+X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或者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acc>
                    <m:r>
                      <a:rPr lang="en-US" altLang="zh-CN" sz="2000" b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·</m:t>
                    </m:r>
                  </m:oMath>
                </a14:m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的形式，若能则说明与函数表达式对应的电路可能产生冒险。</a:t>
                </a:r>
                <a:endParaRPr lang="en-US" altLang="zh-CN" sz="2000" b="0" dirty="0">
                  <a:ea typeface="华文新魏" panose="02010800040101010101" pitchFamily="2" charset="-122"/>
                  <a:cs typeface="Times New Roman" panose="02020603050405020304" pitchFamily="18" charset="0"/>
                </a:endParaRPr>
              </a:p>
              <a:p>
                <a:pPr marL="214313" indent="-214313">
                  <a:lnSpc>
                    <a:spcPct val="120000"/>
                  </a:lnSpc>
                  <a:spcAft>
                    <a:spcPts val="0"/>
                  </a:spcAft>
                  <a:buClr>
                    <a:srgbClr val="0000F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卡诺图法：当描述电路的逻辑函数为“与或”式时，可采用卡诺图来判断电路是否存在冒险，其方法是观察是否存在“相切”的卡诺圈，若存在则会产生冒险。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0EC4A8A-2823-172C-2A08-4BCCFDDA3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0" y="913924"/>
                <a:ext cx="8802355" cy="2833724"/>
              </a:xfrm>
              <a:prstGeom prst="rect">
                <a:avLst/>
              </a:prstGeom>
              <a:blipFill>
                <a:blip r:embed="rId3"/>
                <a:stretch>
                  <a:fillRect l="-623" r="-623" b="-30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84CE1A28-572A-63D7-F94B-DD3E96FA2041}"/>
              </a:ext>
            </a:extLst>
          </p:cNvPr>
          <p:cNvSpPr txBox="1"/>
          <p:nvPr/>
        </p:nvSpPr>
        <p:spPr>
          <a:xfrm>
            <a:off x="297667" y="3769574"/>
            <a:ext cx="4570890" cy="525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）如何添加冗余项消除冒险现象。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4A26D5A-A7BA-75C1-03D8-25F66C17F700}"/>
                  </a:ext>
                </a:extLst>
              </p:cNvPr>
              <p:cNvSpPr txBox="1"/>
              <p:nvPr/>
            </p:nvSpPr>
            <p:spPr>
              <a:xfrm>
                <a:off x="268388" y="4401891"/>
                <a:ext cx="5546057" cy="17250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利用定理</a:t>
                </a:r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22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XY+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Z+YZ=XY+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acc>
                    <m:r>
                      <a:rPr lang="en-US" altLang="zh-CN" sz="2000" b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Z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）在原表达式中加上</a:t>
                </a:r>
                <a:r>
                  <a:rPr lang="zh-CN" altLang="en-US" sz="2000" b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冗余的“与项”或者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乘以冗余的“或项”，使原表达式不可能在任何条件下出现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acc>
                    <m:r>
                      <a:rPr lang="en-US" altLang="zh-CN" sz="2000" b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+X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或者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</m:acc>
                    <m:r>
                      <a:rPr lang="en-US" altLang="zh-CN" sz="2000" b="0"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·</m:t>
                    </m:r>
                  </m:oMath>
                </a14:m>
                <a:r>
                  <a:rPr lang="en-US" altLang="zh-CN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b="0" dirty="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的形式，从而消除冒险。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4A26D5A-A7BA-75C1-03D8-25F66C17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8" y="4401891"/>
                <a:ext cx="5546057" cy="1725024"/>
              </a:xfrm>
              <a:prstGeom prst="rect">
                <a:avLst/>
              </a:prstGeom>
              <a:blipFill>
                <a:blip r:embed="rId4"/>
                <a:stretch>
                  <a:fillRect l="-1099" r="-1209" b="-2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D610605-A9CB-891E-A7C1-A190862AF176}"/>
                  </a:ext>
                </a:extLst>
              </p:cNvPr>
              <p:cNvSpPr txBox="1"/>
              <p:nvPr/>
            </p:nvSpPr>
            <p:spPr>
              <a:xfrm>
                <a:off x="5814445" y="3696167"/>
                <a:ext cx="2882487" cy="3084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𝐴𝐵𝐷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D610605-A9CB-891E-A7C1-A190862AF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445" y="3696167"/>
                <a:ext cx="2882487" cy="308482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6127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4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C28A9A1-F830-69EB-4EA8-9BB102CA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76" y="2892284"/>
            <a:ext cx="6230859" cy="209169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E44088A-F010-5A62-6AF9-70685A281BD0}"/>
              </a:ext>
            </a:extLst>
          </p:cNvPr>
          <p:cNvSpPr txBox="1"/>
          <p:nvPr/>
        </p:nvSpPr>
        <p:spPr>
          <a:xfrm>
            <a:off x="634133" y="262667"/>
            <a:ext cx="4192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、冒险（</a:t>
            </a:r>
            <a:r>
              <a:rPr lang="en-US" altLang="zh-CN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4/4</a:t>
            </a:r>
            <a:r>
              <a:rPr lang="zh-CN" altLang="en-US" sz="4000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5F09443-50B1-22B0-1034-639EF697E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14" y="5217763"/>
            <a:ext cx="8060063" cy="112546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AEECAB6-E5D2-FAA2-62E2-B18C49D95D06}"/>
              </a:ext>
            </a:extLst>
          </p:cNvPr>
          <p:cNvSpPr txBox="1"/>
          <p:nvPr/>
        </p:nvSpPr>
        <p:spPr>
          <a:xfrm>
            <a:off x="967595" y="1077504"/>
            <a:ext cx="62036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0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4)   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为什么添加冗余项可以消除冒险？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9D52250-49AC-5822-9FC4-4BAAC1140EBB}"/>
                  </a:ext>
                </a:extLst>
              </p:cNvPr>
              <p:cNvSpPr txBox="1"/>
              <p:nvPr/>
            </p:nvSpPr>
            <p:spPr>
              <a:xfrm>
                <a:off x="2730282" y="1600202"/>
                <a:ext cx="2978703" cy="3238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𝐴𝐵𝐷</m:t>
                      </m:r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9D52250-49AC-5822-9FC4-4BAAC1140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282" y="1600202"/>
                <a:ext cx="2978703" cy="323807"/>
              </a:xfrm>
              <a:prstGeom prst="rect">
                <a:avLst/>
              </a:prstGeom>
              <a:blipFill>
                <a:blip r:embed="rId4"/>
                <a:stretch>
                  <a:fillRect t="-1887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0BE86CEF-22A5-4420-8094-956F470D7A7C}"/>
              </a:ext>
            </a:extLst>
          </p:cNvPr>
          <p:cNvSpPr txBox="1"/>
          <p:nvPr/>
        </p:nvSpPr>
        <p:spPr>
          <a:xfrm>
            <a:off x="2062672" y="2011112"/>
            <a:ext cx="239675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A=B=D=1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时</a:t>
            </a:r>
            <a:r>
              <a:rPr lang="zh-CN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endParaRPr lang="zh-CN" altLang="en-US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0152FF-6E55-F38F-1B80-E720A943124D}"/>
                  </a:ext>
                </a:extLst>
              </p:cNvPr>
              <p:cNvSpPr txBox="1"/>
              <p:nvPr/>
            </p:nvSpPr>
            <p:spPr>
              <a:xfrm>
                <a:off x="4257116" y="2063492"/>
                <a:ext cx="2310296" cy="3238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+1=1</m:t>
                      </m:r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0152FF-6E55-F38F-1B80-E720A9431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16" y="2063492"/>
                <a:ext cx="2310296" cy="323807"/>
              </a:xfrm>
              <a:prstGeom prst="rect">
                <a:avLst/>
              </a:prstGeom>
              <a:blipFill>
                <a:blip r:embed="rId5"/>
                <a:stretch>
                  <a:fillRect l="-264" r="-528"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A4A66B4E-0014-2448-30D7-AAB006DBCD97}"/>
              </a:ext>
            </a:extLst>
          </p:cNvPr>
          <p:cNvSpPr txBox="1"/>
          <p:nvPr/>
        </p:nvSpPr>
        <p:spPr>
          <a:xfrm>
            <a:off x="1443436" y="2478990"/>
            <a:ext cx="53123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仿真验证，添加冗余项确实消除了冒险：</a:t>
            </a:r>
          </a:p>
        </p:txBody>
      </p:sp>
    </p:spTree>
    <p:extLst>
      <p:ext uri="{BB962C8B-B14F-4D97-AF65-F5344CB8AC3E}">
        <p14:creationId xmlns:p14="http://schemas.microsoft.com/office/powerpoint/2010/main" val="32852813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>
            <a:extLst>
              <a:ext uri="{FF2B5EF4-FFF2-40B4-BE49-F238E27FC236}">
                <a16:creationId xmlns:a16="http://schemas.microsoft.com/office/drawing/2014/main" id="{F42C0D0A-391C-9769-D0B1-6BA364D07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57" y="1168180"/>
            <a:ext cx="51813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  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3-56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方法</a:t>
            </a:r>
            <a:r>
              <a:rPr lang="zh-CN" altLang="en-US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按位取反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+1</a:t>
            </a: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F0AB2EA4-725A-73AA-9BFD-D32DA8CBC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59" y="305129"/>
            <a:ext cx="825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、迭代电路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(1/5)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34403F-E966-A31E-7B41-16A4FF2AFA9B}"/>
              </a:ext>
            </a:extLst>
          </p:cNvPr>
          <p:cNvSpPr txBox="1"/>
          <p:nvPr/>
        </p:nvSpPr>
        <p:spPr>
          <a:xfrm>
            <a:off x="835475" y="1862480"/>
            <a:ext cx="7679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Bit: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本位，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Cin: 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低位的进位，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：本位的补，</a:t>
            </a:r>
            <a:r>
              <a:rPr lang="en-US" altLang="zh-CN" sz="2000" b="0" dirty="0" err="1">
                <a:ea typeface="华文新魏" panose="02010800040101010101" pitchFamily="2" charset="-122"/>
                <a:cs typeface="Times New Roman" panose="02020603050405020304" pitchFamily="18" charset="0"/>
              </a:rPr>
              <a:t>Cout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：向高位的进位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7D1535F-AD8C-77DE-C210-46D7729F0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59" y="2540865"/>
            <a:ext cx="59436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337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>
            <a:extLst>
              <a:ext uri="{FF2B5EF4-FFF2-40B4-BE49-F238E27FC236}">
                <a16:creationId xmlns:a16="http://schemas.microsoft.com/office/drawing/2014/main" id="{F42C0D0A-391C-9769-D0B1-6BA364D07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57" y="1168180"/>
            <a:ext cx="56810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  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3-56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方法二：</a:t>
            </a:r>
            <a:r>
              <a:rPr kumimoji="1" lang="en-US" altLang="zh-CN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en-US" altLang="zh-CN" b="0" baseline="30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kumimoji="1" lang="en-US" altLang="zh-CN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-A</a:t>
            </a:r>
            <a:r>
              <a:rPr kumimoji="1" lang="zh-CN" altLang="en-US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或找第一个</a:t>
            </a:r>
            <a:r>
              <a:rPr kumimoji="1" lang="en-US" altLang="zh-CN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F0AB2EA4-725A-73AA-9BFD-D32DA8CBC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59" y="305129"/>
            <a:ext cx="825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  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F1BB7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迭代电路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(2/5)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80F3C8-13B2-CB37-1D00-D01B5283A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773" y="2633122"/>
            <a:ext cx="6835806" cy="378871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BDF47C4-C84B-8647-AB23-74FBC3B80B3D}"/>
              </a:ext>
            </a:extLst>
          </p:cNvPr>
          <p:cNvSpPr txBox="1"/>
          <p:nvPr/>
        </p:nvSpPr>
        <p:spPr>
          <a:xfrm>
            <a:off x="522514" y="1718928"/>
            <a:ext cx="8621486" cy="86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Bit: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本位，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Cin: 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低位的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借位（或从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最低位到本位之前是否出现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第一个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：本位的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补，</a:t>
            </a:r>
            <a:r>
              <a:rPr lang="en-US" altLang="zh-CN" sz="2000" b="0" dirty="0" err="1">
                <a:ea typeface="华文新魏" panose="02010800040101010101" pitchFamily="2" charset="-122"/>
                <a:cs typeface="Times New Roman" panose="02020603050405020304" pitchFamily="18" charset="0"/>
              </a:rPr>
              <a:t>Cout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：向高位的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借位（或从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最低位到本位是否出现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第一个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67630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E62A1-A4D8-3051-CC39-8DDF7BFC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CEF9D-44DB-4C8E-96D2-7C7C94BA3FE8}" type="datetime1">
              <a:rPr lang="zh-CN" altLang="en-US" smtClean="0"/>
              <a:pPr>
                <a:defRPr/>
              </a:pPr>
              <a:t>2025/11/28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6D0C39-01BC-2621-0463-863BA60B6B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8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4466BE-4A59-5A2C-C037-7AF4A3DB2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37" y="3295159"/>
            <a:ext cx="5529228" cy="239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12">
            <a:extLst>
              <a:ext uri="{FF2B5EF4-FFF2-40B4-BE49-F238E27FC236}">
                <a16:creationId xmlns:a16="http://schemas.microsoft.com/office/drawing/2014/main" id="{B34616F7-9961-A257-4FFF-9CE73CC5B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59" y="305129"/>
            <a:ext cx="825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迭代电路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(3/5)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CCCFF1-1412-711E-C695-33D70409FF88}"/>
              </a:ext>
            </a:extLst>
          </p:cNvPr>
          <p:cNvSpPr txBox="1"/>
          <p:nvPr/>
        </p:nvSpPr>
        <p:spPr>
          <a:xfrm>
            <a:off x="708409" y="112363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3-60  </a:t>
            </a:r>
            <a:endParaRPr lang="zh-CN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02BCD24-706A-9977-C5C6-9D5ADF851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972219"/>
              </p:ext>
            </p:extLst>
          </p:nvPr>
        </p:nvGraphicFramePr>
        <p:xfrm>
          <a:off x="708409" y="2383966"/>
          <a:ext cx="2451078" cy="35661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28931">
                  <a:extLst>
                    <a:ext uri="{9D8B030D-6E8A-4147-A177-3AD203B41FA5}">
                      <a16:colId xmlns:a16="http://schemas.microsoft.com/office/drawing/2014/main" val="2111184773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526367196"/>
                    </a:ext>
                  </a:extLst>
                </a:gridCol>
                <a:gridCol w="675861">
                  <a:extLst>
                    <a:ext uri="{9D8B030D-6E8A-4147-A177-3AD203B41FA5}">
                      <a16:colId xmlns:a16="http://schemas.microsoft.com/office/drawing/2014/main" val="2871921071"/>
                    </a:ext>
                  </a:extLst>
                </a:gridCol>
                <a:gridCol w="782460">
                  <a:extLst>
                    <a:ext uri="{9D8B030D-6E8A-4147-A177-3AD203B41FA5}">
                      <a16:colId xmlns:a16="http://schemas.microsoft.com/office/drawing/2014/main" val="2541793684"/>
                    </a:ext>
                  </a:extLst>
                </a:gridCol>
              </a:tblGrid>
              <a:tr h="3003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Cin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Cout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51958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996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011682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44133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17441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81070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26558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CBFAF1-4EDA-844F-6C73-686A20736534}"/>
                  </a:ext>
                </a:extLst>
              </p:cNvPr>
              <p:cNvSpPr txBox="1"/>
              <p:nvPr/>
            </p:nvSpPr>
            <p:spPr>
              <a:xfrm>
                <a:off x="4264346" y="2555058"/>
                <a:ext cx="30957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CBFAF1-4EDA-844F-6C73-686A20736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346" y="2555058"/>
                <a:ext cx="3095784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BAE7D401-3969-9FCB-89D3-35271F4BFEFA}"/>
              </a:ext>
            </a:extLst>
          </p:cNvPr>
          <p:cNvSpPr txBox="1"/>
          <p:nvPr/>
        </p:nvSpPr>
        <p:spPr>
          <a:xfrm>
            <a:off x="613248" y="1786085"/>
            <a:ext cx="7901411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Bi: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本位输入，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Cin: 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相邻低位的比较结果，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Cout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：本位的比较结果</a:t>
            </a:r>
            <a:endParaRPr lang="zh-CN" altLang="en-US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946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B57017D-6513-4C64-7DF4-434BE064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4" y="4850915"/>
            <a:ext cx="6779787" cy="1628718"/>
          </a:xfrm>
          <a:prstGeom prst="rect">
            <a:avLst/>
          </a:prstGeom>
        </p:spPr>
      </p:pic>
      <p:sp>
        <p:nvSpPr>
          <p:cNvPr id="4" name="Text Box 12">
            <a:extLst>
              <a:ext uri="{FF2B5EF4-FFF2-40B4-BE49-F238E27FC236}">
                <a16:creationId xmlns:a16="http://schemas.microsoft.com/office/drawing/2014/main" id="{F42C0D0A-391C-9769-D0B1-6BA364D07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56" y="1168180"/>
            <a:ext cx="41363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FF0000"/>
                </a:solidFill>
                <a:ea typeface="华文新魏" panose="02010800040101010101" pitchFamily="2" charset="-122"/>
              </a:rPr>
              <a:t> </a:t>
            </a:r>
            <a:r>
              <a:rPr kumimoji="1" lang="en-US" altLang="zh-CN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3-62  </a:t>
            </a:r>
            <a:r>
              <a:rPr kumimoji="1" lang="zh-CN" altLang="en-US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高位</a:t>
            </a:r>
            <a:r>
              <a:rPr kumimoji="1" lang="zh-CN" altLang="en-US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输出比较结果</a:t>
            </a:r>
            <a:endParaRPr kumimoji="1" lang="en-US" altLang="zh-CN" b="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0DA2183-7633-949B-6C91-1337B7598CC0}"/>
                  </a:ext>
                </a:extLst>
              </p:cNvPr>
              <p:cNvSpPr/>
              <p:nvPr/>
            </p:nvSpPr>
            <p:spPr>
              <a:xfrm>
                <a:off x="674491" y="3329020"/>
                <a:ext cx="4136343" cy="10167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⨁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000" i="1" kern="10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sz="200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0DA2183-7633-949B-6C91-1337B7598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91" y="3329020"/>
                <a:ext cx="4136343" cy="10167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89411A3-B1AC-D22A-F4CC-C1D30E7A6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518678"/>
              </p:ext>
            </p:extLst>
          </p:nvPr>
        </p:nvGraphicFramePr>
        <p:xfrm>
          <a:off x="5135031" y="113682"/>
          <a:ext cx="3334478" cy="47548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99337">
                  <a:extLst>
                    <a:ext uri="{9D8B030D-6E8A-4147-A177-3AD203B41FA5}">
                      <a16:colId xmlns:a16="http://schemas.microsoft.com/office/drawing/2014/main" val="2111184773"/>
                    </a:ext>
                  </a:extLst>
                </a:gridCol>
                <a:gridCol w="423246">
                  <a:extLst>
                    <a:ext uri="{9D8B030D-6E8A-4147-A177-3AD203B41FA5}">
                      <a16:colId xmlns:a16="http://schemas.microsoft.com/office/drawing/2014/main" val="526367196"/>
                    </a:ext>
                  </a:extLst>
                </a:gridCol>
                <a:gridCol w="490330">
                  <a:extLst>
                    <a:ext uri="{9D8B030D-6E8A-4147-A177-3AD203B41FA5}">
                      <a16:colId xmlns:a16="http://schemas.microsoft.com/office/drawing/2014/main" val="2871921071"/>
                    </a:ext>
                  </a:extLst>
                </a:gridCol>
                <a:gridCol w="450574">
                  <a:extLst>
                    <a:ext uri="{9D8B030D-6E8A-4147-A177-3AD203B41FA5}">
                      <a16:colId xmlns:a16="http://schemas.microsoft.com/office/drawing/2014/main" val="1537107345"/>
                    </a:ext>
                  </a:extLst>
                </a:gridCol>
                <a:gridCol w="715617">
                  <a:extLst>
                    <a:ext uri="{9D8B030D-6E8A-4147-A177-3AD203B41FA5}">
                      <a16:colId xmlns:a16="http://schemas.microsoft.com/office/drawing/2014/main" val="2541793684"/>
                    </a:ext>
                  </a:extLst>
                </a:gridCol>
                <a:gridCol w="755374">
                  <a:extLst>
                    <a:ext uri="{9D8B030D-6E8A-4147-A177-3AD203B41FA5}">
                      <a16:colId xmlns:a16="http://schemas.microsoft.com/office/drawing/2014/main" val="1369123217"/>
                    </a:ext>
                  </a:extLst>
                </a:gridCol>
              </a:tblGrid>
              <a:tr h="3003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Ei+1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Gi+1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8551958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6780996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438351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8011682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9844133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17441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8281070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8026558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3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0458597"/>
                  </a:ext>
                </a:extLst>
              </a:tr>
            </a:tbl>
          </a:graphicData>
        </a:graphic>
      </p:graphicFrame>
      <p:sp>
        <p:nvSpPr>
          <p:cNvPr id="8" name="Text Box 12">
            <a:extLst>
              <a:ext uri="{FF2B5EF4-FFF2-40B4-BE49-F238E27FC236}">
                <a16:creationId xmlns:a16="http://schemas.microsoft.com/office/drawing/2014/main" id="{F0AB2EA4-725A-73AA-9BFD-D32DA8CBC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9878"/>
            <a:ext cx="825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3200" b="0">
                <a:solidFill>
                  <a:srgbClr val="FF0000"/>
                </a:solidFill>
                <a:ea typeface="华文新魏" panose="02010800040101010101" pitchFamily="2" charset="-122"/>
              </a:rPr>
              <a:t>    </a:t>
            </a:r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1"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迭代电路</a:t>
            </a:r>
            <a:r>
              <a:rPr kumimoji="1"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(4/5)</a:t>
            </a:r>
            <a:endParaRPr kumimoji="1" lang="en-US" altLang="zh-CN" sz="4000" b="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414E44-3851-8E57-A3CD-5767ADD11974}"/>
              </a:ext>
            </a:extLst>
          </p:cNvPr>
          <p:cNvSpPr txBox="1"/>
          <p:nvPr/>
        </p:nvSpPr>
        <p:spPr>
          <a:xfrm>
            <a:off x="693521" y="1858060"/>
            <a:ext cx="3717705" cy="126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Bi: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本位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输入，</a:t>
            </a:r>
            <a:endParaRPr lang="en-US" altLang="zh-CN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Ei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Gi: 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相邻低位的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比较结果</a:t>
            </a:r>
            <a:endParaRPr lang="en-US" altLang="zh-CN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i+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本位的比较结果</a:t>
            </a:r>
          </a:p>
        </p:txBody>
      </p:sp>
    </p:spTree>
    <p:extLst>
      <p:ext uri="{BB962C8B-B14F-4D97-AF65-F5344CB8AC3E}">
        <p14:creationId xmlns:p14="http://schemas.microsoft.com/office/powerpoint/2010/main" val="37745524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>
            <a:extLst>
              <a:ext uri="{FF2B5EF4-FFF2-40B4-BE49-F238E27FC236}">
                <a16:creationId xmlns:a16="http://schemas.microsoft.com/office/drawing/2014/main" id="{F42C0D0A-391C-9769-D0B1-6BA364D07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37" y="1173852"/>
            <a:ext cx="42569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  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3-62 </a:t>
            </a:r>
            <a:r>
              <a:rPr kumimoji="1" lang="zh-CN" altLang="en-US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位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输出比较结果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0DA2183-7633-949B-6C91-1337B7598CC0}"/>
                  </a:ext>
                </a:extLst>
              </p:cNvPr>
              <p:cNvSpPr/>
              <p:nvPr/>
            </p:nvSpPr>
            <p:spPr>
              <a:xfrm>
                <a:off x="626273" y="3278388"/>
                <a:ext cx="5734334" cy="11103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22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0" lang="en-US" altLang="zh-CN" sz="2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zh-CN" altLang="zh-CN" sz="2200" b="0" i="1" u="none" strike="noStrike" kern="1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200" b="0" i="1" u="none" strike="noStrike" kern="1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0" lang="en-US" altLang="zh-CN" sz="2200" b="0" i="1" u="none" strike="noStrike" kern="1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acc>
                            <m:accPr>
                              <m:chr m:val="̅"/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zh-CN" altLang="zh-CN" sz="2200" b="0" i="1" u="none" strike="noStrike" kern="1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200" b="0" i="1" u="none" strike="noStrike" kern="1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kumimoji="0" lang="en-US" altLang="zh-CN" sz="2200" b="0" i="1" u="none" strike="noStrike" kern="1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sSub>
                        <m:sSubPr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⨁</m:t>
                              </m:r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altLang="zh-CN" sz="22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0" lang="en-US" altLang="zh-CN" sz="22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2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2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2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0" lang="en-US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kumimoji="0" lang="zh-CN" altLang="zh-CN" sz="22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zh-CN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altLang="zh-CN" sz="2200" b="0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zh-CN" sz="22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2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zh-CN" altLang="zh-CN" sz="22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0DA2183-7633-949B-6C91-1337B7598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3" y="3278388"/>
                <a:ext cx="5734334" cy="11103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89411A3-B1AC-D22A-F4CC-C1D30E7A6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018135"/>
              </p:ext>
            </p:extLst>
          </p:nvPr>
        </p:nvGraphicFramePr>
        <p:xfrm>
          <a:off x="5105607" y="659072"/>
          <a:ext cx="3484294" cy="31699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63827">
                  <a:extLst>
                    <a:ext uri="{9D8B030D-6E8A-4147-A177-3AD203B41FA5}">
                      <a16:colId xmlns:a16="http://schemas.microsoft.com/office/drawing/2014/main" val="2111184773"/>
                    </a:ext>
                  </a:extLst>
                </a:gridCol>
                <a:gridCol w="450574">
                  <a:extLst>
                    <a:ext uri="{9D8B030D-6E8A-4147-A177-3AD203B41FA5}">
                      <a16:colId xmlns:a16="http://schemas.microsoft.com/office/drawing/2014/main" val="526367196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2871921071"/>
                    </a:ext>
                  </a:extLst>
                </a:gridCol>
                <a:gridCol w="569843">
                  <a:extLst>
                    <a:ext uri="{9D8B030D-6E8A-4147-A177-3AD203B41FA5}">
                      <a16:colId xmlns:a16="http://schemas.microsoft.com/office/drawing/2014/main" val="1537107345"/>
                    </a:ext>
                  </a:extLst>
                </a:gridCol>
                <a:gridCol w="728870">
                  <a:extLst>
                    <a:ext uri="{9D8B030D-6E8A-4147-A177-3AD203B41FA5}">
                      <a16:colId xmlns:a16="http://schemas.microsoft.com/office/drawing/2014/main" val="2541793684"/>
                    </a:ext>
                  </a:extLst>
                </a:gridCol>
                <a:gridCol w="833858">
                  <a:extLst>
                    <a:ext uri="{9D8B030D-6E8A-4147-A177-3AD203B41FA5}">
                      <a16:colId xmlns:a16="http://schemas.microsoft.com/office/drawing/2014/main" val="1369123217"/>
                    </a:ext>
                  </a:extLst>
                </a:gridCol>
              </a:tblGrid>
              <a:tr h="3003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Ei+1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Gi+1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8551958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6780996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4383515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8011682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9844133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17441"/>
                  </a:ext>
                </a:extLst>
              </a:tr>
              <a:tr h="2998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8281070"/>
                  </a:ext>
                </a:extLst>
              </a:tr>
              <a:tr h="3003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0458597"/>
                  </a:ext>
                </a:extLst>
              </a:tr>
            </a:tbl>
          </a:graphicData>
        </a:graphic>
      </p:graphicFrame>
      <p:sp>
        <p:nvSpPr>
          <p:cNvPr id="8" name="Text Box 12">
            <a:extLst>
              <a:ext uri="{FF2B5EF4-FFF2-40B4-BE49-F238E27FC236}">
                <a16:creationId xmlns:a16="http://schemas.microsoft.com/office/drawing/2014/main" id="{F0AB2EA4-725A-73AA-9BFD-D32DA8CBC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59" y="305129"/>
            <a:ext cx="825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55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4000" b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、迭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代电路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(5/5)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75FD83-80D3-2A70-657B-BB454C72CAE3}"/>
              </a:ext>
            </a:extLst>
          </p:cNvPr>
          <p:cNvGrpSpPr/>
          <p:nvPr/>
        </p:nvGrpSpPr>
        <p:grpSpPr>
          <a:xfrm>
            <a:off x="1145512" y="4503598"/>
            <a:ext cx="7369147" cy="1918933"/>
            <a:chOff x="1367487" y="5028014"/>
            <a:chExt cx="5974985" cy="134713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B57017D-6513-4C64-7DF4-434BE064D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1527" y="5028014"/>
              <a:ext cx="5540945" cy="1331109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ED787A4-E28C-5634-1B92-C26BA3FAD0B5}"/>
                </a:ext>
              </a:extLst>
            </p:cNvPr>
            <p:cNvSpPr txBox="1"/>
            <p:nvPr/>
          </p:nvSpPr>
          <p:spPr>
            <a:xfrm>
              <a:off x="1367487" y="5790376"/>
              <a:ext cx="70956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US" altLang="zh-CN" sz="1600" dirty="0"/>
                <a:t>E0=1</a:t>
              </a:r>
            </a:p>
            <a:p>
              <a:pPr algn="r"/>
              <a:r>
                <a:rPr lang="en-US" altLang="zh-CN" sz="1600" dirty="0"/>
                <a:t>G0=0</a:t>
              </a:r>
              <a:endParaRPr lang="zh-CN" altLang="en-US" sz="1600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4359F1E-47CD-9AC0-249E-450781350AB2}"/>
                </a:ext>
              </a:extLst>
            </p:cNvPr>
            <p:cNvSpPr txBox="1"/>
            <p:nvPr/>
          </p:nvSpPr>
          <p:spPr>
            <a:xfrm>
              <a:off x="6586041" y="5767417"/>
              <a:ext cx="70956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/>
            <a:p>
              <a:r>
                <a:rPr lang="en-US" altLang="zh-CN" sz="1600" dirty="0"/>
                <a:t>E4</a:t>
              </a:r>
            </a:p>
            <a:p>
              <a:r>
                <a:rPr lang="en-US" altLang="zh-CN" sz="1600" dirty="0"/>
                <a:t>G4</a:t>
              </a:r>
              <a:endParaRPr lang="zh-CN" altLang="en-US" sz="1600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3F8EE442-5245-2E62-6F02-198E7BE02837}"/>
              </a:ext>
            </a:extLst>
          </p:cNvPr>
          <p:cNvSpPr txBox="1"/>
          <p:nvPr/>
        </p:nvSpPr>
        <p:spPr>
          <a:xfrm>
            <a:off x="626273" y="1845228"/>
            <a:ext cx="3634228" cy="126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Bi: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本位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输入，</a:t>
            </a:r>
            <a:endParaRPr lang="en-US" altLang="zh-CN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Ei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Gi: 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相邻高位的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比较结果</a:t>
            </a:r>
            <a:endParaRPr lang="en-US" altLang="zh-CN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i+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a typeface="华文新魏" panose="02010800040101010101" pitchFamily="2" charset="-122"/>
                <a:cs typeface="Times New Roman" panose="02020603050405020304" pitchFamily="18" charset="0"/>
              </a:rPr>
              <a:t>本位的</a:t>
            </a:r>
            <a:r>
              <a:rPr lang="zh-CN" altLang="en-US" sz="2000" b="0">
                <a:ea typeface="华文新魏" panose="02010800040101010101" pitchFamily="2" charset="-122"/>
                <a:cs typeface="Times New Roman" panose="02020603050405020304" pitchFamily="18" charset="0"/>
              </a:rPr>
              <a:t>比较结果</a:t>
            </a:r>
            <a:endParaRPr lang="en-US" altLang="zh-CN" sz="2000" b="0" dirty="0"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072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8DEC-0D06-0BD4-1985-14A1B7767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1ED005E-D4FF-D7F9-EE36-C63943D454C6}"/>
              </a:ext>
            </a:extLst>
          </p:cNvPr>
          <p:cNvSpPr txBox="1"/>
          <p:nvPr/>
        </p:nvSpPr>
        <p:spPr>
          <a:xfrm>
            <a:off x="468855" y="1012253"/>
            <a:ext cx="8192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试采用分层设计方法，设计一个</a:t>
            </a:r>
            <a:r>
              <a: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能计算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12</a:t>
            </a:r>
            <a:r>
              <a: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位二进制数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中“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”的个数的组合逻辑电路，</a:t>
            </a:r>
            <a:r>
              <a: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要求：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、画出整个电路的</a:t>
            </a:r>
            <a:r>
              <a: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层次结构图；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、写出各层子电路表达式。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E3F974-888F-CD4F-8DFE-EBFF71040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91" y="2858266"/>
            <a:ext cx="138564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96C3524-9DCE-8982-FD1F-669DB135C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496" y="2858170"/>
          <a:ext cx="2234126" cy="2351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23751" imgH="2554744" progId="Visio.Drawing.11">
                  <p:embed/>
                </p:oleObj>
              </mc:Choice>
              <mc:Fallback>
                <p:oleObj r:id="rId2" imgW="2423751" imgH="2554744" progId="Visio.Drawing.11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358D606-C604-7FE3-EE24-08BE4026C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96" y="2858170"/>
                        <a:ext cx="2234126" cy="23512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CFBE4EC2-7583-2C4C-EAA8-40DF0C770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227" y="2432138"/>
            <a:ext cx="138564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6CE5A5D-CBC0-ED9A-1CA7-ACE9F2098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4267" y="2395618"/>
          <a:ext cx="4912881" cy="3270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267500" imgH="3504271" progId="Visio.Drawing.11">
                  <p:embed/>
                </p:oleObj>
              </mc:Choice>
              <mc:Fallback>
                <p:oleObj r:id="rId4" imgW="5267500" imgH="3504271" progId="Visio.Drawing.11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0893EA3-F0D0-8779-45D4-ED71ACC62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267" y="2395618"/>
                        <a:ext cx="4912881" cy="32703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BDC92AF-5241-F934-6F06-3CE79C407500}"/>
              </a:ext>
            </a:extLst>
          </p:cNvPr>
          <p:cNvSpPr txBox="1"/>
          <p:nvPr/>
        </p:nvSpPr>
        <p:spPr>
          <a:xfrm>
            <a:off x="545052" y="239561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第一层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E09C4E-1EBC-3C22-AA54-9507E27B1B21}"/>
              </a:ext>
            </a:extLst>
          </p:cNvPr>
          <p:cNvSpPr txBox="1"/>
          <p:nvPr/>
        </p:nvSpPr>
        <p:spPr>
          <a:xfrm>
            <a:off x="3907258" y="193395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第二层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09F7A6D-D204-9044-919B-B9E3D7357757}"/>
                  </a:ext>
                </a:extLst>
              </p:cNvPr>
              <p:cNvSpPr txBox="1"/>
              <p:nvPr/>
            </p:nvSpPr>
            <p:spPr>
              <a:xfrm>
                <a:off x="286458" y="5728376"/>
                <a:ext cx="310133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7DE528-0629-97C8-4486-CA97C54F3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8" y="5728376"/>
                <a:ext cx="3101333" cy="646331"/>
              </a:xfrm>
              <a:prstGeom prst="rect">
                <a:avLst/>
              </a:prstGeom>
              <a:blipFill>
                <a:blip r:embed="rId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3DADFE3-9A9E-89C1-2186-0BA19B021961}"/>
                  </a:ext>
                </a:extLst>
              </p:cNvPr>
              <p:cNvSpPr txBox="1"/>
              <p:nvPr/>
            </p:nvSpPr>
            <p:spPr>
              <a:xfrm>
                <a:off x="5246603" y="1934840"/>
                <a:ext cx="374790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+(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)∙</m:t>
                      </m:r>
                      <m:sSub>
                        <m:sSubPr>
                          <m:ctrlPr>
                            <a:rPr kumimoji="1" lang="zh-CN" altLang="zh-CN" sz="18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 algn="just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1800" b="1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⊕</m:t>
                        </m:r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1800" kern="100">
                    <a:solidFill>
                      <a:srgbClr val="00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⊕</m:t>
                        </m:r>
                        <m:r>
                          <a:rPr lang="en-US" altLang="zh-CN" sz="1800" b="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800" b="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zh-CN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1800" b="1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⊕</m:t>
                        </m:r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1800" b="0" i="1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C1</a:t>
                </a:r>
                <a:r>
                  <a:rPr kumimoji="1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zh-CN" sz="1800" kern="1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3DADFE3-9A9E-89C1-2186-0BA19B021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603" y="1934840"/>
                <a:ext cx="3747901" cy="923330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8F4D9CD-C283-1A06-CAA2-0FBAA57968BF}"/>
                  </a:ext>
                </a:extLst>
              </p:cNvPr>
              <p:cNvSpPr txBox="1"/>
              <p:nvPr/>
            </p:nvSpPr>
            <p:spPr>
              <a:xfrm>
                <a:off x="3327705" y="5657671"/>
                <a:ext cx="5816295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800" b="0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zh-CN" sz="1800" b="1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1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sz="1800" b="1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zh-CN" sz="1800" b="1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1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sz="1800" b="1" i="1" u="none" strike="noStrike" kern="1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zh-CN" altLang="zh-CN" sz="1800" b="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</m:t>
                          </m:r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</m:t>
                      </m:r>
                      <m:sSub>
                        <m:sSubPr>
                          <m:ctrlPr>
                            <a:rPr kumimoji="1" lang="zh-CN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800" b="1" i="1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sz="1800" b="1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zh-CN" sz="18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800" b="0" i="1" u="none" strike="noStrike" kern="1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kumimoji="1" lang="en-US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8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b="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</m:t>
                          </m:r>
                          <m:r>
                            <a:rPr lang="en-US" altLang="zh-CN" sz="1800" b="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1800" kern="100" dirty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+(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zh-CN" altLang="zh-CN" sz="1800" b="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1800" b="1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zh-CN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⊕</m:t>
                        </m:r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en-US" altLang="zh-CN" sz="1800" b="0" i="1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C1</a:t>
                </a:r>
                <a:r>
                  <a:rPr lang="en-US" altLang="zh-CN" sz="1800" kern="100" dirty="0">
                    <a:solidFill>
                      <a:srgbClr val="00000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⊕(</m:t>
                        </m:r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zh-CN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8F4D9CD-C283-1A06-CAA2-0FBAA5796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705" y="5657671"/>
                <a:ext cx="5816295" cy="1200329"/>
              </a:xfrm>
              <a:prstGeom prst="rect">
                <a:avLst/>
              </a:prstGeom>
              <a:blipFill>
                <a:blip r:embed="rId8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>
            <a:extLst>
              <a:ext uri="{FF2B5EF4-FFF2-40B4-BE49-F238E27FC236}">
                <a16:creationId xmlns:a16="http://schemas.microsoft.com/office/drawing/2014/main" id="{32331027-DDD9-5DDA-5C54-A8194C808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965" y="234329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、分层设计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(1/2)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390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11439ED0-AB9E-E86A-1C26-C91499633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965" y="234329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、分层设计</a:t>
            </a: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(2/2)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AF5CBE-E74B-CEA8-21B9-38D3BF1D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77" y="1238559"/>
            <a:ext cx="1323975" cy="15049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8208E18-450F-DCFC-5761-8D310A110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452" y="3039853"/>
            <a:ext cx="1562100" cy="26955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5C8C6D-D8C0-9E63-9E1D-560409ACD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969" y="3538536"/>
            <a:ext cx="5067300" cy="16097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23948C-7211-CE53-3CAD-526AD5E86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296" y="1347787"/>
            <a:ext cx="36004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222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03FA79-1391-466F-8460-C01B34B3DC56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2025/11/28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灯片编号占位符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392A5-2AC8-42F6-A26C-D56452D903AD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</a:t>
            </a:fld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t>/22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6" name="Rectangle 10"/>
          <p:cNvSpPr>
            <a:spLocks noChangeArrowheads="1"/>
          </p:cNvSpPr>
          <p:nvPr/>
        </p:nvSpPr>
        <p:spPr bwMode="auto">
          <a:xfrm>
            <a:off x="254000" y="215900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、芯片级联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1/2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330200" y="1123950"/>
            <a:ext cx="812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2255" indent="-262255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262255" marR="0" lvl="0" indent="-2622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3-8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译码器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74X138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构成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4-16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译码器。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04382" y="2476976"/>
            <a:ext cx="1419855" cy="1809142"/>
            <a:chOff x="7209795" y="1216157"/>
            <a:chExt cx="1419855" cy="180914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8707" y="1216157"/>
              <a:ext cx="1380943" cy="180914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 bwMode="auto">
            <a:xfrm>
              <a:off x="7209795" y="1216157"/>
              <a:ext cx="173497" cy="20408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04379" y="4314245"/>
            <a:ext cx="1419855" cy="1809142"/>
            <a:chOff x="7209795" y="1216157"/>
            <a:chExt cx="1419855" cy="1809142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8707" y="1216157"/>
              <a:ext cx="1380943" cy="1809142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 bwMode="auto">
            <a:xfrm>
              <a:off x="7209795" y="1216157"/>
              <a:ext cx="173497" cy="20408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1338608" y="2413000"/>
            <a:ext cx="1194328" cy="3815877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376986" y="1905097"/>
            <a:ext cx="812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2255" indent="-262255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每一个输出都是一个最小项</a:t>
            </a: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369288" y="1530650"/>
            <a:ext cx="812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2255" indent="-262255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华文新魏" panose="02010800040101010101" pitchFamily="2" charset="-122"/>
                <a:cs typeface="+mn-cs"/>
              </a:rPr>
              <a:t>当全部使能信号有效时输出才可能有效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F80BE27-CEDA-0C40-9BCE-90EE7ACBEC6A}"/>
              </a:ext>
            </a:extLst>
          </p:cNvPr>
          <p:cNvGrpSpPr/>
          <p:nvPr/>
        </p:nvGrpSpPr>
        <p:grpSpPr>
          <a:xfrm>
            <a:off x="3335867" y="2541177"/>
            <a:ext cx="4573468" cy="3721609"/>
            <a:chOff x="3335867" y="2541177"/>
            <a:chExt cx="4573468" cy="372160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00C5A0B-A43A-CA40-AAA3-FA25EA18C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0713" y="2541177"/>
              <a:ext cx="3198622" cy="3721609"/>
            </a:xfrm>
            <a:prstGeom prst="rect">
              <a:avLst/>
            </a:prstGeom>
          </p:spPr>
        </p:pic>
        <p:sp>
          <p:nvSpPr>
            <p:cNvPr id="11" name="箭头: 右 10"/>
            <p:cNvSpPr/>
            <p:nvPr/>
          </p:nvSpPr>
          <p:spPr bwMode="auto">
            <a:xfrm>
              <a:off x="3335867" y="3995040"/>
              <a:ext cx="897467" cy="291078"/>
            </a:xfrm>
            <a:prstGeom prst="rightArrow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椭圆 12"/>
          <p:cNvSpPr/>
          <p:nvPr/>
        </p:nvSpPr>
        <p:spPr bwMode="auto">
          <a:xfrm>
            <a:off x="4800600" y="3454401"/>
            <a:ext cx="254000" cy="778933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椭圆 19"/>
          <p:cNvSpPr/>
          <p:nvPr/>
        </p:nvSpPr>
        <p:spPr bwMode="auto">
          <a:xfrm rot="2438536">
            <a:off x="5562600" y="3429000"/>
            <a:ext cx="313267" cy="711200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5240867" y="4004736"/>
            <a:ext cx="254000" cy="239051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5079995" y="4182537"/>
            <a:ext cx="254000" cy="239051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5410201" y="2582333"/>
            <a:ext cx="254000" cy="239051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5926665" y="5105407"/>
            <a:ext cx="254000" cy="239051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511CCF-1965-F249-B541-9AF13C517B8D}"/>
              </a:ext>
            </a:extLst>
          </p:cNvPr>
          <p:cNvSpPr/>
          <p:nvPr/>
        </p:nvSpPr>
        <p:spPr bwMode="auto">
          <a:xfrm>
            <a:off x="7315200" y="2782655"/>
            <a:ext cx="594135" cy="322709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4379347"/>
      </p:ext>
    </p:extLst>
  </p:cSld>
  <p:clrMapOvr>
    <a:masterClrMapping/>
  </p:clrMapOvr>
  <p:transition spd="med" advTm="18220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/>
      <p:bldP spid="19" grpId="0"/>
      <p:bldP spid="13" grpId="0" animBg="1"/>
      <p:bldP spid="13" grpId="1" animBg="1"/>
      <p:bldP spid="20" grpId="0" animBg="1"/>
      <p:bldP spid="21" grpId="0" animBg="1"/>
      <p:bldP spid="21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6" grpId="0" animBg="1"/>
    </p:bldLst>
  </p:timing>
  <p:extLst>
    <p:ext uri="{E180D4A7-C9FB-4DFB-919C-405C955672EB}">
      <p14:showEvtLst xmlns:p14="http://schemas.microsoft.com/office/powerpoint/2010/main">
        <p14:playEvt time="4" objId="8"/>
        <p14:stopEvt time="181235" objId="8"/>
      </p14:showEvt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B79F8-656A-4D94-AAA9-767985A5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994386"/>
            <a:ext cx="8696547" cy="994172"/>
          </a:xfrm>
        </p:spPr>
        <p:txBody>
          <a:bodyPr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2000" b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假设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经过火车站的列车有：城际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、动车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、高铁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、直达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、特快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、普快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，发车的优先顺序为：高铁、动车、城际、直达、特快、普快。同一时间每一类列车中最多只能有一列进站，站内列车只能有一列发出。请采用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块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4-2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优先编码器和逻辑门设计发车信号控制电路，发车信号分别为：高铁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111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，动车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110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，城际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101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，直达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011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、特快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010</a:t>
            </a:r>
            <a:r>
              <a:rPr lang="zh-CN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、普快</a:t>
            </a:r>
            <a:r>
              <a:rPr lang="en-US" altLang="zh-CN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001</a:t>
            </a:r>
            <a:r>
              <a:rPr lang="zh-CN" altLang="en-US" sz="20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48C35D-FA4E-43AD-BCE9-B54DD6D8E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0081"/>
            <a:ext cx="5380108" cy="26201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D95CDA8-A91C-4EF1-9AB4-09517787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011" y="3429000"/>
            <a:ext cx="3511710" cy="2434614"/>
          </a:xfrm>
          <a:prstGeom prst="rect">
            <a:avLst/>
          </a:prstGeom>
        </p:spPr>
      </p:pic>
      <p:sp>
        <p:nvSpPr>
          <p:cNvPr id="3" name="Rectangle 10">
            <a:extLst>
              <a:ext uri="{FF2B5EF4-FFF2-40B4-BE49-F238E27FC236}">
                <a16:creationId xmlns:a16="http://schemas.microsoft.com/office/drawing/2014/main" id="{CD804A30-3F9C-BA57-F23B-749ED0F86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15900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、芯片级联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</a:t>
            </a:r>
            <a:r>
              <a:rPr lang="en-US" altLang="zh-CN" sz="400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/2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593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6.3|6.7|15.9|7.6|11.2|24.3|22.7|11.7|23.3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9970</TotalTime>
  <Words>1145</Words>
  <Application>Microsoft Office PowerPoint</Application>
  <PresentationFormat>全屏显示(4:3)</PresentationFormat>
  <Paragraphs>236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等线</vt:lpstr>
      <vt:lpstr>华文楷体</vt:lpstr>
      <vt:lpstr>华文新魏</vt:lpstr>
      <vt:lpstr>Arial</vt:lpstr>
      <vt:lpstr>Calibri</vt:lpstr>
      <vt:lpstr>Cambria Math</vt:lpstr>
      <vt:lpstr>Times New Roman</vt:lpstr>
      <vt:lpstr>Wingdings</vt:lpstr>
      <vt:lpstr>默认设计模板</vt:lpstr>
      <vt:lpstr>1_默认设计模板</vt:lpstr>
      <vt:lpstr>BMP 图象</vt:lpstr>
      <vt:lpstr>Bitmap Image</vt:lpstr>
      <vt:lpstr>Visio.Drawing.11</vt:lpstr>
      <vt:lpstr>第三次 小班讨论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假设经过火车站的列车有：城际C、动车D、高铁G、直达Z、特快T、普快K，发车的优先顺序为：高铁、动车、城际、直达、特快、普快。同一时间每一类列车中最多只能有一列进站，站内列车只能有一列发出。请采用2块4-2优先编码器和逻辑门设计发车信号控制电路，发车信号分别为：高铁111，动车110，城际101，直达011、特快010、普快001。</vt:lpstr>
    </vt:vector>
  </TitlesOfParts>
  <Company>湖南大学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引言1</dc:title>
  <dc:subject>教案</dc:subject>
  <dc:creator>邝继顺</dc:creator>
  <cp:lastModifiedBy>c c</cp:lastModifiedBy>
  <cp:revision>931</cp:revision>
  <cp:lastPrinted>1999-02-28T23:50:56Z</cp:lastPrinted>
  <dcterms:created xsi:type="dcterms:W3CDTF">1999-09-13T01:56:29Z</dcterms:created>
  <dcterms:modified xsi:type="dcterms:W3CDTF">2025-11-28T07:45:48Z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jshkuang@sina.com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D:\course\数字逻辑</vt:lpwstr>
  </property>
</Properties>
</file>