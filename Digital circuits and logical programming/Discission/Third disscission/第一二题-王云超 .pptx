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26" r:id="rId3"/>
    <p:sldId id="422" r:id="rId4"/>
    <p:sldId id="428" r:id="rId5"/>
    <p:sldId id="429" r:id="rId6"/>
    <p:sldId id="424" r:id="rId7"/>
    <p:sldId id="425" r:id="rId8"/>
    <p:sldId id="42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D3FF"/>
    <a:srgbClr val="CFEAF1"/>
    <a:srgbClr val="59BBD8"/>
    <a:srgbClr val="7AC3D7"/>
    <a:srgbClr val="00A7FF"/>
    <a:srgbClr val="EDB519"/>
    <a:srgbClr val="82BED0"/>
    <a:srgbClr val="FFD800"/>
    <a:srgbClr val="F3D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62" y="350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9835-4086-4070-A39D-A86AECB33F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75D47-66F3-4157-852A-5EA0D72A89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 313" hidden="1"/>
          <p:cNvSpPr/>
          <p:nvPr userDrawn="1"/>
        </p:nvSpPr>
        <p:spPr>
          <a:xfrm>
            <a:off x="123461" y="346497"/>
            <a:ext cx="11953078" cy="6396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0" y="-2"/>
            <a:ext cx="12192000" cy="6858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47983" y="332504"/>
            <a:ext cx="11522678" cy="6176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一题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920" y="1378585"/>
            <a:ext cx="7706995" cy="2212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67435" y="769620"/>
            <a:ext cx="714819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一个组合逻辑电路如图所示，设图中各门电路的延迟时间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td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均相等。</a:t>
            </a:r>
            <a:endParaRPr lang="zh-CN" altLang="en-US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1853565" y="4057015"/>
            <a:ext cx="5080000" cy="1024890"/>
          </a:xfrm>
          <a:prstGeom prst="rect">
            <a:avLst/>
          </a:prstGeom>
        </p:spPr>
        <p:txBody>
          <a:bodyPr>
            <a:spAutoFit/>
          </a:bodyPr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上层与非门输入：</a:t>
            </a:r>
            <a:r>
              <a:rPr lang="en-US" altLang="zh-CN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(ABC’)’</a:t>
            </a:r>
            <a:endParaRPr lang="en-US" altLang="zh-CN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下层与非门输入：</a:t>
            </a:r>
            <a:r>
              <a:rPr lang="en-US" altLang="zh-CN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(CD)’</a:t>
            </a:r>
            <a:endParaRPr lang="en-US" altLang="zh-CN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输出</a:t>
            </a:r>
            <a:r>
              <a:rPr lang="en-US" altLang="zh-CN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F=((ABC’)’(CD)’)’=ABC’+CD</a:t>
            </a:r>
            <a:endParaRPr lang="en-US" altLang="zh-CN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一题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8805" y="678815"/>
            <a:ext cx="1032319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）当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A=B=D=1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，分别画出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由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跳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和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由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跳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时，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F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端的波形，试问电路在什么时候出现冒险？</a:t>
            </a:r>
            <a:endParaRPr lang="zh-CN" altLang="en-US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13130" y="1196975"/>
            <a:ext cx="5080000" cy="4584700"/>
          </a:xfrm>
          <a:prstGeom prst="rect">
            <a:avLst/>
          </a:prstGeom>
        </p:spPr>
        <p:txBody>
          <a:bodyPr>
            <a:spAutoFit/>
          </a:bodyPr>
          <a:p>
            <a:pPr marL="0" indent="0" fontAlgn="auto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</a:t>
            </a:r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理想逻辑：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spcBef>
                <a:spcPct val="0"/>
              </a:spcBef>
              <a:spcAft>
                <a:spcPts val="1200"/>
              </a:spcAft>
            </a:pP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设 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A=B=D=1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，代入得到：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F=1⋅1⋅C’+C⋅1=C’+C=1</a:t>
            </a:r>
            <a:endParaRPr lang="en-US" altLang="zh-CN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spcBef>
                <a:spcPct val="0"/>
              </a:spcBef>
              <a:spcAft>
                <a:spcPts val="1200"/>
              </a:spcAft>
            </a:pP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从逻辑函数角度，不管 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 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是 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 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还是 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F 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都应一直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，理论上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 C 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变化时 </a:t>
            </a:r>
            <a:r>
              <a:rPr lang="en-US" altLang="zh-CN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F 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不应该变化。</a:t>
            </a:r>
            <a:endParaRPr lang="en-US" altLang="zh-CN" sz="1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fontAlgn="auto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</a:t>
            </a:r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物理路径：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路径</a:t>
            </a:r>
            <a:r>
              <a:rPr lang="en-US" altLang="zh-CN" sz="1600" b="1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（通过项</a:t>
            </a:r>
            <a:r>
              <a:rPr lang="en-US" altLang="zh-CN" sz="1600" b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ABC’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）：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fontAlgn="auto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C⇒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反相器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⇒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上方 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NAND 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⇒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中间 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NAND ⇒F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fontAlgn="auto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经过门数：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个门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⇒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传播延时约为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3td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路径</a:t>
            </a:r>
            <a:r>
              <a:rPr lang="en-US" altLang="zh-CN" sz="1600" b="1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1600" b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（通过项</a:t>
            </a:r>
            <a:r>
              <a:rPr lang="en-US" altLang="zh-CN" sz="1600" b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CD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）：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C⇒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下方 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NAND 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⇒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中间 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NAND ⇒F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经过门数：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个门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⇒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传播延时约为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2td</a:t>
            </a:r>
            <a:endParaRPr lang="en-US" altLang="zh-CN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510" y="3332480"/>
            <a:ext cx="5280025" cy="1515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一题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7370" y="60229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lang="en-US" altLang="zh-CN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</a:t>
            </a:r>
            <a:r>
              <a:rPr lang="zh-CN" altLang="en-US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＝</a:t>
            </a:r>
            <a:r>
              <a:rPr lang="en-US" altLang="zh-CN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0→1 </a:t>
            </a:r>
            <a:r>
              <a:rPr lang="zh-CN" altLang="en-US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时的波形</a:t>
            </a:r>
            <a:endParaRPr lang="zh-CN" altLang="en-US" b="1" i="0">
              <a:solidFill>
                <a:srgbClr val="15161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723390" y="1348105"/>
          <a:ext cx="6718300" cy="2088515"/>
        </p:xfrm>
        <a:graphic>
          <a:graphicData uri="http://schemas.openxmlformats.org/drawingml/2006/table">
            <a:tbl>
              <a:tblPr/>
              <a:tblGrid>
                <a:gridCol w="1343660"/>
                <a:gridCol w="765175"/>
                <a:gridCol w="2185035"/>
                <a:gridCol w="1819275"/>
                <a:gridCol w="605155"/>
              </a:tblGrid>
              <a:tr h="426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151617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时刻</a:t>
                      </a:r>
                      <a:endParaRPr lang="zh-CN" altLang="en-US" sz="1400" b="1" i="0">
                        <a:solidFill>
                          <a:srgbClr val="151617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</a:rPr>
                        <a:t>C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通过路径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的项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ABC’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通过路径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的项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CD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</a:rPr>
                        <a:t>F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变化前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65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 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变为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立刻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仍按旧值算：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仍按旧值算：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经过 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2td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左右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仍为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（路径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更慢）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变成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0515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再过 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td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（总约 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3td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变成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已是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>
          <a:xfrm flipV="1">
            <a:off x="2310130" y="3781425"/>
            <a:ext cx="0" cy="1689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2310130" y="5470525"/>
            <a:ext cx="21507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316480" y="4519930"/>
            <a:ext cx="1945640" cy="13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2637155" y="5406390"/>
            <a:ext cx="69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765425" y="538035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3220720" y="538035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3676015" y="538035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547620" y="553466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1td</a:t>
            </a:r>
            <a:endParaRPr lang="en-US" altLang="zh-CN" sz="800"/>
          </a:p>
        </p:txBody>
      </p:sp>
      <p:sp>
        <p:nvSpPr>
          <p:cNvPr id="14" name="文本框 13"/>
          <p:cNvSpPr txBox="1"/>
          <p:nvPr/>
        </p:nvSpPr>
        <p:spPr>
          <a:xfrm>
            <a:off x="3041015" y="553466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2</a:t>
            </a:r>
            <a:r>
              <a:rPr lang="en-US" altLang="zh-CN" sz="800"/>
              <a:t>td</a:t>
            </a:r>
            <a:endParaRPr lang="en-US" altLang="zh-CN" sz="800"/>
          </a:p>
        </p:txBody>
      </p:sp>
      <p:sp>
        <p:nvSpPr>
          <p:cNvPr id="15" name="文本框 14"/>
          <p:cNvSpPr txBox="1"/>
          <p:nvPr/>
        </p:nvSpPr>
        <p:spPr>
          <a:xfrm>
            <a:off x="3496310" y="553466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3td</a:t>
            </a:r>
            <a:endParaRPr lang="en-US" altLang="zh-CN" sz="800"/>
          </a:p>
        </p:txBody>
      </p:sp>
      <p:sp>
        <p:nvSpPr>
          <p:cNvPr id="16" name="文本框 15"/>
          <p:cNvSpPr txBox="1"/>
          <p:nvPr/>
        </p:nvSpPr>
        <p:spPr>
          <a:xfrm>
            <a:off x="1995805" y="4385310"/>
            <a:ext cx="3213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</a:t>
            </a:r>
            <a:endParaRPr lang="en-US" altLang="zh-CN" sz="1000"/>
          </a:p>
        </p:txBody>
      </p:sp>
      <p:sp>
        <p:nvSpPr>
          <p:cNvPr id="17" name="文本框 16"/>
          <p:cNvSpPr txBox="1"/>
          <p:nvPr/>
        </p:nvSpPr>
        <p:spPr>
          <a:xfrm>
            <a:off x="5627370" y="446500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结论：整个过程中，两项从未同时为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，因此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一直保持为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/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由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0→1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不会出现冒险。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一题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7370" y="60229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lang="en-US" altLang="zh-CN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</a:t>
            </a:r>
            <a:r>
              <a:rPr lang="zh-CN" altLang="en-US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＝</a:t>
            </a:r>
            <a:r>
              <a:rPr lang="en-US" altLang="zh-CN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0→1 </a:t>
            </a:r>
            <a:r>
              <a:rPr lang="zh-CN" altLang="en-US" b="1" i="0">
                <a:solidFill>
                  <a:srgbClr val="15161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时的波形</a:t>
            </a:r>
            <a:endParaRPr lang="zh-CN" altLang="en-US" b="1" i="0">
              <a:solidFill>
                <a:srgbClr val="15161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723390" y="1348105"/>
          <a:ext cx="6718300" cy="2088515"/>
        </p:xfrm>
        <a:graphic>
          <a:graphicData uri="http://schemas.openxmlformats.org/drawingml/2006/table">
            <a:tbl>
              <a:tblPr/>
              <a:tblGrid>
                <a:gridCol w="1343660"/>
                <a:gridCol w="765175"/>
                <a:gridCol w="2185035"/>
                <a:gridCol w="1819275"/>
                <a:gridCol w="605155"/>
              </a:tblGrid>
              <a:tr h="426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151617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时刻</a:t>
                      </a:r>
                      <a:endParaRPr lang="zh-CN" altLang="en-US" sz="1400" b="1" i="0">
                        <a:solidFill>
                          <a:srgbClr val="151617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</a:rPr>
                        <a:t>C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通过路径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的项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ABC’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通过路径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r>
                        <a:rPr lang="zh-CN" altLang="en-US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的项</a:t>
                      </a: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CD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latin typeface="楷体" panose="02010609060101010101" charset="-122"/>
                          <a:ea typeface="楷体" panose="02010609060101010101" charset="-122"/>
                        </a:rPr>
                        <a:t>F</a:t>
                      </a:r>
                      <a:endParaRPr lang="en-US" altLang="zh-CN" sz="14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</a:rPr>
                        <a:t>变化前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65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C=0 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刚变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仍按旧值：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仍按旧值：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经过约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2td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（快路径更新）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仍旧为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变为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（两项都为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0515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再过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td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（慢路径更新，总约 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3td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变为</a:t>
                      </a: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0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8580" marR="6858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6" name="直接箭头连接符 25"/>
          <p:cNvCxnSpPr/>
          <p:nvPr/>
        </p:nvCxnSpPr>
        <p:spPr>
          <a:xfrm flipV="1">
            <a:off x="2303780" y="4260215"/>
            <a:ext cx="0" cy="1689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2303780" y="5949315"/>
            <a:ext cx="21507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630805" y="5885180"/>
            <a:ext cx="69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2759075" y="585914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3214370" y="585914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3669665" y="5859145"/>
            <a:ext cx="0" cy="90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541270" y="601345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1td</a:t>
            </a:r>
            <a:endParaRPr lang="en-US" altLang="zh-CN" sz="800"/>
          </a:p>
        </p:txBody>
      </p:sp>
      <p:sp>
        <p:nvSpPr>
          <p:cNvPr id="34" name="文本框 33"/>
          <p:cNvSpPr txBox="1"/>
          <p:nvPr/>
        </p:nvSpPr>
        <p:spPr>
          <a:xfrm>
            <a:off x="3034665" y="601345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2</a:t>
            </a:r>
            <a:r>
              <a:rPr lang="en-US" altLang="zh-CN" sz="800"/>
              <a:t>td</a:t>
            </a:r>
            <a:endParaRPr lang="en-US" altLang="zh-CN" sz="800"/>
          </a:p>
        </p:txBody>
      </p:sp>
      <p:sp>
        <p:nvSpPr>
          <p:cNvPr id="35" name="文本框 34"/>
          <p:cNvSpPr txBox="1"/>
          <p:nvPr/>
        </p:nvSpPr>
        <p:spPr>
          <a:xfrm>
            <a:off x="3489960" y="6013450"/>
            <a:ext cx="358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3td</a:t>
            </a:r>
            <a:endParaRPr lang="en-US" altLang="zh-CN" sz="800"/>
          </a:p>
        </p:txBody>
      </p:sp>
      <p:sp>
        <p:nvSpPr>
          <p:cNvPr id="36" name="文本框 35"/>
          <p:cNvSpPr txBox="1"/>
          <p:nvPr/>
        </p:nvSpPr>
        <p:spPr>
          <a:xfrm>
            <a:off x="1989455" y="4864100"/>
            <a:ext cx="3213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</a:t>
            </a:r>
            <a:endParaRPr lang="en-US" altLang="zh-CN" sz="1000"/>
          </a:p>
        </p:txBody>
      </p:sp>
      <p:cxnSp>
        <p:nvCxnSpPr>
          <p:cNvPr id="37" name="直接连接符 36"/>
          <p:cNvCxnSpPr>
            <a:stCxn id="36" idx="3"/>
          </p:cNvCxnSpPr>
          <p:nvPr/>
        </p:nvCxnSpPr>
        <p:spPr>
          <a:xfrm flipV="1">
            <a:off x="2310765" y="4975860"/>
            <a:ext cx="885190" cy="10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195955" y="4963160"/>
            <a:ext cx="19050" cy="976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658235" y="4975860"/>
            <a:ext cx="12700" cy="9442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3651885" y="4969510"/>
            <a:ext cx="892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5931535" y="4864100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结论：在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跳变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2td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后的一个时间窗内（宽度约为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td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）：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ABC’=0,CD=0⇒F=0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而按照逻辑函数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应一直是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，所以这个从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短暂跌到 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的窄脉冲就是“冒险”。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一题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8375" y="798195"/>
            <a:ext cx="90671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）如果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保持不变，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B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中任意一个发生变化，电路会出现冒险吗？为什么？</a:t>
            </a:r>
            <a:endParaRPr lang="zh-CN" altLang="en-US" sz="1600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5210" y="1404620"/>
            <a:ext cx="9195435" cy="6350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若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C=1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F=A⋅B⋅0+1⋅D=D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。此时电路等效为一条导线连接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，路径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单一，不会引起竞争。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若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C=0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F=A⋅B⋅1+0⋅D=AB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变化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时，不涉及互补信号，同时作用，路径单一。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6805" y="2240280"/>
            <a:ext cx="867791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核心原因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：冒险往往发生在互补信号（如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C’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）状态切换的瞬间。如果保持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不变，逻辑表达式中不存在变量与其反变量的竞争，因此不会出现冒险。</a:t>
            </a:r>
            <a:endParaRPr lang="zh-CN" altLang="en-US" sz="1600" b="0" i="0">
              <a:solidFill>
                <a:srgbClr val="15161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06805" y="30241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）如何添加冗余项消除冒险现象？</a:t>
            </a:r>
            <a:endParaRPr lang="zh-CN" altLang="en-US" sz="1600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106805" y="3723640"/>
          <a:ext cx="3136900" cy="1909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380"/>
                <a:gridCol w="627380"/>
                <a:gridCol w="627380"/>
                <a:gridCol w="627380"/>
                <a:gridCol w="627380"/>
              </a:tblGrid>
              <a:tr h="3854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000"/>
                    </a:p>
                  </a:txBody>
                  <a:tcPr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59535" y="3729990"/>
            <a:ext cx="429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AB</a:t>
            </a:r>
            <a:endParaRPr lang="en-US" altLang="zh-CN" sz="1200" b="1"/>
          </a:p>
        </p:txBody>
      </p:sp>
      <p:sp>
        <p:nvSpPr>
          <p:cNvPr id="11" name="文本框 10"/>
          <p:cNvSpPr txBox="1"/>
          <p:nvPr/>
        </p:nvSpPr>
        <p:spPr>
          <a:xfrm>
            <a:off x="1154430" y="3903980"/>
            <a:ext cx="3981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CD</a:t>
            </a:r>
            <a:endParaRPr lang="en-US" altLang="zh-CN" sz="1000" b="1"/>
          </a:p>
        </p:txBody>
      </p:sp>
      <p:sp>
        <p:nvSpPr>
          <p:cNvPr id="12" name="圆角矩形 11"/>
          <p:cNvSpPr/>
          <p:nvPr/>
        </p:nvSpPr>
        <p:spPr>
          <a:xfrm>
            <a:off x="3163570" y="4154170"/>
            <a:ext cx="321310" cy="67437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821815" y="4918075"/>
            <a:ext cx="2324735" cy="26987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063875" y="4535170"/>
            <a:ext cx="520065" cy="62928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219065" y="30241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）为什么添加冗余项可以消除冒险？</a:t>
            </a:r>
            <a:endParaRPr lang="zh-CN" altLang="en-US" sz="1600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43855" y="3562350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当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A=B=D=1 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时，冗余项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ABD=1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。无论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 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如何变化，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ABD 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这一项始终“撑住”输出为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，填补了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 C’ 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切换时的时间差漏洞。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cxnSp>
        <p:nvCxnSpPr>
          <p:cNvPr id="20" name="直接箭头连接符 19"/>
          <p:cNvCxnSpPr>
            <a:stCxn id="14" idx="2"/>
          </p:cNvCxnSpPr>
          <p:nvPr/>
        </p:nvCxnSpPr>
        <p:spPr>
          <a:xfrm>
            <a:off x="3324225" y="5164455"/>
            <a:ext cx="848360" cy="8007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4172585" y="5857240"/>
            <a:ext cx="924560" cy="4241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236720" y="5874385"/>
            <a:ext cx="860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增加冗余</a:t>
            </a:r>
            <a:r>
              <a:rPr lang="zh-CN" altLang="en-US" sz="1000"/>
              <a:t>项消除相切</a:t>
            </a:r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二题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2930" y="695325"/>
            <a:ext cx="990155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、运用迭代法设计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位无符号数的求补电路。要求：最右端的进位值分别为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两种方式实现。</a:t>
            </a:r>
            <a:endParaRPr lang="zh-CN" altLang="en-US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7235" y="1270635"/>
            <a:ext cx="246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方案一：进位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</a:rPr>
              <a:t>C</a:t>
            </a:r>
            <a:r>
              <a:rPr lang="en-US" altLang="zh-CN" baseline="-25000">
                <a:latin typeface="楷体" panose="02010609060101010101" charset="-122"/>
                <a:ea typeface="楷体" panose="02010609060101010101" charset="-122"/>
              </a:rPr>
              <a:t>0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</a:rPr>
              <a:t>=1</a:t>
            </a:r>
            <a:endParaRPr lang="en-US" altLang="zh-CN"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37235" y="1845945"/>
            <a:ext cx="5080000" cy="3751580"/>
            <a:chOff x="1161" y="2907"/>
            <a:chExt cx="8000" cy="5908"/>
          </a:xfrm>
        </p:grpSpPr>
        <p:sp>
          <p:nvSpPr>
            <p:cNvPr id="5" name="文本框 4"/>
            <p:cNvSpPr txBox="1"/>
            <p:nvPr/>
          </p:nvSpPr>
          <p:spPr>
            <a:xfrm>
              <a:off x="1161" y="2907"/>
              <a:ext cx="8000" cy="5908"/>
            </a:xfrm>
            <a:prstGeom prst="rect">
              <a:avLst/>
            </a:prstGeom>
          </p:spPr>
          <p:txBody>
            <a:bodyPr>
              <a:noAutofit/>
            </a:bodyPr>
            <a:p>
              <a:pPr marL="285750" indent="-2857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思路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：利用全加器的思想。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Wingdings" panose="05000000000000000000" charset="0"/>
                <a:buChar char="Ø"/>
              </a:pP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求补 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= 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反码 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+ 1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Wingdings" panose="05000000000000000000" charset="0"/>
                <a:buChar char="Ø"/>
              </a:pP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我们将输入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 Bit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全部取反得到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 Bit’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Wingdings" panose="05000000000000000000" charset="0"/>
                <a:buChar char="Ø"/>
              </a:pP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通过最右端的进位输入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 Cin=1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来实现“加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1”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的操作。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indent="-2857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单元设计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：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Wingdings" panose="05000000000000000000" charset="0"/>
                <a:buChar char="Ø"/>
              </a:pP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输入：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Bit(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第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i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位数据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), Cin(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来自低位的进位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)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Wingdings" panose="05000000000000000000" charset="0"/>
                <a:buChar char="Ø"/>
              </a:pP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输出：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S(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第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i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位结果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), Cout​ (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向高位的进位</a:t>
              </a:r>
              <a:r>
                <a:rPr lang="en-US" altLang="zh-CN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)</a:t>
              </a:r>
              <a:endPara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285750" lvl="1" indent="-285750"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公式</a:t>
              </a:r>
              <a:r>
                <a:rPr lang="zh-CN" altLang="en-US" sz="1600" b="0" i="0">
                  <a:solidFill>
                    <a:srgbClr val="34363D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：</a:t>
              </a: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0" lvl="2" indent="0">
                <a:spcBef>
                  <a:spcPts val="200"/>
                </a:spcBef>
                <a:spcAft>
                  <a:spcPts val="200"/>
                </a:spcAft>
                <a:buFont typeface="Arial" panose="020B0604020202020204"/>
                <a:buNone/>
              </a:pPr>
              <a:endPara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75" y="6793"/>
              <a:ext cx="3346" cy="1370"/>
            </a:xfrm>
            <a:prstGeom prst="rect">
              <a:avLst/>
            </a:prstGeom>
          </p:spPr>
        </p:pic>
      </p:grp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7101840" y="1638935"/>
          <a:ext cx="3723640" cy="1320800"/>
        </p:xfrm>
        <a:graphic>
          <a:graphicData uri="http://schemas.openxmlformats.org/drawingml/2006/table">
            <a:tbl>
              <a:tblPr/>
              <a:tblGrid>
                <a:gridCol w="930910"/>
                <a:gridCol w="930910"/>
                <a:gridCol w="930910"/>
                <a:gridCol w="930910"/>
              </a:tblGrid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Bit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Cin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Cout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575" y="4004945"/>
            <a:ext cx="3684905" cy="13633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05800" y="1229995"/>
            <a:ext cx="1272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</a:rPr>
              <a:t>单元真值表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15020" y="3535045"/>
            <a:ext cx="1053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</a:rPr>
              <a:t>迭代电路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 smtClean="0">
                <a:solidFill>
                  <a:schemeClr val="bg1"/>
                </a:solidFill>
              </a:rPr>
              <a:t>第</a:t>
            </a:r>
            <a:r>
              <a:rPr lang="zh-CN" altLang="en-US" sz="2600" b="1" dirty="0" smtClean="0">
                <a:solidFill>
                  <a:schemeClr val="bg1"/>
                </a:solidFill>
              </a:rPr>
              <a:t>二题</a:t>
            </a:r>
            <a:endParaRPr lang="zh-CN" altLang="en-US" sz="2600" b="1" dirty="0" smtClean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2930" y="695325"/>
            <a:ext cx="990155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、运用迭代法设计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位无符号数的求补电路。要求：最右端的进位值分别为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、为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两种方式实现。</a:t>
            </a:r>
            <a:endParaRPr lang="zh-CN" altLang="en-US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7235" y="1270635"/>
            <a:ext cx="246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方案二：进位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</a:rPr>
              <a:t>C</a:t>
            </a:r>
            <a:r>
              <a:rPr lang="en-US" altLang="zh-CN" baseline="-25000">
                <a:latin typeface="楷体" panose="02010609060101010101" charset="-122"/>
                <a:ea typeface="楷体" panose="02010609060101010101" charset="-122"/>
              </a:rPr>
              <a:t>0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</a:rPr>
              <a:t>=0</a:t>
            </a:r>
            <a:endParaRPr lang="en-US" altLang="zh-CN"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7101840" y="1638935"/>
          <a:ext cx="3723640" cy="1320800"/>
        </p:xfrm>
        <a:graphic>
          <a:graphicData uri="http://schemas.openxmlformats.org/drawingml/2006/table">
            <a:tbl>
              <a:tblPr/>
              <a:tblGrid>
                <a:gridCol w="930910"/>
                <a:gridCol w="930910"/>
                <a:gridCol w="930910"/>
                <a:gridCol w="930910"/>
              </a:tblGrid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Bit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Cin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Calibri" panose="020F0502020204030204"/>
                          <a:ea typeface="宋体" panose="02010600030101010101" pitchFamily="2" charset="-122"/>
                        </a:rPr>
                        <a:t>Cout</a:t>
                      </a:r>
                      <a:endParaRPr lang="en-US" altLang="zh-CN" sz="1100" b="1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205" y="3937635"/>
            <a:ext cx="3724275" cy="12141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94385" y="1775778"/>
            <a:ext cx="5080000" cy="4399915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思路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：这是一种不同的算法逻辑。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观察求补规律：从低位向高位看，“遇到第一个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之前（含第一个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），各位保持不变；之后的各位全部取反”。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例如：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X=10100 -&gt; X</a:t>
            </a:r>
            <a:r>
              <a:rPr lang="zh-CN" altLang="en-US" sz="1600" b="0" i="0" baseline="-250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补码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=01100</a:t>
            </a:r>
            <a:endParaRPr lang="en-US" altLang="zh-CN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低两位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00 -&gt;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保持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00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2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第三位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1 -&gt;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保持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 (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这是第一个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1)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2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高两位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10 -&gt; 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取反为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单元设计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：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状态定义：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Cin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表示“是否已经遇到过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1”</a:t>
            </a:r>
            <a:endParaRPr lang="en-US" altLang="zh-CN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Cin=0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：还没遇到过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（保持原值）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2" indent="-285750"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Char char="Ø"/>
            </a:pP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Cin=1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：已经遇到过</a:t>
            </a:r>
            <a:r>
              <a:rPr lang="en-US" altLang="zh-CN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0" i="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（开始取反）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公式</a:t>
            </a:r>
            <a:r>
              <a:rPr lang="zh-CN" altLang="en-US" sz="1600">
                <a:solidFill>
                  <a:srgbClr val="34363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2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None/>
            </a:pPr>
            <a:endParaRPr lang="zh-CN" altLang="en-US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2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endParaRPr lang="en-US" altLang="zh-CN" sz="1600" b="0" i="0">
              <a:solidFill>
                <a:srgbClr val="34363D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27390" y="1229995"/>
            <a:ext cx="1380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</a:rPr>
              <a:t>单元真值表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19160" y="3325495"/>
            <a:ext cx="1406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</a:rPr>
              <a:t>迭代电路</a:t>
            </a:r>
            <a:endParaRPr lang="zh-CN" altLang="en-US" sz="1600" b="1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35" y="5514340"/>
            <a:ext cx="17907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698*233"/>
  <p:tag name="TABLE_ENDDRAG_RECT" val="103*87*698*233"/>
</p:tagLst>
</file>

<file path=ppt/tags/tag2.xml><?xml version="1.0" encoding="utf-8"?>
<p:tagLst xmlns:p="http://schemas.openxmlformats.org/presentationml/2006/main">
  <p:tag name="TABLE_ENDDRAG_ORIGIN_RECT" val="246*150"/>
  <p:tag name="TABLE_ENDDRAG_RECT" val="87*293*246*150"/>
</p:tagLst>
</file>

<file path=ppt/tags/tag3.xml><?xml version="1.0" encoding="utf-8"?>
<p:tagLst xmlns:p="http://schemas.openxmlformats.org/presentationml/2006/main">
  <p:tag name="TABLE_ENDDRAG_ORIGIN_RECT" val="293*104"/>
  <p:tag name="TABLE_ENDDRAG_RECT" val="513*129*293*104"/>
</p:tagLst>
</file>

<file path=ppt/tags/tag4.xml><?xml version="1.0" encoding="utf-8"?>
<p:tagLst xmlns:p="http://schemas.openxmlformats.org/presentationml/2006/main">
  <p:tag name="TABLE_ENDDRAG_ORIGIN_RECT" val="293*104"/>
  <p:tag name="TABLE_ENDDRAG_RECT" val="513*129*293*10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WPS 演示</Application>
  <PresentationFormat>宽屏</PresentationFormat>
  <Paragraphs>345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楷体</vt:lpstr>
      <vt:lpstr>Times New Roman</vt:lpstr>
      <vt:lpstr>sans-serif</vt:lpstr>
      <vt:lpstr>Segoe Print</vt:lpstr>
      <vt:lpstr>Calibri</vt:lpstr>
      <vt:lpstr>Arial</vt:lpstr>
      <vt:lpstr>Wingdings</vt:lpstr>
      <vt:lpstr>微软雅黑</vt:lpstr>
      <vt:lpstr>Arial Unicode MS</vt:lpstr>
      <vt:lpstr>等线</vt:lpstr>
      <vt:lpstr>Bahnschrift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顾念</cp:lastModifiedBy>
  <cp:revision>182</cp:revision>
  <dcterms:created xsi:type="dcterms:W3CDTF">2019-12-03T12:23:00Z</dcterms:created>
  <dcterms:modified xsi:type="dcterms:W3CDTF">2025-11-25T10:31:37Z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v1.0_mb_PPdExxDdiY3pq9FrkmN42A==</vt:lpwstr>
  </property>
  <property fmtid="{D5CDD505-2E9C-101B-9397-08002B2CF9AE}" pid="4" name="ICV">
    <vt:lpwstr>08754E59F53C408CB1CA95BAC12F8B32_12</vt:lpwstr>
  </property>
</Properties>
</file>