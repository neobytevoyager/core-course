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422" r:id="rId3"/>
    <p:sldId id="280" r:id="rId4"/>
    <p:sldId id="393" r:id="rId5"/>
    <p:sldId id="42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D3FF"/>
    <a:srgbClr val="CFEAF1"/>
    <a:srgbClr val="59BBD8"/>
    <a:srgbClr val="7AC3D7"/>
    <a:srgbClr val="00A7FF"/>
    <a:srgbClr val="EDB519"/>
    <a:srgbClr val="82BED0"/>
    <a:srgbClr val="FFD800"/>
    <a:srgbClr val="F3D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62" y="350"/>
      </p:cViewPr>
      <p:guideLst>
        <p:guide orient="horz" pos="2130"/>
        <p:guide pos="38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06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C9835-4086-4070-A39D-A86AECB33F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75D47-66F3-4157-852A-5EA0D72A89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矩形 313" hidden="1"/>
          <p:cNvSpPr/>
          <p:nvPr userDrawn="1"/>
        </p:nvSpPr>
        <p:spPr>
          <a:xfrm>
            <a:off x="123461" y="346497"/>
            <a:ext cx="11953078" cy="6396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0" y="-2"/>
            <a:ext cx="12192000" cy="6858001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47983" y="332504"/>
            <a:ext cx="11522678" cy="6176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五题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0395" y="692150"/>
            <a:ext cx="4711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）采用</a:t>
            </a:r>
            <a:endParaRPr lang="zh-CN" altLang="en-US"/>
          </a:p>
          <a:p>
            <a:r>
              <a:rPr lang="en-US" altLang="zh-CN"/>
              <a:t>Virtual 3-Terminal Opamp</a:t>
            </a:r>
            <a:r>
              <a:rPr lang="zh-CN" altLang="en-US"/>
              <a:t>直接对</a:t>
            </a:r>
            <a:r>
              <a:rPr lang="en-US" altLang="zh-CN"/>
              <a:t>VAB</a:t>
            </a:r>
            <a:r>
              <a:rPr lang="zh-CN" altLang="en-US"/>
              <a:t>放大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85" y="1743710"/>
            <a:ext cx="4114800" cy="3990975"/>
          </a:xfrm>
          <a:prstGeom prst="rect">
            <a:avLst/>
          </a:prstGeom>
        </p:spPr>
      </p:pic>
      <p:pic>
        <p:nvPicPr>
          <p:cNvPr id="12" name="图片 12" descr="dedbeb8200396205fe8fb88fd4249a33"/>
          <p:cNvPicPr>
            <a:picLocks noChangeAspect="1"/>
          </p:cNvPicPr>
          <p:nvPr/>
        </p:nvPicPr>
        <p:blipFill>
          <a:blip r:embed="rId2"/>
          <a:srcRect l="45601" t="30623" r="24355" b="22906"/>
          <a:stretch>
            <a:fillRect/>
          </a:stretch>
        </p:blipFill>
        <p:spPr>
          <a:xfrm>
            <a:off x="6490970" y="1743710"/>
            <a:ext cx="3712210" cy="39909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215890" y="2900680"/>
            <a:ext cx="752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/>
              <a:t>+</a:t>
            </a:r>
            <a:endParaRPr lang="en-US" altLang="zh-CN" sz="5400"/>
          </a:p>
        </p:txBody>
      </p:sp>
      <p:sp>
        <p:nvSpPr>
          <p:cNvPr id="3" name="文本框 2"/>
          <p:cNvSpPr txBox="1"/>
          <p:nvPr/>
        </p:nvSpPr>
        <p:spPr>
          <a:xfrm>
            <a:off x="6951980" y="1095375"/>
            <a:ext cx="3108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减法器对</a:t>
            </a:r>
            <a:r>
              <a:rPr lang="en-US" altLang="zh-CN">
                <a:sym typeface="+mn-ea"/>
              </a:rPr>
              <a:t>V</a:t>
            </a:r>
            <a:r>
              <a:rPr lang="en-US" altLang="zh-CN" baseline="-25000">
                <a:sym typeface="+mn-ea"/>
              </a:rPr>
              <a:t>AB</a:t>
            </a:r>
            <a:r>
              <a:rPr lang="zh-CN" altLang="en-US"/>
              <a:t>放大</a:t>
            </a:r>
            <a:r>
              <a:rPr lang="en-US" altLang="zh-CN"/>
              <a:t>100</a:t>
            </a:r>
            <a:r>
              <a:rPr lang="zh-CN" altLang="en-US"/>
              <a:t>倍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51980" y="5734685"/>
            <a:ext cx="2844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只需让</a:t>
            </a:r>
            <a:r>
              <a:rPr lang="en-US" altLang="zh-CN"/>
              <a:t>R2/R1=100</a:t>
            </a:r>
            <a:r>
              <a:rPr lang="zh-CN" altLang="en-US"/>
              <a:t>，不妨令</a:t>
            </a:r>
            <a:r>
              <a:rPr lang="en-US" altLang="zh-CN"/>
              <a:t>R2=1000Ω,R1=10Ω</a:t>
            </a:r>
            <a:endParaRPr lang="en-US" altLang="zh-CN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0377805" y="3397250"/>
            <a:ext cx="1061720" cy="7620"/>
          </a:xfrm>
          <a:prstGeom prst="straightConnector1">
            <a:avLst/>
          </a:prstGeom>
          <a:ln w="635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五题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0395" y="692150"/>
            <a:ext cx="4711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）采用</a:t>
            </a:r>
            <a:endParaRPr lang="zh-CN" altLang="en-US"/>
          </a:p>
          <a:p>
            <a:r>
              <a:rPr lang="en-US" altLang="zh-CN"/>
              <a:t>Virtual 3-Terminal Opamp</a:t>
            </a:r>
            <a:r>
              <a:rPr lang="zh-CN" altLang="en-US"/>
              <a:t>直接对</a:t>
            </a:r>
            <a:r>
              <a:rPr lang="en-US" altLang="zh-CN"/>
              <a:t>VAB</a:t>
            </a:r>
            <a:r>
              <a:rPr lang="zh-CN" altLang="en-US"/>
              <a:t>放大</a:t>
            </a:r>
            <a:endParaRPr lang="zh-CN" altLang="en-US"/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78" y="2106295"/>
            <a:ext cx="5269865" cy="3266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圆角矩形 13"/>
          <p:cNvSpPr/>
          <p:nvPr/>
        </p:nvSpPr>
        <p:spPr>
          <a:xfrm>
            <a:off x="2882900" y="2743200"/>
            <a:ext cx="2448560" cy="1309370"/>
          </a:xfrm>
          <a:prstGeom prst="roundRect">
            <a:avLst/>
          </a:prstGeom>
          <a:ln w="254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cxnSp>
        <p:nvCxnSpPr>
          <p:cNvPr id="15" name="直接箭头连接符 14"/>
          <p:cNvCxnSpPr>
            <a:stCxn id="14" idx="0"/>
          </p:cNvCxnSpPr>
          <p:nvPr/>
        </p:nvCxnSpPr>
        <p:spPr>
          <a:xfrm flipV="1">
            <a:off x="4107180" y="2234565"/>
            <a:ext cx="372110" cy="50863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4448810" y="1885950"/>
            <a:ext cx="1085215" cy="34099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减法器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697980" y="848360"/>
            <a:ext cx="4241800" cy="1445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直接放大方案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当放大器直接连接到电桥输出时，放大后的结果出现明显偏差（输出不再是理论</a:t>
            </a:r>
            <a:r>
              <a:rPr lang="en-US" altLang="zh-CN">
                <a:sym typeface="+mn-ea"/>
              </a:rPr>
              <a:t>100</a:t>
            </a:r>
            <a:r>
              <a:rPr lang="zh-CN" altLang="en-US">
                <a:sym typeface="+mn-ea"/>
              </a:rPr>
              <a:t>倍，输入不再是</a:t>
            </a:r>
            <a:r>
              <a:rPr lang="en-US" altLang="zh-CN">
                <a:sym typeface="+mn-ea"/>
              </a:rPr>
              <a:t>0.069</a:t>
            </a:r>
            <a:r>
              <a:rPr lang="zh-CN" altLang="en-US">
                <a:sym typeface="+mn-ea"/>
              </a:rPr>
              <a:t>）。说明放大器输入端对电桥有负载效应，影响了电桥平衡。</a:t>
            </a:r>
            <a:endParaRPr lang="zh-CN" altLang="en-US"/>
          </a:p>
          <a:p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8628380" y="2363470"/>
            <a:ext cx="3810" cy="37973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698615" y="2893695"/>
            <a:ext cx="40963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考虑如何才能隔离原电路和减法器，使原电路不再</a:t>
            </a:r>
            <a:r>
              <a:rPr lang="zh-CN" altLang="en-US"/>
              <a:t>受到</a:t>
            </a:r>
            <a:r>
              <a:rPr lang="zh-CN" altLang="en-US"/>
              <a:t>影响，自然想到电压跟随器做负载</a:t>
            </a:r>
            <a:r>
              <a:rPr lang="zh-CN" altLang="en-US"/>
              <a:t>隔离。</a:t>
            </a:r>
            <a:endParaRPr lang="zh-CN" altLang="en-US"/>
          </a:p>
        </p:txBody>
      </p:sp>
      <p:pic>
        <p:nvPicPr>
          <p:cNvPr id="21" name="图片 13" descr="004292a4f3cb3fa06ff84bc2f7c0eb75"/>
          <p:cNvPicPr>
            <a:picLocks noChangeAspect="1"/>
          </p:cNvPicPr>
          <p:nvPr/>
        </p:nvPicPr>
        <p:blipFill>
          <a:blip r:embed="rId2"/>
          <a:srcRect l="4616" t="48951" r="13196" b="9051"/>
          <a:stretch>
            <a:fillRect/>
          </a:stretch>
        </p:blipFill>
        <p:spPr>
          <a:xfrm>
            <a:off x="7045325" y="4152900"/>
            <a:ext cx="3609975" cy="1282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五题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pic>
        <p:nvPicPr>
          <p:cNvPr id="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730" y="2004060"/>
            <a:ext cx="6598920" cy="285051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本框 17"/>
          <p:cNvSpPr txBox="1"/>
          <p:nvPr/>
        </p:nvSpPr>
        <p:spPr>
          <a:xfrm>
            <a:off x="620395" y="692150"/>
            <a:ext cx="4711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）采用</a:t>
            </a:r>
            <a:r>
              <a:rPr lang="en-US" altLang="zh-CN"/>
              <a:t>Virtual 3-Terminal Opamp</a:t>
            </a:r>
            <a:r>
              <a:rPr lang="zh-CN" altLang="en-US"/>
              <a:t>将</a:t>
            </a:r>
            <a:endParaRPr lang="zh-CN" altLang="en-US"/>
          </a:p>
          <a:p>
            <a:r>
              <a:rPr lang="zh-CN" altLang="en-US"/>
              <a:t>电桥和放大电路隔离，再对</a:t>
            </a:r>
            <a:r>
              <a:rPr lang="en-US" altLang="zh-CN"/>
              <a:t>VAB</a:t>
            </a:r>
            <a:r>
              <a:rPr lang="zh-CN" altLang="en-US"/>
              <a:t>放大</a:t>
            </a:r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3455670" y="2490470"/>
            <a:ext cx="1148080" cy="175196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758690" y="2490470"/>
            <a:ext cx="1581785" cy="1496060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19" idx="0"/>
          </p:cNvCxnSpPr>
          <p:nvPr/>
        </p:nvCxnSpPr>
        <p:spPr>
          <a:xfrm flipV="1">
            <a:off x="4029710" y="2141855"/>
            <a:ext cx="100965" cy="3486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20" idx="0"/>
          </p:cNvCxnSpPr>
          <p:nvPr/>
        </p:nvCxnSpPr>
        <p:spPr>
          <a:xfrm flipV="1">
            <a:off x="5549900" y="2211070"/>
            <a:ext cx="169545" cy="2794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5154295" y="1870075"/>
            <a:ext cx="1085215" cy="34099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减法器</a:t>
            </a:r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3363595" y="1800860"/>
            <a:ext cx="1433195" cy="34099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电压跟随器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715885" y="1800860"/>
            <a:ext cx="3354705" cy="2442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b="1">
                <a:sym typeface="+mn-ea"/>
              </a:rPr>
              <a:t>隔离放大方案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当在放大器与电桥之间加入电压跟随器（缓冲器）后，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AB</a:t>
            </a:r>
            <a:r>
              <a:rPr lang="zh-CN" altLang="en-US">
                <a:sym typeface="+mn-ea"/>
              </a:rPr>
              <a:t>恢复到原始值，</a:t>
            </a:r>
            <a:r>
              <a:rPr lang="zh-CN" altLang="en-US">
                <a:sym typeface="+mn-ea"/>
              </a:rPr>
              <a:t>放大</a:t>
            </a:r>
            <a:r>
              <a:rPr lang="en-US" altLang="zh-CN">
                <a:sym typeface="+mn-ea"/>
              </a:rPr>
              <a:t>99.57</a:t>
            </a:r>
            <a:r>
              <a:rPr lang="zh-CN" altLang="en-US">
                <a:sym typeface="+mn-ea"/>
              </a:rPr>
              <a:t>倍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，与理论结果基本一致。</a:t>
            </a:r>
            <a:endParaRPr lang="en-US" altLang="zh-CN"/>
          </a:p>
        </p:txBody>
      </p:sp>
      <p:cxnSp>
        <p:nvCxnSpPr>
          <p:cNvPr id="33" name="直接箭头连接符 32"/>
          <p:cNvCxnSpPr/>
          <p:nvPr/>
        </p:nvCxnSpPr>
        <p:spPr>
          <a:xfrm>
            <a:off x="2293620" y="3382010"/>
            <a:ext cx="333375" cy="1813560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圆角矩形 36"/>
          <p:cNvSpPr/>
          <p:nvPr/>
        </p:nvSpPr>
        <p:spPr>
          <a:xfrm>
            <a:off x="1870710" y="5195570"/>
            <a:ext cx="1758315" cy="43370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Vab</a:t>
            </a:r>
            <a:r>
              <a:rPr lang="zh-CN" altLang="en-US"/>
              <a:t>不再</a:t>
            </a:r>
            <a:r>
              <a:rPr lang="zh-CN" altLang="en-US"/>
              <a:t>改变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五题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0850" y="949960"/>
            <a:ext cx="10451465" cy="4532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b="1"/>
              <a:t>结果分析</a:t>
            </a:r>
            <a:endParaRPr lang="en-US" altLang="zh-CN" sz="2000" b="1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1.</a:t>
            </a:r>
            <a:r>
              <a:rPr lang="zh-CN" altLang="en-US"/>
              <a:t>直接放大失真原因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由于运放输入端存在有限输入电阻，直接连接会形成并联分压，使电桥输出电压降低。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这种影响在高阻桥路中尤其明显，导致测得的</a:t>
            </a:r>
            <a:r>
              <a:rPr lang="en-US" altLang="zh-CN"/>
              <a:t>V</a:t>
            </a:r>
            <a:r>
              <a:rPr lang="en-US" altLang="zh-CN" baseline="-25000"/>
              <a:t>AB</a:t>
            </a:r>
            <a:r>
              <a:rPr lang="zh-CN" altLang="en-US"/>
              <a:t>不再真实反映电桥状态。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2.</a:t>
            </a:r>
            <a:r>
              <a:rPr lang="zh-CN" altLang="en-US"/>
              <a:t>隔离放大改进效果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 </a:t>
            </a:r>
            <a:r>
              <a:rPr lang="zh-CN" altLang="en-US"/>
              <a:t>电压跟随器输入阻抗高、输出阻抗低，能实现信号源与放大器的完全隔离，避免电桥受负载影响。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通过该结构，电桥输出</a:t>
            </a:r>
            <a:r>
              <a:rPr lang="en-US" altLang="zh-CN">
                <a:sym typeface="+mn-ea"/>
              </a:rPr>
              <a:t>V</a:t>
            </a:r>
            <a:r>
              <a:rPr lang="en-US" altLang="zh-CN" baseline="-25000">
                <a:sym typeface="+mn-ea"/>
              </a:rPr>
              <a:t>AB</a:t>
            </a:r>
            <a:r>
              <a:rPr lang="zh-CN" altLang="en-US"/>
              <a:t>不再被拉低，放大器能够准确放大真实信号。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3.</a:t>
            </a:r>
            <a:r>
              <a:rPr lang="zh-CN" altLang="en-US"/>
              <a:t>放大倍数验证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理论放大倍数</a:t>
            </a:r>
            <a:r>
              <a:rPr lang="en-US" altLang="zh-CN"/>
              <a:t>100 </a:t>
            </a:r>
            <a:r>
              <a:rPr lang="zh-CN" altLang="en-US"/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实际仿真放大</a:t>
            </a:r>
            <a:r>
              <a:rPr lang="en-US" altLang="zh-CN"/>
              <a:t>99.57 </a:t>
            </a:r>
            <a:r>
              <a:rPr lang="zh-CN" altLang="en-US"/>
              <a:t>，与理论结果</a:t>
            </a:r>
            <a:r>
              <a:rPr lang="zh-CN" altLang="en-US"/>
              <a:t>基本一致，误差在允许范围内（</a:t>
            </a:r>
            <a:r>
              <a:rPr lang="en-US" altLang="zh-CN"/>
              <a:t>&lt;1%</a:t>
            </a:r>
            <a:r>
              <a:rPr lang="zh-CN" altLang="en-US"/>
              <a:t>）。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WPS 演示</Application>
  <PresentationFormat>宽屏</PresentationFormat>
  <Paragraphs>51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WPS_1748860242</cp:lastModifiedBy>
  <cp:revision>178</cp:revision>
  <dcterms:created xsi:type="dcterms:W3CDTF">2019-12-03T12:23:00Z</dcterms:created>
  <dcterms:modified xsi:type="dcterms:W3CDTF">2025-10-28T15:24:38Z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KSOTemplateUUID">
    <vt:lpwstr>v1.0_mb_PPdExxDdiY3pq9FrkmN42A==</vt:lpwstr>
  </property>
  <property fmtid="{D5CDD505-2E9C-101B-9397-08002B2CF9AE}" pid="4" name="ICV">
    <vt:lpwstr>08754E59F53C408CB1CA95BAC12F8B32_12</vt:lpwstr>
  </property>
</Properties>
</file>